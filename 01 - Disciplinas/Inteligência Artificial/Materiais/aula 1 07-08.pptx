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9" r:id="rId34"/>
    <p:sldId id="278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06" autoAdjust="0"/>
    <p:restoredTop sz="94660"/>
  </p:normalViewPr>
  <p:slideViewPr>
    <p:cSldViewPr snapToGrid="0">
      <p:cViewPr varScale="1">
        <p:scale>
          <a:sx n="70" d="100"/>
          <a:sy n="70" d="100"/>
        </p:scale>
        <p:origin x="7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7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0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2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43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67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8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76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4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85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6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882E8-3757-48D2-9EF3-445EDDB6D28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2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8DE758AA-FE58-0ED3-06E6-28B0974574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FE13E30-AEA2-9854-0E20-5B172EB13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904"/>
            <a:ext cx="4394579" cy="6858000"/>
          </a:xfrm>
          <a:prstGeom prst="rect">
            <a:avLst/>
          </a:prstGeom>
        </p:spPr>
      </p:pic>
      <p:sp>
        <p:nvSpPr>
          <p:cNvPr id="5" name="AutoShape 4" descr="Generated image">
            <a:extLst>
              <a:ext uri="{FF2B5EF4-FFF2-40B4-BE49-F238E27FC236}">
                <a16:creationId xmlns:a16="http://schemas.microsoft.com/office/drawing/2014/main" id="{B976917D-E949-5542-01A2-F271A6C79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92B55A-73EB-1359-9CBE-99498B8E3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423" y="0"/>
            <a:ext cx="5098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7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5141" y="213752"/>
            <a:ext cx="96228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dirty="0"/>
              <a:t>Introdução prática à Machine Learning: Regressão Linear</a:t>
            </a:r>
            <a:endParaRPr lang="en-US" sz="32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39635" y="1384867"/>
            <a:ext cx="1161287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 Machine Learning (ML)?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é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área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 IA que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capazes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aprender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 dados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fazer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previsões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decisões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explicitamente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programados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ML: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Aprendizado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supervisionado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dados com entrada 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saída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rótulos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Aprendizado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não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supervisionado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dados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rótulos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agrupamento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6617" y="4879704"/>
            <a:ext cx="9818914" cy="17639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500" b="1" dirty="0"/>
              <a:t>Regressão Linear:</a:t>
            </a:r>
            <a:br>
              <a:rPr lang="pt-BR" sz="2500" dirty="0"/>
            </a:br>
            <a:r>
              <a:rPr lang="pt-BR" sz="2500" dirty="0"/>
              <a:t>Técnica usada para prever valores contínuos a partir de variáveis independentes. Exemplo clássico: prever preço de casas pelo tamanho.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34215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00891" y="522747"/>
            <a:ext cx="10829109" cy="335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função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refere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um alias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módulo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matplotlib.pyplot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Python, que é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amplamente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gráficos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visualizações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dados.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matplotlib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biblioteca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poderosa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criação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gráficos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estáticos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animados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interativos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submódulo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fornece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interface de alto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nível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criar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gráficos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facilmente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00891" y="3450497"/>
            <a:ext cx="11103429" cy="230832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Importando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módulo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Normalmente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você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seguinte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maneira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matplotlib.pyplot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82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596" y="461946"/>
            <a:ext cx="35611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Criando</a:t>
            </a:r>
            <a:r>
              <a:rPr lang="en-US" sz="2400" dirty="0"/>
              <a:t> um </a:t>
            </a:r>
            <a:r>
              <a:rPr lang="en-US" sz="2400" dirty="0" err="1"/>
              <a:t>gráfico</a:t>
            </a:r>
            <a:r>
              <a:rPr lang="en-US" sz="2400" dirty="0"/>
              <a:t> simples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88764" y="1224784"/>
            <a:ext cx="9043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Por exemplo, para criar um gráfico de linha simples, você pode fazer o seguinte: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27314" y="1977686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matplotlib.pyplot</a:t>
            </a:r>
            <a:r>
              <a:rPr lang="en-US" sz="2400" dirty="0"/>
              <a:t> as </a:t>
            </a:r>
            <a:r>
              <a:rPr lang="en-US" sz="2400" dirty="0" err="1"/>
              <a:t>plt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# Dados</a:t>
            </a:r>
          </a:p>
          <a:p>
            <a:r>
              <a:rPr lang="en-US" sz="2400" dirty="0"/>
              <a:t>x = [1, 2, 3, 4, 5]</a:t>
            </a:r>
          </a:p>
          <a:p>
            <a:r>
              <a:rPr lang="en-US" sz="2400" dirty="0"/>
              <a:t>y = [2, 4, 6, 8, 10]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en-US" sz="2400" dirty="0" err="1"/>
              <a:t>Criar</a:t>
            </a:r>
            <a:r>
              <a:rPr lang="en-US" sz="2400" dirty="0"/>
              <a:t> o </a:t>
            </a:r>
            <a:r>
              <a:rPr lang="en-US" sz="2400" dirty="0" err="1"/>
              <a:t>gráfico</a:t>
            </a:r>
            <a:r>
              <a:rPr lang="en-US" sz="2400" dirty="0"/>
              <a:t> de </a:t>
            </a:r>
            <a:r>
              <a:rPr lang="en-US" sz="2400" dirty="0" err="1"/>
              <a:t>linha</a:t>
            </a:r>
            <a:endParaRPr lang="en-US" sz="2400" dirty="0"/>
          </a:p>
          <a:p>
            <a:r>
              <a:rPr lang="en-US" sz="2400" dirty="0" err="1"/>
              <a:t>plt.plot</a:t>
            </a:r>
            <a:r>
              <a:rPr lang="en-US" sz="2400" dirty="0"/>
              <a:t>(x, y)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en-US" sz="2400" dirty="0" err="1"/>
              <a:t>Exibir</a:t>
            </a:r>
            <a:r>
              <a:rPr lang="en-US" sz="2400" dirty="0"/>
              <a:t> o </a:t>
            </a:r>
            <a:r>
              <a:rPr lang="en-US" sz="2400" dirty="0" err="1"/>
              <a:t>gráfico</a:t>
            </a:r>
            <a:endParaRPr lang="en-US" sz="2400" dirty="0"/>
          </a:p>
          <a:p>
            <a:r>
              <a:rPr lang="en-US" sz="2400" dirty="0" err="1"/>
              <a:t>plt.show</a:t>
            </a:r>
            <a:r>
              <a:rPr lang="en-US" sz="2400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485" y="2084167"/>
            <a:ext cx="4976123" cy="394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2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Personalizando o gráfico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Você pode adicionar títulos, rótulos nos eixos e legendas para tornar o gráfico mais informativo:</a:t>
            </a:r>
          </a:p>
        </p:txBody>
      </p:sp>
      <p:sp>
        <p:nvSpPr>
          <p:cNvPr id="3" name="Rectangle 2"/>
          <p:cNvSpPr/>
          <p:nvPr/>
        </p:nvSpPr>
        <p:spPr>
          <a:xfrm>
            <a:off x="552994" y="1496092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matplotlib.pyplot</a:t>
            </a:r>
            <a:r>
              <a:rPr lang="en-US" sz="2400" dirty="0"/>
              <a:t> as </a:t>
            </a:r>
            <a:r>
              <a:rPr lang="en-US" sz="2400" dirty="0" err="1"/>
              <a:t>plt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x = [1, 2, 3, 4, 5]</a:t>
            </a:r>
          </a:p>
          <a:p>
            <a:r>
              <a:rPr lang="en-US" sz="2400" dirty="0"/>
              <a:t>y = [2, 4, 6, 8, 10]</a:t>
            </a:r>
          </a:p>
          <a:p>
            <a:endParaRPr lang="en-US" sz="2400" dirty="0"/>
          </a:p>
          <a:p>
            <a:r>
              <a:rPr lang="en-US" sz="2400" dirty="0" err="1"/>
              <a:t>plt.plot</a:t>
            </a:r>
            <a:r>
              <a:rPr lang="en-US" sz="2400" dirty="0"/>
              <a:t>(x, y)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en-US" sz="2400" dirty="0" err="1"/>
              <a:t>Títulos</a:t>
            </a:r>
            <a:r>
              <a:rPr lang="en-US" sz="2400" dirty="0"/>
              <a:t> e </a:t>
            </a:r>
            <a:r>
              <a:rPr lang="en-US" sz="2400" dirty="0" err="1"/>
              <a:t>rótulos</a:t>
            </a:r>
            <a:endParaRPr lang="en-US" sz="2400" dirty="0"/>
          </a:p>
          <a:p>
            <a:r>
              <a:rPr lang="en-US" sz="2400" dirty="0" err="1"/>
              <a:t>plt.title</a:t>
            </a:r>
            <a:r>
              <a:rPr lang="en-US" sz="2400" dirty="0"/>
              <a:t>('</a:t>
            </a:r>
            <a:r>
              <a:rPr lang="en-US" sz="2400" dirty="0" err="1"/>
              <a:t>Gráfico</a:t>
            </a:r>
            <a:r>
              <a:rPr lang="en-US" sz="2400" dirty="0"/>
              <a:t> de </a:t>
            </a:r>
            <a:r>
              <a:rPr lang="en-US" sz="2400" dirty="0" err="1"/>
              <a:t>Linha</a:t>
            </a:r>
            <a:r>
              <a:rPr lang="en-US" sz="2400" dirty="0"/>
              <a:t> Simples')</a:t>
            </a:r>
          </a:p>
          <a:p>
            <a:r>
              <a:rPr lang="en-US" sz="2400" dirty="0" err="1"/>
              <a:t>plt.xlabel</a:t>
            </a:r>
            <a:r>
              <a:rPr lang="en-US" sz="2400" dirty="0"/>
              <a:t>('</a:t>
            </a:r>
            <a:r>
              <a:rPr lang="en-US" sz="2400" dirty="0" err="1"/>
              <a:t>Eixo</a:t>
            </a:r>
            <a:r>
              <a:rPr lang="en-US" sz="2400" dirty="0"/>
              <a:t> X')</a:t>
            </a:r>
          </a:p>
          <a:p>
            <a:r>
              <a:rPr lang="en-US" sz="2400" dirty="0" err="1"/>
              <a:t>plt.ylabel</a:t>
            </a:r>
            <a:r>
              <a:rPr lang="en-US" sz="2400" dirty="0"/>
              <a:t>('</a:t>
            </a:r>
            <a:r>
              <a:rPr lang="en-US" sz="2400" dirty="0" err="1"/>
              <a:t>Eixo</a:t>
            </a:r>
            <a:r>
              <a:rPr lang="en-US" sz="2400" dirty="0"/>
              <a:t> Y')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en-US" sz="2400" dirty="0" err="1"/>
              <a:t>Mostrar</a:t>
            </a:r>
            <a:r>
              <a:rPr lang="en-US" sz="2400" dirty="0"/>
              <a:t> </a:t>
            </a:r>
            <a:r>
              <a:rPr lang="en-US" sz="2400" dirty="0" err="1"/>
              <a:t>gráfico</a:t>
            </a:r>
            <a:endParaRPr lang="en-US" sz="2400" dirty="0"/>
          </a:p>
          <a:p>
            <a:r>
              <a:rPr lang="en-US" sz="2400" dirty="0" err="1"/>
              <a:t>plt.show</a:t>
            </a:r>
            <a:r>
              <a:rPr lang="en-US" sz="2400" dirty="0"/>
              <a:t>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958" y="1496092"/>
            <a:ext cx="5915851" cy="456311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C4EC605-8AB8-E737-D8C2-1FBED3848313}"/>
              </a:ext>
            </a:extLst>
          </p:cNvPr>
          <p:cNvSpPr txBox="1"/>
          <p:nvPr/>
        </p:nvSpPr>
        <p:spPr>
          <a:xfrm>
            <a:off x="9216786" y="6396335"/>
            <a:ext cx="2975213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</a:rPr>
              <a:t>pip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install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matplotlib</a:t>
            </a:r>
            <a:endParaRPr 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601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2366" y="271195"/>
            <a:ext cx="77811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/>
              <a:t>Gráfico de barras</a:t>
            </a:r>
          </a:p>
          <a:p>
            <a:r>
              <a:rPr lang="pt-BR" sz="2400" dirty="0"/>
              <a:t>Outro tipo comum de gráfico é o gráfico de barras:</a:t>
            </a:r>
          </a:p>
        </p:txBody>
      </p:sp>
      <p:sp>
        <p:nvSpPr>
          <p:cNvPr id="3" name="Rectangle 2"/>
          <p:cNvSpPr/>
          <p:nvPr/>
        </p:nvSpPr>
        <p:spPr>
          <a:xfrm>
            <a:off x="631370" y="1415038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dirty="0"/>
              <a:t>import </a:t>
            </a:r>
            <a:r>
              <a:rPr lang="en-US" sz="2200" dirty="0" err="1"/>
              <a:t>matplotlib.pyplot</a:t>
            </a:r>
            <a:r>
              <a:rPr lang="en-US" sz="2200" dirty="0"/>
              <a:t> as </a:t>
            </a:r>
            <a:r>
              <a:rPr lang="en-US" sz="2200" dirty="0" err="1"/>
              <a:t>plt</a:t>
            </a:r>
            <a:endParaRPr lang="en-US" sz="2200" dirty="0"/>
          </a:p>
          <a:p>
            <a:r>
              <a:rPr lang="en-US" sz="2200" dirty="0"/>
              <a:t># Dados</a:t>
            </a:r>
          </a:p>
          <a:p>
            <a:r>
              <a:rPr lang="en-US" sz="2200" dirty="0" err="1"/>
              <a:t>categorias</a:t>
            </a:r>
            <a:r>
              <a:rPr lang="en-US" sz="2200" dirty="0"/>
              <a:t> = ['A', 'B', 'C', 'D']</a:t>
            </a:r>
          </a:p>
          <a:p>
            <a:r>
              <a:rPr lang="en-US" sz="2200" dirty="0" err="1"/>
              <a:t>valores</a:t>
            </a:r>
            <a:r>
              <a:rPr lang="en-US" sz="2200" dirty="0"/>
              <a:t> = [10, 20, 15, 30]</a:t>
            </a:r>
          </a:p>
          <a:p>
            <a:r>
              <a:rPr lang="en-US" sz="2200" dirty="0"/>
              <a:t># </a:t>
            </a:r>
            <a:r>
              <a:rPr lang="en-US" sz="2200" dirty="0" err="1"/>
              <a:t>Criando</a:t>
            </a:r>
            <a:r>
              <a:rPr lang="en-US" sz="2200" dirty="0"/>
              <a:t> </a:t>
            </a:r>
            <a:r>
              <a:rPr lang="en-US" sz="2200" dirty="0" err="1"/>
              <a:t>gráfico</a:t>
            </a:r>
            <a:r>
              <a:rPr lang="en-US" sz="2200" dirty="0"/>
              <a:t> de </a:t>
            </a:r>
            <a:r>
              <a:rPr lang="en-US" sz="2200" dirty="0" err="1"/>
              <a:t>barras</a:t>
            </a:r>
            <a:endParaRPr lang="en-US" sz="2200" dirty="0"/>
          </a:p>
          <a:p>
            <a:r>
              <a:rPr lang="en-US" sz="2200" dirty="0" err="1"/>
              <a:t>plt.bar</a:t>
            </a:r>
            <a:r>
              <a:rPr lang="en-US" sz="2200" dirty="0"/>
              <a:t>(</a:t>
            </a:r>
            <a:r>
              <a:rPr lang="en-US" sz="2200" dirty="0" err="1"/>
              <a:t>categorias</a:t>
            </a:r>
            <a:r>
              <a:rPr lang="en-US" sz="2200" dirty="0"/>
              <a:t>, </a:t>
            </a:r>
            <a:r>
              <a:rPr lang="en-US" sz="2200" dirty="0" err="1"/>
              <a:t>valores</a:t>
            </a:r>
            <a:r>
              <a:rPr lang="en-US" sz="2200" dirty="0"/>
              <a:t>)</a:t>
            </a:r>
          </a:p>
          <a:p>
            <a:endParaRPr lang="en-US" sz="2200" dirty="0"/>
          </a:p>
          <a:p>
            <a:r>
              <a:rPr lang="en-US" sz="2200" dirty="0"/>
              <a:t># </a:t>
            </a:r>
            <a:r>
              <a:rPr lang="en-US" sz="2200" dirty="0" err="1"/>
              <a:t>Títulos</a:t>
            </a:r>
            <a:r>
              <a:rPr lang="en-US" sz="2200" dirty="0"/>
              <a:t> e </a:t>
            </a:r>
            <a:r>
              <a:rPr lang="en-US" sz="2200" dirty="0" err="1"/>
              <a:t>rótulos</a:t>
            </a:r>
            <a:endParaRPr lang="en-US" sz="2200" dirty="0"/>
          </a:p>
          <a:p>
            <a:r>
              <a:rPr lang="en-US" sz="2200" dirty="0" err="1"/>
              <a:t>plt.title</a:t>
            </a:r>
            <a:r>
              <a:rPr lang="en-US" sz="2200" dirty="0"/>
              <a:t>('</a:t>
            </a:r>
            <a:r>
              <a:rPr lang="en-US" sz="2200" dirty="0" err="1"/>
              <a:t>Gráfico</a:t>
            </a:r>
            <a:r>
              <a:rPr lang="en-US" sz="2200" dirty="0"/>
              <a:t> de </a:t>
            </a:r>
            <a:r>
              <a:rPr lang="en-US" sz="2200" dirty="0" err="1"/>
              <a:t>Barras</a:t>
            </a:r>
            <a:r>
              <a:rPr lang="en-US" sz="2200" dirty="0"/>
              <a:t>')</a:t>
            </a:r>
          </a:p>
          <a:p>
            <a:r>
              <a:rPr lang="en-US" sz="2200" dirty="0" err="1"/>
              <a:t>plt.xlabel</a:t>
            </a:r>
            <a:r>
              <a:rPr lang="en-US" sz="2200" dirty="0"/>
              <a:t>('</a:t>
            </a:r>
            <a:r>
              <a:rPr lang="en-US" sz="2200" dirty="0" err="1"/>
              <a:t>Categorias</a:t>
            </a:r>
            <a:r>
              <a:rPr lang="en-US" sz="2200" dirty="0"/>
              <a:t>')</a:t>
            </a:r>
          </a:p>
          <a:p>
            <a:r>
              <a:rPr lang="en-US" sz="2200" dirty="0" err="1"/>
              <a:t>plt.ylabel</a:t>
            </a:r>
            <a:r>
              <a:rPr lang="en-US" sz="2200" dirty="0"/>
              <a:t>('</a:t>
            </a:r>
            <a:r>
              <a:rPr lang="en-US" sz="2200" dirty="0" err="1"/>
              <a:t>Valores</a:t>
            </a:r>
            <a:r>
              <a:rPr lang="en-US" sz="2200" dirty="0"/>
              <a:t>')</a:t>
            </a:r>
          </a:p>
          <a:p>
            <a:endParaRPr lang="en-US" sz="2200" dirty="0"/>
          </a:p>
          <a:p>
            <a:r>
              <a:rPr lang="en-US" sz="2200" dirty="0"/>
              <a:t># </a:t>
            </a:r>
            <a:r>
              <a:rPr lang="en-US" sz="2200" dirty="0" err="1"/>
              <a:t>Mostrar</a:t>
            </a:r>
            <a:r>
              <a:rPr lang="en-US" sz="2200" dirty="0"/>
              <a:t> </a:t>
            </a:r>
            <a:r>
              <a:rPr lang="en-US" sz="2200" dirty="0" err="1"/>
              <a:t>gráfico</a:t>
            </a:r>
            <a:endParaRPr lang="en-US" sz="2200" dirty="0"/>
          </a:p>
          <a:p>
            <a:r>
              <a:rPr lang="en-US" sz="2200" dirty="0" err="1"/>
              <a:t>plt.show</a:t>
            </a:r>
            <a:r>
              <a:rPr lang="en-US" sz="2200" dirty="0"/>
              <a:t>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086" y="1741176"/>
            <a:ext cx="5725324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5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9302" y="150453"/>
            <a:ext cx="6631577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import </a:t>
            </a:r>
            <a:r>
              <a:rPr lang="en-US" sz="2200" dirty="0" err="1"/>
              <a:t>matplotlib.pyplot</a:t>
            </a:r>
            <a:r>
              <a:rPr lang="en-US" sz="2200" dirty="0"/>
              <a:t> as </a:t>
            </a:r>
            <a:r>
              <a:rPr lang="en-US" sz="2200" dirty="0" err="1"/>
              <a:t>plt</a:t>
            </a:r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# Dados</a:t>
            </a:r>
          </a:p>
          <a:p>
            <a:r>
              <a:rPr lang="en-US" sz="2200" dirty="0" err="1"/>
              <a:t>categorias</a:t>
            </a:r>
            <a:r>
              <a:rPr lang="en-US" sz="2200" dirty="0"/>
              <a:t> = ['A', 'B', 'C', 'D']</a:t>
            </a:r>
          </a:p>
          <a:p>
            <a:r>
              <a:rPr lang="en-US" sz="2200" dirty="0" err="1"/>
              <a:t>valores</a:t>
            </a:r>
            <a:r>
              <a:rPr lang="en-US" sz="2200" dirty="0"/>
              <a:t> = [10, 20, 15, 30]</a:t>
            </a:r>
          </a:p>
          <a:p>
            <a:endParaRPr lang="en-US" sz="2200" dirty="0"/>
          </a:p>
          <a:p>
            <a:r>
              <a:rPr lang="en-US" sz="2200" dirty="0"/>
              <a:t># </a:t>
            </a:r>
            <a:r>
              <a:rPr lang="en-US" sz="2200" dirty="0" err="1"/>
              <a:t>Lista</a:t>
            </a:r>
            <a:r>
              <a:rPr lang="en-US" sz="2200" dirty="0"/>
              <a:t> de cores para </a:t>
            </a:r>
            <a:r>
              <a:rPr lang="en-US" sz="2200" dirty="0" err="1"/>
              <a:t>cada</a:t>
            </a:r>
            <a:r>
              <a:rPr lang="en-US" sz="2200" dirty="0"/>
              <a:t> </a:t>
            </a:r>
            <a:r>
              <a:rPr lang="en-US" sz="2200" dirty="0" err="1"/>
              <a:t>barra</a:t>
            </a:r>
            <a:endParaRPr lang="en-US" sz="2200" dirty="0"/>
          </a:p>
          <a:p>
            <a:r>
              <a:rPr lang="en-US" sz="2200" dirty="0"/>
              <a:t>cores = ['red', 'blue', 'green', 'purple']</a:t>
            </a:r>
          </a:p>
          <a:p>
            <a:endParaRPr lang="en-US" sz="2200" dirty="0"/>
          </a:p>
          <a:p>
            <a:r>
              <a:rPr lang="en-US" sz="2200" dirty="0"/>
              <a:t># </a:t>
            </a:r>
            <a:r>
              <a:rPr lang="en-US" sz="2200" dirty="0" err="1"/>
              <a:t>Criando</a:t>
            </a:r>
            <a:r>
              <a:rPr lang="en-US" sz="2200" dirty="0"/>
              <a:t> </a:t>
            </a:r>
            <a:r>
              <a:rPr lang="en-US" sz="2200" dirty="0" err="1"/>
              <a:t>gráfico</a:t>
            </a:r>
            <a:r>
              <a:rPr lang="en-US" sz="2200" dirty="0"/>
              <a:t> de </a:t>
            </a:r>
            <a:r>
              <a:rPr lang="en-US" sz="2200" dirty="0" err="1"/>
              <a:t>barras</a:t>
            </a:r>
            <a:r>
              <a:rPr lang="en-US" sz="2200" dirty="0"/>
              <a:t> com cores </a:t>
            </a:r>
            <a:r>
              <a:rPr lang="en-US" sz="2200" dirty="0" err="1"/>
              <a:t>específicas</a:t>
            </a:r>
            <a:endParaRPr lang="en-US" sz="2200" dirty="0"/>
          </a:p>
          <a:p>
            <a:r>
              <a:rPr lang="en-US" sz="2200" dirty="0" err="1"/>
              <a:t>plt.bar</a:t>
            </a:r>
            <a:r>
              <a:rPr lang="en-US" sz="2200" dirty="0"/>
              <a:t>(</a:t>
            </a:r>
            <a:r>
              <a:rPr lang="en-US" sz="2200" dirty="0" err="1"/>
              <a:t>categorias</a:t>
            </a:r>
            <a:r>
              <a:rPr lang="en-US" sz="2200" dirty="0"/>
              <a:t>, </a:t>
            </a:r>
            <a:r>
              <a:rPr lang="en-US" sz="2200" dirty="0" err="1"/>
              <a:t>valores</a:t>
            </a:r>
            <a:r>
              <a:rPr lang="en-US" sz="2200" dirty="0"/>
              <a:t>, color=cores)</a:t>
            </a:r>
          </a:p>
          <a:p>
            <a:endParaRPr lang="en-US" sz="2200" dirty="0"/>
          </a:p>
          <a:p>
            <a:r>
              <a:rPr lang="en-US" sz="2200" dirty="0"/>
              <a:t># </a:t>
            </a:r>
            <a:r>
              <a:rPr lang="en-US" sz="2200" dirty="0" err="1"/>
              <a:t>Títulos</a:t>
            </a:r>
            <a:r>
              <a:rPr lang="en-US" sz="2200" dirty="0"/>
              <a:t> e </a:t>
            </a:r>
            <a:r>
              <a:rPr lang="en-US" sz="2200" dirty="0" err="1"/>
              <a:t>rótulos</a:t>
            </a:r>
            <a:endParaRPr lang="en-US" sz="2200" dirty="0"/>
          </a:p>
          <a:p>
            <a:r>
              <a:rPr lang="en-US" sz="2200" dirty="0" err="1"/>
              <a:t>plt.title</a:t>
            </a:r>
            <a:r>
              <a:rPr lang="en-US" sz="2200" dirty="0"/>
              <a:t>('</a:t>
            </a:r>
            <a:r>
              <a:rPr lang="en-US" sz="2200" dirty="0" err="1"/>
              <a:t>Gráfico</a:t>
            </a:r>
            <a:r>
              <a:rPr lang="en-US" sz="2200" dirty="0"/>
              <a:t> de </a:t>
            </a:r>
            <a:r>
              <a:rPr lang="en-US" sz="2200" dirty="0" err="1"/>
              <a:t>Barras</a:t>
            </a:r>
            <a:r>
              <a:rPr lang="en-US" sz="2200" dirty="0"/>
              <a:t> </a:t>
            </a:r>
            <a:r>
              <a:rPr lang="en-US" sz="2200" dirty="0" err="1"/>
              <a:t>Colorido</a:t>
            </a:r>
            <a:r>
              <a:rPr lang="en-US" sz="2200" dirty="0"/>
              <a:t>')</a:t>
            </a:r>
          </a:p>
          <a:p>
            <a:r>
              <a:rPr lang="en-US" sz="2200" dirty="0" err="1"/>
              <a:t>plt.xlabel</a:t>
            </a:r>
            <a:r>
              <a:rPr lang="en-US" sz="2200" dirty="0"/>
              <a:t>('</a:t>
            </a:r>
            <a:r>
              <a:rPr lang="en-US" sz="2200" dirty="0" err="1"/>
              <a:t>Categorias</a:t>
            </a:r>
            <a:r>
              <a:rPr lang="en-US" sz="2200" dirty="0"/>
              <a:t>')</a:t>
            </a:r>
          </a:p>
          <a:p>
            <a:r>
              <a:rPr lang="en-US" sz="2200" dirty="0" err="1"/>
              <a:t>plt.ylabel</a:t>
            </a:r>
            <a:r>
              <a:rPr lang="en-US" sz="2200" dirty="0"/>
              <a:t>('</a:t>
            </a:r>
            <a:r>
              <a:rPr lang="en-US" sz="2200" dirty="0" err="1"/>
              <a:t>Valores</a:t>
            </a:r>
            <a:r>
              <a:rPr lang="en-US" sz="2200" dirty="0"/>
              <a:t>')</a:t>
            </a:r>
          </a:p>
          <a:p>
            <a:endParaRPr lang="en-US" sz="2200" dirty="0"/>
          </a:p>
          <a:p>
            <a:r>
              <a:rPr lang="en-US" sz="2200" dirty="0"/>
              <a:t># </a:t>
            </a:r>
            <a:r>
              <a:rPr lang="en-US" sz="2200" dirty="0" err="1"/>
              <a:t>Mostrar</a:t>
            </a:r>
            <a:r>
              <a:rPr lang="en-US" sz="2200" dirty="0"/>
              <a:t> </a:t>
            </a:r>
            <a:r>
              <a:rPr lang="en-US" sz="2200" dirty="0" err="1"/>
              <a:t>gráfico</a:t>
            </a:r>
            <a:endParaRPr lang="en-US" sz="2200" dirty="0"/>
          </a:p>
          <a:p>
            <a:r>
              <a:rPr lang="en-US" sz="2200" dirty="0" err="1"/>
              <a:t>plt.show</a:t>
            </a:r>
            <a:r>
              <a:rPr lang="en-US" sz="2200" dirty="0"/>
              <a:t>()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202" y="2523950"/>
            <a:ext cx="5896798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25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45" y="262849"/>
            <a:ext cx="5792008" cy="4477375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196553" y="4230310"/>
            <a:ext cx="6035039" cy="2248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Personalizando o estilo e a aparência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pyplot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oferece várias opções para personalizar cores, estilos de linha, marcadores, etc. Por exemplo: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84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058" y="503647"/>
            <a:ext cx="10106296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# </a:t>
            </a:r>
            <a:r>
              <a:rPr lang="en-US" sz="2400" dirty="0" err="1"/>
              <a:t>Importar</a:t>
            </a:r>
            <a:r>
              <a:rPr lang="en-US" sz="2400" dirty="0"/>
              <a:t> </a:t>
            </a:r>
            <a:r>
              <a:rPr lang="en-US" sz="2400" dirty="0" err="1"/>
              <a:t>bibliotecas</a:t>
            </a:r>
            <a:r>
              <a:rPr lang="en-US" sz="2400" dirty="0"/>
              <a:t> </a:t>
            </a:r>
            <a:r>
              <a:rPr lang="en-US" sz="2400" dirty="0" err="1"/>
              <a:t>necessárias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import </a:t>
            </a:r>
            <a:r>
              <a:rPr lang="en-US" sz="2400" dirty="0" err="1"/>
              <a:t>numpy</a:t>
            </a:r>
            <a:r>
              <a:rPr lang="en-US" sz="2400" dirty="0"/>
              <a:t> as np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from </a:t>
            </a:r>
            <a:r>
              <a:rPr lang="en-US" sz="2400" dirty="0" err="1"/>
              <a:t>sklearn.linear_model</a:t>
            </a:r>
            <a:r>
              <a:rPr lang="en-US" sz="2400" dirty="0"/>
              <a:t> import </a:t>
            </a:r>
            <a:r>
              <a:rPr lang="en-US" sz="2400" dirty="0" err="1"/>
              <a:t>LinearRegression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import </a:t>
            </a:r>
            <a:r>
              <a:rPr lang="en-US" sz="2400" dirty="0" err="1"/>
              <a:t>matplotlib.pyplot</a:t>
            </a:r>
            <a:r>
              <a:rPr lang="en-US" sz="2400" dirty="0"/>
              <a:t> as </a:t>
            </a:r>
            <a:r>
              <a:rPr lang="en-US" sz="2400" dirty="0" err="1"/>
              <a:t>plt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0242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F021141-3676-7CD7-A236-5B66989B92EA}"/>
              </a:ext>
            </a:extLst>
          </p:cNvPr>
          <p:cNvSpPr txBox="1"/>
          <p:nvPr/>
        </p:nvSpPr>
        <p:spPr>
          <a:xfrm>
            <a:off x="194480" y="0"/>
            <a:ext cx="1136517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import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pandas as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pd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import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matplotlib.pyplot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as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plt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pt-BR" sz="2000" b="0" dirty="0">
                <a:effectLst/>
                <a:latin typeface="Consolas" panose="020B0609020204030204" pitchFamily="49" charset="0"/>
              </a:rPr>
            </a:br>
            <a:r>
              <a:rPr lang="pt-BR" sz="2000" b="0" i="1" dirty="0">
                <a:effectLst/>
                <a:latin typeface="Consolas" panose="020B0609020204030204" pitchFamily="49" charset="0"/>
              </a:rPr>
              <a:t># Caminho completo da planilha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file_path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=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r'C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:\Unimax 2025\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pythonIA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\leitura1.xlsx'</a:t>
            </a: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Ler a planilha (aqui estamos usando um arquivo .</a:t>
            </a:r>
            <a:r>
              <a:rPr lang="pt-BR" sz="2000" b="0" i="1" dirty="0" err="1">
                <a:effectLst/>
                <a:latin typeface="Consolas" panose="020B0609020204030204" pitchFamily="49" charset="0"/>
              </a:rPr>
              <a:t>xlsx</a:t>
            </a:r>
            <a:r>
              <a:rPr lang="pt-BR" sz="2000" b="0" i="1" dirty="0">
                <a:effectLst/>
                <a:latin typeface="Consolas" panose="020B0609020204030204" pitchFamily="49" charset="0"/>
              </a:rPr>
              <a:t>)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df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=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pd.read_excel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file_path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, header=1)</a:t>
            </a: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Exibir as primeiras linhas para verificar como os dados estão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>
                <a:effectLst/>
                <a:latin typeface="Consolas" panose="020B0609020204030204" pitchFamily="49" charset="0"/>
              </a:rPr>
              <a:t>print(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df.head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Pegar os rótulos (primeira linha após o cabeçalho)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>
                <a:effectLst/>
                <a:latin typeface="Consolas" panose="020B0609020204030204" pitchFamily="49" charset="0"/>
              </a:rPr>
              <a:t>categorias =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df.columns.tolist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Pegar os valores (linha 2 ou as linhas abaixo do cabeçalho)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>
                <a:effectLst/>
                <a:latin typeface="Consolas" panose="020B0609020204030204" pitchFamily="49" charset="0"/>
              </a:rPr>
              <a:t>valores =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df.iloc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[0].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tolist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()  </a:t>
            </a:r>
            <a:r>
              <a:rPr lang="pt-BR" sz="2000" b="0" i="1" dirty="0">
                <a:effectLst/>
                <a:latin typeface="Consolas" panose="020B0609020204030204" pitchFamily="49" charset="0"/>
              </a:rPr>
              <a:t># Aqui estamos pegando os valores da primeira linha após o cabeçalho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Criando o gráfico de barras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plt.bar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(categorias, valores)</a:t>
            </a: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Títulos e rótulos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plt.title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('Gráfico de Barras')</a:t>
            </a: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plt.xlabel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('Categorias')</a:t>
            </a: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plt.ylabel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('Valores')</a:t>
            </a: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Mostrar o gráfico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plt.show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sz="2000" b="0" dirty="0">
                <a:effectLst/>
                <a:latin typeface="Consolas" panose="020B0609020204030204" pitchFamily="49" charset="0"/>
              </a:rPr>
            </a:br>
            <a:endParaRPr lang="pt-BR" sz="20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78BA9DC-E408-D460-7CE5-3FE754FE3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335" y="4316104"/>
            <a:ext cx="2943636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59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A664E7A-671E-36EA-B2F0-12018EB4C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10" y="59023"/>
            <a:ext cx="11259403" cy="7122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Importação das bibliotecas: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import</a:t>
            </a: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pandas as </a:t>
            </a:r>
            <a:r>
              <a:rPr kumimoji="0" lang="pt-BR" altLang="pt-BR" sz="28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pd</a:t>
            </a: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import</a:t>
            </a: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</a:t>
            </a:r>
            <a:r>
              <a:rPr kumimoji="0" lang="pt-BR" altLang="pt-BR" sz="28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matplotlib.pyplot</a:t>
            </a: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as </a:t>
            </a:r>
            <a:r>
              <a:rPr kumimoji="0" lang="pt-BR" altLang="pt-BR" sz="28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plt</a:t>
            </a: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1" i="1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pandas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(importado como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pd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é uma biblioteca utilizada para manipulação e análise de dados, sendo ideal para ler planilhas, arquivos CSV, etc.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matplotlib.pyplot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(importado como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é uma biblioteca para criação de gráficos em Python. Ela é usada para gerar visualizações como gráficos de barras, linhas, dispersão, entre outros.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FC59C40-05EE-5BED-615A-FA916A30182D}"/>
              </a:ext>
            </a:extLst>
          </p:cNvPr>
          <p:cNvSpPr txBox="1"/>
          <p:nvPr/>
        </p:nvSpPr>
        <p:spPr>
          <a:xfrm>
            <a:off x="6950122" y="1589542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pip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</a:t>
            </a:r>
            <a:r>
              <a:rPr lang="pt-BR" dirty="0" err="1"/>
              <a:t>openpyxl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1FC3C6A-88D6-BF89-9F01-BE89E8A9699D}"/>
              </a:ext>
            </a:extLst>
          </p:cNvPr>
          <p:cNvSpPr txBox="1"/>
          <p:nvPr/>
        </p:nvSpPr>
        <p:spPr>
          <a:xfrm>
            <a:off x="6950122" y="1002689"/>
            <a:ext cx="652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pip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pandas</a:t>
            </a:r>
          </a:p>
        </p:txBody>
      </p:sp>
    </p:spTree>
    <p:extLst>
      <p:ext uri="{BB962C8B-B14F-4D97-AF65-F5344CB8AC3E}">
        <p14:creationId xmlns:p14="http://schemas.microsoft.com/office/powerpoint/2010/main" val="3852584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403E-661F-9FEC-0A98-7C29B7396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19DF9-8595-6721-9701-3F024A42E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40" y="123449"/>
            <a:ext cx="11245755" cy="469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 do caminho do arquivo: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file_path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= 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r'C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:\Unimax 2025\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pythonIA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\leitura1.xlsx’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 linha define o caminho completo do arquivo Excel que você deseja ler. O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antes da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string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significa que é uma "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raw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string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", ou seja, os caracteres especiais como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\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não precisam ser escapados.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08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A4A2-4EE9-D42C-4BFB-48119A67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5B6951-1B71-C858-4029-2D7B06643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3" y="0"/>
            <a:ext cx="11376973" cy="7220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Leitura da planilha: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df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= 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pd.read_excel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(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file_path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, header=1)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1" i="1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pd.read_excel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file_path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lê a planilha localizada no caminho definido pela variável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file_path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argumento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header=1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indica que a primeira linha da planilha (linha 2, indexada como 1 em Python) contém os nomes das colunas. Isso é importante porque, quando a planilha é lida, o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pandas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entende que a linha 2 deve ser usada como rótulos de coluna e não como dados. Se não fosse especificado o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header=1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 pandas consideraria que a primeira linha contém dados, não rótulos.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008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DA249-F788-85F2-DADA-091FB9ACE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FB21A2-4636-1C0D-4345-3F6F9F4E0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46" y="374381"/>
            <a:ext cx="11450472" cy="481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Exibição das primeiras linhas para visualização: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print(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df.head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())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1" i="1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df.head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retorna as primeiras 5 linhas do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DataFrame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Isso é útil para verificar se os dados foram lidos corretamente da planilha e se a estrutura está como esperado. O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exibe essas primeiras linhas no console.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214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BE782-0CAD-EF2D-0852-063838988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15C8F7-926D-F615-5378-6DD1B5B18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036" y="377873"/>
            <a:ext cx="11095629" cy="481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Obtenção dos rótulos das colunas: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categorias = 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df.columns.tolist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1" i="1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df.columns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retorna os nomes das colunas do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DataFrame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tolist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converte esses nomes de colunas em uma lista de Python. Esses nomes serão usados como as categorias (rótulos) no gráfico de barras.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767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5D11-DD78-631D-5C1C-8FD6F271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39F787-2FF9-41C0-D833-5E0D61A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391" y="-3207"/>
            <a:ext cx="11832609" cy="6019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Obtenção dos valores para o gráfico: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valores = 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df.iloc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[0].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tolist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</a:rPr>
              <a:t># Aqui estamos pegando os valores da primeira linha após o cabeçalho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df.iloc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[0]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seleciona a primeira linha (após o cabeçalho) do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DataFrame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Como os rótulos das colunas já estão definidos,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iloc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[0]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pega a primeira linha de dados.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tolist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converte essa linha de dados em uma lista. Esses valores serão usados como as alturas das barras no gráfico.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765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3A23B-5894-7D17-2041-67507F2F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D2EF60-57CD-F1A3-76DD-7601F4B25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82" y="268724"/>
            <a:ext cx="11668836" cy="481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Criação do gráfico de barras: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plt.bar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(categorias, valores)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1" i="1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plt.bar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(categorias, valores)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cria um gráfico de barras, onde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categorias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(os nomes das colunas) são as categorias do eixo X e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valores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(os dados da primeira linha) são as alturas das barras. Cada barra representa uma categoria e seu valor correspondente.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046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E5191-ACB9-0099-468C-14C8F38E8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F6595D-DB65-8639-AB48-B09FAEC93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70" y="419073"/>
            <a:ext cx="11523260" cy="6019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Definindo título e rótulos para o gráfico: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plt.title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('Gráfico de Barras') 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plt.xlabel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('Categorias') 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plt.ylabel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('Valores’)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1" i="1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plt.title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('Gráfico de Barras')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define o título do gráfico, que aparecerá na parte superior.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plt.xlabel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('Categorias')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define o rótulo do eixo X, que neste caso será "Categorias".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plt.ylabel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('Valores')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define o rótulo do eixo Y, que neste caso será "Valores". Esses rótulos ajudam a identificar o que cada eixo representa no gráfico.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370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64FF3-29D5-D3BD-8F39-31E89451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33D51D-E707-6DA8-F8B3-4CDC16260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69" y="300955"/>
            <a:ext cx="11696131" cy="361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Exibindo o gráfico: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plt.show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1" i="1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plt.show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exibe o gráfico na tela. Sem essa linha, o gráfico não seria mostrado.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B6DF944-68DA-37E6-D9F5-28D3CE748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98" y="3429000"/>
            <a:ext cx="4058204" cy="334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735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57052" y="335845"/>
            <a:ext cx="11834948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import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numpy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as np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numpy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uma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biblioteca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fundamental para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cálculos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numéricos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Python,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especialmente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quando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você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trabalha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 arrays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vetores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matrizes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operações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matemáticas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apenas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um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apelido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(alias) que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você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chamar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funções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numpy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forma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mais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curta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ela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faz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Criação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manipulação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arrays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multidimensionais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Realização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operações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matemáticas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rápidas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arrays.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Funcionalidades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álgebra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linear,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transformações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matemáticas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geração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números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aleatórios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6557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3806" y="407015"/>
            <a:ext cx="1125582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b="1"/>
              <a:t>Multiplicação de Matrizes</a:t>
            </a:r>
          </a:p>
          <a:p>
            <a:r>
              <a:rPr lang="pt-BR" sz="2200"/>
              <a:t>A multiplicação de matrizes é fundamental para muitos algoritmos de aprendizado de máquina.</a:t>
            </a:r>
            <a:endParaRPr lang="pt-BR" sz="2200" dirty="0"/>
          </a:p>
        </p:txBody>
      </p:sp>
      <p:sp>
        <p:nvSpPr>
          <p:cNvPr id="3" name="Rectangle 2"/>
          <p:cNvSpPr/>
          <p:nvPr/>
        </p:nvSpPr>
        <p:spPr>
          <a:xfrm>
            <a:off x="1669868" y="1553703"/>
            <a:ext cx="894370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numpy</a:t>
            </a:r>
            <a:r>
              <a:rPr lang="en-US" sz="2400" dirty="0"/>
              <a:t> as np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en-US" sz="2400" dirty="0" err="1"/>
              <a:t>Criar</a:t>
            </a:r>
            <a:r>
              <a:rPr lang="en-US" sz="2400" dirty="0"/>
              <a:t> </a:t>
            </a:r>
            <a:r>
              <a:rPr lang="en-US" sz="2400" dirty="0" err="1"/>
              <a:t>duas</a:t>
            </a:r>
            <a:r>
              <a:rPr lang="en-US" sz="2400" dirty="0"/>
              <a:t> </a:t>
            </a:r>
            <a:r>
              <a:rPr lang="en-US" sz="2400" dirty="0" err="1"/>
              <a:t>matrizes</a:t>
            </a:r>
            <a:r>
              <a:rPr lang="en-US" sz="2400" dirty="0"/>
              <a:t> 2x2</a:t>
            </a:r>
          </a:p>
          <a:p>
            <a:r>
              <a:rPr lang="en-US" sz="2400" dirty="0"/>
              <a:t>A = </a:t>
            </a:r>
            <a:r>
              <a:rPr lang="en-US" sz="2400" dirty="0" err="1"/>
              <a:t>np.array</a:t>
            </a:r>
            <a:r>
              <a:rPr lang="en-US" sz="2400" dirty="0"/>
              <a:t>([[1, 2], [3, 4]])</a:t>
            </a:r>
          </a:p>
          <a:p>
            <a:r>
              <a:rPr lang="en-US" sz="2400" dirty="0"/>
              <a:t>B = </a:t>
            </a:r>
            <a:r>
              <a:rPr lang="en-US" sz="2400" dirty="0" err="1"/>
              <a:t>np.array</a:t>
            </a:r>
            <a:r>
              <a:rPr lang="en-US" sz="2400" dirty="0"/>
              <a:t>([[5, 6], [7, 8]])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en-US" sz="2400" dirty="0" err="1"/>
              <a:t>Multiplicar</a:t>
            </a:r>
            <a:r>
              <a:rPr lang="en-US" sz="2400" dirty="0"/>
              <a:t> as </a:t>
            </a:r>
            <a:r>
              <a:rPr lang="en-US" sz="2400" dirty="0" err="1"/>
              <a:t>matrizes</a:t>
            </a:r>
            <a:endParaRPr lang="en-US" sz="2400" dirty="0"/>
          </a:p>
          <a:p>
            <a:r>
              <a:rPr lang="en-US" sz="2400" dirty="0" err="1"/>
              <a:t>produto</a:t>
            </a:r>
            <a:r>
              <a:rPr lang="en-US" sz="2400" dirty="0"/>
              <a:t> = np.dot(A, B)  # </a:t>
            </a:r>
            <a:r>
              <a:rPr lang="en-US" sz="2400" dirty="0" err="1"/>
              <a:t>ou</a:t>
            </a:r>
            <a:r>
              <a:rPr lang="en-US" sz="2400" dirty="0"/>
              <a:t> A @ B no Python 3.5+</a:t>
            </a:r>
          </a:p>
          <a:p>
            <a:r>
              <a:rPr lang="en-US" sz="2400" dirty="0"/>
              <a:t>print("</a:t>
            </a:r>
            <a:r>
              <a:rPr lang="en-US" sz="2400" dirty="0" err="1"/>
              <a:t>Multiplicação</a:t>
            </a:r>
            <a:r>
              <a:rPr lang="en-US" sz="2400" dirty="0"/>
              <a:t> de </a:t>
            </a:r>
            <a:r>
              <a:rPr lang="en-US" sz="2400" dirty="0" err="1"/>
              <a:t>Matrizes</a:t>
            </a:r>
            <a:r>
              <a:rPr lang="en-US" sz="2400" dirty="0"/>
              <a:t> A e B:")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produto</a:t>
            </a:r>
            <a:r>
              <a:rPr lang="en-US" sz="2400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0846" y="2026809"/>
            <a:ext cx="4881154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 err="1"/>
              <a:t>Multiplicação</a:t>
            </a:r>
            <a:r>
              <a:rPr lang="en-US" sz="2400" dirty="0"/>
              <a:t> de </a:t>
            </a:r>
            <a:r>
              <a:rPr lang="en-US" sz="2400" dirty="0" err="1"/>
              <a:t>Matrizes</a:t>
            </a:r>
            <a:r>
              <a:rPr lang="en-US" sz="2400" dirty="0"/>
              <a:t> A e B:</a:t>
            </a:r>
          </a:p>
          <a:p>
            <a:pPr algn="ctr"/>
            <a:r>
              <a:rPr lang="en-US" sz="2400" dirty="0"/>
              <a:t>[19 22]</a:t>
            </a:r>
          </a:p>
          <a:p>
            <a:pPr algn="ctr"/>
            <a:r>
              <a:rPr lang="en-US" sz="2400" dirty="0"/>
              <a:t>[43 50]</a:t>
            </a:r>
          </a:p>
        </p:txBody>
      </p:sp>
    </p:spTree>
    <p:extLst>
      <p:ext uri="{BB962C8B-B14F-4D97-AF65-F5344CB8AC3E}">
        <p14:creationId xmlns:p14="http://schemas.microsoft.com/office/powerpoint/2010/main" val="3040257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0296" y="407014"/>
            <a:ext cx="10445931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Determinante de uma Matriz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O determinante é uma característica importante de uma matriz quadrada.</a:t>
            </a:r>
          </a:p>
        </p:txBody>
      </p:sp>
      <p:sp>
        <p:nvSpPr>
          <p:cNvPr id="3" name="Rectangle 2"/>
          <p:cNvSpPr/>
          <p:nvPr/>
        </p:nvSpPr>
        <p:spPr>
          <a:xfrm>
            <a:off x="370115" y="1784663"/>
            <a:ext cx="6971211" cy="1697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# </a:t>
            </a:r>
            <a:r>
              <a:rPr lang="en-US" sz="2400" dirty="0" err="1">
                <a:solidFill>
                  <a:srgbClr val="FF0000"/>
                </a:solidFill>
              </a:rPr>
              <a:t>Calcular</a:t>
            </a:r>
            <a:r>
              <a:rPr lang="en-US" sz="2400" dirty="0">
                <a:solidFill>
                  <a:srgbClr val="FF0000"/>
                </a:solidFill>
              </a:rPr>
              <a:t> o </a:t>
            </a:r>
            <a:r>
              <a:rPr lang="en-US" sz="2400" dirty="0" err="1">
                <a:solidFill>
                  <a:srgbClr val="FF0000"/>
                </a:solidFill>
              </a:rPr>
              <a:t>determinante</a:t>
            </a:r>
            <a:r>
              <a:rPr lang="en-US" sz="2400" dirty="0">
                <a:solidFill>
                  <a:srgbClr val="FF0000"/>
                </a:solidFill>
              </a:rPr>
              <a:t> de </a:t>
            </a:r>
            <a:r>
              <a:rPr lang="en-US" sz="2400" dirty="0" err="1">
                <a:solidFill>
                  <a:srgbClr val="FF0000"/>
                </a:solidFill>
              </a:rPr>
              <a:t>uma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matriz</a:t>
            </a:r>
            <a:r>
              <a:rPr lang="en-US" sz="2400" dirty="0">
                <a:solidFill>
                  <a:srgbClr val="FF0000"/>
                </a:solidFill>
              </a:rPr>
              <a:t> 2x2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det</a:t>
            </a:r>
            <a:r>
              <a:rPr lang="en-US" sz="2400" dirty="0"/>
              <a:t> = </a:t>
            </a:r>
            <a:r>
              <a:rPr lang="en-US" sz="2400" dirty="0" err="1"/>
              <a:t>np.linalg.det</a:t>
            </a:r>
            <a:r>
              <a:rPr lang="en-US" sz="2400" dirty="0"/>
              <a:t>(A)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print("</a:t>
            </a:r>
            <a:r>
              <a:rPr lang="en-US" sz="2400" dirty="0" err="1"/>
              <a:t>Determinante</a:t>
            </a:r>
            <a:r>
              <a:rPr lang="en-US" sz="2400" dirty="0"/>
              <a:t> da </a:t>
            </a:r>
            <a:r>
              <a:rPr lang="en-US" sz="2400" dirty="0" err="1"/>
              <a:t>matriz</a:t>
            </a:r>
            <a:r>
              <a:rPr lang="en-US" sz="2400" dirty="0"/>
              <a:t> A:", </a:t>
            </a:r>
            <a:r>
              <a:rPr lang="en-US" sz="2400" dirty="0" err="1"/>
              <a:t>det</a:t>
            </a:r>
            <a:r>
              <a:rPr lang="en-US" sz="2400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7964835" y="2612300"/>
            <a:ext cx="752129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/>
              <a:t>-2.0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701246" y="2612571"/>
            <a:ext cx="640080" cy="6139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2182" y="4309639"/>
            <a:ext cx="61090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pt-BR" sz="2400" b="1" dirty="0"/>
              <a:t>Inversão de Matriz</a:t>
            </a:r>
          </a:p>
          <a:p>
            <a:pPr>
              <a:lnSpc>
                <a:spcPct val="200000"/>
              </a:lnSpc>
            </a:pPr>
            <a:r>
              <a:rPr lang="pt-BR" sz="2400" dirty="0"/>
              <a:t>Se a matriz é invertível, podemos calcular a sua matriz inversa.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41326" y="5325291"/>
            <a:ext cx="640080" cy="6139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621486" y="5048302"/>
            <a:ext cx="1580605" cy="83099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[-2.    1. ]</a:t>
            </a:r>
          </a:p>
          <a:p>
            <a:r>
              <a:rPr lang="en-US" sz="2400" dirty="0"/>
              <a:t>[ 1.5 -0.5]</a:t>
            </a:r>
          </a:p>
        </p:txBody>
      </p:sp>
    </p:spTree>
    <p:extLst>
      <p:ext uri="{BB962C8B-B14F-4D97-AF65-F5344CB8AC3E}">
        <p14:creationId xmlns:p14="http://schemas.microsoft.com/office/powerpoint/2010/main" val="3391097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5428" y="147244"/>
            <a:ext cx="9753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/>
              <a:t>Funções Matemáticas Elementares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Aqui, aplicamos funções matemáticas simples a um array.</a:t>
            </a:r>
          </a:p>
        </p:txBody>
      </p:sp>
      <p:sp>
        <p:nvSpPr>
          <p:cNvPr id="3" name="Rectangle 2"/>
          <p:cNvSpPr/>
          <p:nvPr/>
        </p:nvSpPr>
        <p:spPr>
          <a:xfrm>
            <a:off x="435428" y="1281187"/>
            <a:ext cx="985810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/>
              <a:t>import</a:t>
            </a:r>
            <a:r>
              <a:rPr lang="pt-BR" sz="2400" dirty="0"/>
              <a:t> </a:t>
            </a:r>
            <a:r>
              <a:rPr lang="pt-BR" sz="2400" dirty="0" err="1"/>
              <a:t>numpy</a:t>
            </a:r>
            <a:r>
              <a:rPr lang="pt-BR" sz="2400" dirty="0"/>
              <a:t> as </a:t>
            </a:r>
            <a:r>
              <a:rPr lang="pt-BR" sz="2400" dirty="0" err="1"/>
              <a:t>np</a:t>
            </a:r>
            <a:r>
              <a:rPr lang="pt-BR" sz="2400" dirty="0"/>
              <a:t>  # Importar o </a:t>
            </a:r>
            <a:r>
              <a:rPr lang="pt-BR" sz="2400" dirty="0" err="1"/>
              <a:t>numpy</a:t>
            </a:r>
            <a:r>
              <a:rPr lang="pt-BR" sz="2400" dirty="0"/>
              <a:t> com o alias </a:t>
            </a:r>
            <a:r>
              <a:rPr lang="pt-BR" sz="2400" dirty="0" err="1"/>
              <a:t>np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# Criar um </a:t>
            </a:r>
            <a:r>
              <a:rPr lang="pt-BR" sz="2400" dirty="0" err="1"/>
              <a:t>array</a:t>
            </a:r>
            <a:r>
              <a:rPr lang="pt-BR" sz="2400" dirty="0"/>
              <a:t> de números</a:t>
            </a:r>
          </a:p>
          <a:p>
            <a:r>
              <a:rPr lang="pt-BR" sz="2400" dirty="0" err="1"/>
              <a:t>arr</a:t>
            </a:r>
            <a:r>
              <a:rPr lang="pt-BR" sz="2400" dirty="0"/>
              <a:t> = </a:t>
            </a:r>
            <a:r>
              <a:rPr lang="pt-BR" sz="2400" dirty="0" err="1"/>
              <a:t>np.array</a:t>
            </a:r>
            <a:r>
              <a:rPr lang="pt-BR" sz="2400" dirty="0"/>
              <a:t>([1, 4, 9, 16])</a:t>
            </a:r>
          </a:p>
          <a:p>
            <a:endParaRPr lang="pt-BR" sz="2400" dirty="0"/>
          </a:p>
          <a:p>
            <a:r>
              <a:rPr lang="pt-BR" sz="2400" dirty="0"/>
              <a:t># Aplicar a raiz quadrada de cada elemento</a:t>
            </a:r>
          </a:p>
          <a:p>
            <a:r>
              <a:rPr lang="pt-BR" sz="2400" dirty="0" err="1"/>
              <a:t>raiz_quadrada</a:t>
            </a:r>
            <a:r>
              <a:rPr lang="pt-BR" sz="2400" dirty="0"/>
              <a:t> = </a:t>
            </a:r>
            <a:r>
              <a:rPr lang="pt-BR" sz="2400" dirty="0" err="1"/>
              <a:t>np.sqrt</a:t>
            </a:r>
            <a:r>
              <a:rPr lang="pt-BR" sz="2400" dirty="0"/>
              <a:t>(</a:t>
            </a:r>
            <a:r>
              <a:rPr lang="pt-BR" sz="2400" dirty="0" err="1"/>
              <a:t>arr</a:t>
            </a:r>
            <a:r>
              <a:rPr lang="pt-BR" sz="2400" dirty="0"/>
              <a:t>)</a:t>
            </a:r>
          </a:p>
          <a:p>
            <a:r>
              <a:rPr lang="pt-BR" sz="2400" dirty="0"/>
              <a:t>print("Raiz quadrada de cada elemento:")</a:t>
            </a:r>
          </a:p>
          <a:p>
            <a:r>
              <a:rPr lang="pt-BR" sz="2400" dirty="0"/>
              <a:t>print(</a:t>
            </a:r>
            <a:r>
              <a:rPr lang="pt-BR" sz="2400" dirty="0" err="1"/>
              <a:t>raiz_quadrada</a:t>
            </a:r>
            <a:r>
              <a:rPr lang="pt-BR" sz="2400" dirty="0"/>
              <a:t>)</a:t>
            </a:r>
          </a:p>
          <a:p>
            <a:endParaRPr lang="pt-BR" sz="2400" dirty="0"/>
          </a:p>
          <a:p>
            <a:r>
              <a:rPr lang="pt-BR" sz="2400" dirty="0"/>
              <a:t># Aplicar o logaritmo natural</a:t>
            </a:r>
          </a:p>
          <a:p>
            <a:r>
              <a:rPr lang="pt-BR" sz="2400" dirty="0"/>
              <a:t>logaritmo = np.log(</a:t>
            </a:r>
            <a:r>
              <a:rPr lang="pt-BR" sz="2400" dirty="0" err="1"/>
              <a:t>arr</a:t>
            </a:r>
            <a:r>
              <a:rPr lang="pt-BR" sz="2400" dirty="0"/>
              <a:t>)</a:t>
            </a:r>
          </a:p>
          <a:p>
            <a:r>
              <a:rPr lang="pt-BR" sz="2400" dirty="0"/>
              <a:t>print("Logaritmo natural de cada elemento:")</a:t>
            </a:r>
          </a:p>
          <a:p>
            <a:r>
              <a:rPr lang="pt-BR" sz="2400" dirty="0"/>
              <a:t>print(logaritmo)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00299" y="3734412"/>
            <a:ext cx="5473337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err="1"/>
              <a:t>Raiz</a:t>
            </a:r>
            <a:r>
              <a:rPr lang="en-US" sz="2000" dirty="0"/>
              <a:t> </a:t>
            </a:r>
            <a:r>
              <a:rPr lang="en-US" sz="2000" dirty="0" err="1"/>
              <a:t>quadrada</a:t>
            </a:r>
            <a:r>
              <a:rPr lang="en-US" sz="2000" dirty="0"/>
              <a:t> de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elemento</a:t>
            </a:r>
            <a:r>
              <a:rPr lang="en-US" sz="2000" dirty="0"/>
              <a:t>:</a:t>
            </a:r>
          </a:p>
          <a:p>
            <a:r>
              <a:rPr lang="en-US" sz="2000" dirty="0"/>
              <a:t>[1. 2. 3. 4.]</a:t>
            </a:r>
          </a:p>
          <a:p>
            <a:r>
              <a:rPr lang="en-US" sz="2000" dirty="0" err="1"/>
              <a:t>Logaritmo</a:t>
            </a:r>
            <a:r>
              <a:rPr lang="en-US" sz="2000" dirty="0"/>
              <a:t> natural de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elemento</a:t>
            </a:r>
            <a:r>
              <a:rPr lang="en-US" sz="2000" dirty="0"/>
              <a:t>:</a:t>
            </a:r>
          </a:p>
          <a:p>
            <a:r>
              <a:rPr lang="en-US" sz="2000" dirty="0"/>
              <a:t>[0.         1.38629436 2.19722458 2.77258872]</a:t>
            </a:r>
          </a:p>
        </p:txBody>
      </p:sp>
    </p:spTree>
    <p:extLst>
      <p:ext uri="{BB962C8B-B14F-4D97-AF65-F5344CB8AC3E}">
        <p14:creationId xmlns:p14="http://schemas.microsoft.com/office/powerpoint/2010/main" val="3092619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00891" y="235845"/>
            <a:ext cx="10711543" cy="1553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np.random.randint()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2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Essa função gera números inteiros aleatórios dentro de um intervalo. Para gerar números entre 10 e 90:</a:t>
            </a:r>
          </a:p>
        </p:txBody>
      </p:sp>
      <p:sp>
        <p:nvSpPr>
          <p:cNvPr id="3" name="Rectangle 2"/>
          <p:cNvSpPr/>
          <p:nvPr/>
        </p:nvSpPr>
        <p:spPr>
          <a:xfrm>
            <a:off x="561700" y="2094638"/>
            <a:ext cx="99147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numpy</a:t>
            </a:r>
            <a:r>
              <a:rPr lang="en-US" sz="2400" dirty="0"/>
              <a:t> as np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0B050"/>
                </a:solidFill>
              </a:rPr>
              <a:t># </a:t>
            </a:r>
            <a:r>
              <a:rPr lang="en-US" sz="2400" dirty="0" err="1">
                <a:solidFill>
                  <a:srgbClr val="00B050"/>
                </a:solidFill>
              </a:rPr>
              <a:t>Gerar</a:t>
            </a:r>
            <a:r>
              <a:rPr lang="en-US" sz="2400" dirty="0">
                <a:solidFill>
                  <a:srgbClr val="00B050"/>
                </a:solidFill>
              </a:rPr>
              <a:t> 5 </a:t>
            </a:r>
            <a:r>
              <a:rPr lang="en-US" sz="2400" dirty="0" err="1">
                <a:solidFill>
                  <a:srgbClr val="00B050"/>
                </a:solidFill>
              </a:rPr>
              <a:t>números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aleatórios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inteiros</a:t>
            </a:r>
            <a:r>
              <a:rPr lang="en-US" sz="2400" dirty="0">
                <a:solidFill>
                  <a:srgbClr val="00B050"/>
                </a:solidFill>
              </a:rPr>
              <a:t> entre 10 e 90 (inclusive)</a:t>
            </a:r>
          </a:p>
          <a:p>
            <a:r>
              <a:rPr lang="en-US" sz="2400" dirty="0" err="1"/>
              <a:t>random_nums</a:t>
            </a:r>
            <a:r>
              <a:rPr lang="en-US" sz="2400" dirty="0"/>
              <a:t> = </a:t>
            </a:r>
            <a:r>
              <a:rPr lang="en-US" sz="2400" dirty="0" err="1"/>
              <a:t>np.random.randint</a:t>
            </a:r>
            <a:r>
              <a:rPr lang="en-US" sz="2400" dirty="0"/>
              <a:t>(10, 91, 5)</a:t>
            </a:r>
          </a:p>
          <a:p>
            <a:r>
              <a:rPr lang="en-US" sz="2400" dirty="0"/>
              <a:t>print("5 </a:t>
            </a:r>
            <a:r>
              <a:rPr lang="en-US" sz="2400" dirty="0" err="1"/>
              <a:t>números</a:t>
            </a:r>
            <a:r>
              <a:rPr lang="en-US" sz="2400" dirty="0"/>
              <a:t> </a:t>
            </a:r>
            <a:r>
              <a:rPr lang="en-US" sz="2400" dirty="0" err="1"/>
              <a:t>aleatórios</a:t>
            </a:r>
            <a:r>
              <a:rPr lang="en-US" sz="2400" dirty="0"/>
              <a:t> entre 10 e 90:")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random_nums</a:t>
            </a:r>
            <a:r>
              <a:rPr lang="en-US" sz="2400" dirty="0"/>
              <a:t>)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0890" y="4903749"/>
            <a:ext cx="11312434" cy="110799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primeiro valor (10) é o limite inferior (inclusivo).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segundo valor (91) é o limite superior (exclusivo), ou seja, o valor máximo será 90.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terceiro valor (5) é a quantidade de números que você quer gerar</a:t>
            </a:r>
          </a:p>
        </p:txBody>
      </p:sp>
    </p:spTree>
    <p:extLst>
      <p:ext uri="{BB962C8B-B14F-4D97-AF65-F5344CB8AC3E}">
        <p14:creationId xmlns:p14="http://schemas.microsoft.com/office/powerpoint/2010/main" val="584518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742" y="858692"/>
            <a:ext cx="11164389" cy="5021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# </a:t>
            </a:r>
            <a:r>
              <a:rPr lang="en-US" sz="2400" dirty="0" err="1"/>
              <a:t>Gerar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amostra</a:t>
            </a:r>
            <a:r>
              <a:rPr lang="en-US" sz="2400" dirty="0"/>
              <a:t> </a:t>
            </a:r>
            <a:r>
              <a:rPr lang="en-US" sz="2400" dirty="0" err="1"/>
              <a:t>aleatória</a:t>
            </a:r>
            <a:r>
              <a:rPr lang="en-US" sz="2400" dirty="0"/>
              <a:t> de 3 </a:t>
            </a:r>
            <a:r>
              <a:rPr lang="en-US" sz="2400" dirty="0" err="1"/>
              <a:t>números</a:t>
            </a:r>
            <a:r>
              <a:rPr lang="en-US" sz="2400" dirty="0"/>
              <a:t> </a:t>
            </a:r>
            <a:r>
              <a:rPr lang="en-US" sz="2400" dirty="0" err="1"/>
              <a:t>inteiros</a:t>
            </a:r>
            <a:r>
              <a:rPr lang="en-US" sz="2400" dirty="0"/>
              <a:t> entre 1 e 10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amostra_inteiros</a:t>
            </a:r>
            <a:r>
              <a:rPr lang="en-US" sz="2400" dirty="0"/>
              <a:t> = </a:t>
            </a:r>
            <a:r>
              <a:rPr lang="en-US" sz="2400" dirty="0" err="1"/>
              <a:t>np.random.randint</a:t>
            </a:r>
            <a:r>
              <a:rPr lang="en-US" sz="2400" dirty="0"/>
              <a:t>(1, 11, 3)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print("</a:t>
            </a:r>
            <a:r>
              <a:rPr lang="en-US" sz="2400" dirty="0" err="1"/>
              <a:t>Amostra</a:t>
            </a:r>
            <a:r>
              <a:rPr lang="en-US" sz="2400" dirty="0"/>
              <a:t> </a:t>
            </a:r>
            <a:r>
              <a:rPr lang="en-US" sz="2400" dirty="0" err="1"/>
              <a:t>aleatória</a:t>
            </a:r>
            <a:r>
              <a:rPr lang="en-US" sz="2400" dirty="0"/>
              <a:t> de </a:t>
            </a:r>
            <a:r>
              <a:rPr lang="en-US" sz="2400" dirty="0" err="1"/>
              <a:t>inteiros</a:t>
            </a:r>
            <a:r>
              <a:rPr lang="en-US" sz="2400" dirty="0"/>
              <a:t> entre 1 e 10:")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print(</a:t>
            </a:r>
            <a:r>
              <a:rPr lang="en-US" sz="2400" dirty="0" err="1"/>
              <a:t>amostra_inteiros</a:t>
            </a:r>
            <a:r>
              <a:rPr lang="en-US" sz="2400" dirty="0"/>
              <a:t>)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# </a:t>
            </a:r>
            <a:r>
              <a:rPr lang="en-US" sz="2400" dirty="0" err="1"/>
              <a:t>Gerar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amostra</a:t>
            </a:r>
            <a:r>
              <a:rPr lang="en-US" sz="2400" dirty="0"/>
              <a:t> </a:t>
            </a:r>
            <a:r>
              <a:rPr lang="en-US" sz="2400" dirty="0" err="1"/>
              <a:t>aleatória</a:t>
            </a:r>
            <a:r>
              <a:rPr lang="en-US" sz="2400" dirty="0"/>
              <a:t> com </a:t>
            </a:r>
            <a:r>
              <a:rPr lang="en-US" sz="2400" dirty="0" err="1"/>
              <a:t>reposição</a:t>
            </a:r>
            <a:r>
              <a:rPr lang="en-US" sz="2400" dirty="0"/>
              <a:t> de 5 </a:t>
            </a:r>
            <a:r>
              <a:rPr lang="en-US" sz="2400" dirty="0" err="1"/>
              <a:t>elementos</a:t>
            </a:r>
            <a:r>
              <a:rPr lang="en-US" sz="2400" dirty="0"/>
              <a:t> de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lista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/>
              <a:t>amostra_lista</a:t>
            </a:r>
            <a:r>
              <a:rPr lang="en-US" sz="2400" dirty="0"/>
              <a:t> = </a:t>
            </a:r>
            <a:r>
              <a:rPr lang="en-US" sz="2400" dirty="0" err="1"/>
              <a:t>np.random.choice</a:t>
            </a:r>
            <a:r>
              <a:rPr lang="en-US" sz="2400" dirty="0"/>
              <a:t>(['A', 'B', 'C', 'D'], size=5, replace=True)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print("</a:t>
            </a:r>
            <a:r>
              <a:rPr lang="en-US" sz="2400" dirty="0" err="1"/>
              <a:t>Amostra</a:t>
            </a:r>
            <a:r>
              <a:rPr lang="en-US" sz="2400" dirty="0"/>
              <a:t> </a:t>
            </a:r>
            <a:r>
              <a:rPr lang="en-US" sz="2400" dirty="0" err="1"/>
              <a:t>aleatória</a:t>
            </a:r>
            <a:r>
              <a:rPr lang="en-US" sz="2400" dirty="0"/>
              <a:t> com </a:t>
            </a:r>
            <a:r>
              <a:rPr lang="en-US" sz="2400" dirty="0" err="1"/>
              <a:t>reposição</a:t>
            </a:r>
            <a:r>
              <a:rPr lang="en-US" sz="2400" dirty="0"/>
              <a:t> de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lista</a:t>
            </a:r>
            <a:r>
              <a:rPr lang="en-US" sz="2400" dirty="0"/>
              <a:t>:")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print(</a:t>
            </a:r>
            <a:r>
              <a:rPr lang="en-US" sz="2400" dirty="0" err="1"/>
              <a:t>amostra_lista</a:t>
            </a:r>
            <a:r>
              <a:rPr lang="en-US" sz="2400" dirty="0"/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7175864" y="5488588"/>
            <a:ext cx="6683828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Amostra</a:t>
            </a:r>
            <a:r>
              <a:rPr lang="en-US" dirty="0"/>
              <a:t> </a:t>
            </a:r>
            <a:r>
              <a:rPr lang="en-US" dirty="0" err="1"/>
              <a:t>aleatória</a:t>
            </a:r>
            <a:r>
              <a:rPr lang="en-US" dirty="0"/>
              <a:t> de </a:t>
            </a:r>
            <a:r>
              <a:rPr lang="en-US" dirty="0" err="1"/>
              <a:t>inteiros</a:t>
            </a:r>
            <a:r>
              <a:rPr lang="en-US" dirty="0"/>
              <a:t> entre 1 e 10:</a:t>
            </a:r>
          </a:p>
          <a:p>
            <a:r>
              <a:rPr lang="en-US" dirty="0"/>
              <a:t>[4 7 2]</a:t>
            </a:r>
          </a:p>
          <a:p>
            <a:r>
              <a:rPr lang="en-US" dirty="0" err="1"/>
              <a:t>Amostra</a:t>
            </a:r>
            <a:r>
              <a:rPr lang="en-US" dirty="0"/>
              <a:t> </a:t>
            </a:r>
            <a:r>
              <a:rPr lang="en-US" dirty="0" err="1"/>
              <a:t>aleatória</a:t>
            </a:r>
            <a:r>
              <a:rPr lang="en-US" dirty="0"/>
              <a:t> com </a:t>
            </a:r>
            <a:r>
              <a:rPr lang="en-US" dirty="0" err="1"/>
              <a:t>reposição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:</a:t>
            </a:r>
          </a:p>
          <a:p>
            <a:r>
              <a:rPr lang="en-US" dirty="0"/>
              <a:t>['B' 'A' 'D' 'C' 'C']</a:t>
            </a:r>
          </a:p>
        </p:txBody>
      </p:sp>
    </p:spTree>
    <p:extLst>
      <p:ext uri="{BB962C8B-B14F-4D97-AF65-F5344CB8AC3E}">
        <p14:creationId xmlns:p14="http://schemas.microsoft.com/office/powerpoint/2010/main" val="1472666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799" y="281413"/>
            <a:ext cx="11386457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 que é Regressão Linear?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A </a:t>
            </a:r>
            <a:r>
              <a:rPr lang="pt-BR" sz="2400" b="1" dirty="0"/>
              <a:t>regressão linear</a:t>
            </a:r>
            <a:r>
              <a:rPr lang="pt-BR" sz="2400" dirty="0"/>
              <a:t> é uma técnica estatística usada para modelar a relação entre uma variável dependente (o que você quer prever) e uma ou mais variáveis independentes (as variáveis que você usa para fazer a previsão).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O principal objetivo da regressão linear é </a:t>
            </a:r>
            <a:r>
              <a:rPr lang="pt-BR" sz="2400" b="1" dirty="0"/>
              <a:t>ajustar uma linha reta</a:t>
            </a:r>
            <a:r>
              <a:rPr lang="pt-BR" sz="2400" dirty="0"/>
              <a:t> (no caso de uma variável dependente) ou um </a:t>
            </a:r>
            <a:r>
              <a:rPr lang="pt-BR" sz="2400" b="1" dirty="0"/>
              <a:t>hiperplano</a:t>
            </a:r>
            <a:r>
              <a:rPr lang="pt-BR" sz="2400" dirty="0"/>
              <a:t> (no caso de múltiplas variáveis) que melhor represente essa relação.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799" y="4466885"/>
            <a:ext cx="11229704" cy="20712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O que significa "linear"?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O termo "linear" se refere ao fato de que a relação entre as variáveis é representada por uma </a:t>
            </a:r>
            <a:r>
              <a:rPr lang="pt-BR" sz="2200" b="1" dirty="0"/>
              <a:t>linha reta</a:t>
            </a:r>
            <a:r>
              <a:rPr lang="pt-BR" sz="2200" dirty="0"/>
              <a:t> ou </a:t>
            </a:r>
            <a:r>
              <a:rPr lang="pt-BR" sz="2200" b="1" dirty="0"/>
              <a:t>hiperplano</a:t>
            </a:r>
            <a:r>
              <a:rPr lang="pt-BR" sz="2200" dirty="0"/>
              <a:t>. Ou seja, as mudanças nas variáveis independentes resultam em mudanças lineares na variável dependente.</a:t>
            </a:r>
          </a:p>
        </p:txBody>
      </p:sp>
    </p:spTree>
    <p:extLst>
      <p:ext uri="{BB962C8B-B14F-4D97-AF65-F5344CB8AC3E}">
        <p14:creationId xmlns:p14="http://schemas.microsoft.com/office/powerpoint/2010/main" val="1994746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9485" y="461780"/>
            <a:ext cx="11556274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/>
              <a:t>A regressão linear busca ajustar uma linha (ou plano, no caso de múltiplas variáveis) aos dados de maneira que minimize a diferença entre os valores preditos e os valores reais, ou seja, ela tenta encontrar a linha que melhor "se ajusta" aos pontos de dados no espaço. A equação da reta em 2D para regressão linear simples é dada por: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928" y="2082650"/>
            <a:ext cx="2308384" cy="6912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401" y="3026090"/>
            <a:ext cx="7472479" cy="293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31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65760" y="337885"/>
            <a:ext cx="1137774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classe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LinearRegression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no scikit-learn</a:t>
            </a:r>
            <a:endParaRPr kumimoji="0" lang="en-US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classe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LinearRegression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do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facilita o ajuste de uma reta (ou hiperplano) aos dados de treinamento e fornece métodos para prever valores com base no modelo ajustado.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2747946"/>
            <a:ext cx="16049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Como </a:t>
            </a:r>
            <a:r>
              <a:rPr lang="en-US" sz="2400" dirty="0" err="1"/>
              <a:t>usar</a:t>
            </a:r>
            <a:r>
              <a:rPr lang="en-US" sz="2400" dirty="0"/>
              <a:t>: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311348"/>
            <a:ext cx="29514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/>
              <a:t>Importação</a:t>
            </a:r>
            <a:r>
              <a:rPr lang="en-US" sz="2400" b="1" dirty="0"/>
              <a:t> da </a:t>
            </a:r>
            <a:r>
              <a:rPr lang="en-US" sz="2400" b="1" dirty="0" err="1"/>
              <a:t>classe</a:t>
            </a:r>
            <a:r>
              <a:rPr lang="en-US" sz="2400" dirty="0"/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1451019" y="3976487"/>
            <a:ext cx="66047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from </a:t>
            </a:r>
            <a:r>
              <a:rPr lang="en-US" sz="2400" dirty="0" err="1"/>
              <a:t>sklearn.linear_model</a:t>
            </a:r>
            <a:r>
              <a:rPr lang="en-US" sz="2400" dirty="0"/>
              <a:t> import </a:t>
            </a:r>
            <a:r>
              <a:rPr lang="en-US" sz="2400" dirty="0" err="1"/>
              <a:t>LinearRegression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3368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4863" y="357443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/>
              <a:t>Criando</a:t>
            </a:r>
            <a:r>
              <a:rPr lang="en-US" sz="2400" b="1" dirty="0"/>
              <a:t> dados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1062445" y="1271678"/>
            <a:ext cx="983197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numpy</a:t>
            </a:r>
            <a:r>
              <a:rPr lang="en-US" sz="2400" dirty="0"/>
              <a:t> as np</a:t>
            </a:r>
          </a:p>
          <a:p>
            <a:r>
              <a:rPr lang="en-US" sz="2400" dirty="0"/>
              <a:t>import </a:t>
            </a:r>
            <a:r>
              <a:rPr lang="en-US" sz="2400" dirty="0" err="1"/>
              <a:t>matplotlib.pyplot</a:t>
            </a:r>
            <a:r>
              <a:rPr lang="en-US" sz="2400" dirty="0"/>
              <a:t> as </a:t>
            </a:r>
            <a:r>
              <a:rPr lang="en-US" sz="2400" dirty="0" err="1"/>
              <a:t>plt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# Dados de </a:t>
            </a:r>
            <a:r>
              <a:rPr lang="en-US" sz="2400" dirty="0" err="1"/>
              <a:t>exemplo</a:t>
            </a:r>
            <a:endParaRPr lang="en-US" sz="2400" dirty="0"/>
          </a:p>
          <a:p>
            <a:r>
              <a:rPr lang="en-US" sz="2400" dirty="0"/>
              <a:t>X = </a:t>
            </a:r>
            <a:r>
              <a:rPr lang="en-US" sz="2400" dirty="0" err="1"/>
              <a:t>np.array</a:t>
            </a:r>
            <a:r>
              <a:rPr lang="en-US" sz="2400" dirty="0"/>
              <a:t>([[1], [2], [3], [4], [5]])  # </a:t>
            </a:r>
            <a:r>
              <a:rPr lang="en-US" sz="2400" dirty="0" err="1"/>
              <a:t>Variável</a:t>
            </a:r>
            <a:r>
              <a:rPr lang="en-US" sz="2400" dirty="0"/>
              <a:t> </a:t>
            </a:r>
            <a:r>
              <a:rPr lang="en-US" sz="2400" dirty="0" err="1"/>
              <a:t>independente</a:t>
            </a:r>
            <a:endParaRPr lang="en-US" sz="2400" dirty="0"/>
          </a:p>
          <a:p>
            <a:r>
              <a:rPr lang="en-US" sz="2400" dirty="0"/>
              <a:t>y = </a:t>
            </a:r>
            <a:r>
              <a:rPr lang="en-US" sz="2400" dirty="0" err="1"/>
              <a:t>np.array</a:t>
            </a:r>
            <a:r>
              <a:rPr lang="en-US" sz="2400" dirty="0"/>
              <a:t>([1, 2, 1.9, 4.1, 5])  # </a:t>
            </a:r>
            <a:r>
              <a:rPr lang="en-US" sz="2400" dirty="0" err="1"/>
              <a:t>Variável</a:t>
            </a:r>
            <a:r>
              <a:rPr lang="en-US" sz="2400" dirty="0"/>
              <a:t> </a:t>
            </a:r>
            <a:r>
              <a:rPr lang="en-US" sz="2400" dirty="0" err="1"/>
              <a:t>dependente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062445" y="4032572"/>
            <a:ext cx="10628812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400" b="1" dirty="0"/>
              <a:t>Variável Independente (ou variável explicativa):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A variável </a:t>
            </a:r>
            <a:r>
              <a:rPr lang="pt-BR" sz="2400" b="1" dirty="0"/>
              <a:t>independente</a:t>
            </a:r>
            <a:r>
              <a:rPr lang="pt-BR" sz="2400" dirty="0"/>
              <a:t> é a variável que você manipula ou controla no estudo ou experimento.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Ela </a:t>
            </a:r>
            <a:r>
              <a:rPr lang="pt-BR" sz="2400" b="1" dirty="0"/>
              <a:t>não depende</a:t>
            </a:r>
            <a:r>
              <a:rPr lang="pt-BR" sz="2400" dirty="0"/>
              <a:t> de outras variáveis, ou seja, ela é "independente" de qualquer outra variável no modelo.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Ela é a causa ou o fator que pode influenciar o comportamento de outra variável.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2445" y="4032572"/>
            <a:ext cx="10628812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</a:t>
            </a:r>
            <a:r>
              <a:rPr lang="pt-BR" sz="2400" dirty="0"/>
              <a:t>: Em um estudo sobre como a quantidade de horas de estudo afeta o desempenho de uma pessoa em um teste: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Variável independente</a:t>
            </a:r>
            <a:r>
              <a:rPr lang="pt-BR" sz="2400" dirty="0"/>
              <a:t>: Número de horas de estudo. Você pode controlar o tempo de estudo e está investigando como isso afeta o desempenho.</a:t>
            </a:r>
          </a:p>
        </p:txBody>
      </p:sp>
    </p:spTree>
    <p:extLst>
      <p:ext uri="{BB962C8B-B14F-4D97-AF65-F5344CB8AC3E}">
        <p14:creationId xmlns:p14="http://schemas.microsoft.com/office/powerpoint/2010/main" val="318676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930" y="440846"/>
            <a:ext cx="11072949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Variável Dependente (ou variável resposta):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A variável </a:t>
            </a:r>
            <a:r>
              <a:rPr lang="pt-BR" sz="2400" b="1" dirty="0"/>
              <a:t>dependente</a:t>
            </a:r>
            <a:r>
              <a:rPr lang="pt-BR" sz="2400" dirty="0"/>
              <a:t> é a variável que você mede ou observa no experimento ou estudo.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Ela </a:t>
            </a:r>
            <a:r>
              <a:rPr lang="pt-BR" sz="2400" b="1" dirty="0"/>
              <a:t>depende</a:t>
            </a:r>
            <a:r>
              <a:rPr lang="pt-BR" sz="2400" dirty="0"/>
              <a:t> da variável independente, ou seja, ela é o efeito ou resultado de mudanças na variável independente.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Em outras palavras, a variável dependente é o que você está tentando prever ou explicar.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929" y="4770010"/>
            <a:ext cx="11072949" cy="10555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/>
              <a:t>Exemplo</a:t>
            </a:r>
            <a:r>
              <a:rPr lang="pt-BR" sz="2200"/>
              <a:t>: Continuando o exemplo anterior, o </a:t>
            </a:r>
            <a:r>
              <a:rPr lang="pt-BR" sz="2200" b="1"/>
              <a:t>desempenho no teste</a:t>
            </a:r>
            <a:r>
              <a:rPr lang="pt-BR" sz="2200"/>
              <a:t> seria a variável dependente. </a:t>
            </a:r>
            <a:r>
              <a:rPr lang="pt-BR" sz="2200" dirty="0"/>
              <a:t>A ideia é ver como ele muda em resposta ao número de horas de estudo.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856714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1553" y="325627"/>
            <a:ext cx="11399521" cy="5626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Exemplo prático: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Imaginando um estudo sobre o impacto do exercício físico na saúde cardiovascular: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b="1" dirty="0"/>
              <a:t>Variável independente</a:t>
            </a:r>
            <a:r>
              <a:rPr lang="pt-BR" sz="2200" dirty="0"/>
              <a:t>: Quantidade de exercício (por exemplo, horas por semana).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b="1" dirty="0"/>
              <a:t>Variável dependente</a:t>
            </a:r>
            <a:r>
              <a:rPr lang="pt-BR" sz="2200" dirty="0"/>
              <a:t>: Medidas de saúde cardiovascular, como a pressão arterial ou batimentos cardíacos em repouso.</a:t>
            </a:r>
          </a:p>
          <a:p>
            <a:pPr>
              <a:lnSpc>
                <a:spcPct val="150000"/>
              </a:lnSpc>
            </a:pPr>
            <a:r>
              <a:rPr lang="pt-BR" sz="2200" b="1" dirty="0"/>
              <a:t>Resumo: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b="1" dirty="0"/>
              <a:t>Variável independente</a:t>
            </a:r>
            <a:r>
              <a:rPr lang="pt-BR" sz="2200" dirty="0"/>
              <a:t>: O fator que você manipula ou que pode causar uma mudança. É o "input".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b="1" dirty="0"/>
              <a:t>Variável dependente</a:t>
            </a:r>
            <a:r>
              <a:rPr lang="pt-BR" sz="2200" dirty="0"/>
              <a:t>: O que você está tentando explicar ou prever. É o "output" ou o "efeito".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Quando você ajusta ou muda uma variável independente, você observa como a variável dependente responde a essa mudança.</a:t>
            </a:r>
          </a:p>
        </p:txBody>
      </p:sp>
    </p:spTree>
    <p:extLst>
      <p:ext uri="{BB962C8B-B14F-4D97-AF65-F5344CB8AC3E}">
        <p14:creationId xmlns:p14="http://schemas.microsoft.com/office/powerpoint/2010/main" val="1642223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4137"/>
            <a:ext cx="12192000" cy="56323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b="0" dirty="0">
                <a:solidFill>
                  <a:srgbClr val="FF75B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 numpy </a:t>
            </a:r>
            <a:r>
              <a:rPr lang="pt-BR" b="0" dirty="0">
                <a:solidFill>
                  <a:srgbClr val="FF75B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r>
              <a:rPr lang="pt-BR" b="0" dirty="0">
                <a:solidFill>
                  <a:srgbClr val="FF75B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 matplotlib.pyplot </a:t>
            </a:r>
            <a:r>
              <a:rPr lang="pt-BR" b="0" dirty="0">
                <a:solidFill>
                  <a:srgbClr val="FF75B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 plt</a:t>
            </a:r>
          </a:p>
          <a:p>
            <a:r>
              <a:rPr lang="pt-BR" b="0" dirty="0">
                <a:solidFill>
                  <a:srgbClr val="FF75B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 sklearn.linear_model </a:t>
            </a:r>
            <a:r>
              <a:rPr lang="pt-BR" b="0" dirty="0">
                <a:solidFill>
                  <a:srgbClr val="FF75B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 LinearRegression</a:t>
            </a: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Dados fictícios: horas de exercício por semana e pressão arterial correspondente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horas_exercicio = np.array([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]).reshape(-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Quantidade de exercício (horas/semana)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pressao_arterial = np.array([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140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135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130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125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115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110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105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])  </a:t>
            </a: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Pressão arterial (mmHg)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Criando o modelo de regressão linear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modelo = LinearRegression()</a:t>
            </a: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Ajustando o modelo aos dados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modelo.fit(horas_exercicio, pressao_arterial)</a:t>
            </a: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Previsões do modelo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pressao_prevista = modelo.predict(horas_exercicio)</a:t>
            </a: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305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8013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Plotando os dados e a linha de regressão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plt.scatter(horas_exercicio, pressao_arterial, </a:t>
            </a:r>
            <a:r>
              <a:rPr lang="pt-BR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'blue'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'Dados reais'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Dados reais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plt.plot(horas_exercicio, pressao_prevista, </a:t>
            </a:r>
            <a:r>
              <a:rPr lang="pt-BR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'Linha de regressão'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Linha de regressão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plt.title(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'Impacto do Exercício na Pressão Arterial'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plt.xlabel(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'Horas de Exercício por Semana'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plt.ylabel(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'Pressão Arterial (mmHg)'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plt.legend()</a:t>
            </a: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plt.grid(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plt.show()</a:t>
            </a: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Exibindo os coeficientes da regressão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6FC1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'Coeficiente angular (inclinação):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modelo.coef_[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6FC1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'Intercepto: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modelo.intercept_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671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78674" y="290717"/>
            <a:ext cx="11913326" cy="246221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Explicação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Código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Dados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Fictícios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horas_exercicio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quantidade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horas de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exercício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realizadas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semana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variável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independente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pressao_arterial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pressão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arterial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correspondente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cada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quantidade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horas de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exercício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variável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dependente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8674" y="2948873"/>
            <a:ext cx="11913326" cy="230832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Regressão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Usamos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LinearRegression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-learn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ajusta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dados. 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encontra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inclinação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intercepto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que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variável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(horas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afeta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variável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pressão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arterial).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8674" y="5453140"/>
            <a:ext cx="119133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/>
              <a:t>Plotagem</a:t>
            </a:r>
            <a:r>
              <a:rPr lang="pt-BR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O gráfico de dispersão mostra os dados reais (pontos azuis), e a linha de regressão (linha vermelha) mostra a relação entre as variáveis.</a:t>
            </a:r>
          </a:p>
        </p:txBody>
      </p:sp>
    </p:spTree>
    <p:extLst>
      <p:ext uri="{BB962C8B-B14F-4D97-AF65-F5344CB8AC3E}">
        <p14:creationId xmlns:p14="http://schemas.microsoft.com/office/powerpoint/2010/main" val="3325346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7680" y="331152"/>
            <a:ext cx="11704320" cy="22510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Coeficientes</a:t>
            </a:r>
            <a:r>
              <a:rPr lang="pt-BR" sz="2400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A </a:t>
            </a:r>
            <a:r>
              <a:rPr lang="pt-BR" sz="2400" b="1" dirty="0"/>
              <a:t>inclinação</a:t>
            </a:r>
            <a:r>
              <a:rPr lang="pt-BR" sz="2400" dirty="0"/>
              <a:t> (coeficiente angular) nos diz o quanto a pressão arterial muda para cada aumento de uma unidade na variável independente (horas de exercício).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O </a:t>
            </a:r>
            <a:r>
              <a:rPr lang="pt-BR" sz="2400" b="1" dirty="0"/>
              <a:t>intercepto</a:t>
            </a:r>
            <a:r>
              <a:rPr lang="pt-BR" sz="2400" dirty="0"/>
              <a:t> é o valor da pressão arterial quando a quantidade de exercício é zero.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80" y="3105669"/>
            <a:ext cx="11704320" cy="335906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Saída Esperada: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O gráfico mostra como a pressão arterial diminui à medida que a quantidade de exercício aumenta.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O coeficiente angular indicará o impacto da quantidade de exercício na pressão arterial. Por exemplo, se o coeficiente for negativo, isso significa que, à medida que a quantidade de exercício aumenta, a pressão arterial diminui.</a:t>
            </a:r>
          </a:p>
        </p:txBody>
      </p:sp>
    </p:spTree>
    <p:extLst>
      <p:ext uri="{BB962C8B-B14F-4D97-AF65-F5344CB8AC3E}">
        <p14:creationId xmlns:p14="http://schemas.microsoft.com/office/powerpoint/2010/main" val="35179596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3176" y="187459"/>
            <a:ext cx="1143870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 gráfico gerado seria algo assim: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Eixo X</a:t>
            </a:r>
            <a:r>
              <a:rPr lang="pt-BR" sz="2400" dirty="0"/>
              <a:t>: Horas de exercício por semana.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Eixo Y</a:t>
            </a:r>
            <a:r>
              <a:rPr lang="pt-BR" sz="2400" dirty="0"/>
              <a:t>: Pressão arterial em mmHg.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Pontos azuis</a:t>
            </a:r>
            <a:r>
              <a:rPr lang="pt-BR" sz="2400" dirty="0"/>
              <a:t>: Dados reais.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Linha vermelha</a:t>
            </a:r>
            <a:r>
              <a:rPr lang="pt-BR" sz="2400" dirty="0"/>
              <a:t>: Linha de regressão que representa a tendência da relação entre exercício e pressão arterial.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549" y="3878099"/>
            <a:ext cx="11939451" cy="28050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Interpretação do Modelo: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Se o coeficiente da inclinação for negativo, isso indicaria que </a:t>
            </a:r>
            <a:r>
              <a:rPr lang="pt-BR" sz="2400" b="1" dirty="0"/>
              <a:t>mais exercício está associado a uma pressão arterial mais baixa</a:t>
            </a:r>
            <a:r>
              <a:rPr lang="pt-BR" sz="2400" dirty="0"/>
              <a:t>, que é uma conclusão comum em muitos estudos de saúde cardiovascular. O intercepto representaria a pressão arterial de alguém que não faz exercício (0 horas de exercício por semana).</a:t>
            </a:r>
          </a:p>
        </p:txBody>
      </p:sp>
    </p:spTree>
    <p:extLst>
      <p:ext uri="{BB962C8B-B14F-4D97-AF65-F5344CB8AC3E}">
        <p14:creationId xmlns:p14="http://schemas.microsoft.com/office/powerpoint/2010/main" val="113703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34518"/>
            <a:ext cx="114909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b="1" dirty="0"/>
              <a:t>Conclusão: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Neste estudo simples, a </a:t>
            </a:r>
            <a:r>
              <a:rPr lang="pt-BR" sz="2400" b="1" dirty="0"/>
              <a:t>variável independente</a:t>
            </a:r>
            <a:r>
              <a:rPr lang="pt-BR" sz="2400" dirty="0"/>
              <a:t> é a </a:t>
            </a:r>
            <a:r>
              <a:rPr lang="pt-BR" sz="2400" b="1" dirty="0"/>
              <a:t>quantidade de exercício</a:t>
            </a:r>
            <a:r>
              <a:rPr lang="pt-BR" sz="2400" dirty="0"/>
              <a:t> e a </a:t>
            </a:r>
            <a:r>
              <a:rPr lang="pt-BR" sz="2400" b="1" dirty="0"/>
              <a:t>variável dependente</a:t>
            </a:r>
            <a:r>
              <a:rPr lang="pt-BR" sz="2400" dirty="0"/>
              <a:t> é a </a:t>
            </a:r>
            <a:r>
              <a:rPr lang="pt-BR" sz="2400" b="1" dirty="0"/>
              <a:t>pressão arterial</a:t>
            </a:r>
            <a:r>
              <a:rPr lang="pt-BR" sz="2400" dirty="0"/>
              <a:t>. Usando a regressão linear, podemos entender como uma variável afeta a outra e construir um modelo preditivo.</a:t>
            </a:r>
          </a:p>
        </p:txBody>
      </p:sp>
    </p:spTree>
    <p:extLst>
      <p:ext uri="{BB962C8B-B14F-4D97-AF65-F5344CB8AC3E}">
        <p14:creationId xmlns:p14="http://schemas.microsoft.com/office/powerpoint/2010/main" val="8417202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742" y="370340"/>
            <a:ext cx="11321144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/>
              <a:t>Exercício Prático — Tema: Estudo sobre a relação entre horas de estudo e nota em prova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Você quer analisar como a </a:t>
            </a:r>
            <a:r>
              <a:rPr lang="pt-BR" sz="2400" b="1" dirty="0"/>
              <a:t>quantidade de horas de estudo por semana</a:t>
            </a:r>
            <a:r>
              <a:rPr lang="pt-BR" sz="2400" dirty="0"/>
              <a:t> (variável independente) influencia a </a:t>
            </a:r>
            <a:r>
              <a:rPr lang="pt-BR" sz="2400" b="1" dirty="0"/>
              <a:t>nota final em uma prova</a:t>
            </a:r>
            <a:r>
              <a:rPr lang="pt-BR" sz="2400" dirty="0"/>
              <a:t> (variável dependente) de alunos.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Dados coletados (fictícios):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477835"/>
              </p:ext>
            </p:extLst>
          </p:nvPr>
        </p:nvGraphicFramePr>
        <p:xfrm>
          <a:off x="2484120" y="3126083"/>
          <a:ext cx="6881949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80657">
                  <a:extLst>
                    <a:ext uri="{9D8B030D-6E8A-4147-A177-3AD203B41FA5}">
                      <a16:colId xmlns:a16="http://schemas.microsoft.com/office/drawing/2014/main" val="1141556734"/>
                    </a:ext>
                  </a:extLst>
                </a:gridCol>
                <a:gridCol w="3801292">
                  <a:extLst>
                    <a:ext uri="{9D8B030D-6E8A-4147-A177-3AD203B41FA5}">
                      <a16:colId xmlns:a16="http://schemas.microsoft.com/office/drawing/2014/main" val="35793744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Horas de Estudo por Semana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Nota na Prova (0 a 100)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708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882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756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6602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0359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894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5605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259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077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051" y="184781"/>
            <a:ext cx="1138645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Tarefas: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Crie um programa em Python que: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pt-BR" sz="2400" dirty="0"/>
              <a:t>Armazene esses dados em arrays ou listas.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pt-BR" sz="2400" dirty="0"/>
              <a:t>Use regressão linear para modelar a relação entre horas de estudo e nota.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pt-BR" sz="2400" dirty="0"/>
              <a:t>Mostre o coeficiente angular e intercepto do modelo.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pt-BR" sz="2400" dirty="0"/>
              <a:t>Plote o gráfico com os dados reais e a linha de regressão.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57051" y="3761734"/>
            <a:ext cx="11834949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/>
              <a:t>Com base no </a:t>
            </a:r>
            <a:r>
              <a:rPr lang="en-US" altLang="en-US" sz="2400" dirty="0" err="1"/>
              <a:t>coeficiente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responda</a:t>
            </a:r>
            <a:r>
              <a:rPr lang="en-US" altLang="en-US" sz="2400" dirty="0"/>
              <a:t>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/>
              <a:t>Quanto</a:t>
            </a:r>
            <a:r>
              <a:rPr lang="en-US" altLang="en-US" sz="2400" dirty="0"/>
              <a:t> a nota </a:t>
            </a:r>
            <a:r>
              <a:rPr lang="en-US" altLang="en-US" sz="2400" dirty="0" err="1"/>
              <a:t>na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prova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tende</a:t>
            </a:r>
            <a:r>
              <a:rPr lang="en-US" altLang="en-US" sz="2400" dirty="0"/>
              <a:t> a </a:t>
            </a:r>
            <a:r>
              <a:rPr lang="en-US" altLang="en-US" sz="2400" dirty="0" err="1"/>
              <a:t>aumentar</a:t>
            </a:r>
            <a:r>
              <a:rPr lang="en-US" altLang="en-US" sz="2400" dirty="0"/>
              <a:t> a </a:t>
            </a:r>
            <a:r>
              <a:rPr lang="en-US" altLang="en-US" sz="2400" dirty="0" err="1"/>
              <a:t>cada</a:t>
            </a:r>
            <a:r>
              <a:rPr lang="en-US" altLang="en-US" sz="2400" dirty="0"/>
              <a:t> hora extra de </a:t>
            </a:r>
            <a:r>
              <a:rPr lang="en-US" altLang="en-US" sz="2400" dirty="0" err="1"/>
              <a:t>estudo</a:t>
            </a:r>
            <a:r>
              <a:rPr lang="en-US" altLang="en-US" sz="2400" dirty="0"/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/>
              <a:t>Use o </a:t>
            </a:r>
            <a:r>
              <a:rPr lang="en-US" altLang="en-US" sz="2400" dirty="0" err="1"/>
              <a:t>modelo</a:t>
            </a:r>
            <a:r>
              <a:rPr lang="en-US" altLang="en-US" sz="2400" dirty="0"/>
              <a:t> para </a:t>
            </a:r>
            <a:r>
              <a:rPr lang="en-US" altLang="en-US" sz="2400" dirty="0" err="1"/>
              <a:t>prever</a:t>
            </a:r>
            <a:r>
              <a:rPr lang="en-US" altLang="en-US" sz="2400" dirty="0"/>
              <a:t> a nota de um </a:t>
            </a:r>
            <a:r>
              <a:rPr lang="en-US" altLang="en-US" sz="2400" dirty="0" err="1"/>
              <a:t>aluno</a:t>
            </a:r>
            <a:r>
              <a:rPr lang="en-US" altLang="en-US" sz="2400" dirty="0"/>
              <a:t> que </a:t>
            </a:r>
            <a:r>
              <a:rPr lang="en-US" altLang="en-US" sz="2400" dirty="0" err="1"/>
              <a:t>estudou</a:t>
            </a:r>
            <a:r>
              <a:rPr lang="en-US" altLang="en-US" sz="2400" dirty="0"/>
              <a:t> 9 horas </a:t>
            </a:r>
            <a:r>
              <a:rPr lang="en-US" altLang="en-US" sz="2400" dirty="0" err="1"/>
              <a:t>por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semana</a:t>
            </a:r>
            <a:r>
              <a:rPr lang="en-US" alt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53439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2365" y="474678"/>
            <a:ext cx="11242766" cy="4467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Como esse processo pode ser considerado IA: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A IA entra no processo de </a:t>
            </a:r>
            <a:r>
              <a:rPr lang="pt-BR" sz="2400" b="1" dirty="0"/>
              <a:t>Machine Learning</a:t>
            </a:r>
            <a:r>
              <a:rPr lang="pt-BR" sz="2400" dirty="0"/>
              <a:t> (Aprendizado de Máquina), que é uma subárea da IA. A regressão linear é uma técnica clássica utilizada para fazer previsões e decisões a partir de dados históricos. O modelo de regressão é treinado com dados existentes (horas de estudo e notas), e, depois de treinado, ele pode prever a nota de um aluno com base em quantas horas ele estudou, sem a necessidade de programação explícita para cada situação. Isso caracteriza a </a:t>
            </a:r>
            <a:r>
              <a:rPr lang="pt-BR" sz="2400" b="1" dirty="0"/>
              <a:t>autonomia da IA</a:t>
            </a:r>
            <a:r>
              <a:rPr lang="pt-BR" sz="2400" dirty="0"/>
              <a:t>, pois ela aprende com os dados e faz previsões de forma automática.</a:t>
            </a:r>
          </a:p>
        </p:txBody>
      </p:sp>
    </p:spTree>
    <p:extLst>
      <p:ext uri="{BB962C8B-B14F-4D97-AF65-F5344CB8AC3E}">
        <p14:creationId xmlns:p14="http://schemas.microsoft.com/office/powerpoint/2010/main" val="1603237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929" y="242059"/>
            <a:ext cx="1126889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/>
              <a:t>Aplicações práticas de IA: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Previsão de desempenho acadêmico:</a:t>
            </a:r>
            <a:r>
              <a:rPr lang="pt-BR" sz="2400" dirty="0"/>
              <a:t> Assim como no exemplo, esse tipo de modelo pode ser utilizado para prever notas de alunos com base no número de horas de estudo.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Análise de vendas:</a:t>
            </a:r>
            <a:r>
              <a:rPr lang="pt-BR" sz="2400" dirty="0"/>
              <a:t> Prever as vendas de um produto com base em variáveis como preço, demanda histórica e outras condições.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Recomendações de produtos:</a:t>
            </a:r>
            <a:r>
              <a:rPr lang="pt-BR" sz="2400" dirty="0"/>
              <a:t> Sistemas de recomendação que usam dados passados de compras para sugerir produtos para os clientes, como os que usamos em plataformas de e-commerce.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Análise de risco:</a:t>
            </a:r>
            <a:r>
              <a:rPr lang="pt-BR" sz="2400" dirty="0"/>
              <a:t> Em setores financeiros, a regressão linear pode ser usada para prever o risco de crédito com base em dados financeiros passados.</a:t>
            </a:r>
          </a:p>
        </p:txBody>
      </p:sp>
    </p:spTree>
    <p:extLst>
      <p:ext uri="{BB962C8B-B14F-4D97-AF65-F5344CB8AC3E}">
        <p14:creationId xmlns:p14="http://schemas.microsoft.com/office/powerpoint/2010/main" val="38964763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463" y="517156"/>
            <a:ext cx="1003018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600" b="1" dirty="0">
                <a:solidFill>
                  <a:schemeClr val="accent6">
                    <a:lumMod val="75000"/>
                  </a:schemeClr>
                </a:solidFill>
              </a:rPr>
              <a:t>Passar o exemplo de vendas</a:t>
            </a:r>
            <a:endParaRPr lang="en-US" sz="6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AutoShape 2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Generat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738" y="1788607"/>
            <a:ext cx="3038899" cy="46393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435" y="1788607"/>
            <a:ext cx="3038899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069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6868" y="383402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Coeficiente</a:t>
            </a:r>
            <a:r>
              <a:rPr lang="en-US" dirty="0"/>
              <a:t> Angular: -39.999999999999986</a:t>
            </a:r>
          </a:p>
          <a:p>
            <a:r>
              <a:rPr lang="en-US" dirty="0" err="1"/>
              <a:t>Intercepto</a:t>
            </a:r>
            <a:r>
              <a:rPr lang="en-US" dirty="0"/>
              <a:t>: 390.0</a:t>
            </a:r>
          </a:p>
          <a:p>
            <a:r>
              <a:rPr lang="en-US" dirty="0" err="1"/>
              <a:t>Semana</a:t>
            </a:r>
            <a:r>
              <a:rPr lang="en-US" dirty="0"/>
              <a:t> 13: </a:t>
            </a:r>
            <a:r>
              <a:rPr lang="en-US" dirty="0" err="1"/>
              <a:t>Previsão</a:t>
            </a:r>
            <a:r>
              <a:rPr lang="en-US" dirty="0"/>
              <a:t> de </a:t>
            </a:r>
            <a:r>
              <a:rPr lang="en-US" dirty="0" err="1"/>
              <a:t>Vendas</a:t>
            </a:r>
            <a:r>
              <a:rPr lang="en-US" dirty="0"/>
              <a:t> = -130.00</a:t>
            </a:r>
          </a:p>
          <a:p>
            <a:r>
              <a:rPr lang="en-US" dirty="0" err="1"/>
              <a:t>Semana</a:t>
            </a:r>
            <a:r>
              <a:rPr lang="en-US" dirty="0"/>
              <a:t> 14: </a:t>
            </a:r>
            <a:r>
              <a:rPr lang="en-US" dirty="0" err="1"/>
              <a:t>Previsão</a:t>
            </a:r>
            <a:r>
              <a:rPr lang="en-US" dirty="0"/>
              <a:t> de </a:t>
            </a:r>
            <a:r>
              <a:rPr lang="en-US" dirty="0" err="1"/>
              <a:t>Vendas</a:t>
            </a:r>
            <a:r>
              <a:rPr lang="en-US" dirty="0"/>
              <a:t> = -170.00</a:t>
            </a:r>
          </a:p>
          <a:p>
            <a:r>
              <a:rPr lang="en-US" dirty="0" err="1"/>
              <a:t>Semana</a:t>
            </a:r>
            <a:r>
              <a:rPr lang="en-US" dirty="0"/>
              <a:t> 15: </a:t>
            </a:r>
            <a:r>
              <a:rPr lang="en-US" dirty="0" err="1"/>
              <a:t>Previsão</a:t>
            </a:r>
            <a:r>
              <a:rPr lang="en-US" dirty="0"/>
              <a:t> de </a:t>
            </a:r>
            <a:r>
              <a:rPr lang="en-US" dirty="0" err="1"/>
              <a:t>Vendas</a:t>
            </a:r>
            <a:r>
              <a:rPr lang="en-US" dirty="0"/>
              <a:t> = -210.00</a:t>
            </a:r>
          </a:p>
          <a:p>
            <a:r>
              <a:rPr lang="en-US" dirty="0" err="1"/>
              <a:t>Semana</a:t>
            </a:r>
            <a:r>
              <a:rPr lang="en-US" dirty="0"/>
              <a:t> 16: </a:t>
            </a:r>
            <a:r>
              <a:rPr lang="en-US" dirty="0" err="1"/>
              <a:t>Previsão</a:t>
            </a:r>
            <a:r>
              <a:rPr lang="en-US" dirty="0"/>
              <a:t> de </a:t>
            </a:r>
            <a:r>
              <a:rPr lang="en-US" dirty="0" err="1"/>
              <a:t>Vendas</a:t>
            </a:r>
            <a:r>
              <a:rPr lang="en-US" dirty="0"/>
              <a:t> = -250.00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911" y="1763708"/>
            <a:ext cx="5944430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975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8490" y="386082"/>
            <a:ext cx="111643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Embora a </a:t>
            </a:r>
            <a:r>
              <a:rPr lang="pt-BR" sz="2400" b="1" dirty="0"/>
              <a:t>regressão linear</a:t>
            </a:r>
            <a:r>
              <a:rPr lang="pt-BR" sz="2400" dirty="0"/>
              <a:t> em si não seja considerada uma </a:t>
            </a:r>
            <a:r>
              <a:rPr lang="pt-BR" sz="2400" b="1" dirty="0"/>
              <a:t>IA</a:t>
            </a:r>
            <a:r>
              <a:rPr lang="pt-BR" sz="2400" dirty="0"/>
              <a:t> de forma explícita, ela faz parte do conjunto de técnicas de </a:t>
            </a:r>
            <a:r>
              <a:rPr lang="pt-BR" sz="2400" b="1" dirty="0"/>
              <a:t>aprendizado de máquina (Machine Learning)</a:t>
            </a:r>
            <a:r>
              <a:rPr lang="pt-BR" sz="2400" dirty="0"/>
              <a:t>, que, por sua vez, é uma subárea da </a:t>
            </a:r>
            <a:r>
              <a:rPr lang="pt-BR" sz="2400" b="1" dirty="0"/>
              <a:t>Inteligência Artificial (IA)</a:t>
            </a:r>
            <a:r>
              <a:rPr lang="pt-BR" sz="2400" dirty="0"/>
              <a:t>.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448490" y="1830701"/>
            <a:ext cx="11164390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 papel da IA na regressão linear: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Quando você aplica regressão linear, está utilizando um modelo matemático que, através de </a:t>
            </a:r>
            <a:r>
              <a:rPr lang="pt-BR" sz="2400" b="1" dirty="0"/>
              <a:t>dados históricos</a:t>
            </a:r>
            <a:r>
              <a:rPr lang="pt-BR" sz="2400" dirty="0"/>
              <a:t>, aprende a identificar padrões e relações entre variáveis (como o impacto das semanas nas vendas). A chave aqui é o conceito de </a:t>
            </a:r>
            <a:r>
              <a:rPr lang="pt-BR" sz="2400" b="1" dirty="0"/>
              <a:t>aprendizado</a:t>
            </a:r>
            <a:r>
              <a:rPr lang="pt-BR" sz="2400" dirty="0"/>
              <a:t>. Embora o modelo de regressão linear seja simples, ele </a:t>
            </a:r>
            <a:r>
              <a:rPr lang="pt-BR" sz="2400" b="1" dirty="0"/>
              <a:t>aprende com os dados</a:t>
            </a:r>
            <a:r>
              <a:rPr lang="pt-BR" sz="2400" dirty="0"/>
              <a:t> e faz previsões sobre novos dados com base nos padrões que detecta.</a:t>
            </a:r>
          </a:p>
        </p:txBody>
      </p:sp>
    </p:spTree>
    <p:extLst>
      <p:ext uri="{BB962C8B-B14F-4D97-AF65-F5344CB8AC3E}">
        <p14:creationId xmlns:p14="http://schemas.microsoft.com/office/powerpoint/2010/main" val="35645242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1886" y="197346"/>
            <a:ext cx="11469188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Por isso, a </a:t>
            </a:r>
            <a:r>
              <a:rPr lang="pt-BR" sz="2400" b="1" dirty="0"/>
              <a:t>IA</a:t>
            </a:r>
            <a:r>
              <a:rPr lang="pt-BR" sz="2400" dirty="0"/>
              <a:t> está presente de várias maneiras:</a:t>
            </a:r>
          </a:p>
          <a:p>
            <a:pPr>
              <a:buFont typeface="+mj-lt"/>
              <a:buAutoNum type="arabicPeriod"/>
            </a:pPr>
            <a:r>
              <a:rPr lang="pt-BR" sz="2400" b="1" dirty="0"/>
              <a:t>Aprendizado de Máquina (Machine Learning):</a:t>
            </a:r>
            <a:br>
              <a:rPr lang="pt-BR" sz="2400" dirty="0"/>
            </a:br>
            <a:r>
              <a:rPr lang="pt-BR" sz="2400" dirty="0"/>
              <a:t>A regressão linear é uma técnica de </a:t>
            </a:r>
            <a:r>
              <a:rPr lang="pt-BR" sz="2400" b="1" dirty="0"/>
              <a:t>aprendizado supervisionado</a:t>
            </a:r>
            <a:r>
              <a:rPr lang="pt-BR" sz="2400" dirty="0"/>
              <a:t>. O modelo aprende a prever a variável dependente (como as vendas) a partir das variáveis independentes (como as semanas). O modelo "aprende" a relação entre elas sem ser explicitamente programado para prever os valores de vendas de uma semana futura. Isso é o que caracteriza o </a:t>
            </a:r>
            <a:r>
              <a:rPr lang="pt-BR" sz="2400" b="1" dirty="0"/>
              <a:t>aprendizado de máquina</a:t>
            </a:r>
            <a:r>
              <a:rPr lang="pt-BR" sz="2400" dirty="0"/>
              <a:t>, que é uma aplicação de IA.</a:t>
            </a:r>
          </a:p>
          <a:p>
            <a:pPr>
              <a:buFont typeface="+mj-lt"/>
              <a:buAutoNum type="arabicPeriod"/>
            </a:pP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Capacidade de Previsão e Generalização:</a:t>
            </a:r>
            <a:br>
              <a:rPr lang="pt-BR" sz="24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Uma vez treinado, o modelo de regressão linear pode prever vendas futuras, </a:t>
            </a: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generalizando</a:t>
            </a: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 os padrões encontrados nos dados históricos. Ou seja, ele vai </a:t>
            </a: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aplicar o que aprendeu</a:t>
            </a: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 para estimar resultados em novos dados que não foram apresentados antes — um processo inteligente que vai além de simples cálculos.</a:t>
            </a:r>
          </a:p>
          <a:p>
            <a:pPr>
              <a:buFont typeface="+mj-lt"/>
              <a:buAutoNum type="arabicPeriod"/>
            </a:pPr>
            <a:r>
              <a:rPr lang="pt-BR" sz="2400" b="1" dirty="0"/>
              <a:t>Inteligência Artificial:</a:t>
            </a:r>
            <a:br>
              <a:rPr lang="pt-BR" sz="2400" dirty="0"/>
            </a:br>
            <a:r>
              <a:rPr lang="pt-BR" sz="2400" dirty="0"/>
              <a:t>A IA envolve </a:t>
            </a:r>
            <a:r>
              <a:rPr lang="pt-BR" sz="2400" b="1" dirty="0"/>
              <a:t>habilidades de adaptação e aprendizado</a:t>
            </a:r>
            <a:r>
              <a:rPr lang="pt-BR" sz="2400" dirty="0"/>
              <a:t> a partir de dados. Quando usamos regressão linear, o modelo se adapta aos dados e faz previsões com base em informações passadas. Esse processo de </a:t>
            </a:r>
            <a:r>
              <a:rPr lang="pt-BR" sz="2400" b="1" dirty="0"/>
              <a:t>tomada de decisão automatizada</a:t>
            </a:r>
            <a:r>
              <a:rPr lang="pt-BR" sz="2400" dirty="0"/>
              <a:t> com base em dados é uma das funções centrais da IA.</a:t>
            </a:r>
          </a:p>
        </p:txBody>
      </p:sp>
    </p:spTree>
    <p:extLst>
      <p:ext uri="{BB962C8B-B14F-4D97-AF65-F5344CB8AC3E}">
        <p14:creationId xmlns:p14="http://schemas.microsoft.com/office/powerpoint/2010/main" val="19095470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5245" y="401491"/>
            <a:ext cx="11086011" cy="5021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/>
              <a:t>Então, como a IA se encaixa nisso?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Treinamento e Aprendizado:</a:t>
            </a:r>
            <a:r>
              <a:rPr lang="pt-BR" sz="2400" dirty="0"/>
              <a:t> O modelo "aprende" a partir de exemplos passados e usa esse aprendizado para prever o futuro. Isso é o que torna o processo uma forma de IA.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Previsões automatizadas:</a:t>
            </a:r>
            <a:r>
              <a:rPr lang="pt-BR" sz="2400" dirty="0"/>
              <a:t> Em vez de programar uma lógica manual para prever vendas futuras, o modelo se ajusta automaticamente para encontrar a melhor linha (ou relação) que minimiza o erro nas previsões. Isso é IA aplicada.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Capacidade de generalização:</a:t>
            </a:r>
            <a:r>
              <a:rPr lang="pt-BR" sz="2400" dirty="0"/>
              <a:t> Uma vez que o modelo tenha sido treinado com dados históricos, ele pode fazer previsões sobre dados futuros, sem ser reprogramado manualmente — isso é IA.</a:t>
            </a:r>
          </a:p>
        </p:txBody>
      </p:sp>
    </p:spTree>
    <p:extLst>
      <p:ext uri="{BB962C8B-B14F-4D97-AF65-F5344CB8AC3E}">
        <p14:creationId xmlns:p14="http://schemas.microsoft.com/office/powerpoint/2010/main" val="1293249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4271</Words>
  <Application>Microsoft Office PowerPoint</Application>
  <PresentationFormat>Widescreen</PresentationFormat>
  <Paragraphs>374</Paragraphs>
  <Slides>46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2" baseType="lpstr">
      <vt:lpstr>Arial</vt:lpstr>
      <vt:lpstr>Arial Unicode MS</vt:lpstr>
      <vt:lpstr>Calibri</vt:lpstr>
      <vt:lpstr>Calibri Light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rogerio morandi</dc:creator>
  <cp:lastModifiedBy>rogerio morandi</cp:lastModifiedBy>
  <cp:revision>24</cp:revision>
  <dcterms:created xsi:type="dcterms:W3CDTF">2025-05-29T22:42:05Z</dcterms:created>
  <dcterms:modified xsi:type="dcterms:W3CDTF">2025-08-14T20:06:22Z</dcterms:modified>
</cp:coreProperties>
</file>