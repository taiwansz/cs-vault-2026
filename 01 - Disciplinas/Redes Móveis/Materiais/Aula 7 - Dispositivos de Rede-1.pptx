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329" r:id="rId3"/>
    <p:sldId id="330" r:id="rId4"/>
    <p:sldId id="331" r:id="rId5"/>
    <p:sldId id="332" r:id="rId6"/>
    <p:sldId id="333" r:id="rId7"/>
    <p:sldId id="334" r:id="rId8"/>
    <p:sldId id="288" r:id="rId9"/>
    <p:sldId id="289" r:id="rId10"/>
    <p:sldId id="290" r:id="rId11"/>
    <p:sldId id="301" r:id="rId12"/>
    <p:sldId id="281" r:id="rId13"/>
    <p:sldId id="308" r:id="rId14"/>
    <p:sldId id="257" r:id="rId15"/>
    <p:sldId id="304" r:id="rId16"/>
    <p:sldId id="260" r:id="rId17"/>
    <p:sldId id="309" r:id="rId18"/>
    <p:sldId id="307" r:id="rId19"/>
    <p:sldId id="305" r:id="rId20"/>
    <p:sldId id="306" r:id="rId21"/>
    <p:sldId id="258" r:id="rId22"/>
    <p:sldId id="259" r:id="rId23"/>
    <p:sldId id="261" r:id="rId24"/>
    <p:sldId id="310" r:id="rId25"/>
    <p:sldId id="311" r:id="rId26"/>
    <p:sldId id="312" r:id="rId27"/>
    <p:sldId id="313" r:id="rId28"/>
    <p:sldId id="262" r:id="rId29"/>
    <p:sldId id="263" r:id="rId30"/>
    <p:sldId id="264" r:id="rId31"/>
    <p:sldId id="265" r:id="rId32"/>
    <p:sldId id="314" r:id="rId33"/>
    <p:sldId id="302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280" r:id="rId45"/>
    <p:sldId id="286" r:id="rId46"/>
    <p:sldId id="315" r:id="rId47"/>
    <p:sldId id="267" r:id="rId48"/>
    <p:sldId id="287" r:id="rId49"/>
    <p:sldId id="316" r:id="rId50"/>
    <p:sldId id="268" r:id="rId51"/>
    <p:sldId id="317" r:id="rId52"/>
    <p:sldId id="269" r:id="rId53"/>
    <p:sldId id="318" r:id="rId54"/>
    <p:sldId id="266" r:id="rId55"/>
    <p:sldId id="270" r:id="rId56"/>
    <p:sldId id="319" r:id="rId57"/>
    <p:sldId id="320" r:id="rId58"/>
    <p:sldId id="321" r:id="rId59"/>
    <p:sldId id="322" r:id="rId60"/>
    <p:sldId id="271" r:id="rId61"/>
    <p:sldId id="272" r:id="rId62"/>
    <p:sldId id="273" r:id="rId63"/>
    <p:sldId id="277" r:id="rId64"/>
    <p:sldId id="274" r:id="rId65"/>
    <p:sldId id="325" r:id="rId66"/>
    <p:sldId id="326" r:id="rId67"/>
    <p:sldId id="327" r:id="rId68"/>
    <p:sldId id="328" r:id="rId69"/>
    <p:sldId id="323" r:id="rId70"/>
    <p:sldId id="278" r:id="rId71"/>
    <p:sldId id="279" r:id="rId72"/>
    <p:sldId id="276" r:id="rId73"/>
    <p:sldId id="275" r:id="rId74"/>
    <p:sldId id="303" r:id="rId75"/>
    <p:sldId id="282" r:id="rId76"/>
    <p:sldId id="283" r:id="rId77"/>
    <p:sldId id="285" r:id="rId78"/>
    <p:sldId id="28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2" r:id="rId112"/>
    <p:sldId id="359" r:id="rId113"/>
    <p:sldId id="360" r:id="rId114"/>
    <p:sldId id="371" r:id="rId115"/>
    <p:sldId id="361" r:id="rId116"/>
    <p:sldId id="373" r:id="rId117"/>
    <p:sldId id="362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5" d="100"/>
          <a:sy n="105" d="100"/>
        </p:scale>
        <p:origin x="13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5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/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EDBC8-F79C-4935-9B87-74112CFBF91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5230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288BA-57F6-4B2C-A956-30482BBBDA8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1854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/>
          <p:cNvCxnSpPr/>
          <p:nvPr/>
        </p:nvCxnSpPr>
        <p:spPr>
          <a:xfrm>
            <a:off x="906463" y="4343400"/>
            <a:ext cx="740568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Ctr="0"/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BAA77-72DC-4A78-AACC-B66BF976A5B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202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E558B-D064-4348-9813-A550BBA366C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1483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8A6BB-DE69-4CE0-9004-D80A4BD51E0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7872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1A817-20C1-4BD0-9750-7E6CFFCA365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548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0708B-7AF2-4742-AD57-D29810CFB73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7186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3030538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349250" y="6459538"/>
            <a:ext cx="196373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53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57D89C-E175-43BD-8285-71991F3303F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649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4953000"/>
            <a:ext cx="9142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/>
          <p:cNvSpPr/>
          <p:nvPr/>
        </p:nvSpPr>
        <p:spPr>
          <a:xfrm>
            <a:off x="0" y="4914900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9DDC9-8937-4F8E-9978-FB607284F3B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514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94B90-4798-4A8A-8BD0-9C39344FC60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627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/>
          <p:cNvSpPr/>
          <p:nvPr/>
        </p:nvSpPr>
        <p:spPr>
          <a:xfrm>
            <a:off x="0" y="6334125"/>
            <a:ext cx="9142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99B7-8A78-44F8-B496-0B57A2F14D9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382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Editar estilos de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  <a:endParaRPr lang="en-US" altLang="pt-BR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5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3F6EC30-C2AD-4C66-91C6-7ACCB0C7375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6" r:id="rId2"/>
    <p:sldLayoutId id="2147483702" r:id="rId3"/>
    <p:sldLayoutId id="2147483697" r:id="rId4"/>
    <p:sldLayoutId id="2147483698" r:id="rId5"/>
    <p:sldLayoutId id="2147483699" r:id="rId6"/>
    <p:sldLayoutId id="2147483703" r:id="rId7"/>
    <p:sldLayoutId id="2147483704" r:id="rId8"/>
    <p:sldLayoutId id="2147483705" r:id="rId9"/>
    <p:sldLayoutId id="2147483700" r:id="rId10"/>
    <p:sldLayoutId id="2147483706" r:id="rId11"/>
  </p:sldLayoutIdLst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fontAlgn="base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Equipamentos de Redes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>
            <a:normAutofit fontScale="85000" lnSpcReduction="20000"/>
          </a:bodyPr>
          <a:lstStyle/>
          <a:p>
            <a:pPr fontAlgn="auto">
              <a:defRPr/>
            </a:pPr>
            <a:endParaRPr lang="pt-BR" altLang="pt-BR"/>
          </a:p>
          <a:p>
            <a:pPr fontAlgn="auto">
              <a:defRPr/>
            </a:pPr>
            <a:r>
              <a:rPr lang="pt-BR" altLang="pt-BR"/>
              <a:t>Placas de Rede, Repetidores, Hubs, Pontes,,</a:t>
            </a:r>
          </a:p>
          <a:p>
            <a:pPr fontAlgn="auto">
              <a:defRPr/>
            </a:pPr>
            <a:r>
              <a:rPr lang="pt-BR" altLang="pt-BR"/>
              <a:t> Switches, Roteadores, Gateways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Placas de Rede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endParaRPr lang="pt-BR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Placas de Rede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Preparação dos quadros para que possam ser enviados pelos cabos. A placa de rede gera os bits de um quadro no sentido de enviá-lo para o meio físico, quando eles passam do computador para o cabo.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Placa de Rede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Converte os bits de um quadro quando eles chegam do meio físico para a máquina.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Placa de Rede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Endereçamento dos dados: cada placa de rede tem seu próprio e único endereço que ela fornece quando os quadros são postos na rede.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Placa de Rede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Controle de fluxo: a placa dispõe de uma memória RAM para controlar os fluxo de dados.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Placa de Rede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Conexão com outro computador: antes de enviar alguma informação, cada placa inicia primeiramente um diálogo com cada uma das outras placas. Algumas informações são trocadas sobre o protocolo da camada física.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Repetidores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endParaRPr lang="pt-BR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Repetidores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Em </a:t>
            </a:r>
            <a:r>
              <a:rPr lang="pt-BR" altLang="pt-BR" b="1" smtClean="0"/>
              <a:t>redes Ethernet</a:t>
            </a:r>
            <a:r>
              <a:rPr lang="pt-BR" altLang="pt-BR" smtClean="0"/>
              <a:t> que operavam com cabo coaxial, tínhamos a opção de utilizar um elemento de rede, chamado </a:t>
            </a:r>
            <a:r>
              <a:rPr lang="pt-BR" altLang="pt-BR" b="1" smtClean="0"/>
              <a:t>repetidor </a:t>
            </a:r>
            <a:r>
              <a:rPr lang="pt-BR" altLang="pt-BR" smtClean="0"/>
              <a:t>que atuava no </a:t>
            </a:r>
            <a:r>
              <a:rPr lang="pt-BR" altLang="pt-BR" b="1" smtClean="0"/>
              <a:t>nível físico</a:t>
            </a:r>
            <a:r>
              <a:rPr lang="pt-BR" altLang="pt-BR" smtClean="0"/>
              <a:t> para </a:t>
            </a:r>
            <a:r>
              <a:rPr lang="pt-BR" altLang="pt-BR" b="1" smtClean="0"/>
              <a:t>amplificar o sinal elétrico</a:t>
            </a:r>
            <a:r>
              <a:rPr lang="pt-BR" altLang="pt-BR" smtClean="0"/>
              <a:t> (restaurar o sinal atenuado) e </a:t>
            </a:r>
            <a:r>
              <a:rPr lang="pt-BR" altLang="pt-BR" b="1" smtClean="0"/>
              <a:t>estender o alcance do barramento</a:t>
            </a:r>
            <a:r>
              <a:rPr lang="pt-BR" altLang="pt-BR" smtClean="0"/>
              <a:t> da rede limitado a 185 metros.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Repetidores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z="2800" smtClean="0"/>
          </a:p>
          <a:p>
            <a:r>
              <a:rPr lang="pt-BR" altLang="pt-BR" sz="2800" smtClean="0"/>
              <a:t>Com o advento do cabeamento com par trançado, esse tipo de equipamento deixou de ser utilizado, já que os hubs são capazes de realizar essa função.</a:t>
            </a:r>
          </a:p>
          <a:p>
            <a:endParaRPr lang="pt-BR" altLang="pt-BR" sz="2800" smtClean="0"/>
          </a:p>
          <a:p>
            <a:r>
              <a:rPr lang="pt-BR" altLang="pt-BR" sz="2800" smtClean="0"/>
              <a:t>Existem hoje, hubs que possuem internamente, a função do repetidor, sendo esses hubs chamados de hubs ativos.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Repetidores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Ver transparência. </a:t>
            </a:r>
          </a:p>
          <a:p>
            <a:endParaRPr lang="pt-BR" altLang="pt-BR" smtClean="0"/>
          </a:p>
          <a:p>
            <a:r>
              <a:rPr lang="pt-BR" altLang="pt-BR" smtClean="0"/>
              <a:t>Ligando segmento de rede em barramento.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Hubs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r>
              <a:rPr lang="pt-BR" altLang="pt-BR"/>
              <a:t>O termo Hub é um termo genérico usado para definir qualquer tipo de dispositivo concentrador.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Um dispositivo concentrador de conexões, responsáveis por centralizar a distribuição dos quadros de dados em redes estrela.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Todo Hub é um repetidor, mas nem todo repetidor é um Hub.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Replica em todas as suas portas as mensagens recebidas das máquinas da rede.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Se uma máquina envia um quadro de dados para outra, todas as demais máquinas recebem esse quadro ao mesmo tempo.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Redes Ethernet ligadas em estrela não possuem qualquer diferença em termos de funcionamento de uma rede Ethernet ligada em barramento, do ponto de vista do tráfego de dados.</a:t>
            </a:r>
          </a:p>
          <a:p>
            <a:r>
              <a:rPr lang="pt-BR" altLang="pt-BR" smtClean="0"/>
              <a:t>Faz o papel de um barramento lógico.</a:t>
            </a:r>
          </a:p>
          <a:p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Ao receber uma mensagem numa porta, faz o broadcasting para todas as portas, ou seja, transmite a mensagem para todas as portas, simulando o barramento compartilhado com cabo.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O Hub fica ocupado enquanto duas máquinas estão se comunicando (uma enviando quadro de dados para outra).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Por ser um repetidor um Hub opera na camada física.</a:t>
            </a:r>
          </a:p>
          <a:p>
            <a:r>
              <a:rPr lang="pt-BR" altLang="pt-BR" smtClean="0"/>
              <a:t>Não tem como interpretar os quadros de dados que recebe e envia e, por isso, não sabe os endereços das placas de rede das máquinas ligadas a ele.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Um Hub não possui a capacidade de aumentar o desempenho da rede, como ocorre com o switches.</a:t>
            </a:r>
          </a:p>
          <a:p>
            <a:endParaRPr lang="pt-BR" altLang="pt-BR" smtClean="0"/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Facilidade de se identificar um defeito: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- isolar problemas que ocorrem nos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equipamentos ou cabos de uma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rede local, já que se a rede inteira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continua funcionando, somente a máquina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que está com o cabo defeituoso é que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deixa de funcionar.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Como cada equipamento de uma local é ligado numa forma de estrela, no caso de falha de um equipamento ou cabo, não ocorre interferência nos outros.</a:t>
            </a:r>
          </a:p>
          <a:p>
            <a:endParaRPr lang="pt-BR" altLang="pt-BR" smtClean="0"/>
          </a:p>
          <a:p>
            <a:r>
              <a:rPr lang="pt-BR" altLang="pt-BR" smtClean="0"/>
              <a:t>Detecta-se e isola-se defeitos com mais segurança.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Isto permite a visualização individual dos pontos da rede local, permitindo maior agilidade na solução de problemas, diferentemente da ligação por cabo contínuo ao longo das estações.</a:t>
            </a:r>
          </a:p>
          <a:p>
            <a:endParaRPr lang="pt-BR" altLang="pt-BR" smtClean="0"/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Pode-se ter um gerenciamento sobre a rede, visualizando-se num painel, instantaneamente, os pontos com problemas.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Concentradores de cabos que não possuem qualquer tipo de alimentação elétrica são chamados hubs passivos.</a:t>
            </a:r>
          </a:p>
          <a:p>
            <a:endParaRPr lang="pt-BR" altLang="pt-BR" smtClean="0"/>
          </a:p>
          <a:p>
            <a:r>
              <a:rPr lang="pt-BR" altLang="pt-BR" smtClean="0"/>
              <a:t>Exemplo:  Path Panels usados nos sistemas de cabeamento estruturado.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277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Hubs ativos regeneram os sinais que recebem de suas portas, antes de enviá-lo para todas as portas.</a:t>
            </a:r>
          </a:p>
          <a:p>
            <a:r>
              <a:rPr lang="pt-BR" altLang="pt-BR" smtClean="0"/>
              <a:t>Hubs gerenciáveis são os que permitem qualquer tipo de monitoramento.</a:t>
            </a:r>
          </a:p>
          <a:p>
            <a:r>
              <a:rPr lang="pt-BR" altLang="pt-BR" smtClean="0"/>
              <a:t>O monitoramento é feito via software.</a:t>
            </a:r>
          </a:p>
          <a:p>
            <a:r>
              <a:rPr lang="pt-BR" altLang="pt-BR" smtClean="0"/>
              <a:t>Podem detectar falhas e fornecer relatórios estatísticos.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Hubs empilháveis (stackable) permitem a ampliação do seu número de portas.</a:t>
            </a:r>
          </a:p>
          <a:p>
            <a:r>
              <a:rPr lang="pt-BR" altLang="pt-BR" smtClean="0"/>
              <a:t>Possuem uma porta especial que permite a conexão entre dois ou mais hubs.</a:t>
            </a:r>
          </a:p>
          <a:p>
            <a:r>
              <a:rPr lang="pt-BR" altLang="pt-BR" smtClean="0"/>
              <a:t>Essa conexão especial faz com que os hubs sejam considerados pela rede um só hub e não hubs separados.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61443" name="Rectangle 1027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Em princípio, os hubs só podem conectar máquinas que estejam se comunicando com ele, numa mesma velocidade.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Existem Hubs de velocidade múltipla: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(100 Mbps / 10 Mbps)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Ver transparência.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Devido ao grande número de mudanças de local de equipamento, que podem ocorrer numa rede, dentro de uma empresa, o uso de cabeamento estruturado com hubs se mostra bastante eficiente, rápido e econômico nas mudanças.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Hubs distantes podem ser interligados com fibra ótica, desde que o hub seja apropriado a conectar essas fibras.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Também podem ter portas apropriadas para ligações FDDI, ATM, Token-Ring e outras. Neste caso são considerados hubs de grande porte, chamados de hubs multiprotocolos.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São instalados juntamente com um Path Panel, quando são utilizados em instalações com grande número de máquinas.</a:t>
            </a:r>
          </a:p>
          <a:p>
            <a:endParaRPr lang="pt-BR" altLang="pt-BR" smtClean="0"/>
          </a:p>
          <a:p>
            <a:r>
              <a:rPr lang="pt-BR" altLang="pt-BR" smtClean="0"/>
              <a:t>Ver transparência.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Hub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Regrad de Segmentação para Redes Ethernet: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 10 Mbps, 100 Mbps, 1000Mbps</a:t>
            </a:r>
          </a:p>
          <a:p>
            <a:r>
              <a:rPr lang="pt-BR" altLang="pt-BR" smtClean="0"/>
              <a:t>Limite de Conexões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- Hubs operando a 10 Mbps.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- Hubs operando a 100 Mbps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- Hubs operando a 1000 Mbps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Pontes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endParaRPr lang="pt-BR" altLang="pt-BR"/>
          </a:p>
          <a:p>
            <a:pPr fontAlgn="auto">
              <a:defRPr/>
            </a:pPr>
            <a:r>
              <a:rPr lang="pt-BR" altLang="pt-BR"/>
              <a:t>Bridges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Com um repetidor, se ampliava a rede, resolvendo-se apenas o problema da atenuação do sinal.</a:t>
            </a:r>
          </a:p>
          <a:p>
            <a:endParaRPr lang="pt-BR" altLang="pt-BR" smtClean="0"/>
          </a:p>
          <a:p>
            <a:r>
              <a:rPr lang="pt-BR" altLang="pt-BR" smtClean="0"/>
              <a:t>Diversos segmentos poderiam ser montados, mas a rede era considerada uma só.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301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São equipamentos usados para interconectar duas redes redes (dois segmentos), mas isolando o tráfego de ambas.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403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Supondo que tenhamos uma rede local com muitas estações ligadas a um mesmo barramento e desejamos dividí-la em duas partes para aliviar o tráfego no barramento.</a:t>
            </a:r>
          </a:p>
          <a:p>
            <a:endParaRPr lang="pt-BR" altLang="pt-BR" smtClean="0"/>
          </a:p>
          <a:p>
            <a:r>
              <a:rPr lang="pt-BR" altLang="pt-BR" smtClean="0"/>
              <a:t>Neste caso, colocávamos uma ponte entre os dois segmentos.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Atualmente, se usa hubs para substituir logicamente a rede local física em barramento, assim a segmentação é melhor feita através de switches.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A função da ponte  é deixar passar para o outro segmento somente as mensagens endereçadas a ele. </a:t>
            </a:r>
          </a:p>
          <a:p>
            <a:endParaRPr lang="pt-BR" altLang="pt-BR" smtClean="0"/>
          </a:p>
          <a:p>
            <a:r>
              <a:rPr lang="pt-BR" altLang="pt-BR" smtClean="0"/>
              <a:t>Com isto, temos o tráfego menor no barramento, pois as mensagens de ambos os segmentos não concorrem mais juntos no mesmo barramento.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800" smtClean="0"/>
              <a:t>Isolam o tráfego de cada rede, evitando o compartilhamento total do barramento por ambas, evitando colisões e aumentando a performance.</a:t>
            </a:r>
          </a:p>
          <a:p>
            <a:endParaRPr lang="pt-BR" altLang="pt-BR" sz="2800" smtClean="0"/>
          </a:p>
          <a:p>
            <a:r>
              <a:rPr lang="pt-BR" altLang="pt-BR" sz="2800" smtClean="0"/>
              <a:t>É mais simples que um roteador. Uma ponte trabalha na camada de enlace ao passo que um roteador trabalha na camada de rede.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Detectam automaticamente os endereços MAC das estações (que vem na placa de rede das mesmas) que existem nas duas redes.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4915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Esses endereços são colocados em uma tabela por meio de um algoritmo, chamado “spanning-tree” e é por meio dessa tabela que a ponte deixa passar para o outro segmento somente os quadros Ethernet que possuem endereços MAC das estações desse segmento.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 ponte é independente de protocolo, pois lê apenas o endereço do quadro de enlace, sem ler o conteúdo desse quadro.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Pontes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Pode-se usar pontes para se interligar duas redes distantes por meio de modems.</a:t>
            </a:r>
          </a:p>
          <a:p>
            <a:endParaRPr lang="pt-BR" altLang="pt-BR" smtClean="0"/>
          </a:p>
          <a:p>
            <a:r>
              <a:rPr lang="pt-BR" altLang="pt-BR" smtClean="0"/>
              <a:t>Ver transparência.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Switches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endParaRPr lang="pt-BR" altLang="pt-B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É um equipamento que tem por finalidade fazer a interligação de hubs.</a:t>
            </a:r>
          </a:p>
          <a:p>
            <a:endParaRPr lang="pt-BR" altLang="pt-BR" smtClean="0"/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Se uma rede, antes composta de micros e hubs, cresceu, há a necessidade de um switch para segmentar a rede e melhorar a performance como um todo.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Atua na camada de enlace.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r>
              <a:rPr lang="pt-BR" altLang="pt-BR" smtClean="0"/>
              <a:t>O switch toma a mensagem da camada de enlace, lê o endereço de destino, e envia a mensagem para a porta do segmento de rede no qual o endereço de destino, existente na mensagem, está alocado.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O switch trabalha de forma diferente de um hub. O hub </a:t>
            </a:r>
            <a:r>
              <a:rPr lang="pt-BR" altLang="pt-BR" b="1" smtClean="0"/>
              <a:t>compartilha</a:t>
            </a:r>
            <a:r>
              <a:rPr lang="pt-BR" altLang="pt-BR" smtClean="0"/>
              <a:t> a velocidade entre todas as estações de forma idêntica (como o barramento é compartilhado de forma idêntica)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O Switch </a:t>
            </a:r>
            <a:r>
              <a:rPr lang="pt-BR" altLang="pt-BR" b="1" smtClean="0"/>
              <a:t>dedica</a:t>
            </a:r>
            <a:r>
              <a:rPr lang="pt-BR" altLang="pt-BR" smtClean="0"/>
              <a:t> a mesma velocidade para todas as estações, mas </a:t>
            </a:r>
            <a:r>
              <a:rPr lang="pt-BR" altLang="pt-BR" b="1" smtClean="0"/>
              <a:t>a velocidade não é compartilhada, é dedicada</a:t>
            </a:r>
            <a:r>
              <a:rPr lang="pt-BR" altLang="pt-BR" smtClean="0"/>
              <a:t>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O switch funciona como uma matriz de comutação de alta velocidade, feita em nível de hardware (o que é mais rápido que por software).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Essa comutação é baseada no endereço MAC (Medium Access Control – subcamada da camada de enlace, de acesso ao meio físico), e é  controlada por meio de endereços das suas  portas, por um algoritmo especializado.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O desempenho interno de um switch ou tráfego de mensagens na matriz de comutação é na faixa de Gigabits/segundo.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Normalmente, os dados carregados dentro de um frame Ethernet são de protocolos IP (TCP/IP) ou IPX (Netware).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O switch é um equipamento que permite que vários segmentos de redes se comuniquem com outros segmentos, ao mesmo tempo, dois a dois.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Como um switch possui várias portas conectadas de forma matricial, é possível ligarmos vários segmentos de redes Ethernet, permitindo que todos os segmentos se comuniquem entre si isoladamente.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Velocidade: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- São classificados de acordo com sua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velocidade de operação: 10 Mbps,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100 Mbps e 1000 Mbps.</a:t>
            </a:r>
          </a:p>
          <a:p>
            <a:pPr>
              <a:buSzPct val="80000"/>
              <a:buFont typeface="Wingdings" panose="05000000000000000000" pitchFamily="2" charset="2"/>
              <a:buChar char="§"/>
            </a:pPr>
            <a:endParaRPr lang="pt-BR" altLang="pt-BR" smtClean="0"/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pPr>
              <a:buFont typeface="Wingdings" panose="05000000000000000000" pitchFamily="2" charset="2"/>
              <a:buChar char="§"/>
            </a:pPr>
            <a:endParaRPr lang="pt-BR" altLang="pt-BR" smtClean="0"/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SzPct val="120000"/>
              <a:buFont typeface="Wingdings" panose="05000000000000000000" pitchFamily="2" charset="2"/>
              <a:buChar char="§"/>
            </a:pPr>
            <a:endParaRPr lang="pt-BR" altLang="pt-BR" smtClean="0"/>
          </a:p>
          <a:p>
            <a:pPr>
              <a:buSzPct val="120000"/>
              <a:buFont typeface="Wingdings" panose="05000000000000000000" pitchFamily="2" charset="2"/>
              <a:buChar char="§"/>
            </a:pPr>
            <a:r>
              <a:rPr lang="pt-BR" altLang="pt-BR" smtClean="0"/>
              <a:t>Segurança:</a:t>
            </a:r>
          </a:p>
          <a:p>
            <a:pPr>
              <a:buSzPct val="120000"/>
              <a:buFont typeface="Wingdings" panose="05000000000000000000" pitchFamily="2" charset="2"/>
              <a:buNone/>
            </a:pPr>
            <a:r>
              <a:rPr lang="pt-BR" altLang="pt-BR" smtClean="0"/>
              <a:t>      - Os hubs não são tão seguros </a:t>
            </a:r>
          </a:p>
          <a:p>
            <a:pPr>
              <a:buSzPct val="120000"/>
              <a:buFont typeface="Wingdings" panose="05000000000000000000" pitchFamily="2" charset="2"/>
              <a:buNone/>
            </a:pPr>
            <a:r>
              <a:rPr lang="pt-BR" altLang="pt-BR" smtClean="0"/>
              <a:t>        quanto os switches porque todos os </a:t>
            </a:r>
          </a:p>
          <a:p>
            <a:pPr>
              <a:buSzPct val="120000"/>
              <a:buFont typeface="Wingdings" panose="05000000000000000000" pitchFamily="2" charset="2"/>
              <a:buNone/>
            </a:pPr>
            <a:r>
              <a:rPr lang="pt-BR" altLang="pt-BR" smtClean="0"/>
              <a:t>        quadros são transmitidos para todas </a:t>
            </a:r>
          </a:p>
          <a:p>
            <a:pPr>
              <a:buSzPct val="120000"/>
              <a:buFont typeface="Wingdings" panose="05000000000000000000" pitchFamily="2" charset="2"/>
              <a:buNone/>
            </a:pPr>
            <a:r>
              <a:rPr lang="pt-BR" altLang="pt-BR" smtClean="0"/>
              <a:t>        as portas.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656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Ligação: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- Os switches, por causa de seu alto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custo, quase não são usados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sozinhos. Em geral são usados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ligados a Hubs.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Os Hubs possuem limitação quanto à quantidade de ligações. </a:t>
            </a:r>
          </a:p>
          <a:p>
            <a:endParaRPr lang="pt-BR" altLang="pt-BR" smtClean="0"/>
          </a:p>
          <a:p>
            <a:r>
              <a:rPr lang="pt-BR" altLang="pt-BR" smtClean="0"/>
              <a:t>Os switches, no entanto,podem ser ligados a qualquer uma das portas do hub, já que os switches são considerados pelo Hub como se fosse um microcomputador.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Switch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800" smtClean="0"/>
              <a:t>É possível que um segmento de rede de 10 Mbps, se comunique com um servidor ligado ao switch. No caso, o servidor que pode atender a diversos segmentos de 10 Mbps, pode estar ligado a 100 Mbps ao switch, permitindo assim, atender a vários segmentos, com alta performance, porém atendendo os segmentos com seus tráfegos de rede isolados.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Tipos de Switch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Frame Switch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Faz as conexões (estabelecimento de 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links entre dois pontos) em arquiteturas de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transmissão por frame (quadro da camada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de enlace) com velocidades de 10 Mbps e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100 Mbps. Opera com frames padronizados 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de tamanhos variáveis tipo Ethernet ou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Token-Ring.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Tipos de Switch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Cell Switches</a:t>
            </a:r>
          </a:p>
          <a:p>
            <a:r>
              <a:rPr lang="pt-BR" altLang="pt-BR" smtClean="0"/>
              <a:t>Vimos switches que tratam exclusivamente de redes locais.</a:t>
            </a:r>
          </a:p>
          <a:p>
            <a:r>
              <a:rPr lang="pt-BR" altLang="pt-BR" smtClean="0"/>
              <a:t>Existem os Cell Switches que funcionam com base na tecnologia ATM, que operam no conceito de células e podem ser utilizados no ambiente de LANs.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2325" y="758825"/>
            <a:ext cx="7543800" cy="35655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/>
              <a:t>Roteadores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5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endParaRPr lang="pt-BR" altLang="pt-B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r>
              <a:rPr lang="pt-BR" altLang="pt-BR" smtClean="0"/>
              <a:t>São pontes que atuam na camada de rede.</a:t>
            </a:r>
          </a:p>
          <a:p>
            <a:endParaRPr lang="pt-BR" altLang="pt-BR" smtClean="0"/>
          </a:p>
          <a:p>
            <a:r>
              <a:rPr lang="pt-BR" altLang="pt-BR" smtClean="0"/>
              <a:t>É um equipamento que trabalha com um protocolo da camada de rede, convertendo o protocolo de uma rede para outra de protocolo distinto.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 diferença entre uma ponte e um roteador é que o endereçamento que a ponte utiliza é o da camada de enlace (MAC) das placas de rede, que é um endereçamento físico.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475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O roteador, por operar na camada de rede, usa o endereçamento dessa camada, que é um endereçamento lógico.</a:t>
            </a:r>
          </a:p>
          <a:p>
            <a:endParaRPr lang="pt-BR" altLang="pt-BR" smtClean="0"/>
          </a:p>
          <a:p>
            <a:r>
              <a:rPr lang="pt-BR" altLang="pt-BR" smtClean="0"/>
              <a:t>No caso TCP/IP, esse endereçamento é o endereço IP.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5779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Impossibilidade de endereços MAC na Internet.</a:t>
            </a:r>
          </a:p>
          <a:p>
            <a:endParaRPr lang="pt-BR" altLang="pt-BR" smtClean="0"/>
          </a:p>
          <a:p>
            <a:r>
              <a:rPr lang="pt-BR" altLang="pt-BR" smtClean="0"/>
              <a:t>A conversão do endereço lógico (IP) para o endereço físico  (MAC) é feita somente quando o pacote chega à rede de destino.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680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Endereços lógicos são mais fáceis de serem organizados.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São capazes de fragmentar os pacotes recebidos, e isto faz com que possa interligar duas redes com arquiteturas distintas.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Ao receber um frame de dados que vai ser transmitido, verifica o seu endereçamento em nível de rede, fazendo a conversão de protocolo, se necessário.  Um pacote de dados é transmitido para o endereço de destino, escolhendo o melhor caminho (rota na WAN).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Interfaces LAN: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- Ethernet, Token-Ring, FDDI</a:t>
            </a:r>
          </a:p>
          <a:p>
            <a:endParaRPr lang="pt-BR" altLang="pt-BR" smtClean="0"/>
          </a:p>
          <a:p>
            <a:r>
              <a:rPr lang="pt-BR" altLang="pt-BR" smtClean="0"/>
              <a:t>Roteando protocolos: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- IP, IPX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Consegue separar topologias diferentes, trantando protocolos diferentes, roteando ou escolhendo o melhor caminho para o tráfego de pacotes de um ponto ao outro, ao longo de uma rede com diversos nodos (roteadores).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Mais apropriados para redes WAN.</a:t>
            </a:r>
          </a:p>
          <a:p>
            <a:endParaRPr lang="pt-BR" altLang="pt-BR" smtClean="0"/>
          </a:p>
          <a:p>
            <a:r>
              <a:rPr lang="pt-BR" altLang="pt-BR" smtClean="0"/>
              <a:t>Retransmite os pacotes para as redes e não para as estações finais.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Uma estação remetente de pacote deve conhecer, obrigatoriamente, o endereço do primeiro roteador ao qual deve enviar o pacote.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Operam com tabelas de rotas, as quais são atualizadas por um método apropriado, ou seja, um protocolo da camada de rede que contém a informação de roteamento.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Dependem do protocolo utilizado para poderem interpretar as informações e poder roteá-las na rede.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 diferença entre um roteador e outro, é a quantidade de protocolos que um ou outro opera. Um roteador trata diversos protocolos e consegue interligar várias redes diferentes.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Ver transparência: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1. Conectando arquiteturas diferentes: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Ethernet com Token Ring.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2. Comunicando-se com vários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protocolos.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 (Características)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Três usos: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- Conexão Internet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- Conexão de LANs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- Conexões de WANs</a:t>
            </a:r>
          </a:p>
          <a:p>
            <a:endParaRPr lang="pt-BR" altLang="pt-BR" smtClean="0"/>
          </a:p>
          <a:p>
            <a:r>
              <a:rPr lang="pt-BR" altLang="pt-BR" smtClean="0"/>
              <a:t>Equipamento que interliga duas ou mais redes.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Interligação de uma rede local com a Internet.</a:t>
            </a:r>
          </a:p>
          <a:p>
            <a:r>
              <a:rPr lang="pt-BR" altLang="pt-BR" smtClean="0"/>
              <a:t>Ver transparência.</a:t>
            </a:r>
          </a:p>
          <a:p>
            <a:r>
              <a:rPr lang="pt-BR" altLang="pt-BR" smtClean="0"/>
              <a:t>O roteador típico para esse usos deve possuir basicamente duas portas: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 - uma porta WAN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      - uma porta LAN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A porta WAN recebe o cabo que vem do </a:t>
            </a:r>
            <a:r>
              <a:rPr lang="pt-BR" altLang="pt-BR" i="1" smtClean="0"/>
              <a:t>backbone</a:t>
            </a:r>
            <a:r>
              <a:rPr lang="pt-BR" altLang="pt-BR" smtClean="0"/>
              <a:t> da Internet.</a:t>
            </a:r>
          </a:p>
          <a:p>
            <a:r>
              <a:rPr lang="pt-BR" altLang="pt-BR" smtClean="0"/>
              <a:t>Normalmente, essa conexão é feita por um conector V.35 (34 pinos).</a:t>
            </a:r>
          </a:p>
          <a:p>
            <a:r>
              <a:rPr lang="pt-BR" altLang="pt-BR" smtClean="0"/>
              <a:t>A porta LAN é conectada à rede local (saída Ethernet), já que a maioria das redes locais usa essa arquitetura.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Interligação de duas redes locais: dividir uma rede grande em segmentos menores.</a:t>
            </a:r>
          </a:p>
          <a:p>
            <a:r>
              <a:rPr lang="pt-BR" altLang="pt-BR" smtClean="0"/>
              <a:t>Ver transparência.</a:t>
            </a:r>
          </a:p>
          <a:p>
            <a:r>
              <a:rPr lang="pt-BR" altLang="pt-BR" smtClean="0"/>
              <a:t>Aplicação: Redes locais pertencentes a uma mesma empresa.</a:t>
            </a:r>
          </a:p>
          <a:p>
            <a:r>
              <a:rPr lang="pt-BR" altLang="pt-BR" smtClean="0"/>
              <a:t>Não resolve o problema de empresas com filiais em vários estados.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A solução para isso é fazer uso de uma rede pública com as oferecidas pelas companhias de telecomunicações (Embratel, Telemar, Brasil Telecom, ...), que irá interligar duas cidades distantes através de uma conexão WAN.</a:t>
            </a:r>
          </a:p>
          <a:p>
            <a:endParaRPr lang="pt-BR" altLang="pt-BR" smtClean="0"/>
          </a:p>
          <a:p>
            <a:r>
              <a:rPr lang="pt-BR" altLang="pt-BR" smtClean="0"/>
              <a:t>Ver transparência.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Cada uma das portas do roteador deve receber um endereço lógico.</a:t>
            </a:r>
          </a:p>
          <a:p>
            <a:endParaRPr lang="pt-BR" altLang="pt-BR" smtClean="0"/>
          </a:p>
          <a:p>
            <a:r>
              <a:rPr lang="pt-BR" altLang="pt-BR" smtClean="0"/>
              <a:t>No caso do TCP/IP, um número IP, que esteja em uma rede diferente dos endereços colocados nas outras portas.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Na hora de escolher um roteador, devemos levar em consideração algumas características básicas:</a:t>
            </a:r>
          </a:p>
          <a:p>
            <a:endParaRPr lang="pt-BR" altLang="pt-BR" smtClean="0"/>
          </a:p>
          <a:p>
            <a:r>
              <a:rPr lang="pt-BR" altLang="pt-BR" smtClean="0"/>
              <a:t>Número de portas WAN.</a:t>
            </a:r>
          </a:p>
          <a:p>
            <a:r>
              <a:rPr lang="pt-BR" altLang="pt-BR" smtClean="0"/>
              <a:t>Número de portas LAN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Velocidade das portas WAN</a:t>
            </a:r>
          </a:p>
          <a:p>
            <a:r>
              <a:rPr lang="pt-BR" altLang="pt-BR" smtClean="0"/>
              <a:t>Velocidade das portas LAN</a:t>
            </a:r>
          </a:p>
          <a:p>
            <a:r>
              <a:rPr lang="pt-BR" altLang="pt-BR" smtClean="0"/>
              <a:t>Tolerância a Falhas</a:t>
            </a:r>
          </a:p>
          <a:p>
            <a:r>
              <a:rPr lang="pt-BR" altLang="pt-BR" smtClean="0"/>
              <a:t>Redundância</a:t>
            </a:r>
          </a:p>
          <a:p>
            <a:r>
              <a:rPr lang="pt-BR" altLang="pt-BR" smtClean="0"/>
              <a:t>Balanceamento de Carga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z="2800" smtClean="0"/>
          </a:p>
          <a:p>
            <a:r>
              <a:rPr lang="pt-BR" altLang="pt-BR" sz="2800" smtClean="0"/>
              <a:t>Alguns roteadores possuem um recurso chamado de </a:t>
            </a:r>
            <a:r>
              <a:rPr lang="pt-BR" altLang="pt-BR" sz="2800" i="1" smtClean="0"/>
              <a:t>redundância de call-up</a:t>
            </a:r>
            <a:r>
              <a:rPr lang="pt-BR" altLang="pt-BR" sz="2800" smtClean="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smtClean="0"/>
              <a:t>   Esse recurso permite ligar um roteador a um modem através de um cabo serial, e no caso do link WAN falhar, o modem pode discar para um provedor e se conectar (nomalmente a 33.600 bps), mantendo a conexão da rede local com a Internet no ar.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Tolerância a Falhas: através deste recurso, o roteador continua operando mesmo quando ele se danifica.</a:t>
            </a:r>
          </a:p>
          <a:p>
            <a:endParaRPr lang="pt-BR" altLang="pt-BR" smtClean="0"/>
          </a:p>
          <a:p>
            <a:r>
              <a:rPr lang="pt-BR" altLang="pt-BR" smtClean="0"/>
              <a:t>Redundância: significa que o roteador tem na realidade dois roteadores dentro dele. Caso o primeiro falhe, o segundo entra em ação.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Balanceamento de Carga: existem roteadores que podem gerenciar duas ou mais conexões entre ele e outros roteadores, otimizando as conexões. Essa característica é uitlizada em conexões entre filiais de empresas.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Configuração de Roteamento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- default gateway: porta de saída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usada quando o roteador não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conhece o endereço de destino de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um pacote.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- Cada roteador poderá usar um default </a:t>
            </a:r>
          </a:p>
          <a:p>
            <a:pPr marL="91440" indent="-91440" fontAlgn="auto">
              <a:buFont typeface="Wingdings" panose="05000000000000000000" pitchFamily="2" charset="2"/>
              <a:buNone/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     gateway.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Ver transparência.</a:t>
            </a:r>
          </a:p>
          <a:p>
            <a:endParaRPr lang="pt-BR" altLang="pt-BR" smtClean="0"/>
          </a:p>
          <a:p>
            <a:r>
              <a:rPr lang="pt-BR" altLang="pt-BR" smtClean="0"/>
              <a:t>Na rede 1 o gateway deve ser configurado para 192.168.0.1, que é a porta LAN do roteador 1. Esse roteador usa como gateway o endereço 10.0.0.1, que é o provedor no qual ele está ligado.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Já a rede 2 tem como gateway o endereço 173.23.1.1, que é a porta LAN do roteador 2. Este, por sua vez, usa como default gateway o endereço 192.168.0.1, que é a porta LAN do roteador 1.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Quando uma máquina da rede 2 enviar um pacote, o roteador 2 irá analisá-lo para enviá-lo ao destino. Se o pacote é destinado à própria rede 2, esse pacote não sai dessa rede e é encaminhado para a máquina de destino.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Caso o pacote possua um endereço de destino desconhecido, o roteador irá encaminhá-lo para o seu default gateway, que é a porta LAN do roteador 1.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O roteador 1 analisará o pacote. Se esse pacote possui endereço conhecido, isto é, é um pacote destinado à rede 1, então o roteador 1 o entrega.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Caso contrário, o roteador 1 enviará o pacote para o seu default gatweway (o provedor).</a:t>
            </a:r>
          </a:p>
          <a:p>
            <a:pPr marL="91440" indent="-91440" fontAlgn="auto">
              <a:defRPr/>
            </a:pPr>
            <a:endParaRPr lang="pt-BR" altLang="pt-BR" sz="2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fontAlgn="auto">
              <a:defRPr/>
            </a:pPr>
            <a:r>
              <a:rPr lang="pt-BR" alt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Esse procedimento continua até o pacote ser entregue ao destino.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Se a rede não usa protocolo de roteamento, teremos que configurar manualmente a tabela de roteamento de cada roteador.</a:t>
            </a:r>
          </a:p>
          <a:p>
            <a:r>
              <a:rPr lang="pt-BR" altLang="pt-BR" smtClean="0"/>
              <a:t>A tabela é simples: possui uma coluna informando a rede de destino. E outra coluna informando qual é o gateway para acessá-la.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04800"/>
            <a:ext cx="7793037" cy="145573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133600"/>
            <a:ext cx="7772400" cy="4191000"/>
          </a:xfrm>
        </p:spPr>
        <p:txBody>
          <a:bodyPr/>
          <a:lstStyle/>
          <a:p>
            <a:r>
              <a:rPr lang="pt-BR" altLang="pt-BR" smtClean="0"/>
              <a:t>Tabela do Roteador 1</a:t>
            </a:r>
          </a:p>
        </p:txBody>
      </p:sp>
      <p:graphicFrame>
        <p:nvGraphicFramePr>
          <p:cNvPr id="103451" name="Group 27"/>
          <p:cNvGraphicFramePr>
            <a:graphicFrameLocks noGrp="1"/>
          </p:cNvGraphicFramePr>
          <p:nvPr/>
        </p:nvGraphicFramePr>
        <p:xfrm>
          <a:off x="1524000" y="2971800"/>
          <a:ext cx="6096000" cy="2590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7082390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58893733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DESTINO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GATEWAY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648382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0.0.0.0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10.0.0.1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993548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127.0.0.1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127.0.0.1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291193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192.168.0.0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192.168.0.1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80321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172.23.1.0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172.23.1.1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84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Tabela do Roteador 2</a:t>
            </a:r>
          </a:p>
        </p:txBody>
      </p:sp>
      <p:graphicFrame>
        <p:nvGraphicFramePr>
          <p:cNvPr id="105501" name="Group 29"/>
          <p:cNvGraphicFramePr>
            <a:graphicFrameLocks noGrp="1"/>
          </p:cNvGraphicFramePr>
          <p:nvPr/>
        </p:nvGraphicFramePr>
        <p:xfrm>
          <a:off x="1524000" y="3048000"/>
          <a:ext cx="6096000" cy="24384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762037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87919992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DESTINO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GATEWAY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538597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0.0.0.0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192.168.0.1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838778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127.0.0.1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127.0.0.1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680753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172.23.1.0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172.23.1.1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261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O endereço 0.0.0.0 é usado para representar o default gateway.</a:t>
            </a:r>
          </a:p>
          <a:p>
            <a:r>
              <a:rPr lang="pt-BR" altLang="pt-BR" smtClean="0"/>
              <a:t>O endereço 127.0.0.1 é um endereço de loopback, usado em situações de teste, e que deve ser configurado.</a:t>
            </a:r>
          </a:p>
          <a:p>
            <a:r>
              <a:rPr lang="pt-BR" altLang="pt-BR" smtClean="0"/>
              <a:t>O endereço IP, onde o último byte é seja 0, são usados para endereçar uma rede.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Roteadores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800" smtClean="0"/>
              <a:t>Na figura o endereço da rede 1 é 192.168.0.0 e a rede 2 é 172.23.1.0 .</a:t>
            </a:r>
          </a:p>
          <a:p>
            <a:endParaRPr lang="pt-BR" altLang="pt-BR" sz="2800" smtClean="0"/>
          </a:p>
          <a:p>
            <a:r>
              <a:rPr lang="pt-BR" altLang="pt-BR" sz="2800" smtClean="0"/>
              <a:t>Não é necessário, no roteador 2, configurar um gateway para o endereço 192.168.0.0. O roteador 2 já está configurado para enviar qualquer pacote desconhecido para o endereço 192.168.0.1. Isso inclui endereços pertencentes à rede 192.168.0.0.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Roteadores  </a:t>
            </a:r>
            <a:b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800" smtClean="0"/>
              <a:t>Protocolo Aberto baseado no estado do link.</a:t>
            </a:r>
          </a:p>
          <a:p>
            <a:r>
              <a:rPr lang="pt-BR" altLang="pt-BR" sz="2800" smtClean="0"/>
              <a:t>Usado pela camada IP.</a:t>
            </a:r>
          </a:p>
          <a:p>
            <a:r>
              <a:rPr lang="pt-BR" altLang="pt-BR" sz="2800" smtClean="0"/>
              <a:t>Periodicamente cada roteador testa o estado dos roteadores a que ele estiver conectado diretamente. </a:t>
            </a:r>
          </a:p>
          <a:p>
            <a:r>
              <a:rPr lang="pt-BR" altLang="pt-BR" sz="2800" smtClean="0"/>
              <a:t>O teste é feito enviando um mensagem chamada </a:t>
            </a:r>
            <a:r>
              <a:rPr lang="pt-BR" altLang="pt-BR" sz="2800" i="1" smtClean="0"/>
              <a:t>Hello</a:t>
            </a:r>
            <a:r>
              <a:rPr lang="pt-BR" altLang="pt-BR" sz="2800" smtClean="0"/>
              <a:t>. Cada roteador deve enviar uma resposta.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Roteadores  </a:t>
            </a:r>
            <a:b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Cada roteador deve enviar uma resposta.</a:t>
            </a:r>
          </a:p>
          <a:p>
            <a:endParaRPr lang="pt-BR" altLang="pt-BR" smtClean="0"/>
          </a:p>
          <a:p>
            <a:r>
              <a:rPr lang="pt-BR" altLang="pt-BR" smtClean="0"/>
              <a:t>Caso nenhuma resposta seja retornada significa que aquele roteador não está funcionando.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De tempos em tempos, os roteadores enviam para os demais roteadores a que eles estiverem conectados diretamente, uma lista dos roteadores que eles podem alcançar corretamente.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Essa lista não inclui nenhuma informação de rota, mas apenas o estado da conexão dos roteadores.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Com isso, cada roteador passa a ter conhecimento de todos os caminhos que interligam os roteadores.</a:t>
            </a:r>
          </a:p>
          <a:p>
            <a:endParaRPr lang="pt-BR" altLang="pt-BR" smtClean="0"/>
          </a:p>
          <a:p>
            <a:r>
              <a:rPr lang="pt-BR" altLang="pt-BR" smtClean="0"/>
              <a:t>No OSPF cada roteador tem o conhecimento de todos os caminhos.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Com o uso do OSPF cada roteador pode escolher não o menor caminho para atingir a rede destino, mas o caminho que oferece o melhor desempenho (que eventualmente poderã se o menor caminho).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O OSPF possui roteamento baseado em tipo de serviço. Ou seja, a escolha da melhor rota para um determinado pacote, não depende somente do destino, mas também do tipo de serviço que ele representa.</a:t>
            </a:r>
          </a:p>
          <a:p>
            <a:r>
              <a:rPr lang="pt-BR" altLang="pt-BR" smtClean="0"/>
              <a:t>A rota é escolhida dependendo da prioridade do pacote.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O OSPF permite o uso de autenticação, isto é, o uso de senha para a alteração das informações de roteamento.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O OSPF permite o balanceamento de carga, isto é, se houver mais de uma rota para um mesmo destino, roteadores usando o OSPF dividem os dados a serem transmitidos através dessas rotas, aliviando o peso dessas transmissões.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Pacotes OSPF são enviadas dentro de datagramas IP. Nesses datagramas, o campo “protocolo” é colocado com o valor 89, de forma a identificar que o datagrama está carregando uma mensagem OSPF.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O </a:t>
            </a: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Protocolo de Roteamento OSPF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A seguir é mostrado p encapsulamento da mensagem OSPF em um datagrama IP: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 sz="4000">
                <a:solidFill>
                  <a:schemeClr val="tx1">
                    <a:lumMod val="75000"/>
                    <a:lumOff val="25000"/>
                  </a:schemeClr>
                </a:solidFill>
              </a:rPr>
              <a:t>Encapsulamento de Mensagens OSPF em Pacotes IP</a:t>
            </a:r>
          </a:p>
        </p:txBody>
      </p:sp>
      <p:sp>
        <p:nvSpPr>
          <p:cNvPr id="121859" name="Rectangle 19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8686800" cy="4114800"/>
          </a:xfrm>
          <a:ln cap="rnd">
            <a:solidFill>
              <a:schemeClr val="tx1"/>
            </a:solidFill>
            <a:prstDash val="sysDot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 smtClean="0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1524000" y="4572000"/>
            <a:ext cx="7315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/>
              <a:t>                        </a:t>
            </a:r>
          </a:p>
          <a:p>
            <a:pPr algn="ctr" eaLnBrk="1" hangingPunct="1"/>
            <a:r>
              <a:rPr lang="pt-BR" altLang="pt-BR"/>
              <a:t>                         Área de Dados do Pacote IP</a:t>
            </a:r>
          </a:p>
          <a:p>
            <a:pPr algn="ctr" eaLnBrk="1" hangingPunct="1"/>
            <a:endParaRPr lang="pt-BR" altLang="pt-BR"/>
          </a:p>
        </p:txBody>
      </p:sp>
      <p:sp>
        <p:nvSpPr>
          <p:cNvPr id="121861" name="Rectangle 6"/>
          <p:cNvSpPr>
            <a:spLocks noChangeArrowheads="1"/>
          </p:cNvSpPr>
          <p:nvPr/>
        </p:nvSpPr>
        <p:spPr bwMode="auto">
          <a:xfrm>
            <a:off x="3505200" y="2819400"/>
            <a:ext cx="53340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pt-BR" altLang="pt-BR"/>
          </a:p>
        </p:txBody>
      </p:sp>
      <p:sp>
        <p:nvSpPr>
          <p:cNvPr id="121862" name="Line 8"/>
          <p:cNvSpPr>
            <a:spLocks noChangeShapeType="1"/>
          </p:cNvSpPr>
          <p:nvPr/>
        </p:nvSpPr>
        <p:spPr bwMode="auto">
          <a:xfrm>
            <a:off x="6248400" y="2743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1863" name="Line 9"/>
          <p:cNvSpPr>
            <a:spLocks noChangeShapeType="1"/>
          </p:cNvSpPr>
          <p:nvPr/>
        </p:nvSpPr>
        <p:spPr bwMode="auto">
          <a:xfrm>
            <a:off x="6248400" y="2819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1864" name="Text Box 12"/>
          <p:cNvSpPr txBox="1">
            <a:spLocks noChangeArrowheads="1"/>
          </p:cNvSpPr>
          <p:nvPr/>
        </p:nvSpPr>
        <p:spPr bwMode="auto">
          <a:xfrm>
            <a:off x="4038600" y="2776538"/>
            <a:ext cx="2479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Cabeçalho </a:t>
            </a:r>
          </a:p>
          <a:p>
            <a:pPr eaLnBrk="1" hangingPunct="1"/>
            <a:r>
              <a:rPr lang="pt-BR" altLang="pt-BR"/>
              <a:t>    OSPF</a:t>
            </a:r>
          </a:p>
        </p:txBody>
      </p:sp>
      <p:sp>
        <p:nvSpPr>
          <p:cNvPr id="121865" name="Text Box 13"/>
          <p:cNvSpPr txBox="1">
            <a:spLocks noChangeArrowheads="1"/>
          </p:cNvSpPr>
          <p:nvPr/>
        </p:nvSpPr>
        <p:spPr bwMode="auto">
          <a:xfrm>
            <a:off x="6858000" y="2819400"/>
            <a:ext cx="22240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Mensagem</a:t>
            </a:r>
          </a:p>
          <a:p>
            <a:pPr eaLnBrk="1" hangingPunct="1"/>
            <a:r>
              <a:rPr lang="pt-BR" altLang="pt-BR"/>
              <a:t>    OSPF</a:t>
            </a:r>
          </a:p>
        </p:txBody>
      </p:sp>
      <p:sp>
        <p:nvSpPr>
          <p:cNvPr id="121866" name="Line 15"/>
          <p:cNvSpPr>
            <a:spLocks noChangeShapeType="1"/>
          </p:cNvSpPr>
          <p:nvPr/>
        </p:nvSpPr>
        <p:spPr bwMode="auto">
          <a:xfrm>
            <a:off x="3505200" y="4572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1867" name="Text Box 20"/>
          <p:cNvSpPr txBox="1">
            <a:spLocks noChangeArrowheads="1"/>
          </p:cNvSpPr>
          <p:nvPr/>
        </p:nvSpPr>
        <p:spPr bwMode="auto">
          <a:xfrm>
            <a:off x="1676400" y="4681538"/>
            <a:ext cx="2403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Cabeçalho </a:t>
            </a:r>
          </a:p>
          <a:p>
            <a:pPr eaLnBrk="1" hangingPunct="1"/>
            <a:r>
              <a:rPr lang="pt-BR" altLang="pt-BR"/>
              <a:t>      IP</a:t>
            </a:r>
          </a:p>
        </p:txBody>
      </p:sp>
      <p:sp>
        <p:nvSpPr>
          <p:cNvPr id="121868" name="Rectangle 21"/>
          <p:cNvSpPr>
            <a:spLocks noChangeArrowheads="1"/>
          </p:cNvSpPr>
          <p:nvPr/>
        </p:nvSpPr>
        <p:spPr bwMode="auto">
          <a:xfrm>
            <a:off x="3505200" y="4572000"/>
            <a:ext cx="5334000" cy="990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/>
              <a:t>Área de Dados do datagrama IP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do Cabeçalho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do Cabeçalho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O formato do cabeçalho OSPF, que está presente em todas mensagens OSPF, é mostrado a seguir: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3"/>
          <p:cNvSpPr>
            <a:spLocks noChangeArrowheads="1"/>
          </p:cNvSpPr>
          <p:nvPr/>
        </p:nvSpPr>
        <p:spPr bwMode="auto">
          <a:xfrm>
            <a:off x="1905000" y="381000"/>
            <a:ext cx="4114800" cy="6172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pt-BR" altLang="pt-BR"/>
          </a:p>
        </p:txBody>
      </p:sp>
      <p:sp>
        <p:nvSpPr>
          <p:cNvPr id="124931" name="Line 4"/>
          <p:cNvSpPr>
            <a:spLocks noChangeShapeType="1"/>
          </p:cNvSpPr>
          <p:nvPr/>
        </p:nvSpPr>
        <p:spPr bwMode="auto">
          <a:xfrm>
            <a:off x="1981200" y="35052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2" name="Line 5"/>
          <p:cNvSpPr>
            <a:spLocks noChangeShapeType="1"/>
          </p:cNvSpPr>
          <p:nvPr/>
        </p:nvSpPr>
        <p:spPr bwMode="auto">
          <a:xfrm>
            <a:off x="1981200" y="19050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3" name="Line 6"/>
          <p:cNvSpPr>
            <a:spLocks noChangeShapeType="1"/>
          </p:cNvSpPr>
          <p:nvPr/>
        </p:nvSpPr>
        <p:spPr bwMode="auto">
          <a:xfrm>
            <a:off x="1981200" y="5105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4" name="Line 7"/>
          <p:cNvSpPr>
            <a:spLocks noChangeShapeType="1"/>
          </p:cNvSpPr>
          <p:nvPr/>
        </p:nvSpPr>
        <p:spPr bwMode="auto">
          <a:xfrm>
            <a:off x="1981200" y="12192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5" name="Line 8"/>
          <p:cNvSpPr>
            <a:spLocks noChangeShapeType="1"/>
          </p:cNvSpPr>
          <p:nvPr/>
        </p:nvSpPr>
        <p:spPr bwMode="auto">
          <a:xfrm>
            <a:off x="1981200" y="27432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6" name="Line 9"/>
          <p:cNvSpPr>
            <a:spLocks noChangeShapeType="1"/>
          </p:cNvSpPr>
          <p:nvPr/>
        </p:nvSpPr>
        <p:spPr bwMode="auto">
          <a:xfrm>
            <a:off x="1981200" y="4343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7" name="Line 10"/>
          <p:cNvSpPr>
            <a:spLocks noChangeShapeType="1"/>
          </p:cNvSpPr>
          <p:nvPr/>
        </p:nvSpPr>
        <p:spPr bwMode="auto">
          <a:xfrm>
            <a:off x="1981200" y="58674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24938" name="Text Box 12"/>
          <p:cNvSpPr txBox="1">
            <a:spLocks noChangeArrowheads="1"/>
          </p:cNvSpPr>
          <p:nvPr/>
        </p:nvSpPr>
        <p:spPr bwMode="auto">
          <a:xfrm>
            <a:off x="3429000" y="414338"/>
            <a:ext cx="16160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Versão</a:t>
            </a:r>
          </a:p>
          <a:p>
            <a:pPr eaLnBrk="1" hangingPunct="1"/>
            <a:r>
              <a:rPr lang="pt-BR" altLang="pt-BR"/>
              <a:t>1 Byte</a:t>
            </a:r>
          </a:p>
        </p:txBody>
      </p:sp>
      <p:sp>
        <p:nvSpPr>
          <p:cNvPr id="124939" name="Text Box 13"/>
          <p:cNvSpPr txBox="1">
            <a:spLocks noChangeArrowheads="1"/>
          </p:cNvSpPr>
          <p:nvPr/>
        </p:nvSpPr>
        <p:spPr bwMode="auto">
          <a:xfrm>
            <a:off x="2057400" y="1371600"/>
            <a:ext cx="387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Tipo da Mensagem   1 Byte</a:t>
            </a:r>
          </a:p>
        </p:txBody>
      </p:sp>
      <p:sp>
        <p:nvSpPr>
          <p:cNvPr id="124940" name="Text Box 14"/>
          <p:cNvSpPr txBox="1">
            <a:spLocks noChangeArrowheads="1"/>
          </p:cNvSpPr>
          <p:nvPr/>
        </p:nvSpPr>
        <p:spPr bwMode="auto">
          <a:xfrm>
            <a:off x="2514600" y="1905000"/>
            <a:ext cx="46831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Comprimento </a:t>
            </a:r>
          </a:p>
          <a:p>
            <a:pPr eaLnBrk="1" hangingPunct="1"/>
            <a:r>
              <a:rPr lang="pt-BR" altLang="pt-BR"/>
              <a:t>da Mensagem   2 Bytes</a:t>
            </a:r>
          </a:p>
        </p:txBody>
      </p:sp>
      <p:sp>
        <p:nvSpPr>
          <p:cNvPr id="124941" name="Text Box 15"/>
          <p:cNvSpPr txBox="1">
            <a:spLocks noChangeArrowheads="1"/>
          </p:cNvSpPr>
          <p:nvPr/>
        </p:nvSpPr>
        <p:spPr bwMode="auto">
          <a:xfrm>
            <a:off x="2971800" y="2743200"/>
            <a:ext cx="3554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IP do Roteador </a:t>
            </a:r>
          </a:p>
          <a:p>
            <a:pPr eaLnBrk="1" hangingPunct="1"/>
            <a:r>
              <a:rPr lang="pt-BR" altLang="pt-BR"/>
              <a:t>De Origem  4 Bytes</a:t>
            </a:r>
          </a:p>
        </p:txBody>
      </p:sp>
      <p:sp>
        <p:nvSpPr>
          <p:cNvPr id="124942" name="Text Box 16"/>
          <p:cNvSpPr txBox="1">
            <a:spLocks noChangeArrowheads="1"/>
          </p:cNvSpPr>
          <p:nvPr/>
        </p:nvSpPr>
        <p:spPr bwMode="auto">
          <a:xfrm>
            <a:off x="2438400" y="3733800"/>
            <a:ext cx="336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Área  da Rede   4 Bytes</a:t>
            </a:r>
          </a:p>
        </p:txBody>
      </p:sp>
      <p:sp>
        <p:nvSpPr>
          <p:cNvPr id="124943" name="Text Box 17"/>
          <p:cNvSpPr txBox="1">
            <a:spLocks noChangeArrowheads="1"/>
          </p:cNvSpPr>
          <p:nvPr/>
        </p:nvSpPr>
        <p:spPr bwMode="auto">
          <a:xfrm>
            <a:off x="2819400" y="4495800"/>
            <a:ext cx="2735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Checksum  2 Bytes</a:t>
            </a:r>
          </a:p>
        </p:txBody>
      </p:sp>
      <p:sp>
        <p:nvSpPr>
          <p:cNvPr id="124944" name="Text Box 18"/>
          <p:cNvSpPr txBox="1">
            <a:spLocks noChangeArrowheads="1"/>
          </p:cNvSpPr>
          <p:nvPr/>
        </p:nvSpPr>
        <p:spPr bwMode="auto">
          <a:xfrm>
            <a:off x="1981200" y="5257800"/>
            <a:ext cx="409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Tipo de Autenticação 2 Bytes</a:t>
            </a:r>
          </a:p>
        </p:txBody>
      </p:sp>
      <p:sp>
        <p:nvSpPr>
          <p:cNvPr id="124945" name="Text Box 19"/>
          <p:cNvSpPr txBox="1">
            <a:spLocks noChangeArrowheads="1"/>
          </p:cNvSpPr>
          <p:nvPr/>
        </p:nvSpPr>
        <p:spPr bwMode="auto">
          <a:xfrm>
            <a:off x="2438400" y="5943600"/>
            <a:ext cx="3090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Autenticação  8 Bytes</a:t>
            </a:r>
          </a:p>
        </p:txBody>
      </p:sp>
      <p:sp>
        <p:nvSpPr>
          <p:cNvPr id="124946" name="Text Box 20"/>
          <p:cNvSpPr txBox="1">
            <a:spLocks noChangeArrowheads="1"/>
          </p:cNvSpPr>
          <p:nvPr/>
        </p:nvSpPr>
        <p:spPr bwMode="auto">
          <a:xfrm>
            <a:off x="6629400" y="2895600"/>
            <a:ext cx="2279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/>
              <a:t>Cabeçalho do</a:t>
            </a:r>
          </a:p>
          <a:p>
            <a:pPr eaLnBrk="1" hangingPunct="1"/>
            <a:r>
              <a:rPr lang="pt-BR" altLang="pt-BR"/>
              <a:t>      OSPF  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Campos do Cabeçalho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Versão: versão do protocolo OSPF. Esse campo possui sempre o valor 1.</a:t>
            </a:r>
          </a:p>
          <a:p>
            <a:endParaRPr lang="pt-BR" altLang="pt-BR" smtClean="0"/>
          </a:p>
          <a:p>
            <a:r>
              <a:rPr lang="pt-BR" altLang="pt-BR" smtClean="0"/>
              <a:t>Tipo: identifica o tipo de mensagem OSPF, conforme a tabela a seguir: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Tipos de Mensagem do OSPF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graphicFrame>
        <p:nvGraphicFramePr>
          <p:cNvPr id="114734" name="Group 46"/>
          <p:cNvGraphicFramePr>
            <a:graphicFrameLocks noGrp="1"/>
          </p:cNvGraphicFramePr>
          <p:nvPr/>
        </p:nvGraphicFramePr>
        <p:xfrm>
          <a:off x="1524000" y="2362200"/>
          <a:ext cx="6096000" cy="3913188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4709189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758832154"/>
                    </a:ext>
                  </a:extLst>
                </a:gridCol>
              </a:tblGrid>
              <a:tr h="6948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    TIPO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MENSAGEM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216751"/>
                  </a:ext>
                </a:extLst>
              </a:tr>
              <a:tr h="6278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</a:t>
                      </a: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Hello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25564"/>
                  </a:ext>
                </a:extLst>
              </a:tr>
              <a:tr h="64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Descrição do Banco de Dados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345582"/>
                  </a:ext>
                </a:extLst>
              </a:tr>
              <a:tr h="64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          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Pedido do Estado do Link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546704"/>
                  </a:ext>
                </a:extLst>
              </a:tr>
              <a:tr h="64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          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Atualização do estado do link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50374"/>
                  </a:ext>
                </a:extLst>
              </a:tr>
              <a:tr h="6476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                     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pt-BR" altLang="pt-B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Confirmação do Estado do Link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6247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Campos do Cabeçalho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IP do roteador de origem: informa o endereço IP do roteador que está enviando a mensagem.</a:t>
            </a:r>
          </a:p>
          <a:p>
            <a:endParaRPr lang="pt-BR" altLang="pt-BR" smtClean="0"/>
          </a:p>
          <a:p>
            <a:r>
              <a:rPr lang="pt-BR" altLang="pt-BR" smtClean="0"/>
              <a:t>Área: no protocolo OSPF as redes podem ser divididas em áreas. Esse campo é usado para informar qual área a mensagem se refere.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Campos do Cabeçalho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Checksum: campo usado para verificar erros na mensagem.</a:t>
            </a:r>
          </a:p>
          <a:p>
            <a:endParaRPr lang="pt-BR" altLang="pt-BR" smtClean="0"/>
          </a:p>
          <a:p>
            <a:r>
              <a:rPr lang="pt-BR" altLang="pt-BR" smtClean="0"/>
              <a:t>Tipo de autenticação:  informa se será usada a senha e qual o tipo de senha. Zero informa que a senha não será usada. E 1 informa que será usada uma senha simples (não criptografada).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Campos do Cabeçalho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Autenticação:  este campo porta a senha, caso seja usada.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Mensagem Hello para testar a comunicação entre os roteadores.</a:t>
            </a:r>
          </a:p>
          <a:p>
            <a:endParaRPr lang="pt-BR" altLang="pt-BR" smtClean="0"/>
          </a:p>
          <a:p>
            <a:r>
              <a:rPr lang="pt-BR" altLang="pt-BR" smtClean="0"/>
              <a:t>Os campos existentes são:</a:t>
            </a:r>
          </a:p>
          <a:p>
            <a:endParaRPr lang="pt-BR" altLang="pt-BR" smtClean="0"/>
          </a:p>
          <a:p>
            <a:r>
              <a:rPr lang="pt-BR" altLang="pt-BR" smtClean="0"/>
              <a:t>Cabeçalho OSPF:  Campo-Tipo é 1.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Máscara de Sub-Rede: para endereçar a rede para a qual a mensagem foi enviada.</a:t>
            </a:r>
          </a:p>
          <a:p>
            <a:endParaRPr lang="pt-BR" altLang="pt-BR" smtClean="0"/>
          </a:p>
          <a:p>
            <a:r>
              <a:rPr lang="pt-BR" altLang="pt-BR" smtClean="0"/>
              <a:t>Intervalo: de tempos em tempos (em segundos) as mensagens Hello são enviadas pelos roteadores.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Opções: configurações adicionais.</a:t>
            </a:r>
          </a:p>
          <a:p>
            <a:endParaRPr lang="pt-BR" altLang="pt-BR" smtClean="0"/>
          </a:p>
          <a:p>
            <a:r>
              <a:rPr lang="pt-BR" altLang="pt-BR" smtClean="0"/>
              <a:t>Prioridade:  É a prioridade do roteador que está enviando a mensagem. Esse campo é usado para eleger qual será o roteador designado para coletar as informações da rede.  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mtClean="0"/>
              <a:t>Prioridade (cont):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mtClean="0"/>
              <a:t>  O roteador de vizinhança que tiver a maior prioridade será esse roteador. 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mtClean="0"/>
          </a:p>
          <a:p>
            <a:r>
              <a:rPr lang="pt-BR" altLang="pt-BR" smtClean="0"/>
              <a:t>Esse campo é usado para eleger também o roteador de backup.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z="2800" smtClean="0"/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smtClean="0"/>
              <a:t>   Caso o roteador designado saia do ar. o roteador designado de backup assume o seu papel.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smtClean="0"/>
          </a:p>
          <a:p>
            <a:r>
              <a:rPr lang="pt-BR" altLang="pt-BR" sz="2800" smtClean="0"/>
              <a:t>Temporizador:  Tempo sem resposta (dados em segundos) necessário para que um roteador seja considerado fora do ar (inalcançável)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Roteador Designado: O endereço IP do roteador que está enviando a mensagem hello pensa que é o roteador designado.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endParaRPr lang="pt-BR" altLang="pt-BR" smtClean="0"/>
          </a:p>
          <a:p>
            <a:r>
              <a:rPr lang="pt-BR" altLang="pt-BR" smtClean="0"/>
              <a:t>Um roteador designado é aquele que é o responsável por coletar toadas as informações do estado dos links da vizinhança.</a:t>
            </a:r>
          </a:p>
          <a:p>
            <a:endParaRPr lang="pt-BR" altLang="pt-BR" smtClean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altLang="pt-BR">
                <a:solidFill>
                  <a:schemeClr val="tx1">
                    <a:lumMod val="75000"/>
                    <a:lumOff val="25000"/>
                  </a:schemeClr>
                </a:solidFill>
              </a:rPr>
              <a:t>Formato das mensagens Hello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  <a:p>
            <a:r>
              <a:rPr lang="pt-BR" altLang="pt-BR" smtClean="0"/>
              <a:t>Vizinhança: O roteador enviando a mensagem hello envia uma lista de endereços IP de todos os roteadores dos quais ele recebeu uma mensagem hello durante o tempo configurado no campo temporizador.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4767</TotalTime>
  <Words>4175</Words>
  <Application>Microsoft Office PowerPoint</Application>
  <PresentationFormat>Apresentação na tela (4:3)</PresentationFormat>
  <Paragraphs>567</Paragraphs>
  <Slides>128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128</vt:i4>
      </vt:variant>
    </vt:vector>
  </HeadingPairs>
  <TitlesOfParts>
    <vt:vector size="134" baseType="lpstr">
      <vt:lpstr>Tahoma</vt:lpstr>
      <vt:lpstr>Arial</vt:lpstr>
      <vt:lpstr>Calibri Light</vt:lpstr>
      <vt:lpstr>Calibri</vt:lpstr>
      <vt:lpstr>Wingdings</vt:lpstr>
      <vt:lpstr>Retrospectiva</vt:lpstr>
      <vt:lpstr>Equipamentos de Redes</vt:lpstr>
      <vt:lpstr>Placas de Rede</vt:lpstr>
      <vt:lpstr>Placas de Rede</vt:lpstr>
      <vt:lpstr>Placa de Rede</vt:lpstr>
      <vt:lpstr>Placa de Rede</vt:lpstr>
      <vt:lpstr>Placa de Rede</vt:lpstr>
      <vt:lpstr>Placa de Rede </vt:lpstr>
      <vt:lpstr>Repetidores</vt:lpstr>
      <vt:lpstr>Repetidores</vt:lpstr>
      <vt:lpstr>Repetidores</vt:lpstr>
      <vt:lpstr>Repetidores</vt:lpstr>
      <vt:lpstr>Hubs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Hub</vt:lpstr>
      <vt:lpstr>Pontes</vt:lpstr>
      <vt:lpstr>Pontes</vt:lpstr>
      <vt:lpstr>Pontes</vt:lpstr>
      <vt:lpstr>Pontes</vt:lpstr>
      <vt:lpstr>Pontes</vt:lpstr>
      <vt:lpstr>Pontes</vt:lpstr>
      <vt:lpstr>Pontes</vt:lpstr>
      <vt:lpstr>Pontes</vt:lpstr>
      <vt:lpstr>Pontes</vt:lpstr>
      <vt:lpstr>Pontes</vt:lpstr>
      <vt:lpstr>Pontes </vt:lpstr>
      <vt:lpstr>Switches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Switch</vt:lpstr>
      <vt:lpstr>Tipos de Switch</vt:lpstr>
      <vt:lpstr>Tipos de Switch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 (Características)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Roteadores</vt:lpstr>
      <vt:lpstr>            Roteadores   O Protocolo de Roteamento OSPF</vt:lpstr>
      <vt:lpstr>            Roteadores   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O Protocolo de Roteamento OSPF</vt:lpstr>
      <vt:lpstr>Encapsulamento de Mensagens OSPF em Pacotes IP</vt:lpstr>
      <vt:lpstr>Formato do Cabeçalho</vt:lpstr>
      <vt:lpstr>Formato do Cabeçalho</vt:lpstr>
      <vt:lpstr>Apresentação do PowerPoint</vt:lpstr>
      <vt:lpstr>Campos do Cabeçalho</vt:lpstr>
      <vt:lpstr>Tipos de Mensagem do OSPF</vt:lpstr>
      <vt:lpstr>Campos do Cabeçalho</vt:lpstr>
      <vt:lpstr>Campos do Cabeçalho</vt:lpstr>
      <vt:lpstr>Campos do Cabeçalho</vt:lpstr>
      <vt:lpstr>Formato das mensagens Hello</vt:lpstr>
      <vt:lpstr>Formato das mensagens Hello</vt:lpstr>
      <vt:lpstr>Formato das mensagens Hello</vt:lpstr>
      <vt:lpstr>Formato das mensagens Hello</vt:lpstr>
      <vt:lpstr>Formato das mensagens Hello</vt:lpstr>
      <vt:lpstr>Formato das mensagens Hello</vt:lpstr>
      <vt:lpstr>Formato das mensagens Hello</vt:lpstr>
      <vt:lpstr>Formato das mensagens Hello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Equipamentos de Redes</dc:title>
  <dc:creator>João Bosco M. Sobral</dc:creator>
  <cp:lastModifiedBy>052663 - RANIERI MARINHO DE SOUZA</cp:lastModifiedBy>
  <cp:revision>47</cp:revision>
  <dcterms:created xsi:type="dcterms:W3CDTF">2002-06-16T13:57:44Z</dcterms:created>
  <dcterms:modified xsi:type="dcterms:W3CDTF">2023-08-04T23:21:58Z</dcterms:modified>
</cp:coreProperties>
</file>