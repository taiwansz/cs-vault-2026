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7" r:id="rId2"/>
    <p:sldId id="256" r:id="rId3"/>
    <p:sldId id="333" r:id="rId4"/>
    <p:sldId id="336" r:id="rId5"/>
    <p:sldId id="337" r:id="rId6"/>
    <p:sldId id="338" r:id="rId7"/>
    <p:sldId id="339" r:id="rId8"/>
    <p:sldId id="340" r:id="rId9"/>
    <p:sldId id="334" r:id="rId10"/>
    <p:sldId id="335" r:id="rId11"/>
    <p:sldId id="341" r:id="rId12"/>
    <p:sldId id="342" r:id="rId13"/>
    <p:sldId id="343" r:id="rId14"/>
    <p:sldId id="344" r:id="rId15"/>
    <p:sldId id="346" r:id="rId16"/>
    <p:sldId id="347" r:id="rId17"/>
    <p:sldId id="348" r:id="rId18"/>
    <p:sldId id="349" r:id="rId19"/>
    <p:sldId id="350" r:id="rId20"/>
    <p:sldId id="345" r:id="rId21"/>
    <p:sldId id="351" r:id="rId22"/>
    <p:sldId id="352" r:id="rId23"/>
    <p:sldId id="353" r:id="rId24"/>
    <p:sldId id="354" r:id="rId25"/>
    <p:sldId id="332" r:id="rId26"/>
    <p:sldId id="258" r:id="rId27"/>
    <p:sldId id="259" r:id="rId28"/>
    <p:sldId id="260" r:id="rId29"/>
    <p:sldId id="261" r:id="rId30"/>
    <p:sldId id="263" r:id="rId31"/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1" r:id="rId48"/>
    <p:sldId id="282" r:id="rId49"/>
    <p:sldId id="280" r:id="rId50"/>
    <p:sldId id="283" r:id="rId51"/>
    <p:sldId id="284" r:id="rId52"/>
    <p:sldId id="285" r:id="rId53"/>
    <p:sldId id="286" r:id="rId54"/>
    <p:sldId id="287" r:id="rId55"/>
    <p:sldId id="288" r:id="rId56"/>
    <p:sldId id="289" r:id="rId57"/>
    <p:sldId id="290" r:id="rId58"/>
    <p:sldId id="291" r:id="rId59"/>
    <p:sldId id="292" r:id="rId60"/>
    <p:sldId id="293" r:id="rId61"/>
    <p:sldId id="294" r:id="rId62"/>
    <p:sldId id="295" r:id="rId63"/>
    <p:sldId id="296" r:id="rId64"/>
    <p:sldId id="297" r:id="rId65"/>
    <p:sldId id="299" r:id="rId66"/>
    <p:sldId id="300" r:id="rId67"/>
    <p:sldId id="298" r:id="rId68"/>
    <p:sldId id="302" r:id="rId69"/>
    <p:sldId id="303" r:id="rId70"/>
    <p:sldId id="304" r:id="rId71"/>
    <p:sldId id="311" r:id="rId72"/>
    <p:sldId id="306" r:id="rId73"/>
    <p:sldId id="307" r:id="rId74"/>
    <p:sldId id="308" r:id="rId75"/>
    <p:sldId id="309" r:id="rId76"/>
    <p:sldId id="310" r:id="rId77"/>
    <p:sldId id="312" r:id="rId78"/>
    <p:sldId id="313" r:id="rId79"/>
    <p:sldId id="315" r:id="rId80"/>
    <p:sldId id="314" r:id="rId81"/>
    <p:sldId id="316" r:id="rId82"/>
    <p:sldId id="317" r:id="rId83"/>
    <p:sldId id="318" r:id="rId84"/>
    <p:sldId id="319" r:id="rId85"/>
    <p:sldId id="320" r:id="rId86"/>
    <p:sldId id="321" r:id="rId87"/>
    <p:sldId id="322" r:id="rId88"/>
    <p:sldId id="323" r:id="rId89"/>
    <p:sldId id="324" r:id="rId90"/>
    <p:sldId id="325" r:id="rId91"/>
    <p:sldId id="326" r:id="rId92"/>
    <p:sldId id="327" r:id="rId93"/>
    <p:sldId id="328" r:id="rId94"/>
    <p:sldId id="329" r:id="rId95"/>
    <p:sldId id="305" r:id="rId96"/>
    <p:sldId id="330" r:id="rId97"/>
    <p:sldId id="331" r:id="rId98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32787"/>
    <p:restoredTop sz="90929"/>
  </p:normalViewPr>
  <p:slideViewPr>
    <p:cSldViewPr>
      <p:cViewPr varScale="1">
        <p:scale>
          <a:sx n="115" d="100"/>
          <a:sy n="115" d="100"/>
        </p:scale>
        <p:origin x="2160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-3175" y="0"/>
            <a:ext cx="9147175" cy="6867525"/>
            <a:chOff x="-2" y="0"/>
            <a:chExt cx="5762" cy="4326"/>
          </a:xfrm>
        </p:grpSpPr>
        <p:grpSp>
          <p:nvGrpSpPr>
            <p:cNvPr id="4099" name="Group 3"/>
            <p:cNvGrpSpPr>
              <a:grpSpLocks/>
            </p:cNvGrpSpPr>
            <p:nvPr userDrawn="1"/>
          </p:nvGrpSpPr>
          <p:grpSpPr bwMode="auto">
            <a:xfrm>
              <a:off x="-2" y="0"/>
              <a:ext cx="5712" cy="4326"/>
              <a:chOff x="-2" y="0"/>
              <a:chExt cx="5712" cy="4326"/>
            </a:xfrm>
          </p:grpSpPr>
          <p:sp>
            <p:nvSpPr>
              <p:cNvPr id="4100" name="Rectangle 4"/>
              <p:cNvSpPr>
                <a:spLocks noChangeArrowheads="1"/>
              </p:cNvSpPr>
              <p:nvPr/>
            </p:nvSpPr>
            <p:spPr bwMode="auto">
              <a:xfrm>
                <a:off x="-2" y="0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1" name="Rectangle 5"/>
              <p:cNvSpPr>
                <a:spLocks noChangeArrowheads="1"/>
              </p:cNvSpPr>
              <p:nvPr/>
            </p:nvSpPr>
            <p:spPr bwMode="auto">
              <a:xfrm>
                <a:off x="9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2" name="Rectangle 6"/>
              <p:cNvSpPr>
                <a:spLocks noChangeArrowheads="1"/>
              </p:cNvSpPr>
              <p:nvPr/>
            </p:nvSpPr>
            <p:spPr bwMode="auto">
              <a:xfrm>
                <a:off x="19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3" name="Rectangle 7"/>
              <p:cNvSpPr>
                <a:spLocks noChangeArrowheads="1"/>
              </p:cNvSpPr>
              <p:nvPr/>
            </p:nvSpPr>
            <p:spPr bwMode="auto">
              <a:xfrm>
                <a:off x="28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4" name="Rectangle 8"/>
              <p:cNvSpPr>
                <a:spLocks noChangeArrowheads="1"/>
              </p:cNvSpPr>
              <p:nvPr/>
            </p:nvSpPr>
            <p:spPr bwMode="auto">
              <a:xfrm>
                <a:off x="38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5" name="Rectangle 9"/>
              <p:cNvSpPr>
                <a:spLocks noChangeArrowheads="1"/>
              </p:cNvSpPr>
              <p:nvPr/>
            </p:nvSpPr>
            <p:spPr bwMode="auto">
              <a:xfrm>
                <a:off x="47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6" name="Rectangle 10"/>
              <p:cNvSpPr>
                <a:spLocks noChangeArrowheads="1"/>
              </p:cNvSpPr>
              <p:nvPr/>
            </p:nvSpPr>
            <p:spPr bwMode="auto">
              <a:xfrm>
                <a:off x="57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7" name="Rectangle 11"/>
              <p:cNvSpPr>
                <a:spLocks noChangeArrowheads="1"/>
              </p:cNvSpPr>
              <p:nvPr/>
            </p:nvSpPr>
            <p:spPr bwMode="auto">
              <a:xfrm>
                <a:off x="67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8" name="Rectangle 12"/>
              <p:cNvSpPr>
                <a:spLocks noChangeArrowheads="1"/>
              </p:cNvSpPr>
              <p:nvPr/>
            </p:nvSpPr>
            <p:spPr bwMode="auto">
              <a:xfrm>
                <a:off x="76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9" name="Rectangle 13"/>
              <p:cNvSpPr>
                <a:spLocks noChangeArrowheads="1"/>
              </p:cNvSpPr>
              <p:nvPr/>
            </p:nvSpPr>
            <p:spPr bwMode="auto">
              <a:xfrm>
                <a:off x="86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0" name="Rectangle 14"/>
              <p:cNvSpPr>
                <a:spLocks noChangeArrowheads="1"/>
              </p:cNvSpPr>
              <p:nvPr/>
            </p:nvSpPr>
            <p:spPr bwMode="auto">
              <a:xfrm>
                <a:off x="95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1" name="Rectangle 15"/>
              <p:cNvSpPr>
                <a:spLocks noChangeArrowheads="1"/>
              </p:cNvSpPr>
              <p:nvPr/>
            </p:nvSpPr>
            <p:spPr bwMode="auto">
              <a:xfrm>
                <a:off x="105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2" name="Rectangle 16"/>
              <p:cNvSpPr>
                <a:spLocks noChangeArrowheads="1"/>
              </p:cNvSpPr>
              <p:nvPr/>
            </p:nvSpPr>
            <p:spPr bwMode="auto">
              <a:xfrm>
                <a:off x="115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3" name="Rectangle 17"/>
              <p:cNvSpPr>
                <a:spLocks noChangeArrowheads="1"/>
              </p:cNvSpPr>
              <p:nvPr/>
            </p:nvSpPr>
            <p:spPr bwMode="auto">
              <a:xfrm>
                <a:off x="124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4" name="Rectangle 18"/>
              <p:cNvSpPr>
                <a:spLocks noChangeArrowheads="1"/>
              </p:cNvSpPr>
              <p:nvPr/>
            </p:nvSpPr>
            <p:spPr bwMode="auto">
              <a:xfrm>
                <a:off x="134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5" name="Rectangle 19"/>
              <p:cNvSpPr>
                <a:spLocks noChangeArrowheads="1"/>
              </p:cNvSpPr>
              <p:nvPr/>
            </p:nvSpPr>
            <p:spPr bwMode="auto">
              <a:xfrm>
                <a:off x="143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6" name="Rectangle 20"/>
              <p:cNvSpPr>
                <a:spLocks noChangeArrowheads="1"/>
              </p:cNvSpPr>
              <p:nvPr/>
            </p:nvSpPr>
            <p:spPr bwMode="auto">
              <a:xfrm>
                <a:off x="153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7" name="Rectangle 21"/>
              <p:cNvSpPr>
                <a:spLocks noChangeArrowheads="1"/>
              </p:cNvSpPr>
              <p:nvPr/>
            </p:nvSpPr>
            <p:spPr bwMode="auto">
              <a:xfrm>
                <a:off x="163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8" name="Rectangle 22"/>
              <p:cNvSpPr>
                <a:spLocks noChangeArrowheads="1"/>
              </p:cNvSpPr>
              <p:nvPr/>
            </p:nvSpPr>
            <p:spPr bwMode="auto">
              <a:xfrm>
                <a:off x="172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9" name="Rectangle 23"/>
              <p:cNvSpPr>
                <a:spLocks noChangeArrowheads="1"/>
              </p:cNvSpPr>
              <p:nvPr/>
            </p:nvSpPr>
            <p:spPr bwMode="auto">
              <a:xfrm>
                <a:off x="182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20" name="Rectangle 24"/>
              <p:cNvSpPr>
                <a:spLocks noChangeArrowheads="1"/>
              </p:cNvSpPr>
              <p:nvPr/>
            </p:nvSpPr>
            <p:spPr bwMode="auto">
              <a:xfrm>
                <a:off x="191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21" name="Rectangle 25"/>
              <p:cNvSpPr>
                <a:spLocks noChangeArrowheads="1"/>
              </p:cNvSpPr>
              <p:nvPr/>
            </p:nvSpPr>
            <p:spPr bwMode="auto">
              <a:xfrm>
                <a:off x="201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22" name="Rectangle 26"/>
              <p:cNvSpPr>
                <a:spLocks noChangeArrowheads="1"/>
              </p:cNvSpPr>
              <p:nvPr/>
            </p:nvSpPr>
            <p:spPr bwMode="auto">
              <a:xfrm>
                <a:off x="211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23" name="Rectangle 27"/>
              <p:cNvSpPr>
                <a:spLocks noChangeArrowheads="1"/>
              </p:cNvSpPr>
              <p:nvPr/>
            </p:nvSpPr>
            <p:spPr bwMode="auto">
              <a:xfrm>
                <a:off x="220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24" name="Rectangle 28"/>
              <p:cNvSpPr>
                <a:spLocks noChangeArrowheads="1"/>
              </p:cNvSpPr>
              <p:nvPr/>
            </p:nvSpPr>
            <p:spPr bwMode="auto">
              <a:xfrm>
                <a:off x="230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25" name="Rectangle 29"/>
              <p:cNvSpPr>
                <a:spLocks noChangeArrowheads="1"/>
              </p:cNvSpPr>
              <p:nvPr/>
            </p:nvSpPr>
            <p:spPr bwMode="auto">
              <a:xfrm>
                <a:off x="239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26" name="Rectangle 30"/>
              <p:cNvSpPr>
                <a:spLocks noChangeArrowheads="1"/>
              </p:cNvSpPr>
              <p:nvPr/>
            </p:nvSpPr>
            <p:spPr bwMode="auto">
              <a:xfrm>
                <a:off x="249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27" name="Rectangle 31"/>
              <p:cNvSpPr>
                <a:spLocks noChangeArrowheads="1"/>
              </p:cNvSpPr>
              <p:nvPr/>
            </p:nvSpPr>
            <p:spPr bwMode="auto">
              <a:xfrm>
                <a:off x="259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28" name="Rectangle 32"/>
              <p:cNvSpPr>
                <a:spLocks noChangeArrowheads="1"/>
              </p:cNvSpPr>
              <p:nvPr/>
            </p:nvSpPr>
            <p:spPr bwMode="auto">
              <a:xfrm>
                <a:off x="268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29" name="Rectangle 33"/>
              <p:cNvSpPr>
                <a:spLocks noChangeArrowheads="1"/>
              </p:cNvSpPr>
              <p:nvPr/>
            </p:nvSpPr>
            <p:spPr bwMode="auto">
              <a:xfrm>
                <a:off x="278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30" name="Rectangle 34"/>
              <p:cNvSpPr>
                <a:spLocks noChangeArrowheads="1"/>
              </p:cNvSpPr>
              <p:nvPr/>
            </p:nvSpPr>
            <p:spPr bwMode="auto">
              <a:xfrm>
                <a:off x="287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31" name="Rectangle 35"/>
              <p:cNvSpPr>
                <a:spLocks noChangeArrowheads="1"/>
              </p:cNvSpPr>
              <p:nvPr/>
            </p:nvSpPr>
            <p:spPr bwMode="auto">
              <a:xfrm>
                <a:off x="297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32" name="Rectangle 36"/>
              <p:cNvSpPr>
                <a:spLocks noChangeArrowheads="1"/>
              </p:cNvSpPr>
              <p:nvPr/>
            </p:nvSpPr>
            <p:spPr bwMode="auto">
              <a:xfrm>
                <a:off x="307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33" name="Rectangle 37"/>
              <p:cNvSpPr>
                <a:spLocks noChangeArrowheads="1"/>
              </p:cNvSpPr>
              <p:nvPr/>
            </p:nvSpPr>
            <p:spPr bwMode="auto">
              <a:xfrm>
                <a:off x="316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34" name="Rectangle 38"/>
              <p:cNvSpPr>
                <a:spLocks noChangeArrowheads="1"/>
              </p:cNvSpPr>
              <p:nvPr/>
            </p:nvSpPr>
            <p:spPr bwMode="auto">
              <a:xfrm>
                <a:off x="326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35" name="Rectangle 39"/>
              <p:cNvSpPr>
                <a:spLocks noChangeArrowheads="1"/>
              </p:cNvSpPr>
              <p:nvPr/>
            </p:nvSpPr>
            <p:spPr bwMode="auto">
              <a:xfrm>
                <a:off x="335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36" name="Rectangle 40"/>
              <p:cNvSpPr>
                <a:spLocks noChangeArrowheads="1"/>
              </p:cNvSpPr>
              <p:nvPr/>
            </p:nvSpPr>
            <p:spPr bwMode="auto">
              <a:xfrm>
                <a:off x="345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37" name="Rectangle 41"/>
              <p:cNvSpPr>
                <a:spLocks noChangeArrowheads="1"/>
              </p:cNvSpPr>
              <p:nvPr/>
            </p:nvSpPr>
            <p:spPr bwMode="auto">
              <a:xfrm>
                <a:off x="355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38" name="Rectangle 42"/>
              <p:cNvSpPr>
                <a:spLocks noChangeArrowheads="1"/>
              </p:cNvSpPr>
              <p:nvPr/>
            </p:nvSpPr>
            <p:spPr bwMode="auto">
              <a:xfrm>
                <a:off x="364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39" name="Rectangle 43"/>
              <p:cNvSpPr>
                <a:spLocks noChangeArrowheads="1"/>
              </p:cNvSpPr>
              <p:nvPr/>
            </p:nvSpPr>
            <p:spPr bwMode="auto">
              <a:xfrm>
                <a:off x="374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40" name="Rectangle 44"/>
              <p:cNvSpPr>
                <a:spLocks noChangeArrowheads="1"/>
              </p:cNvSpPr>
              <p:nvPr/>
            </p:nvSpPr>
            <p:spPr bwMode="auto">
              <a:xfrm>
                <a:off x="383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41" name="Rectangle 45"/>
              <p:cNvSpPr>
                <a:spLocks noChangeArrowheads="1"/>
              </p:cNvSpPr>
              <p:nvPr/>
            </p:nvSpPr>
            <p:spPr bwMode="auto">
              <a:xfrm>
                <a:off x="393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42" name="Rectangle 46"/>
              <p:cNvSpPr>
                <a:spLocks noChangeArrowheads="1"/>
              </p:cNvSpPr>
              <p:nvPr/>
            </p:nvSpPr>
            <p:spPr bwMode="auto">
              <a:xfrm>
                <a:off x="403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43" name="Rectangle 47"/>
              <p:cNvSpPr>
                <a:spLocks noChangeArrowheads="1"/>
              </p:cNvSpPr>
              <p:nvPr/>
            </p:nvSpPr>
            <p:spPr bwMode="auto">
              <a:xfrm>
                <a:off x="412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44" name="Rectangle 48"/>
              <p:cNvSpPr>
                <a:spLocks noChangeArrowheads="1"/>
              </p:cNvSpPr>
              <p:nvPr/>
            </p:nvSpPr>
            <p:spPr bwMode="auto">
              <a:xfrm>
                <a:off x="422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45" name="Rectangle 49"/>
              <p:cNvSpPr>
                <a:spLocks noChangeArrowheads="1"/>
              </p:cNvSpPr>
              <p:nvPr/>
            </p:nvSpPr>
            <p:spPr bwMode="auto">
              <a:xfrm>
                <a:off x="431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46" name="Rectangle 50"/>
              <p:cNvSpPr>
                <a:spLocks noChangeArrowheads="1"/>
              </p:cNvSpPr>
              <p:nvPr/>
            </p:nvSpPr>
            <p:spPr bwMode="auto">
              <a:xfrm>
                <a:off x="441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47" name="Rectangle 51"/>
              <p:cNvSpPr>
                <a:spLocks noChangeArrowheads="1"/>
              </p:cNvSpPr>
              <p:nvPr/>
            </p:nvSpPr>
            <p:spPr bwMode="auto">
              <a:xfrm>
                <a:off x="451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48" name="Rectangle 52"/>
              <p:cNvSpPr>
                <a:spLocks noChangeArrowheads="1"/>
              </p:cNvSpPr>
              <p:nvPr/>
            </p:nvSpPr>
            <p:spPr bwMode="auto">
              <a:xfrm>
                <a:off x="460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49" name="Rectangle 53"/>
              <p:cNvSpPr>
                <a:spLocks noChangeArrowheads="1"/>
              </p:cNvSpPr>
              <p:nvPr/>
            </p:nvSpPr>
            <p:spPr bwMode="auto">
              <a:xfrm>
                <a:off x="470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50" name="Rectangle 54"/>
              <p:cNvSpPr>
                <a:spLocks noChangeArrowheads="1"/>
              </p:cNvSpPr>
              <p:nvPr/>
            </p:nvSpPr>
            <p:spPr bwMode="auto">
              <a:xfrm>
                <a:off x="479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51" name="Rectangle 55"/>
              <p:cNvSpPr>
                <a:spLocks noChangeArrowheads="1"/>
              </p:cNvSpPr>
              <p:nvPr/>
            </p:nvSpPr>
            <p:spPr bwMode="auto">
              <a:xfrm>
                <a:off x="489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52" name="Rectangle 56"/>
              <p:cNvSpPr>
                <a:spLocks noChangeArrowheads="1"/>
              </p:cNvSpPr>
              <p:nvPr/>
            </p:nvSpPr>
            <p:spPr bwMode="auto">
              <a:xfrm>
                <a:off x="499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53" name="Rectangle 57"/>
              <p:cNvSpPr>
                <a:spLocks noChangeArrowheads="1"/>
              </p:cNvSpPr>
              <p:nvPr/>
            </p:nvSpPr>
            <p:spPr bwMode="auto">
              <a:xfrm>
                <a:off x="508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54" name="Rectangle 58"/>
              <p:cNvSpPr>
                <a:spLocks noChangeArrowheads="1"/>
              </p:cNvSpPr>
              <p:nvPr/>
            </p:nvSpPr>
            <p:spPr bwMode="auto">
              <a:xfrm>
                <a:off x="518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55" name="Rectangle 59"/>
              <p:cNvSpPr>
                <a:spLocks noChangeArrowheads="1"/>
              </p:cNvSpPr>
              <p:nvPr/>
            </p:nvSpPr>
            <p:spPr bwMode="auto">
              <a:xfrm>
                <a:off x="527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56" name="Rectangle 60"/>
              <p:cNvSpPr>
                <a:spLocks noChangeArrowheads="1"/>
              </p:cNvSpPr>
              <p:nvPr/>
            </p:nvSpPr>
            <p:spPr bwMode="auto">
              <a:xfrm>
                <a:off x="537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57" name="Rectangle 61"/>
              <p:cNvSpPr>
                <a:spLocks noChangeArrowheads="1"/>
              </p:cNvSpPr>
              <p:nvPr/>
            </p:nvSpPr>
            <p:spPr bwMode="auto">
              <a:xfrm>
                <a:off x="547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58" name="Rectangle 62"/>
              <p:cNvSpPr>
                <a:spLocks noChangeArrowheads="1"/>
              </p:cNvSpPr>
              <p:nvPr/>
            </p:nvSpPr>
            <p:spPr bwMode="auto">
              <a:xfrm>
                <a:off x="556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59" name="Rectangle 63"/>
              <p:cNvSpPr>
                <a:spLocks noChangeArrowheads="1"/>
              </p:cNvSpPr>
              <p:nvPr/>
            </p:nvSpPr>
            <p:spPr bwMode="auto">
              <a:xfrm>
                <a:off x="566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4160" name="Rectangle 64"/>
            <p:cNvSpPr>
              <a:spLocks noChangeArrowheads="1"/>
            </p:cNvSpPr>
            <p:nvPr userDrawn="1"/>
          </p:nvSpPr>
          <p:spPr bwMode="auto">
            <a:xfrm>
              <a:off x="429" y="0"/>
              <a:ext cx="5331" cy="432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61" name="Rectangle 65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321"/>
            </a:xfrm>
            <a:prstGeom prst="rect">
              <a:avLst/>
            </a:prstGeom>
            <a:solidFill>
              <a:schemeClr val="hlink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4162" name="Rectangle 66"/>
          <p:cNvSpPr>
            <a:spLocks noChangeArrowheads="1"/>
          </p:cNvSpPr>
          <p:nvPr/>
        </p:nvSpPr>
        <p:spPr bwMode="auto">
          <a:xfrm>
            <a:off x="3505200" y="2590800"/>
            <a:ext cx="4892675" cy="76200"/>
          </a:xfrm>
          <a:prstGeom prst="rect">
            <a:avLst/>
          </a:prstGeom>
          <a:solidFill>
            <a:schemeClr val="hlink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pt-BR" altLang="pt-BR"/>
          </a:p>
        </p:txBody>
      </p:sp>
      <p:sp>
        <p:nvSpPr>
          <p:cNvPr id="4163" name="Rectangle 67"/>
          <p:cNvSpPr>
            <a:spLocks noGrp="1" noChangeArrowheads="1"/>
          </p:cNvSpPr>
          <p:nvPr>
            <p:ph type="ctrTitle" sz="quarter"/>
          </p:nvPr>
        </p:nvSpPr>
        <p:spPr>
          <a:xfrm>
            <a:off x="779463" y="1096963"/>
            <a:ext cx="7678737" cy="143192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pt-BR" altLang="pt-BR" noProof="0" smtClean="0"/>
              <a:t>Clique para editar o estilo do título mestre</a:t>
            </a:r>
          </a:p>
        </p:txBody>
      </p:sp>
      <p:sp>
        <p:nvSpPr>
          <p:cNvPr id="4164" name="Rectangle 6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021138" y="2860675"/>
            <a:ext cx="4437062" cy="3114675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pt-BR" altLang="pt-BR" noProof="0" smtClean="0"/>
              <a:t>Clique para editar o estilo do subtítulo mestre</a:t>
            </a:r>
          </a:p>
        </p:txBody>
      </p:sp>
      <p:sp>
        <p:nvSpPr>
          <p:cNvPr id="4165" name="Rectangle 69"/>
          <p:cNvSpPr>
            <a:spLocks noGrp="1" noChangeArrowheads="1"/>
          </p:cNvSpPr>
          <p:nvPr>
            <p:ph type="dt" sz="quarter" idx="2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4166" name="Rectangle 70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4167" name="Rectangle 71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13EF5C35-630B-4D89-B090-7349BF7724EF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03EC8B-D988-4911-8DEF-23CB67843A3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82887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FB7984-36FA-492D-B5E4-39A271BC799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499229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912813" y="1905000"/>
            <a:ext cx="3978275" cy="419100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043488" y="1905000"/>
            <a:ext cx="3979862" cy="419100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8DADAC-ED96-487C-8E4B-E5839095AEF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30301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3EE4D9-053C-42A6-9AFE-2868BFC1310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28382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4F2915-575F-449A-B313-2A58D2970F8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100957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7A9620-7BC8-48C9-89AB-A6921C80BD5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72602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6AF878-54AC-4193-A95B-4AB7406C85E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797253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FC108F-11B3-443C-8118-F9EC987AFBE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01125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35E3FB-DA2E-4E33-9C4A-FAC093A513F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126225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994525" y="192088"/>
            <a:ext cx="2039938" cy="5903912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71538" y="192088"/>
            <a:ext cx="5970587" cy="5903912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27B49D-B292-44F5-A6C1-9A9D2A8D60E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9023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0" y="0"/>
            <a:ext cx="9147175" cy="6867525"/>
            <a:chOff x="0" y="0"/>
            <a:chExt cx="5762" cy="4326"/>
          </a:xfrm>
        </p:grpSpPr>
        <p:sp>
          <p:nvSpPr>
            <p:cNvPr id="3075" name="Rectangle 3"/>
            <p:cNvSpPr>
              <a:spLocks noChangeArrowheads="1"/>
            </p:cNvSpPr>
            <p:nvPr userDrawn="1"/>
          </p:nvSpPr>
          <p:spPr bwMode="hidden">
            <a:xfrm>
              <a:off x="0" y="0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076" name="Rectangle 4"/>
            <p:cNvSpPr>
              <a:spLocks noChangeArrowheads="1"/>
            </p:cNvSpPr>
            <p:nvPr userDrawn="1"/>
          </p:nvSpPr>
          <p:spPr bwMode="hidden">
            <a:xfrm>
              <a:off x="9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077" name="Rectangle 5"/>
            <p:cNvSpPr>
              <a:spLocks noChangeArrowheads="1"/>
            </p:cNvSpPr>
            <p:nvPr userDrawn="1"/>
          </p:nvSpPr>
          <p:spPr bwMode="hidden">
            <a:xfrm>
              <a:off x="19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078" name="Rectangle 6"/>
            <p:cNvSpPr>
              <a:spLocks noChangeArrowheads="1"/>
            </p:cNvSpPr>
            <p:nvPr userDrawn="1"/>
          </p:nvSpPr>
          <p:spPr bwMode="hidden">
            <a:xfrm>
              <a:off x="28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079" name="Rectangle 7"/>
            <p:cNvSpPr>
              <a:spLocks noChangeArrowheads="1"/>
            </p:cNvSpPr>
            <p:nvPr userDrawn="1"/>
          </p:nvSpPr>
          <p:spPr bwMode="hidden">
            <a:xfrm>
              <a:off x="38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080" name="Rectangle 8"/>
            <p:cNvSpPr>
              <a:spLocks noChangeArrowheads="1"/>
            </p:cNvSpPr>
            <p:nvPr userDrawn="1"/>
          </p:nvSpPr>
          <p:spPr bwMode="hidden">
            <a:xfrm>
              <a:off x="48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081" name="Rectangle 9"/>
            <p:cNvSpPr>
              <a:spLocks noChangeArrowheads="1"/>
            </p:cNvSpPr>
            <p:nvPr userDrawn="1"/>
          </p:nvSpPr>
          <p:spPr bwMode="hidden">
            <a:xfrm>
              <a:off x="57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082" name="Rectangle 10"/>
            <p:cNvSpPr>
              <a:spLocks noChangeArrowheads="1"/>
            </p:cNvSpPr>
            <p:nvPr userDrawn="1"/>
          </p:nvSpPr>
          <p:spPr bwMode="hidden">
            <a:xfrm>
              <a:off x="67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083" name="Rectangle 11"/>
            <p:cNvSpPr>
              <a:spLocks noChangeArrowheads="1"/>
            </p:cNvSpPr>
            <p:nvPr userDrawn="1"/>
          </p:nvSpPr>
          <p:spPr bwMode="hidden">
            <a:xfrm>
              <a:off x="76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084" name="Rectangle 12"/>
            <p:cNvSpPr>
              <a:spLocks noChangeArrowheads="1"/>
            </p:cNvSpPr>
            <p:nvPr userDrawn="1"/>
          </p:nvSpPr>
          <p:spPr bwMode="hidden">
            <a:xfrm>
              <a:off x="86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085" name="Rectangle 13"/>
            <p:cNvSpPr>
              <a:spLocks noChangeArrowheads="1"/>
            </p:cNvSpPr>
            <p:nvPr userDrawn="1"/>
          </p:nvSpPr>
          <p:spPr bwMode="hidden">
            <a:xfrm>
              <a:off x="96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086" name="Rectangle 14"/>
            <p:cNvSpPr>
              <a:spLocks noChangeArrowheads="1"/>
            </p:cNvSpPr>
            <p:nvPr userDrawn="1"/>
          </p:nvSpPr>
          <p:spPr bwMode="hidden">
            <a:xfrm>
              <a:off x="105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087" name="Rectangle 15"/>
            <p:cNvSpPr>
              <a:spLocks noChangeArrowheads="1"/>
            </p:cNvSpPr>
            <p:nvPr userDrawn="1"/>
          </p:nvSpPr>
          <p:spPr bwMode="hidden">
            <a:xfrm>
              <a:off x="115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088" name="Rectangle 16"/>
            <p:cNvSpPr>
              <a:spLocks noChangeArrowheads="1"/>
            </p:cNvSpPr>
            <p:nvPr userDrawn="1"/>
          </p:nvSpPr>
          <p:spPr bwMode="hidden">
            <a:xfrm>
              <a:off x="124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089" name="Rectangle 17"/>
            <p:cNvSpPr>
              <a:spLocks noChangeArrowheads="1"/>
            </p:cNvSpPr>
            <p:nvPr userDrawn="1"/>
          </p:nvSpPr>
          <p:spPr bwMode="hidden">
            <a:xfrm>
              <a:off x="134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090" name="Rectangle 18"/>
            <p:cNvSpPr>
              <a:spLocks noChangeArrowheads="1"/>
            </p:cNvSpPr>
            <p:nvPr userDrawn="1"/>
          </p:nvSpPr>
          <p:spPr bwMode="hidden">
            <a:xfrm>
              <a:off x="144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091" name="Rectangle 19"/>
            <p:cNvSpPr>
              <a:spLocks noChangeArrowheads="1"/>
            </p:cNvSpPr>
            <p:nvPr userDrawn="1"/>
          </p:nvSpPr>
          <p:spPr bwMode="hidden">
            <a:xfrm>
              <a:off x="153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092" name="Rectangle 20"/>
            <p:cNvSpPr>
              <a:spLocks noChangeArrowheads="1"/>
            </p:cNvSpPr>
            <p:nvPr userDrawn="1"/>
          </p:nvSpPr>
          <p:spPr bwMode="hidden">
            <a:xfrm>
              <a:off x="163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093" name="Rectangle 21"/>
            <p:cNvSpPr>
              <a:spLocks noChangeArrowheads="1"/>
            </p:cNvSpPr>
            <p:nvPr userDrawn="1"/>
          </p:nvSpPr>
          <p:spPr bwMode="hidden">
            <a:xfrm>
              <a:off x="172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094" name="Rectangle 22"/>
            <p:cNvSpPr>
              <a:spLocks noChangeArrowheads="1"/>
            </p:cNvSpPr>
            <p:nvPr userDrawn="1"/>
          </p:nvSpPr>
          <p:spPr bwMode="hidden">
            <a:xfrm>
              <a:off x="182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095" name="Rectangle 23"/>
            <p:cNvSpPr>
              <a:spLocks noChangeArrowheads="1"/>
            </p:cNvSpPr>
            <p:nvPr userDrawn="1"/>
          </p:nvSpPr>
          <p:spPr bwMode="hidden">
            <a:xfrm>
              <a:off x="192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096" name="Rectangle 24"/>
            <p:cNvSpPr>
              <a:spLocks noChangeArrowheads="1"/>
            </p:cNvSpPr>
            <p:nvPr userDrawn="1"/>
          </p:nvSpPr>
          <p:spPr bwMode="hidden">
            <a:xfrm>
              <a:off x="201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097" name="Rectangle 25"/>
            <p:cNvSpPr>
              <a:spLocks noChangeArrowheads="1"/>
            </p:cNvSpPr>
            <p:nvPr userDrawn="1"/>
          </p:nvSpPr>
          <p:spPr bwMode="hidden">
            <a:xfrm>
              <a:off x="211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098" name="Rectangle 26"/>
            <p:cNvSpPr>
              <a:spLocks noChangeArrowheads="1"/>
            </p:cNvSpPr>
            <p:nvPr userDrawn="1"/>
          </p:nvSpPr>
          <p:spPr bwMode="hidden">
            <a:xfrm>
              <a:off x="220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099" name="Rectangle 27"/>
            <p:cNvSpPr>
              <a:spLocks noChangeArrowheads="1"/>
            </p:cNvSpPr>
            <p:nvPr userDrawn="1"/>
          </p:nvSpPr>
          <p:spPr bwMode="hidden">
            <a:xfrm>
              <a:off x="230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00" name="Rectangle 28"/>
            <p:cNvSpPr>
              <a:spLocks noChangeArrowheads="1"/>
            </p:cNvSpPr>
            <p:nvPr userDrawn="1"/>
          </p:nvSpPr>
          <p:spPr bwMode="hidden">
            <a:xfrm>
              <a:off x="240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01" name="Rectangle 29"/>
            <p:cNvSpPr>
              <a:spLocks noChangeArrowheads="1"/>
            </p:cNvSpPr>
            <p:nvPr userDrawn="1"/>
          </p:nvSpPr>
          <p:spPr bwMode="hidden">
            <a:xfrm>
              <a:off x="249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02" name="Rectangle 30"/>
            <p:cNvSpPr>
              <a:spLocks noChangeArrowheads="1"/>
            </p:cNvSpPr>
            <p:nvPr userDrawn="1"/>
          </p:nvSpPr>
          <p:spPr bwMode="hidden">
            <a:xfrm>
              <a:off x="259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03" name="Rectangle 31"/>
            <p:cNvSpPr>
              <a:spLocks noChangeArrowheads="1"/>
            </p:cNvSpPr>
            <p:nvPr userDrawn="1"/>
          </p:nvSpPr>
          <p:spPr bwMode="hidden">
            <a:xfrm>
              <a:off x="268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04" name="Rectangle 32"/>
            <p:cNvSpPr>
              <a:spLocks noChangeArrowheads="1"/>
            </p:cNvSpPr>
            <p:nvPr userDrawn="1"/>
          </p:nvSpPr>
          <p:spPr bwMode="hidden">
            <a:xfrm>
              <a:off x="278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05" name="Rectangle 33"/>
            <p:cNvSpPr>
              <a:spLocks noChangeArrowheads="1"/>
            </p:cNvSpPr>
            <p:nvPr userDrawn="1"/>
          </p:nvSpPr>
          <p:spPr bwMode="hidden">
            <a:xfrm>
              <a:off x="288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06" name="Rectangle 34"/>
            <p:cNvSpPr>
              <a:spLocks noChangeArrowheads="1"/>
            </p:cNvSpPr>
            <p:nvPr userDrawn="1"/>
          </p:nvSpPr>
          <p:spPr bwMode="hidden">
            <a:xfrm>
              <a:off x="297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07" name="Rectangle 35"/>
            <p:cNvSpPr>
              <a:spLocks noChangeArrowheads="1"/>
            </p:cNvSpPr>
            <p:nvPr userDrawn="1"/>
          </p:nvSpPr>
          <p:spPr bwMode="hidden">
            <a:xfrm>
              <a:off x="307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08" name="Rectangle 36"/>
            <p:cNvSpPr>
              <a:spLocks noChangeArrowheads="1"/>
            </p:cNvSpPr>
            <p:nvPr userDrawn="1"/>
          </p:nvSpPr>
          <p:spPr bwMode="hidden">
            <a:xfrm>
              <a:off x="316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09" name="Rectangle 37"/>
            <p:cNvSpPr>
              <a:spLocks noChangeArrowheads="1"/>
            </p:cNvSpPr>
            <p:nvPr userDrawn="1"/>
          </p:nvSpPr>
          <p:spPr bwMode="hidden">
            <a:xfrm>
              <a:off x="326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10" name="Rectangle 38"/>
            <p:cNvSpPr>
              <a:spLocks noChangeArrowheads="1"/>
            </p:cNvSpPr>
            <p:nvPr userDrawn="1"/>
          </p:nvSpPr>
          <p:spPr bwMode="hidden">
            <a:xfrm>
              <a:off x="336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11" name="Rectangle 39"/>
            <p:cNvSpPr>
              <a:spLocks noChangeArrowheads="1"/>
            </p:cNvSpPr>
            <p:nvPr userDrawn="1"/>
          </p:nvSpPr>
          <p:spPr bwMode="hidden">
            <a:xfrm>
              <a:off x="345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12" name="Rectangle 40"/>
            <p:cNvSpPr>
              <a:spLocks noChangeArrowheads="1"/>
            </p:cNvSpPr>
            <p:nvPr userDrawn="1"/>
          </p:nvSpPr>
          <p:spPr bwMode="hidden">
            <a:xfrm>
              <a:off x="355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13" name="Rectangle 41"/>
            <p:cNvSpPr>
              <a:spLocks noChangeArrowheads="1"/>
            </p:cNvSpPr>
            <p:nvPr userDrawn="1"/>
          </p:nvSpPr>
          <p:spPr bwMode="hidden">
            <a:xfrm>
              <a:off x="364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14" name="Rectangle 42"/>
            <p:cNvSpPr>
              <a:spLocks noChangeArrowheads="1"/>
            </p:cNvSpPr>
            <p:nvPr userDrawn="1"/>
          </p:nvSpPr>
          <p:spPr bwMode="hidden">
            <a:xfrm>
              <a:off x="374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15" name="Rectangle 43"/>
            <p:cNvSpPr>
              <a:spLocks noChangeArrowheads="1"/>
            </p:cNvSpPr>
            <p:nvPr userDrawn="1"/>
          </p:nvSpPr>
          <p:spPr bwMode="hidden">
            <a:xfrm>
              <a:off x="384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16" name="Rectangle 44"/>
            <p:cNvSpPr>
              <a:spLocks noChangeArrowheads="1"/>
            </p:cNvSpPr>
            <p:nvPr userDrawn="1"/>
          </p:nvSpPr>
          <p:spPr bwMode="hidden">
            <a:xfrm>
              <a:off x="393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17" name="Rectangle 45"/>
            <p:cNvSpPr>
              <a:spLocks noChangeArrowheads="1"/>
            </p:cNvSpPr>
            <p:nvPr userDrawn="1"/>
          </p:nvSpPr>
          <p:spPr bwMode="hidden">
            <a:xfrm>
              <a:off x="403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18" name="Rectangle 46"/>
            <p:cNvSpPr>
              <a:spLocks noChangeArrowheads="1"/>
            </p:cNvSpPr>
            <p:nvPr userDrawn="1"/>
          </p:nvSpPr>
          <p:spPr bwMode="hidden">
            <a:xfrm>
              <a:off x="412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19" name="Rectangle 47"/>
            <p:cNvSpPr>
              <a:spLocks noChangeArrowheads="1"/>
            </p:cNvSpPr>
            <p:nvPr userDrawn="1"/>
          </p:nvSpPr>
          <p:spPr bwMode="hidden">
            <a:xfrm>
              <a:off x="422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20" name="Rectangle 48"/>
            <p:cNvSpPr>
              <a:spLocks noChangeArrowheads="1"/>
            </p:cNvSpPr>
            <p:nvPr userDrawn="1"/>
          </p:nvSpPr>
          <p:spPr bwMode="hidden">
            <a:xfrm>
              <a:off x="432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21" name="Rectangle 49"/>
            <p:cNvSpPr>
              <a:spLocks noChangeArrowheads="1"/>
            </p:cNvSpPr>
            <p:nvPr userDrawn="1"/>
          </p:nvSpPr>
          <p:spPr bwMode="hidden">
            <a:xfrm>
              <a:off x="441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22" name="Rectangle 50"/>
            <p:cNvSpPr>
              <a:spLocks noChangeArrowheads="1"/>
            </p:cNvSpPr>
            <p:nvPr userDrawn="1"/>
          </p:nvSpPr>
          <p:spPr bwMode="hidden">
            <a:xfrm>
              <a:off x="451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23" name="Rectangle 51"/>
            <p:cNvSpPr>
              <a:spLocks noChangeArrowheads="1"/>
            </p:cNvSpPr>
            <p:nvPr userDrawn="1"/>
          </p:nvSpPr>
          <p:spPr bwMode="hidden">
            <a:xfrm>
              <a:off x="460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24" name="Rectangle 52"/>
            <p:cNvSpPr>
              <a:spLocks noChangeArrowheads="1"/>
            </p:cNvSpPr>
            <p:nvPr userDrawn="1"/>
          </p:nvSpPr>
          <p:spPr bwMode="hidden">
            <a:xfrm>
              <a:off x="470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25" name="Rectangle 53"/>
            <p:cNvSpPr>
              <a:spLocks noChangeArrowheads="1"/>
            </p:cNvSpPr>
            <p:nvPr userDrawn="1"/>
          </p:nvSpPr>
          <p:spPr bwMode="hidden">
            <a:xfrm>
              <a:off x="480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26" name="Rectangle 54"/>
            <p:cNvSpPr>
              <a:spLocks noChangeArrowheads="1"/>
            </p:cNvSpPr>
            <p:nvPr userDrawn="1"/>
          </p:nvSpPr>
          <p:spPr bwMode="hidden">
            <a:xfrm>
              <a:off x="489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27" name="Rectangle 55"/>
            <p:cNvSpPr>
              <a:spLocks noChangeArrowheads="1"/>
            </p:cNvSpPr>
            <p:nvPr userDrawn="1"/>
          </p:nvSpPr>
          <p:spPr bwMode="hidden">
            <a:xfrm>
              <a:off x="499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28" name="Rectangle 56"/>
            <p:cNvSpPr>
              <a:spLocks noChangeArrowheads="1"/>
            </p:cNvSpPr>
            <p:nvPr userDrawn="1"/>
          </p:nvSpPr>
          <p:spPr bwMode="hidden">
            <a:xfrm>
              <a:off x="508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29" name="Rectangle 57"/>
            <p:cNvSpPr>
              <a:spLocks noChangeArrowheads="1"/>
            </p:cNvSpPr>
            <p:nvPr userDrawn="1"/>
          </p:nvSpPr>
          <p:spPr bwMode="hidden">
            <a:xfrm>
              <a:off x="518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30" name="Rectangle 58"/>
            <p:cNvSpPr>
              <a:spLocks noChangeArrowheads="1"/>
            </p:cNvSpPr>
            <p:nvPr userDrawn="1"/>
          </p:nvSpPr>
          <p:spPr bwMode="hidden">
            <a:xfrm>
              <a:off x="528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31" name="Rectangle 59"/>
            <p:cNvSpPr>
              <a:spLocks noChangeArrowheads="1"/>
            </p:cNvSpPr>
            <p:nvPr userDrawn="1"/>
          </p:nvSpPr>
          <p:spPr bwMode="hidden">
            <a:xfrm>
              <a:off x="537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32" name="Rectangle 60"/>
            <p:cNvSpPr>
              <a:spLocks noChangeArrowheads="1"/>
            </p:cNvSpPr>
            <p:nvPr userDrawn="1"/>
          </p:nvSpPr>
          <p:spPr bwMode="hidden">
            <a:xfrm>
              <a:off x="547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33" name="Rectangle 61"/>
            <p:cNvSpPr>
              <a:spLocks noChangeArrowheads="1"/>
            </p:cNvSpPr>
            <p:nvPr userDrawn="1"/>
          </p:nvSpPr>
          <p:spPr bwMode="hidden">
            <a:xfrm>
              <a:off x="556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34" name="Rectangle 62"/>
            <p:cNvSpPr>
              <a:spLocks noChangeArrowheads="1"/>
            </p:cNvSpPr>
            <p:nvPr userDrawn="1"/>
          </p:nvSpPr>
          <p:spPr bwMode="hidden">
            <a:xfrm>
              <a:off x="566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35" name="Rectangle 63"/>
            <p:cNvSpPr>
              <a:spLocks noChangeArrowheads="1"/>
            </p:cNvSpPr>
            <p:nvPr userDrawn="1"/>
          </p:nvSpPr>
          <p:spPr bwMode="hidden">
            <a:xfrm>
              <a:off x="431" y="0"/>
              <a:ext cx="5331" cy="432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36" name="Rectangle 64"/>
            <p:cNvSpPr>
              <a:spLocks noChangeArrowheads="1"/>
            </p:cNvSpPr>
            <p:nvPr userDrawn="1"/>
          </p:nvSpPr>
          <p:spPr bwMode="blackGray">
            <a:xfrm>
              <a:off x="0" y="1081"/>
              <a:ext cx="4378" cy="47"/>
            </a:xfrm>
            <a:prstGeom prst="rect">
              <a:avLst/>
            </a:prstGeom>
            <a:solidFill>
              <a:schemeClr val="hlink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3137" name="Rectangle 65"/>
          <p:cNvSpPr>
            <a:spLocks noGrp="1" noChangeArrowheads="1"/>
          </p:cNvSpPr>
          <p:nvPr>
            <p:ph type="title"/>
          </p:nvPr>
        </p:nvSpPr>
        <p:spPr bwMode="auto">
          <a:xfrm>
            <a:off x="871538" y="192088"/>
            <a:ext cx="8162925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pt-BR" altLang="pt-BR" smtClean="0"/>
              <a:t>Clique para editar o estilo do título mestre</a:t>
            </a:r>
          </a:p>
        </p:txBody>
      </p:sp>
      <p:sp>
        <p:nvSpPr>
          <p:cNvPr id="3138" name="Rectangle 66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2813" y="1905000"/>
            <a:ext cx="8110537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smtClean="0"/>
              <a:t>Clique para editar os estilos do texto mestre</a:t>
            </a:r>
          </a:p>
          <a:p>
            <a:pPr lvl="1"/>
            <a:r>
              <a:rPr lang="pt-BR" altLang="pt-BR" smtClean="0"/>
              <a:t>Segundo nível</a:t>
            </a:r>
          </a:p>
          <a:p>
            <a:pPr lvl="2"/>
            <a:r>
              <a:rPr lang="pt-BR" altLang="pt-BR" smtClean="0"/>
              <a:t>Terceiro nível</a:t>
            </a:r>
          </a:p>
          <a:p>
            <a:pPr lvl="3"/>
            <a:r>
              <a:rPr lang="pt-BR" altLang="pt-BR" smtClean="0"/>
              <a:t>Quarto nível</a:t>
            </a:r>
          </a:p>
          <a:p>
            <a:pPr lvl="4"/>
            <a:r>
              <a:rPr lang="pt-BR" altLang="pt-BR" smtClean="0"/>
              <a:t>Quinto nível</a:t>
            </a:r>
          </a:p>
        </p:txBody>
      </p:sp>
      <p:sp>
        <p:nvSpPr>
          <p:cNvPr id="3139" name="Rectangle 6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525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pt-BR" altLang="pt-BR"/>
          </a:p>
        </p:txBody>
      </p:sp>
      <p:sp>
        <p:nvSpPr>
          <p:cNvPr id="3140" name="Rectangle 6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pt-BR" altLang="pt-BR"/>
          </a:p>
        </p:txBody>
      </p:sp>
      <p:sp>
        <p:nvSpPr>
          <p:cNvPr id="3141" name="Rectangle 6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F19C259-034D-4C24-8C40-EA80E8EEF361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anose="020B060403050404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anose="020B060403050404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anose="020B060403050404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79463" y="1766888"/>
            <a:ext cx="7678737" cy="762000"/>
          </a:xfrm>
        </p:spPr>
        <p:txBody>
          <a:bodyPr/>
          <a:lstStyle/>
          <a:p>
            <a:pPr algn="ctr"/>
            <a:r>
              <a:rPr lang="pt-BR" altLang="pt-BR"/>
              <a:t>Meios de Transmissão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/>
          </a:p>
          <a:p>
            <a:r>
              <a:rPr lang="pt-BR" altLang="pt-BR" sz="4000"/>
              <a:t>Com </a:t>
            </a:r>
          </a:p>
          <a:p>
            <a:r>
              <a:rPr lang="pt-BR" altLang="pt-BR" sz="4000"/>
              <a:t>      Cabeamento</a:t>
            </a:r>
          </a:p>
          <a:p>
            <a:endParaRPr lang="pt-BR" altLang="pt-BR" sz="4000"/>
          </a:p>
          <a:p>
            <a:endParaRPr lang="pt-BR" alt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79463" y="1311275"/>
            <a:ext cx="7678737" cy="1431925"/>
          </a:xfrm>
        </p:spPr>
        <p:txBody>
          <a:bodyPr/>
          <a:lstStyle/>
          <a:p>
            <a:pPr algn="ctr"/>
            <a:r>
              <a:rPr lang="pt-BR" altLang="pt-BR"/>
              <a:t>Cabeamento</a:t>
            </a:r>
            <a:br>
              <a:rPr lang="pt-BR" altLang="pt-BR"/>
            </a:br>
            <a:endParaRPr lang="pt-BR" altLang="pt-BR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marL="609600" indent="-609600"/>
            <a:r>
              <a:rPr lang="pt-BR" altLang="pt-BR" b="1"/>
              <a:t>1. Cabo Coaxial</a:t>
            </a:r>
          </a:p>
          <a:p>
            <a:pPr marL="609600" indent="-609600"/>
            <a:endParaRPr lang="pt-BR" altLang="pt-BR" b="1"/>
          </a:p>
          <a:p>
            <a:pPr marL="609600" indent="-609600"/>
            <a:r>
              <a:rPr lang="pt-BR" altLang="pt-BR" b="1"/>
              <a:t>2. Par Trançado</a:t>
            </a:r>
          </a:p>
          <a:p>
            <a:pPr marL="609600" indent="-609600"/>
            <a:endParaRPr lang="pt-BR" altLang="pt-BR" b="1"/>
          </a:p>
          <a:p>
            <a:pPr marL="609600" indent="-609600"/>
            <a:r>
              <a:rPr lang="pt-BR" altLang="pt-BR" b="1"/>
              <a:t>3. Fibra Ótica</a:t>
            </a:r>
          </a:p>
          <a:p>
            <a:pPr marL="609600" indent="-609600"/>
            <a:endParaRPr lang="pt-BR" altLang="pt-BR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Cabo Coaxial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endParaRPr lang="pt-BR" altLang="pt-BR" sz="2800"/>
          </a:p>
          <a:p>
            <a:endParaRPr lang="pt-BR" altLang="pt-BR" sz="2800"/>
          </a:p>
          <a:p>
            <a:r>
              <a:rPr lang="pt-BR" altLang="pt-BR" sz="2800"/>
              <a:t>Fundamentação</a:t>
            </a:r>
          </a:p>
          <a:p>
            <a:r>
              <a:rPr lang="pt-BR" altLang="pt-BR" sz="2800"/>
              <a:t>O cabo coaxial</a:t>
            </a:r>
          </a:p>
          <a:p>
            <a:r>
              <a:rPr lang="pt-BR" altLang="pt-BR" sz="2800"/>
              <a:t>Vantagens Desvantagens</a:t>
            </a:r>
          </a:p>
          <a:p>
            <a:r>
              <a:rPr lang="pt-BR" altLang="pt-BR" sz="2800"/>
              <a:t>Ruído</a:t>
            </a:r>
          </a:p>
          <a:p>
            <a:r>
              <a:rPr lang="pt-BR" altLang="pt-BR" sz="2800"/>
              <a:t>Atenuação</a:t>
            </a:r>
          </a:p>
        </p:txBody>
      </p:sp>
      <p:sp>
        <p:nvSpPr>
          <p:cNvPr id="87044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endParaRPr lang="pt-BR" altLang="pt-BR" sz="2800"/>
          </a:p>
          <a:p>
            <a:endParaRPr lang="pt-BR" altLang="pt-BR" sz="2800"/>
          </a:p>
          <a:p>
            <a:r>
              <a:rPr lang="pt-BR" altLang="pt-BR" sz="2800"/>
              <a:t>Tipos de Transmissão</a:t>
            </a:r>
          </a:p>
          <a:p>
            <a:r>
              <a:rPr lang="pt-BR" altLang="pt-BR" sz="2800"/>
              <a:t>Tipos de Cabo Coaxial</a:t>
            </a:r>
          </a:p>
          <a:p>
            <a:r>
              <a:rPr lang="pt-BR" altLang="pt-BR" sz="2800"/>
              <a:t>Placa de Rede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Fundamentação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/>
              <a:t>Tipos de Transmissão: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    Baseband   e  Broadband</a:t>
            </a:r>
          </a:p>
          <a:p>
            <a:endParaRPr lang="pt-BR" altLang="pt-BR"/>
          </a:p>
          <a:p>
            <a:r>
              <a:rPr lang="pt-BR" altLang="pt-BR"/>
              <a:t>Traduzindo os termos: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    Unicanal e multi-canal.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Baseband  (Unicanal)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pt-BR" altLang="pt-BR" sz="2800"/>
          </a:p>
          <a:p>
            <a:pPr>
              <a:lnSpc>
                <a:spcPct val="90000"/>
              </a:lnSpc>
            </a:pPr>
            <a:r>
              <a:rPr lang="pt-BR" altLang="pt-BR" sz="2800"/>
              <a:t>Em transmissões uni-canal, o meio é usado para transmitir apenas um canal de dados e a transmissão é feita com sinal digital.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É a forma mais usada em redes locais.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É Unidirecional.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Logo, só permite transmissões half-duplex.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Broadband (Muti-Canal)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  <a:p>
            <a:r>
              <a:rPr lang="pt-BR" altLang="pt-BR"/>
              <a:t>O meio de transmissão é utilizado para transmitir simultaneamente vários canis de dados, e a transmissão é feita por sinalização analógica.</a:t>
            </a:r>
          </a:p>
          <a:p>
            <a:r>
              <a:rPr lang="pt-BR" altLang="pt-BR"/>
              <a:t>As transmissões multi-canais são unidirecionais.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Broadband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800"/>
              <a:t>Para transmitir em </a:t>
            </a:r>
            <a:r>
              <a:rPr lang="pt-BR" altLang="pt-BR" sz="2800" b="1"/>
              <a:t>duas direções</a:t>
            </a:r>
            <a:r>
              <a:rPr lang="pt-BR" altLang="pt-BR" sz="2800"/>
              <a:t>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2800"/>
              <a:t>    - </a:t>
            </a:r>
            <a:r>
              <a:rPr lang="pt-BR" altLang="pt-BR" sz="2800" b="1"/>
              <a:t>usar dois cabos</a:t>
            </a:r>
            <a:r>
              <a:rPr lang="pt-BR" altLang="pt-BR" sz="2800"/>
              <a:t>, um para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2800"/>
              <a:t>      transmitir e outro para recepção.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altLang="pt-BR" sz="28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2800"/>
              <a:t>    - ou </a:t>
            </a:r>
            <a:r>
              <a:rPr lang="pt-BR" altLang="pt-BR" sz="2800" b="1"/>
              <a:t>subdividindo cada canal em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2800" b="1"/>
              <a:t>      dois outros subcanais</a:t>
            </a:r>
            <a:r>
              <a:rPr lang="pt-BR" altLang="pt-BR" sz="2800"/>
              <a:t>, com a metade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2800"/>
              <a:t>      da velocidade máxima em cada 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2800"/>
              <a:t>      subcanal. Usar um para transmitir e o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2800"/>
              <a:t>      outro para recepção.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Ruídos e Atenuação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pt-BR" altLang="pt-BR" sz="2800"/>
          </a:p>
          <a:p>
            <a:pPr>
              <a:lnSpc>
                <a:spcPct val="90000"/>
              </a:lnSpc>
            </a:pPr>
            <a:r>
              <a:rPr lang="pt-BR" altLang="pt-BR" sz="2800"/>
              <a:t>A malha existente no cabo coaxial o protege contra interferências que podem causar ruídos.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Na atenuação, o sinal, a medida que  que percorre o cabo, vai ficando mais fraco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Limite de segmento de cabo coaxial fino: 185 metros.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O sinal é amplificado com o uso de um dispositivo chamado </a:t>
            </a:r>
            <a:r>
              <a:rPr lang="pt-BR" altLang="pt-BR" sz="2800" b="1"/>
              <a:t>repetidor</a:t>
            </a:r>
            <a:r>
              <a:rPr lang="pt-BR" altLang="pt-BR" sz="2800"/>
              <a:t>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altLang="pt-BR"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O Cabo Coaxial 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 sz="2800"/>
              <a:t>Um dos primeiros meios de transmissão usados em redes locais.</a:t>
            </a:r>
          </a:p>
          <a:p>
            <a:endParaRPr lang="pt-BR" altLang="pt-BR" sz="2800"/>
          </a:p>
          <a:p>
            <a:r>
              <a:rPr lang="pt-BR" altLang="pt-BR" sz="2800"/>
              <a:t>Possui dois fios, sendo um desses fios, uma malha que envolve o cabo.</a:t>
            </a:r>
          </a:p>
          <a:p>
            <a:endParaRPr lang="pt-BR" altLang="pt-BR" sz="2800"/>
          </a:p>
          <a:p>
            <a:r>
              <a:rPr lang="pt-BR" altLang="pt-BR" sz="2800"/>
              <a:t>Essa malha funciona como blindagem contra interferências eletromagnéticas.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O Cabo Coaxial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800"/>
              <a:t>Utiliza em suas extremidades, conectores.</a:t>
            </a:r>
          </a:p>
          <a:p>
            <a:pPr>
              <a:lnSpc>
                <a:spcPct val="90000"/>
              </a:lnSpc>
            </a:pPr>
            <a:endParaRPr lang="pt-BR" altLang="pt-BR" sz="2800"/>
          </a:p>
          <a:p>
            <a:pPr>
              <a:lnSpc>
                <a:spcPct val="90000"/>
              </a:lnSpc>
            </a:pPr>
            <a:r>
              <a:rPr lang="pt-BR" altLang="pt-BR" sz="2800"/>
              <a:t>Possui uma impedância medida em ohms. </a:t>
            </a:r>
          </a:p>
          <a:p>
            <a:pPr>
              <a:lnSpc>
                <a:spcPct val="90000"/>
              </a:lnSpc>
            </a:pPr>
            <a:endParaRPr lang="pt-BR" altLang="pt-BR" sz="2800"/>
          </a:p>
          <a:p>
            <a:pPr>
              <a:lnSpc>
                <a:spcPct val="90000"/>
              </a:lnSpc>
            </a:pPr>
            <a:r>
              <a:rPr lang="pt-BR" altLang="pt-BR" sz="2800"/>
              <a:t>Redes Ethernet usam cabos de 50 ohms.</a:t>
            </a:r>
          </a:p>
          <a:p>
            <a:pPr>
              <a:lnSpc>
                <a:spcPct val="90000"/>
              </a:lnSpc>
            </a:pPr>
            <a:endParaRPr lang="pt-BR" altLang="pt-BR" sz="2800"/>
          </a:p>
          <a:p>
            <a:pPr>
              <a:lnSpc>
                <a:spcPct val="90000"/>
              </a:lnSpc>
            </a:pPr>
            <a:r>
              <a:rPr lang="pt-BR" altLang="pt-BR" sz="2800"/>
              <a:t>Parecem com o cabo coaxial usado para antenas de TV, mas o de TV tem 75 ohms de impedância.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Vantagens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pt-BR" altLang="pt-BR" sz="2800"/>
          </a:p>
          <a:p>
            <a:pPr>
              <a:lnSpc>
                <a:spcPct val="90000"/>
              </a:lnSpc>
            </a:pPr>
            <a:r>
              <a:rPr lang="pt-BR" altLang="pt-BR" sz="2800"/>
              <a:t>Sua blindagem.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Redes multi-canal.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Mais barato que o par trançado blindado.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Melhor imunidade a ruídos e a atenuação que o par trançado sem blindagem.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Baixo custo.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Apropriado para pequenas redes.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Usado em transmissões de sinal de áudio e vídeo.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Desvantagens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800"/>
              <a:t>Não é flexível o suficiente ...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Mais difícil de instalar.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Usado em topologia de barramento.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Mais caro que o par trançado sem blindagem.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Cada tipo de rede exige um cabo com impedância diferente.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Baixa taxa de transmissão para os dias de hoje: 10 Mbps.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Tipos de Cabo Coaxial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/>
              <a:t>Cabo Coaxial Fino – 10Base2</a:t>
            </a:r>
          </a:p>
          <a:p>
            <a:pPr>
              <a:lnSpc>
                <a:spcPct val="90000"/>
              </a:lnSpc>
            </a:pPr>
            <a:r>
              <a:rPr lang="pt-BR" altLang="pt-BR"/>
              <a:t>Cabo Coaxial Grosso – 10Base5</a:t>
            </a:r>
          </a:p>
          <a:p>
            <a:pPr>
              <a:lnSpc>
                <a:spcPct val="90000"/>
              </a:lnSpc>
            </a:pPr>
            <a:endParaRPr lang="pt-BR" altLang="pt-BR"/>
          </a:p>
          <a:p>
            <a:pPr>
              <a:lnSpc>
                <a:spcPct val="90000"/>
              </a:lnSpc>
            </a:pPr>
            <a:r>
              <a:rPr lang="pt-BR" altLang="pt-BR"/>
              <a:t>A diferença é a espessura do cabo.</a:t>
            </a:r>
          </a:p>
          <a:p>
            <a:pPr>
              <a:lnSpc>
                <a:spcPct val="90000"/>
              </a:lnSpc>
            </a:pPr>
            <a:r>
              <a:rPr lang="pt-BR" altLang="pt-BR"/>
              <a:t>O cabo mais grosso resiste mais a interferências e minimiza a atenuação, mas seu comprimento máximo é maior.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10Base2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  <a:p>
            <a:r>
              <a:rPr lang="pt-BR" altLang="pt-BR"/>
              <a:t>Significa que a taxa máxima de transmissão é 10 Mbps, a transmissão é do tipo baseband e o comprimento máximo do cabo em um segmento é de 200 metros.</a:t>
            </a:r>
          </a:p>
          <a:p>
            <a:r>
              <a:rPr lang="pt-BR" altLang="pt-BR"/>
              <a:t>Se refere ao cabo coaxial fino (185 metros).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10Base2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800"/>
              <a:t>Outros nomes: Thinnet, Cheapernet.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Existem vários tipos, mas o usado em redes Ethernet é o RG-58, com a impedância de 50 ohms.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No máximo 185 metros por segmento.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No máximo 30 máquinas conectadas por segmento.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Usado em topologia em barramento Todos os computadores estão conectados no mesmo cabo.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10Base2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/>
              <a:t>A conexão dos micros com o cabo de rede é feita com conectores BNC em forma de T, que vem junto com a placa de rede quando a compramos.</a:t>
            </a:r>
          </a:p>
          <a:p>
            <a:endParaRPr lang="pt-BR" altLang="pt-BR"/>
          </a:p>
          <a:p>
            <a:r>
              <a:rPr lang="pt-BR" altLang="pt-BR"/>
              <a:t>Ver transparência de conectores BNC.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10Base2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/>
              <a:t>Nas duas extremidades do cabo são usados, em cada uma delas, um terminador resistivo de 50 ohms, para garantir a correta impedância do cabo.</a:t>
            </a:r>
          </a:p>
          <a:p>
            <a:endParaRPr lang="pt-BR" altLang="pt-BR"/>
          </a:p>
          <a:p>
            <a:r>
              <a:rPr lang="pt-BR" altLang="pt-BR"/>
              <a:t>Ver transparência do terminador.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Exemplo de uma rede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/>
              <a:t>Usando cabo coaxial fino, a distância mínima entre duas máquinas é de 0,5 metro.</a:t>
            </a:r>
          </a:p>
          <a:p>
            <a:endParaRPr lang="pt-BR" altLang="pt-BR"/>
          </a:p>
          <a:p>
            <a:r>
              <a:rPr lang="pt-BR" altLang="pt-BR"/>
              <a:t>Ver transparência.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Segmentação de uma rede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  <a:p>
            <a:endParaRPr lang="pt-BR" altLang="pt-BR"/>
          </a:p>
          <a:p>
            <a:r>
              <a:rPr lang="pt-BR" altLang="pt-BR"/>
              <a:t>Ver transparência, usando um repetidor.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10Base5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  <a:p>
            <a:r>
              <a:rPr lang="pt-BR" altLang="pt-BR"/>
              <a:t>Significa que a taxa máxima de transmissão é 10 Mbps, a transmissão é do tipo baseband e o comprimento máximo do cabo em um segmento é de 500 metros.</a:t>
            </a:r>
          </a:p>
          <a:p>
            <a:r>
              <a:rPr lang="pt-BR" altLang="pt-BR"/>
              <a:t>Se refere ao cabo coaxial grosso.</a:t>
            </a:r>
          </a:p>
          <a:p>
            <a:endParaRPr lang="pt-BR" altLang="pt-B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10Base5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/>
              <a:t>Também conhecido como Ticknet.</a:t>
            </a:r>
          </a:p>
          <a:p>
            <a:r>
              <a:rPr lang="pt-BR" altLang="pt-BR"/>
              <a:t>Tem blindagem dupla (o fino só tem uma).</a:t>
            </a:r>
          </a:p>
          <a:p>
            <a:r>
              <a:rPr lang="pt-BR" altLang="pt-BR"/>
              <a:t>A conexão de cada máquina ao cabo é feita por um conector chamado </a:t>
            </a:r>
            <a:r>
              <a:rPr lang="pt-BR" altLang="pt-BR" i="1"/>
              <a:t>vampiro</a:t>
            </a:r>
            <a:r>
              <a:rPr lang="pt-BR" altLang="pt-BR"/>
              <a:t>, que estabelece contato com o núcleo e com a malha do cabo.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10Base5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/>
              <a:t>Esse conector é ligado a um transceptor (um adaptador entre a placa de rede e o cabo).</a:t>
            </a:r>
          </a:p>
          <a:p>
            <a:endParaRPr lang="pt-BR" altLang="pt-BR"/>
          </a:p>
          <a:p>
            <a:r>
              <a:rPr lang="pt-BR" altLang="pt-BR"/>
              <a:t>Ver transparência de conexão para cabo coaxial grosso.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10Base5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800"/>
              <a:t>O conector usado no transceptor tem 15 pinos.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Para conectar à palca de rede, precisa-se de um placa de rede com uma porta AUI (Atchment Unit Interface). Essa porta é um conector de 15 pinos, fêmea, mas nem todas as placas de rede possuem essa porta.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Ver transparência de uma placa de rede com porta AUI.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10Base5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/>
              <a:t>A distância de cada tranceptor instalado no cabo coaxial grosso deve ser, no mínimo, de 2,5 metros.</a:t>
            </a:r>
          </a:p>
          <a:p>
            <a:r>
              <a:rPr lang="pt-BR" altLang="pt-BR"/>
              <a:t>A terminação resistiva de cabo grosso é feita por conectores N.</a:t>
            </a:r>
          </a:p>
          <a:p>
            <a:r>
              <a:rPr lang="pt-BR" altLang="pt-BR"/>
              <a:t>A instalação de transceptores pode ser feita com a rede ativa, isto é, sem desligar a rede.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Par Trançado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pt-BR" altLang="pt-BR" sz="2800"/>
          </a:p>
          <a:p>
            <a:endParaRPr lang="pt-BR" altLang="pt-BR" sz="2800"/>
          </a:p>
          <a:p>
            <a:r>
              <a:rPr lang="pt-BR" altLang="pt-BR" sz="2800"/>
              <a:t>Fundamentação</a:t>
            </a:r>
          </a:p>
          <a:p>
            <a:r>
              <a:rPr lang="pt-BR" altLang="pt-BR" sz="2800"/>
              <a:t>Sem Blindagem </a:t>
            </a:r>
          </a:p>
          <a:p>
            <a:r>
              <a:rPr lang="pt-BR" altLang="pt-BR" sz="2800"/>
              <a:t>Pinagem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2800"/>
          </a:p>
          <a:p>
            <a:endParaRPr lang="pt-BR" altLang="pt-BR" sz="2800"/>
          </a:p>
        </p:txBody>
      </p:sp>
      <p:sp>
        <p:nvSpPr>
          <p:cNvPr id="84996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endParaRPr lang="pt-BR" altLang="pt-BR" sz="2800"/>
          </a:p>
          <a:p>
            <a:endParaRPr lang="pt-BR" altLang="pt-BR" sz="2800"/>
          </a:p>
          <a:p>
            <a:r>
              <a:rPr lang="pt-BR" altLang="pt-BR" sz="2800"/>
              <a:t>Com Blindagem</a:t>
            </a:r>
          </a:p>
          <a:p>
            <a:r>
              <a:rPr lang="pt-BR" altLang="pt-BR" sz="2800"/>
              <a:t>Cabeamento Estruturado</a:t>
            </a:r>
          </a:p>
          <a:p>
            <a:r>
              <a:rPr lang="pt-BR" altLang="pt-BR" sz="2800"/>
              <a:t>Gigabit Ethernet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Par Trançado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800"/>
              <a:t>Tipo de cabo de rede mais usado.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Dois tipos: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2800"/>
              <a:t>      - sem blindagem (UTP)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2800"/>
              <a:t>          (Unshielded Twisted Pair)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2800"/>
              <a:t>      - com blindagem (STP)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2800"/>
              <a:t>          (Shielded Twisted Pair)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2800"/>
              <a:t>          contém uma malha-envólucro, que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2800"/>
              <a:t>          protege-o contra interferências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2800"/>
              <a:t>          eletromagnéticas.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982663"/>
            <a:ext cx="8162925" cy="641350"/>
          </a:xfrm>
        </p:spPr>
        <p:txBody>
          <a:bodyPr/>
          <a:lstStyle/>
          <a:p>
            <a:r>
              <a:rPr lang="pt-BR" altLang="pt-BR" sz="3600"/>
              <a:t>Par trançado sem blindagem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/>
              <a:t>É o mais popular.</a:t>
            </a:r>
          </a:p>
          <a:p>
            <a:pPr>
              <a:lnSpc>
                <a:spcPct val="90000"/>
              </a:lnSpc>
            </a:pPr>
            <a:r>
              <a:rPr lang="pt-BR" altLang="pt-BR"/>
              <a:t>Utiliza um conector RJ-45.</a:t>
            </a:r>
          </a:p>
          <a:p>
            <a:pPr>
              <a:lnSpc>
                <a:spcPct val="90000"/>
              </a:lnSpc>
            </a:pPr>
            <a:r>
              <a:rPr lang="pt-BR" altLang="pt-BR"/>
              <a:t>Possui ótima proteção contra ruídos, através da técnica de cancelamento.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/>
              <a:t>  e não através de blindagem.</a:t>
            </a:r>
          </a:p>
          <a:p>
            <a:pPr>
              <a:lnSpc>
                <a:spcPct val="90000"/>
              </a:lnSpc>
            </a:pPr>
            <a:r>
              <a:rPr lang="pt-BR" altLang="pt-BR"/>
              <a:t>As informações trafegam repetidas em dois fios, com as polaridades invertidas.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altLang="pt-B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Campo Eletromagnético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 sz="2800"/>
              <a:t>Princípio: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/>
              <a:t>      Todo fio produz um campo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/>
              <a:t>      eletromagnético ao seu redor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/>
              <a:t>      quando uma corrente elétrica é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/>
              <a:t>      transmitida.</a:t>
            </a:r>
          </a:p>
          <a:p>
            <a:r>
              <a:rPr lang="pt-BR" altLang="pt-BR" sz="2800"/>
              <a:t>Se esse campo eletromagnético é muito intenso, ele corromperá a informação transmitida num fio ao lado (Cross-Talk).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Polaridade Invertida  +TD</a:t>
            </a:r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2362200" y="4572000"/>
            <a:ext cx="4648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  <p:sp>
        <p:nvSpPr>
          <p:cNvPr id="8202" name="Line 10"/>
          <p:cNvSpPr>
            <a:spLocks noChangeShapeType="1"/>
          </p:cNvSpPr>
          <p:nvPr/>
        </p:nvSpPr>
        <p:spPr bwMode="auto">
          <a:xfrm flipH="1" flipV="1">
            <a:off x="2895600" y="2590800"/>
            <a:ext cx="0" cy="2667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  <p:sp>
        <p:nvSpPr>
          <p:cNvPr id="8205" name="Rectangle 13"/>
          <p:cNvSpPr>
            <a:spLocks noChangeArrowheads="1"/>
          </p:cNvSpPr>
          <p:nvPr/>
        </p:nvSpPr>
        <p:spPr bwMode="auto">
          <a:xfrm>
            <a:off x="3886200" y="3657600"/>
            <a:ext cx="1066800" cy="9144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8206" name="Line 14"/>
          <p:cNvSpPr>
            <a:spLocks noChangeShapeType="1"/>
          </p:cNvSpPr>
          <p:nvPr/>
        </p:nvSpPr>
        <p:spPr bwMode="auto">
          <a:xfrm>
            <a:off x="2971800" y="4572000"/>
            <a:ext cx="914400" cy="0"/>
          </a:xfrm>
          <a:prstGeom prst="line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  <p:sp>
        <p:nvSpPr>
          <p:cNvPr id="8210" name="Text Box 18"/>
          <p:cNvSpPr txBox="1">
            <a:spLocks noChangeArrowheads="1"/>
          </p:cNvSpPr>
          <p:nvPr/>
        </p:nvSpPr>
        <p:spPr bwMode="auto">
          <a:xfrm>
            <a:off x="5638800" y="3200400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>
                <a:solidFill>
                  <a:schemeClr val="folHlink"/>
                </a:solidFill>
              </a:rPr>
              <a:t>+TD  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Polaridade Invertida  -TD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</p:txBody>
      </p:sp>
      <p:sp>
        <p:nvSpPr>
          <p:cNvPr id="10244" name="Line 4"/>
          <p:cNvSpPr>
            <a:spLocks noChangeShapeType="1"/>
          </p:cNvSpPr>
          <p:nvPr/>
        </p:nvSpPr>
        <p:spPr bwMode="auto">
          <a:xfrm>
            <a:off x="2514600" y="30480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>
            <a:off x="2057400" y="3505200"/>
            <a:ext cx="4572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3505200" y="3505200"/>
            <a:ext cx="1066800" cy="990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5410200" y="44958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>
                <a:solidFill>
                  <a:schemeClr val="folHlink"/>
                </a:solidFill>
              </a:rPr>
              <a:t>- TD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433388"/>
            <a:ext cx="8162925" cy="1190625"/>
          </a:xfrm>
        </p:spPr>
        <p:txBody>
          <a:bodyPr/>
          <a:lstStyle/>
          <a:p>
            <a:r>
              <a:rPr lang="pt-BR" altLang="pt-BR" sz="3600"/>
              <a:t>Direção dos Campos Eletromagnéticos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 sz="2800"/>
              <a:t>A direção desse campo eletromagnético depende se a corrente é positiva (polaridade +), ou se é negativa (polaridade -).</a:t>
            </a:r>
          </a:p>
          <a:p>
            <a:r>
              <a:rPr lang="pt-BR" altLang="pt-BR" sz="2800"/>
              <a:t>No par trançado, cada par transmite a mesma informação, mas com a polaridade invertida, o que ocasiona campos eletromagnéticos de mesma intensidade, mas em sentido contrário.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Proteção contra Ruídos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/>
              <a:t>O campo eletromagnético gerado por um fio é anulado pelo campo do outro fio.</a:t>
            </a:r>
          </a:p>
          <a:p>
            <a:r>
              <a:rPr lang="pt-BR" altLang="pt-BR"/>
              <a:t>Os dois fios são enrolados um ao outro, o que aumenta a proteção eletromagnética.</a:t>
            </a:r>
          </a:p>
          <a:p>
            <a:r>
              <a:rPr lang="pt-BR" altLang="pt-BR"/>
              <a:t>Os fios são agrupados de dois em dois e enrolados.</a:t>
            </a:r>
          </a:p>
          <a:p>
            <a:endParaRPr lang="pt-BR" altLang="pt-B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Duplicação da Informação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pt-BR" altLang="pt-BR"/>
          </a:p>
          <a:p>
            <a:pPr>
              <a:lnSpc>
                <a:spcPct val="90000"/>
              </a:lnSpc>
            </a:pPr>
            <a:r>
              <a:rPr lang="pt-BR" altLang="pt-BR"/>
              <a:t>A informação é transmitida duplicada.</a:t>
            </a:r>
          </a:p>
          <a:p>
            <a:pPr>
              <a:lnSpc>
                <a:spcPct val="90000"/>
              </a:lnSpc>
            </a:pPr>
            <a:endParaRPr lang="pt-BR" altLang="pt-BR"/>
          </a:p>
          <a:p>
            <a:pPr>
              <a:lnSpc>
                <a:spcPct val="90000"/>
              </a:lnSpc>
            </a:pPr>
            <a:r>
              <a:rPr lang="pt-BR" altLang="pt-BR"/>
              <a:t>Tudo o que existir num dos fios deve existir no outro, com a intensidade igual, mas com a polaridade invertida.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altLang="pt-B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Verificação da Informação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  <a:p>
            <a:r>
              <a:rPr lang="pt-BR" altLang="pt-BR"/>
              <a:t>O receptor pode verificar se a informação chegou ou corrompida.</a:t>
            </a:r>
          </a:p>
          <a:p>
            <a:endParaRPr lang="pt-BR" altLang="pt-BR"/>
          </a:p>
          <a:p>
            <a:r>
              <a:rPr lang="pt-BR" altLang="pt-BR"/>
              <a:t>O que for diferente nos dois sinais é ruído e o receptor tem como identificar e eliminar.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Par Trançado Tradicional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 sz="2800"/>
              <a:t>Utiliza dois pares, um para transmissão de informação e outro para recepção.</a:t>
            </a:r>
          </a:p>
          <a:p>
            <a:r>
              <a:rPr lang="pt-BR" altLang="pt-BR" sz="2800"/>
              <a:t>Cada par é um canal separado.</a:t>
            </a:r>
          </a:p>
          <a:p>
            <a:r>
              <a:rPr lang="pt-BR" altLang="pt-BR" sz="2800"/>
              <a:t>Comunicação Full-Duplex.</a:t>
            </a:r>
          </a:p>
          <a:p>
            <a:r>
              <a:rPr lang="pt-BR" altLang="pt-BR" sz="2800"/>
              <a:t>Existem quatro pares de fio. </a:t>
            </a:r>
          </a:p>
          <a:p>
            <a:r>
              <a:rPr lang="pt-BR" altLang="pt-BR" sz="2800"/>
              <a:t>Utiliza-se somente dois.</a:t>
            </a:r>
          </a:p>
          <a:p>
            <a:r>
              <a:rPr lang="pt-BR" altLang="pt-BR" sz="2800"/>
              <a:t>Par trançado de telefonia, não serve para redes locais.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Vantagens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/>
              <a:t>Preço</a:t>
            </a:r>
          </a:p>
          <a:p>
            <a:r>
              <a:rPr lang="pt-BR" altLang="pt-BR"/>
              <a:t>Flexibilidade de instalação.</a:t>
            </a:r>
          </a:p>
          <a:p>
            <a:r>
              <a:rPr lang="pt-BR" altLang="pt-BR"/>
              <a:t>Cabeamento Estruturado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  - Tomadas de rede,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  - racks,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  - armários,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  - par trançado.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Desvantagens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800"/>
              <a:t>Limite do comprimento do cabo.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100 metros por trecho.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Baixa imunidade contra interferências eletromagnéticas, no cabo sem blindagem.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Na maioria dos casos, esses fatores não são importantes.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Em ambiente industrial é preocupante aí a fibra ótica é recomendada.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Taxas de Transferência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800"/>
              <a:t>Máxima padrão:  10 Mbps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2800"/>
              <a:t>     (a mesma do cabo coaxial)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Par trançado a 10 Mbps, transmissão uni-canal (bandbase), é chamado 10BaseT.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Atualmente, o par trançado opera a 100 Mbps e é chamado 100BaseT.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Par trançado a 1000 Mbps, chama-se 1000BaseT (Gigabit Ethernet).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Possui um limite de dois dispositivos por cabo.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Padronização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/>
              <a:t>EIA / TIA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   ( Electronic Industries Alliance /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     Telecommunication Industry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                                Association )</a:t>
            </a:r>
          </a:p>
          <a:p>
            <a:r>
              <a:rPr lang="pt-BR" altLang="pt-BR"/>
              <a:t>Norma 568</a:t>
            </a:r>
          </a:p>
          <a:p>
            <a:r>
              <a:rPr lang="pt-BR" altLang="pt-BR"/>
              <a:t>Classificação em categorias de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1 a 5.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Categorias de Cabo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 sz="2800"/>
              <a:t>1 e 2 : Sistemas de Telefonia</a:t>
            </a:r>
          </a:p>
          <a:p>
            <a:r>
              <a:rPr lang="pt-BR" altLang="pt-BR" sz="2800"/>
              <a:t>3 :permite até 16Mbps, 10BaseT, redes Token Ring.</a:t>
            </a:r>
          </a:p>
          <a:p>
            <a:r>
              <a:rPr lang="pt-BR" altLang="pt-BR" sz="2800"/>
              <a:t>4 : permite até 20 Mbps.</a:t>
            </a:r>
          </a:p>
          <a:p>
            <a:r>
              <a:rPr lang="pt-BR" altLang="pt-BR" sz="2800"/>
              <a:t>5 : permite até 100Mbps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/>
              <a:t>   (mais usado), impedância de 100 ohms, utilizado em redes 100BaseT e 1000Mbps com outros mecanismos.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Pinagem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/>
              <a:t>Por ter um limite de dois dispositivos, por cabo, um par trançado é sempre usado com dois plugues (conectores) RJ-45, cada um conectado em uma extremidade do cabo.</a:t>
            </a:r>
          </a:p>
          <a:p>
            <a:r>
              <a:rPr lang="pt-BR" altLang="pt-BR"/>
              <a:t>Ver figura em transparência convencional.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Pinagem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800"/>
              <a:t>Para identificação dos pares dentro do cabo, os pares são coloridos: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2800"/>
              <a:t>    verde, laranja, marrom e azul.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Utilizam um esquema de ligação pino-a-pino (1-1, 2-2, ... )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Existem diversas maneiras de se colocar os fios em ordem no conector RJ-45.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Falta padronização.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O sistema de cabeamento 10BaseT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2800"/>
              <a:t>     (ver transparência)</a:t>
            </a:r>
          </a:p>
          <a:p>
            <a:pPr>
              <a:lnSpc>
                <a:spcPct val="90000"/>
              </a:lnSpc>
            </a:pPr>
            <a:endParaRPr lang="pt-BR" altLang="pt-BR" sz="28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Pinagem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/>
              <a:t>Padrão T568A do TIA/EIA é o padrão preferido na ligação dos fios no plugue RJ-45.</a:t>
            </a:r>
          </a:p>
          <a:p>
            <a:pPr>
              <a:lnSpc>
                <a:spcPct val="90000"/>
              </a:lnSpc>
            </a:pPr>
            <a:endParaRPr lang="pt-BR" altLang="pt-BR"/>
          </a:p>
          <a:p>
            <a:pPr>
              <a:lnSpc>
                <a:spcPct val="90000"/>
              </a:lnSpc>
            </a:pPr>
            <a:r>
              <a:rPr lang="pt-BR" altLang="pt-BR"/>
              <a:t>Ver transparência do plugue RJ-45.</a:t>
            </a:r>
          </a:p>
          <a:p>
            <a:pPr>
              <a:lnSpc>
                <a:spcPct val="90000"/>
              </a:lnSpc>
            </a:pPr>
            <a:endParaRPr lang="pt-BR" altLang="pt-BR"/>
          </a:p>
          <a:p>
            <a:pPr>
              <a:lnSpc>
                <a:spcPct val="90000"/>
              </a:lnSpc>
            </a:pPr>
            <a:r>
              <a:rPr lang="pt-BR" altLang="pt-BR"/>
              <a:t>As indicações T e R significam: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/>
              <a:t>    T = Tip (ponta)     R = Ring (anel)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Gigabit Ethernet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/>
              <a:t>1000BaseT</a:t>
            </a:r>
          </a:p>
          <a:p>
            <a:r>
              <a:rPr lang="pt-BR" altLang="pt-BR"/>
              <a:t>Cabo categoria 5, possui uma taxa de transmissão máxima de 100 Mbps.</a:t>
            </a:r>
          </a:p>
          <a:p>
            <a:r>
              <a:rPr lang="pt-BR" altLang="pt-BR"/>
              <a:t>Como as redes 1000BaseT funcionam usando esse tipos de cabo de 100 Mbps 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Gigabit Ethernet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800"/>
              <a:t>Utiliza os quatro pares de fios, simultaneamente.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Os quatro pares são usados para transmitir partes da mesma informação.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Cada par é bi-direcional e full-duplex.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Usa a modulação 4D-PAM5), o que permite que vários bits sejam transmitidos por vez.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No Ethernet padrão, apenas um bit é transmitido por vez.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982663"/>
            <a:ext cx="8162925" cy="641350"/>
          </a:xfrm>
        </p:spPr>
        <p:txBody>
          <a:bodyPr/>
          <a:lstStyle/>
          <a:p>
            <a:r>
              <a:rPr lang="pt-BR" altLang="pt-BR" sz="3600"/>
              <a:t>Cabo Par Trançado Cross-Over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  <a:p>
            <a:r>
              <a:rPr lang="pt-BR" altLang="pt-BR"/>
              <a:t>Dentro de um Hub, os sinais que estão saindo das máquinas (TD) são conectados às entradas de sinais das máquinas que estão recebendo os sinais (RD) e vice-versa.</a:t>
            </a:r>
          </a:p>
          <a:p>
            <a:r>
              <a:rPr lang="pt-BR" altLang="pt-BR"/>
              <a:t>Ver transparência.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Ligação de dois Hubs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  <a:p>
            <a:r>
              <a:rPr lang="pt-BR" altLang="pt-BR"/>
              <a:t>Ver transparências: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/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 - Cabo Pino-a-Pino, não funciona.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 - Usando Cabo Cross-Over.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557213"/>
            <a:ext cx="8162925" cy="1066800"/>
          </a:xfrm>
        </p:spPr>
        <p:txBody>
          <a:bodyPr/>
          <a:lstStyle/>
          <a:p>
            <a:r>
              <a:rPr lang="pt-BR" altLang="pt-BR" sz="3200" b="1"/>
              <a:t>Cabo Par Trançado Cross-Over</a:t>
            </a:r>
            <a:br>
              <a:rPr lang="pt-BR" altLang="pt-BR" sz="3200" b="1"/>
            </a:br>
            <a:r>
              <a:rPr lang="pt-BR" altLang="pt-BR" sz="3200" b="1"/>
              <a:t>Ligando Micro-a-Micro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pt-BR" altLang="pt-BR"/>
          </a:p>
          <a:p>
            <a:pPr>
              <a:lnSpc>
                <a:spcPct val="90000"/>
              </a:lnSpc>
            </a:pPr>
            <a:r>
              <a:rPr lang="pt-BR" altLang="pt-BR"/>
              <a:t>Interliga a saída do primeiro micro à entrada do segundo micro e vice-versa.</a:t>
            </a:r>
          </a:p>
          <a:p>
            <a:pPr>
              <a:lnSpc>
                <a:spcPct val="90000"/>
              </a:lnSpc>
            </a:pPr>
            <a:endParaRPr lang="pt-BR" altLang="pt-BR"/>
          </a:p>
          <a:p>
            <a:pPr>
              <a:lnSpc>
                <a:spcPct val="90000"/>
              </a:lnSpc>
            </a:pPr>
            <a:r>
              <a:rPr lang="pt-BR" altLang="pt-BR"/>
              <a:t>Ver transparência: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/>
              <a:t>   Pinagem Cross-Over para redes 10BaseT e 100BaseT.</a:t>
            </a:r>
          </a:p>
          <a:p>
            <a:pPr>
              <a:lnSpc>
                <a:spcPct val="90000"/>
              </a:lnSpc>
            </a:pPr>
            <a:endParaRPr lang="pt-BR" altLang="pt-B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Cross-Over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 sz="2800"/>
              <a:t>Ver transparências: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/>
              <a:t>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/>
              <a:t>     - Cabo Pino-a-Pino ligando Micro-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/>
              <a:t>       Hub e Cross-Over interno no 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/>
              <a:t>       Hub.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2800"/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/>
              <a:t>     - Cabo Cross-Over ligando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/>
              <a:t>       Micro-Hub</a:t>
            </a:r>
          </a:p>
          <a:p>
            <a:endParaRPr lang="pt-BR" altLang="pt-BR" sz="28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Pinagem Gigabit Ethernet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/>
              <a:t>1000Base T (1000 Mbps)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/>
          </a:p>
          <a:p>
            <a:r>
              <a:rPr lang="pt-BR" altLang="pt-BR"/>
              <a:t>A pinagem do cabo cross-over é a que segue:</a:t>
            </a:r>
          </a:p>
          <a:p>
            <a:endParaRPr lang="pt-BR" altLang="pt-BR"/>
          </a:p>
          <a:p>
            <a:r>
              <a:rPr lang="pt-BR" altLang="pt-BR"/>
              <a:t>Ver quadro na transparência: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Montagem de Cabo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800"/>
              <a:t>Par Trançado sem blindagem.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Precisa-se de um conector RJ-45 para cada extremidade do cabo e de um alicate apropriado, chamado alicate de </a:t>
            </a:r>
            <a:r>
              <a:rPr lang="pt-BR" altLang="pt-BR" sz="2800" i="1"/>
              <a:t>crimp</a:t>
            </a:r>
            <a:r>
              <a:rPr lang="pt-BR" altLang="pt-BR" sz="2800"/>
              <a:t>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Cabo para rede local.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Cabo para ligação micro-a-micro.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Rede pequena sem cabeamento estruturado.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Com cabeamento estrutrurado é diferente.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Par Trançado com Bindagem – (STP)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/>
              <a:t>Uma proteção a mais contra interferências eletromagnéticas.</a:t>
            </a:r>
          </a:p>
          <a:p>
            <a:pPr>
              <a:lnSpc>
                <a:spcPct val="90000"/>
              </a:lnSpc>
            </a:pPr>
            <a:endParaRPr lang="pt-BR" altLang="pt-BR"/>
          </a:p>
          <a:p>
            <a:pPr>
              <a:lnSpc>
                <a:spcPct val="90000"/>
              </a:lnSpc>
            </a:pPr>
            <a:r>
              <a:rPr lang="pt-BR" altLang="pt-BR"/>
              <a:t>Shielded Twister Pair</a:t>
            </a:r>
          </a:p>
          <a:p>
            <a:pPr>
              <a:lnSpc>
                <a:spcPct val="90000"/>
              </a:lnSpc>
            </a:pPr>
            <a:endParaRPr lang="pt-BR" altLang="pt-BR"/>
          </a:p>
          <a:p>
            <a:pPr>
              <a:lnSpc>
                <a:spcPct val="90000"/>
              </a:lnSpc>
            </a:pPr>
            <a:r>
              <a:rPr lang="pt-BR" altLang="pt-BR"/>
              <a:t>Dois tipos: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/>
              <a:t>    - Simples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/>
              <a:t>    - Blindagem Individual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922338"/>
            <a:ext cx="8162925" cy="701675"/>
          </a:xfrm>
        </p:spPr>
        <p:txBody>
          <a:bodyPr/>
          <a:lstStyle/>
          <a:p>
            <a:r>
              <a:rPr lang="pt-BR" altLang="pt-BR" sz="4000"/>
              <a:t>Par Trançado Blindado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800"/>
              <a:t>Ver transparência sobre tipos de cabos.</a:t>
            </a:r>
          </a:p>
          <a:p>
            <a:pPr>
              <a:lnSpc>
                <a:spcPct val="90000"/>
              </a:lnSpc>
            </a:pPr>
            <a:endParaRPr lang="pt-BR" altLang="pt-BR" sz="2800"/>
          </a:p>
          <a:p>
            <a:pPr>
              <a:lnSpc>
                <a:spcPct val="90000"/>
              </a:lnSpc>
            </a:pPr>
            <a:r>
              <a:rPr lang="pt-BR" altLang="pt-BR" sz="2800"/>
              <a:t>Blindagem Individual é o tipo usado em redes Token Ring.</a:t>
            </a:r>
          </a:p>
          <a:p>
            <a:pPr>
              <a:lnSpc>
                <a:spcPct val="90000"/>
              </a:lnSpc>
            </a:pPr>
            <a:endParaRPr lang="pt-BR" altLang="pt-BR" sz="2800"/>
          </a:p>
          <a:p>
            <a:pPr>
              <a:lnSpc>
                <a:spcPct val="90000"/>
              </a:lnSpc>
            </a:pPr>
            <a:r>
              <a:rPr lang="pt-BR" altLang="pt-BR" sz="2800"/>
              <a:t>Cabos STP devem ser aterrados, nos dois pontos de conexão do cabo.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altLang="pt-BR" sz="2800"/>
          </a:p>
          <a:p>
            <a:pPr>
              <a:lnSpc>
                <a:spcPct val="90000"/>
              </a:lnSpc>
            </a:pPr>
            <a:r>
              <a:rPr lang="pt-BR" altLang="pt-BR" sz="2800"/>
              <a:t>A blindagem pode funcionar como uma antena que capta ondas de rádio e gera interferência eletromagnética.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Par Trançado Blindado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pt-BR" altLang="pt-BR" sz="2800"/>
          </a:p>
          <a:p>
            <a:pPr>
              <a:lnSpc>
                <a:spcPct val="90000"/>
              </a:lnSpc>
            </a:pPr>
            <a:r>
              <a:rPr lang="pt-BR" altLang="pt-BR" sz="2800"/>
              <a:t>STP de 100 ohms é usado em redes Ethernet.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Pode substituir o par trançado sem blindagem, diretamente.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STP de 150 ohms só se usa em redes Token Ring, poendo atingir até 100 Mbps. Cabo tipo1.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Existe STP do tipo 1A que pode operar até 300 Mbps.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STP em Redes Token Ring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  <a:p>
            <a:r>
              <a:rPr lang="pt-BR" altLang="pt-BR"/>
              <a:t>Utilizam plugue diferente do RJ-45.</a:t>
            </a:r>
          </a:p>
          <a:p>
            <a:endParaRPr lang="pt-BR" altLang="pt-BR"/>
          </a:p>
          <a:p>
            <a:r>
              <a:rPr lang="pt-BR" altLang="pt-BR"/>
              <a:t>Ver transparência. Conector Token Ring.</a:t>
            </a:r>
          </a:p>
          <a:p>
            <a:endParaRPr lang="pt-BR" altLang="pt-BR"/>
          </a:p>
          <a:p>
            <a:r>
              <a:rPr lang="pt-BR" altLang="pt-BR"/>
              <a:t>Os cabos são vendidos prontos.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Cabeamento Estruturado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800"/>
              <a:t>Em redes pequenas, não é necessário.</a:t>
            </a:r>
          </a:p>
          <a:p>
            <a:pPr>
              <a:lnSpc>
                <a:spcPct val="90000"/>
              </a:lnSpc>
            </a:pPr>
            <a:endParaRPr lang="pt-BR" altLang="pt-BR" sz="2800"/>
          </a:p>
          <a:p>
            <a:pPr>
              <a:lnSpc>
                <a:spcPct val="90000"/>
              </a:lnSpc>
            </a:pPr>
            <a:r>
              <a:rPr lang="pt-BR" altLang="pt-BR" sz="2800"/>
              <a:t>Usa-se em redes médias e grandes, onde a quantidade de cabos e o gerenciamento dessas conexões é problema.</a:t>
            </a:r>
          </a:p>
          <a:p>
            <a:pPr>
              <a:lnSpc>
                <a:spcPct val="90000"/>
              </a:lnSpc>
            </a:pPr>
            <a:endParaRPr lang="pt-BR" altLang="pt-BR" sz="2800"/>
          </a:p>
          <a:p>
            <a:pPr>
              <a:lnSpc>
                <a:spcPct val="90000"/>
              </a:lnSpc>
            </a:pPr>
            <a:r>
              <a:rPr lang="pt-BR" altLang="pt-BR" sz="2800"/>
              <a:t>Fornece ao ambiente de trabalho técnico, um sistema de cabeamento que facilita a instalação e remoção de equipamentos, sem muita perda de tempo.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Cabeamento Estruturado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/>
              <a:t>O sistema mais simples: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  - provê tomadas RJ-45 (pontos de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    rede) para os micros da rede,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    invés de se ligar os micros no Hub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    diretamente. </a:t>
            </a:r>
          </a:p>
          <a:p>
            <a:r>
              <a:rPr lang="pt-BR" altLang="pt-BR"/>
              <a:t>Diversos tipos de tomadas (externa, interna, com conector de telefone).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Cabeamento Estruturado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800"/>
              <a:t>Ver transparências: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altLang="pt-BR" sz="28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2800"/>
              <a:t>    - Sistema simples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altLang="pt-BR" sz="28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2800"/>
              <a:t>    - Modelos de tomadas RJ-45.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altLang="pt-BR" sz="28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2800"/>
              <a:t>    - Sistema simples usando o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2800"/>
              <a:t>      concetrador de cabos, chamado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2800"/>
              <a:t>      </a:t>
            </a:r>
            <a:r>
              <a:rPr lang="pt-BR" altLang="pt-BR" sz="2800" i="1"/>
              <a:t>Path Panel (concentra tomadas</a:t>
            </a:r>
            <a:r>
              <a:rPr lang="pt-BR" altLang="pt-BR" sz="2800"/>
              <a:t>).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Cabeamento Estruturado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/>
              <a:t>Path Panel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/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  - é um sistema passivo, não possui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    nenhum circuito eletrônico;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  - é um painel contendo conectores;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  - tamanho padrão para </a:t>
            </a:r>
            <a:r>
              <a:rPr lang="pt-BR" altLang="pt-BR" i="1"/>
              <a:t>racks</a:t>
            </a:r>
            <a:r>
              <a:rPr lang="pt-BR" altLang="pt-BR"/>
              <a:t>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Cabeamento Estruturado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 sz="2800"/>
              <a:t>Racks  (ver transparência)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/>
              <a:t>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/>
              <a:t>    - concentram a instalação de  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/>
              <a:t>      dispositivos em um só local.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2800"/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/>
              <a:t>    - suportam path panels, hubs,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/>
              <a:t>      switches e roteadores, num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/>
              <a:t>      mesmo rack.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28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Cabeamento Estruturado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/>
              <a:t>Ver transparências: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   - Exemplo de ligação entre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     Path Panels;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   - Ligação de Path Panels e Hubs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Cabeamento Estruturado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800"/>
              <a:t>A essência do cabeamento estruturado é o projeto de cabeamento da rede.</a:t>
            </a:r>
          </a:p>
          <a:p>
            <a:pPr>
              <a:lnSpc>
                <a:spcPct val="90000"/>
              </a:lnSpc>
            </a:pPr>
            <a:endParaRPr lang="pt-BR" altLang="pt-BR" sz="2800"/>
          </a:p>
          <a:p>
            <a:pPr>
              <a:lnSpc>
                <a:spcPct val="90000"/>
              </a:lnSpc>
            </a:pPr>
            <a:r>
              <a:rPr lang="pt-BR" altLang="pt-BR" sz="2800"/>
              <a:t>O cabeamento deve prever a futura expansão da rede.</a:t>
            </a:r>
          </a:p>
          <a:p>
            <a:pPr>
              <a:lnSpc>
                <a:spcPct val="90000"/>
              </a:lnSpc>
            </a:pPr>
            <a:endParaRPr lang="pt-BR" altLang="pt-BR" sz="2800"/>
          </a:p>
          <a:p>
            <a:pPr>
              <a:lnSpc>
                <a:spcPct val="90000"/>
              </a:lnSpc>
            </a:pPr>
            <a:r>
              <a:rPr lang="pt-BR" altLang="pt-BR" sz="2800"/>
              <a:t>O cabeamento não é algo que se torna obsoleto logo, como micros e software.</a:t>
            </a:r>
          </a:p>
          <a:p>
            <a:pPr>
              <a:lnSpc>
                <a:spcPct val="90000"/>
              </a:lnSpc>
            </a:pPr>
            <a:endParaRPr lang="pt-BR" altLang="pt-BR" sz="2800"/>
          </a:p>
          <a:p>
            <a:pPr>
              <a:lnSpc>
                <a:spcPct val="90000"/>
              </a:lnSpc>
            </a:pPr>
            <a:r>
              <a:rPr lang="pt-BR" altLang="pt-BR" sz="2800"/>
              <a:t>Investir no cabeamento estruturado !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Tipo de Transmissão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800"/>
              <a:t>Baseband  ( Banda Base)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Em transmissões </a:t>
            </a:r>
            <a:r>
              <a:rPr lang="pt-BR" altLang="pt-BR" sz="2800" i="1"/>
              <a:t>baseband</a:t>
            </a:r>
            <a:r>
              <a:rPr lang="pt-BR" altLang="pt-BR" sz="2800"/>
              <a:t>, o meio de transmissão (o par trançado) é usado para transmitir apenas em um único canal de dados (</a:t>
            </a:r>
            <a:r>
              <a:rPr lang="pt-BR" altLang="pt-BR" sz="2800" b="1"/>
              <a:t>uni-canal</a:t>
            </a:r>
            <a:r>
              <a:rPr lang="pt-BR" altLang="pt-BR" sz="2800"/>
              <a:t>), de forma digital.</a:t>
            </a:r>
          </a:p>
          <a:p>
            <a:pPr>
              <a:lnSpc>
                <a:spcPct val="90000"/>
              </a:lnSpc>
            </a:pPr>
            <a:endParaRPr lang="pt-BR" altLang="pt-BR" sz="2800"/>
          </a:p>
          <a:p>
            <a:pPr>
              <a:lnSpc>
                <a:spcPct val="90000"/>
              </a:lnSpc>
            </a:pPr>
            <a:r>
              <a:rPr lang="pt-BR" altLang="pt-BR" sz="2800"/>
              <a:t>Modulação Manchester.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altLang="pt-BR" sz="2800"/>
          </a:p>
          <a:p>
            <a:pPr>
              <a:lnSpc>
                <a:spcPct val="90000"/>
              </a:lnSpc>
            </a:pPr>
            <a:r>
              <a:rPr lang="pt-BR" altLang="pt-BR" sz="2800"/>
              <a:t>Sistema mais usado em redes locais.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79463" y="1143000"/>
            <a:ext cx="7678737" cy="762000"/>
          </a:xfrm>
        </p:spPr>
        <p:txBody>
          <a:bodyPr/>
          <a:lstStyle/>
          <a:p>
            <a:r>
              <a:rPr lang="pt-BR" altLang="pt-BR"/>
              <a:t>Fibra Ótica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021138" y="2590800"/>
            <a:ext cx="4437062" cy="3384550"/>
          </a:xfrm>
        </p:spPr>
        <p:txBody>
          <a:bodyPr/>
          <a:lstStyle/>
          <a:p>
            <a:r>
              <a:rPr lang="pt-BR" altLang="pt-BR"/>
              <a:t>Fundamentação</a:t>
            </a:r>
          </a:p>
          <a:p>
            <a:r>
              <a:rPr lang="pt-BR" altLang="pt-BR"/>
              <a:t>Tipos de Fibra</a:t>
            </a:r>
          </a:p>
          <a:p>
            <a:r>
              <a:rPr lang="pt-BR" altLang="pt-BR"/>
              <a:t>Largura de Banda</a:t>
            </a:r>
          </a:p>
          <a:p>
            <a:r>
              <a:rPr lang="pt-BR" altLang="pt-BR"/>
              <a:t>Perda</a:t>
            </a:r>
          </a:p>
          <a:p>
            <a:r>
              <a:rPr lang="pt-BR" altLang="pt-BR"/>
              <a:t>Redes de Fibra Ótica</a:t>
            </a:r>
          </a:p>
          <a:p>
            <a:r>
              <a:rPr lang="pt-BR" altLang="pt-BR"/>
              <a:t>Padrões </a:t>
            </a:r>
          </a:p>
          <a:p>
            <a:r>
              <a:rPr lang="pt-BR" altLang="pt-BR"/>
              <a:t>Conectores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Fundamentação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/>
              <a:t>Fibra Ótica transmite informações através de </a:t>
            </a:r>
            <a:r>
              <a:rPr lang="pt-BR" altLang="pt-BR" b="1"/>
              <a:t>sinais luminosos</a:t>
            </a:r>
            <a:r>
              <a:rPr lang="pt-BR" altLang="pt-BR"/>
              <a:t>, ao invés de elétricos.</a:t>
            </a:r>
          </a:p>
          <a:p>
            <a:endParaRPr lang="pt-BR" altLang="pt-BR"/>
          </a:p>
          <a:p>
            <a:r>
              <a:rPr lang="pt-BR" altLang="pt-BR"/>
              <a:t>Idéia:  uma determinada sequência de variações de um sinal luminoso, “aceso e apagado” indica o valor “0” e outra sequência indica o valor “1”.</a:t>
            </a:r>
          </a:p>
          <a:p>
            <a:endParaRPr lang="pt-BR" altLang="pt-BR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Fundamentação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/>
              <a:t>O processo usa </a:t>
            </a:r>
            <a:r>
              <a:rPr lang="pt-BR" altLang="pt-BR" b="1"/>
              <a:t>modulação</a:t>
            </a:r>
            <a:r>
              <a:rPr lang="pt-BR" altLang="pt-BR"/>
              <a:t>, como ocorre na transmissão de dados usando cabos convencionais.</a:t>
            </a:r>
          </a:p>
          <a:p>
            <a:endParaRPr lang="pt-BR" altLang="pt-BR"/>
          </a:p>
          <a:p>
            <a:r>
              <a:rPr lang="pt-BR" altLang="pt-BR"/>
              <a:t>Um “0” ou um “1” não equivalem diretamente  a uma tensão elétrica, mas sim a uma sequência de variações de um sinal elétrico.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Vantagens das Fibras Óticas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800"/>
              <a:t>Duas vantagens significantes em relação aos cabos convencionais:</a:t>
            </a:r>
          </a:p>
          <a:p>
            <a:pPr>
              <a:lnSpc>
                <a:spcPct val="90000"/>
              </a:lnSpc>
            </a:pPr>
            <a:r>
              <a:rPr lang="pt-BR" altLang="pt-BR" sz="2800" b="1"/>
              <a:t>Interferência eletromagnética</a:t>
            </a:r>
            <a:r>
              <a:rPr lang="pt-BR" altLang="pt-BR" sz="2800"/>
              <a:t> não ocorre no tráfego da luz. Assim é imune a ruídos.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Comunicação mais rápidas (não é necessário retransmissões ...)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O sinal sofre </a:t>
            </a:r>
            <a:r>
              <a:rPr lang="pt-BR" altLang="pt-BR" sz="2800" b="1"/>
              <a:t>menos efeito da atenuação</a:t>
            </a:r>
            <a:r>
              <a:rPr lang="pt-BR" altLang="pt-BR" sz="2800"/>
              <a:t>:  cabo de fibra ótica mais longo do que os cabos convencionais.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Vantagens ...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 sz="2800"/>
              <a:t>Distância  máxima de um </a:t>
            </a:r>
            <a:r>
              <a:rPr lang="pt-BR" altLang="pt-BR" sz="2800" b="1"/>
              <a:t>segmento de fibra ótica</a:t>
            </a:r>
            <a:r>
              <a:rPr lang="pt-BR" altLang="pt-BR" sz="2800"/>
              <a:t> é de 2km.</a:t>
            </a:r>
          </a:p>
          <a:p>
            <a:r>
              <a:rPr lang="pt-BR" altLang="pt-BR" sz="2800"/>
              <a:t>100 metros para o </a:t>
            </a:r>
            <a:r>
              <a:rPr lang="pt-BR" altLang="pt-BR" sz="2800" b="1"/>
              <a:t>par trançado</a:t>
            </a:r>
            <a:r>
              <a:rPr lang="pt-BR" altLang="pt-BR" sz="2800"/>
              <a:t>.</a:t>
            </a:r>
          </a:p>
          <a:p>
            <a:r>
              <a:rPr lang="pt-BR" altLang="pt-BR" sz="2800"/>
              <a:t>185 metros para o </a:t>
            </a:r>
            <a:r>
              <a:rPr lang="pt-BR" altLang="pt-BR" sz="2800" b="1"/>
              <a:t>cabo coaxial fino</a:t>
            </a:r>
            <a:r>
              <a:rPr lang="pt-BR" altLang="pt-BR" sz="2800"/>
              <a:t>.</a:t>
            </a:r>
          </a:p>
          <a:p>
            <a:endParaRPr lang="pt-BR" altLang="pt-BR" sz="2800"/>
          </a:p>
          <a:p>
            <a:r>
              <a:rPr lang="pt-BR" altLang="pt-BR" sz="2800"/>
              <a:t>Existem </a:t>
            </a:r>
            <a:r>
              <a:rPr lang="pt-BR" altLang="pt-BR" sz="2800" b="1"/>
              <a:t>tipos de fibra</a:t>
            </a:r>
            <a:r>
              <a:rPr lang="pt-BR" altLang="pt-BR" sz="2800"/>
              <a:t> que permitem um segmento maior, enquanto outros alcançam um limite menor de distância.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Outra vantagem ...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800"/>
              <a:t>Fibra Ótica não conduz corrente elétrica. Assim não existe problema de atrair raios.</a:t>
            </a:r>
          </a:p>
          <a:p>
            <a:pPr>
              <a:lnSpc>
                <a:spcPct val="90000"/>
              </a:lnSpc>
            </a:pPr>
            <a:endParaRPr lang="pt-BR" altLang="pt-BR" sz="2800"/>
          </a:p>
          <a:p>
            <a:pPr>
              <a:lnSpc>
                <a:spcPct val="90000"/>
              </a:lnSpc>
            </a:pPr>
            <a:r>
              <a:rPr lang="pt-BR" altLang="pt-BR" sz="2800"/>
              <a:t>Nem a qualquer outro problema elétrico.</a:t>
            </a:r>
          </a:p>
          <a:p>
            <a:pPr>
              <a:lnSpc>
                <a:spcPct val="90000"/>
              </a:lnSpc>
            </a:pPr>
            <a:endParaRPr lang="pt-BR" altLang="pt-BR" sz="2800"/>
          </a:p>
          <a:p>
            <a:pPr>
              <a:lnSpc>
                <a:spcPct val="90000"/>
              </a:lnSpc>
            </a:pPr>
            <a:r>
              <a:rPr lang="pt-BR" altLang="pt-BR" sz="2800"/>
              <a:t>A luz só pode ser transmitida em uma direção por vez. Assim, o cabo de fibra possui duas fibras: uma para transmitir dados e outra para recepção de dados, permitindo comunicações full-duplex. 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Mais vantagens ...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 sz="2800"/>
          </a:p>
          <a:p>
            <a:r>
              <a:rPr lang="pt-BR" altLang="pt-BR" sz="2800"/>
              <a:t>A fibra é bastante fina e flexível.</a:t>
            </a:r>
          </a:p>
          <a:p>
            <a:endParaRPr lang="pt-BR" altLang="pt-BR" sz="2800"/>
          </a:p>
          <a:p>
            <a:r>
              <a:rPr lang="pt-BR" altLang="pt-BR" sz="2800"/>
              <a:t>Dutos, racks e outros dispositivos usados no cabeamento estruturado também podem ser usados pela fibra ótica.</a:t>
            </a:r>
          </a:p>
          <a:p>
            <a:endParaRPr lang="pt-BR" altLang="pt-BR" sz="2800"/>
          </a:p>
          <a:p>
            <a:r>
              <a:rPr lang="pt-BR" altLang="pt-BR" sz="2800"/>
              <a:t>Ver transparência do cabo de fibra ótica.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Cabo de Fibra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pt-BR" altLang="pt-BR" sz="2800"/>
          </a:p>
          <a:p>
            <a:pPr>
              <a:lnSpc>
                <a:spcPct val="90000"/>
              </a:lnSpc>
            </a:pPr>
            <a:endParaRPr lang="pt-BR" altLang="pt-BR" sz="2800"/>
          </a:p>
          <a:p>
            <a:pPr>
              <a:lnSpc>
                <a:spcPct val="90000"/>
              </a:lnSpc>
            </a:pPr>
            <a:r>
              <a:rPr lang="pt-BR" altLang="pt-BR" sz="2800"/>
              <a:t>Ver transparência: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altLang="pt-BR" sz="28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2800"/>
              <a:t>   Cabo de Fibra Ótica usado em redes locais.</a:t>
            </a:r>
          </a:p>
          <a:p>
            <a:pPr>
              <a:lnSpc>
                <a:spcPct val="90000"/>
              </a:lnSpc>
            </a:pPr>
            <a:endParaRPr lang="pt-BR" altLang="pt-BR" sz="28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2800"/>
              <a:t>   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2800"/>
              <a:t>  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Características ...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/>
              <a:t>Não se pode olhar diretamente para um fibra ótica.</a:t>
            </a:r>
          </a:p>
          <a:p>
            <a:endParaRPr lang="pt-BR" altLang="pt-BR"/>
          </a:p>
          <a:p>
            <a:r>
              <a:rPr lang="pt-BR" altLang="pt-BR"/>
              <a:t>Como a fibra transmite luz concentrada, olhar para uma fibra irá nos queimar a retina dos olhos, deixando-nos literalmente cego.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Características ...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  <a:p>
            <a:r>
              <a:rPr lang="pt-BR" altLang="pt-BR"/>
              <a:t>A luz transmitida na fibra possui um comprimento de onda invisível ao olho humano, portanto não veremos a fibra “acesa”. Haverá a ilusão de que a fibra não está transmitindo luz.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982663"/>
            <a:ext cx="8162925" cy="641350"/>
          </a:xfrm>
        </p:spPr>
        <p:txBody>
          <a:bodyPr/>
          <a:lstStyle/>
          <a:p>
            <a:r>
              <a:rPr lang="pt-BR" altLang="pt-BR" sz="3600"/>
              <a:t>Fibras x Cabos Convencionais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/>
              <a:t>O </a:t>
            </a:r>
            <a:r>
              <a:rPr lang="pt-BR" altLang="pt-BR" b="1"/>
              <a:t>preço</a:t>
            </a:r>
            <a:r>
              <a:rPr lang="pt-BR" altLang="pt-BR"/>
              <a:t> é o fator determinante para se utilizar cabos convencionais de cobre.</a:t>
            </a:r>
          </a:p>
          <a:p>
            <a:pPr>
              <a:lnSpc>
                <a:spcPct val="90000"/>
              </a:lnSpc>
            </a:pPr>
            <a:r>
              <a:rPr lang="pt-BR" altLang="pt-BR"/>
              <a:t>O </a:t>
            </a:r>
            <a:r>
              <a:rPr lang="pt-BR" altLang="pt-BR" b="1"/>
              <a:t>custo da fibra</a:t>
            </a:r>
            <a:r>
              <a:rPr lang="pt-BR" altLang="pt-BR"/>
              <a:t> vem diminuindo ...</a:t>
            </a:r>
          </a:p>
          <a:p>
            <a:pPr>
              <a:lnSpc>
                <a:spcPct val="90000"/>
              </a:lnSpc>
            </a:pPr>
            <a:r>
              <a:rPr lang="pt-BR" altLang="pt-BR"/>
              <a:t>Mas o </a:t>
            </a:r>
            <a:r>
              <a:rPr lang="pt-BR" altLang="pt-BR" b="1"/>
              <a:t>custo de instalação</a:t>
            </a:r>
            <a:r>
              <a:rPr lang="pt-BR" altLang="pt-BR"/>
              <a:t> ainda é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/>
              <a:t>  alto.</a:t>
            </a:r>
          </a:p>
          <a:p>
            <a:pPr>
              <a:lnSpc>
                <a:spcPct val="90000"/>
              </a:lnSpc>
            </a:pPr>
            <a:r>
              <a:rPr lang="pt-BR" altLang="pt-BR"/>
              <a:t>Solução: </a:t>
            </a:r>
            <a:r>
              <a:rPr lang="pt-BR" altLang="pt-BR" b="1"/>
              <a:t>redes mistas</a:t>
            </a:r>
            <a:r>
              <a:rPr lang="pt-BR" altLang="pt-BR"/>
              <a:t>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Redes Mistas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/>
              <a:t>Se utiliza </a:t>
            </a:r>
            <a:r>
              <a:rPr lang="pt-BR" altLang="pt-BR" b="1"/>
              <a:t>fibras óticas</a:t>
            </a:r>
            <a:r>
              <a:rPr lang="pt-BR" altLang="pt-BR"/>
              <a:t> nas comunicações que exijam alto desempenho (no </a:t>
            </a:r>
            <a:r>
              <a:rPr lang="pt-BR" altLang="pt-BR" b="1"/>
              <a:t>backbone</a:t>
            </a:r>
            <a:r>
              <a:rPr lang="pt-BR" altLang="pt-BR"/>
              <a:t>).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/>
          </a:p>
          <a:p>
            <a:r>
              <a:rPr lang="pt-BR" altLang="pt-BR" b="1"/>
              <a:t>Par trançado sem blindagem</a:t>
            </a:r>
            <a:r>
              <a:rPr lang="pt-BR" altLang="pt-BR"/>
              <a:t> (UTP), nas conexões dos micros com os dispositivos concentradores.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Redes Mistas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  <a:p>
            <a:r>
              <a:rPr lang="pt-BR" altLang="pt-BR"/>
              <a:t>Ver transparência: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Exemplo de uma rede usando fibra ótica e par trançado.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Tipos de Fibra Ótica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/>
              <a:t>Esta classificação está relacionada ao modo como a luz é transmitida dentro da fibra.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/>
          </a:p>
          <a:p>
            <a:r>
              <a:rPr lang="pt-BR" altLang="pt-BR"/>
              <a:t>Modo Múltiplo </a:t>
            </a:r>
          </a:p>
          <a:p>
            <a:endParaRPr lang="pt-BR" altLang="pt-BR"/>
          </a:p>
          <a:p>
            <a:r>
              <a:rPr lang="pt-BR" altLang="pt-BR"/>
              <a:t>Modo Único 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Modo Múltiplo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800"/>
              <a:t>São mais grossas que as de modo único.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A luz reflete mais de uma vez nas paredes da fibra. A mesma informação chega repetida várias vezes ao receptor.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As repetições são defasagens da informação original.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O receptor detecta a informação correta e elimina a informação duplicada.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Quanto maio o cabo de fibra, maior será esse problema.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Modo Múltiplo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  <a:p>
            <a:endParaRPr lang="pt-BR" altLang="pt-BR"/>
          </a:p>
          <a:p>
            <a:r>
              <a:rPr lang="pt-BR" altLang="pt-BR"/>
              <a:t>Ver transparência: 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/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     Fibra de modo múltiplo.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Modo Único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800"/>
              <a:t>São mais finas.</a:t>
            </a:r>
          </a:p>
          <a:p>
            <a:pPr>
              <a:lnSpc>
                <a:spcPct val="90000"/>
              </a:lnSpc>
            </a:pPr>
            <a:endParaRPr lang="pt-BR" altLang="pt-BR" sz="2800"/>
          </a:p>
          <a:p>
            <a:pPr>
              <a:lnSpc>
                <a:spcPct val="90000"/>
              </a:lnSpc>
            </a:pPr>
            <a:r>
              <a:rPr lang="pt-BR" altLang="pt-BR" sz="2800"/>
              <a:t>A luz não reflete nas paredes da fibra, chegando diretamente ao receptor.</a:t>
            </a:r>
          </a:p>
          <a:p>
            <a:pPr>
              <a:lnSpc>
                <a:spcPct val="90000"/>
              </a:lnSpc>
            </a:pPr>
            <a:endParaRPr lang="pt-BR" altLang="pt-BR" sz="2800"/>
          </a:p>
          <a:p>
            <a:pPr>
              <a:lnSpc>
                <a:spcPct val="90000"/>
              </a:lnSpc>
            </a:pPr>
            <a:r>
              <a:rPr lang="pt-BR" altLang="pt-BR" sz="2800"/>
              <a:t>O cabo dessa fibra alcança um comprimento e um desempenho maior que no modo múltiplo.</a:t>
            </a:r>
          </a:p>
          <a:p>
            <a:pPr>
              <a:lnSpc>
                <a:spcPct val="90000"/>
              </a:lnSpc>
            </a:pPr>
            <a:endParaRPr lang="pt-BR" altLang="pt-BR" sz="2800"/>
          </a:p>
          <a:p>
            <a:pPr>
              <a:lnSpc>
                <a:spcPct val="90000"/>
              </a:lnSpc>
            </a:pPr>
            <a:r>
              <a:rPr lang="pt-BR" altLang="pt-BR" sz="2800"/>
              <a:t>É muito mais difícil fazer a ligação da placa de rede com a fibra.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Modo Único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  <a:p>
            <a:endParaRPr lang="pt-BR" altLang="pt-BR"/>
          </a:p>
          <a:p>
            <a:r>
              <a:rPr lang="pt-BR" altLang="pt-BR"/>
              <a:t>Ver transparência: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/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 Fibra de modo único.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Espessuras das Fibras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 sz="2800"/>
              <a:t>1 Mícron = 0,000001 m </a:t>
            </a:r>
          </a:p>
          <a:p>
            <a:r>
              <a:rPr lang="pt-BR" altLang="pt-BR" sz="2800"/>
              <a:t>             = 1E(-6)</a:t>
            </a:r>
          </a:p>
          <a:p>
            <a:r>
              <a:rPr lang="pt-BR" altLang="pt-BR" sz="2800"/>
              <a:t>Fibra de Modo Único:  10 mícrons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/>
              <a:t>                = 0,00001 m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/>
              <a:t>                = 1E(-5) mícrons.</a:t>
            </a:r>
          </a:p>
          <a:p>
            <a:r>
              <a:rPr lang="pt-BR" altLang="pt-BR" sz="2800"/>
              <a:t>Fibra de Modo Múltiplo: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/>
              <a:t>                = 62,5 mícrons</a:t>
            </a:r>
          </a:p>
          <a:p>
            <a:r>
              <a:rPr lang="pt-BR" altLang="pt-BR" sz="2800"/>
              <a:t>Um fio de cabelo humano: 100 mícrons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Fibras Mais Usadas ...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/>
              <a:t>Fibras no modo único são mais caras que as de modo múltiplo.</a:t>
            </a:r>
          </a:p>
          <a:p>
            <a:pPr>
              <a:lnSpc>
                <a:spcPct val="90000"/>
              </a:lnSpc>
            </a:pPr>
            <a:r>
              <a:rPr lang="pt-BR" altLang="pt-BR"/>
              <a:t>Assim, as de modo múltiplo são mais usadas.</a:t>
            </a:r>
          </a:p>
          <a:p>
            <a:pPr>
              <a:lnSpc>
                <a:spcPct val="90000"/>
              </a:lnSpc>
            </a:pPr>
            <a:r>
              <a:rPr lang="pt-BR" altLang="pt-BR"/>
              <a:t>Dois tipos de modo múltiplo: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/>
              <a:t>    - 62,5 mícrons (mais usadas)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/>
              <a:t>    - 100 mícrons (mais usadas em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/>
              <a:t>                          redes Token Ring) 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Outra classificação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/>
              <a:t>Fibras óticas são tambénm classificadas pela espessura de seu revestimento externo: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/>
          </a:p>
          <a:p>
            <a:r>
              <a:rPr lang="pt-BR" altLang="pt-BR"/>
              <a:t>Fibras de 62,5 mícrons possuem um revestimento externos de 125 mícrons e são conhecidas por 62,5/125.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Largura de Banda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 sz="2800"/>
          </a:p>
          <a:p>
            <a:r>
              <a:rPr lang="pt-BR" altLang="pt-BR" sz="2800"/>
              <a:t>Taxa de transferência máxima da fibra.</a:t>
            </a:r>
          </a:p>
          <a:p>
            <a:endParaRPr lang="pt-BR" altLang="pt-BR" sz="2800"/>
          </a:p>
          <a:p>
            <a:r>
              <a:rPr lang="pt-BR" altLang="pt-BR" sz="2800"/>
              <a:t>Unidades: 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/>
              <a:t>      MHz-Km,  MHz.Km,  MHz*Km</a:t>
            </a:r>
          </a:p>
          <a:p>
            <a:endParaRPr lang="pt-BR" altLang="pt-BR" sz="2800"/>
          </a:p>
          <a:p>
            <a:r>
              <a:rPr lang="pt-BR" altLang="pt-BR" sz="2800"/>
              <a:t>200 MHz.Km significa poder transmitir dados a 200 MHz a até 1 Km de distância.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Atenuação do Sinal na Fibra 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/>
              <a:t>A fibra ótica sofre uma atenuação no sinal que está sendo transmitido.</a:t>
            </a:r>
          </a:p>
          <a:p>
            <a:pPr>
              <a:lnSpc>
                <a:spcPct val="90000"/>
              </a:lnSpc>
            </a:pPr>
            <a:endParaRPr lang="pt-BR" altLang="pt-BR"/>
          </a:p>
          <a:p>
            <a:pPr>
              <a:lnSpc>
                <a:spcPct val="90000"/>
              </a:lnSpc>
            </a:pPr>
            <a:r>
              <a:rPr lang="pt-BR" altLang="pt-BR"/>
              <a:t>Sob a influência da distância a ser percorrida pelo sinal.</a:t>
            </a:r>
          </a:p>
          <a:p>
            <a:pPr>
              <a:lnSpc>
                <a:spcPct val="90000"/>
              </a:lnSpc>
            </a:pPr>
            <a:endParaRPr lang="pt-BR" altLang="pt-BR"/>
          </a:p>
          <a:p>
            <a:pPr>
              <a:lnSpc>
                <a:spcPct val="90000"/>
              </a:lnSpc>
            </a:pPr>
            <a:r>
              <a:rPr lang="pt-BR" altLang="pt-BR"/>
              <a:t>A atenuação é medida em dB/Km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/>
              <a:t>  (decibéis por quilômetro)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Redes de Fibra Ótica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/>
              <a:t>FDDI (Fiber Distributed Data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                 Interface)</a:t>
            </a:r>
          </a:p>
          <a:p>
            <a:r>
              <a:rPr lang="pt-BR" altLang="pt-BR"/>
              <a:t>Limite de 2 Km.</a:t>
            </a:r>
          </a:p>
          <a:p>
            <a:endParaRPr lang="pt-BR" altLang="pt-BR"/>
          </a:p>
          <a:p>
            <a:r>
              <a:rPr lang="pt-BR" altLang="pt-BR"/>
              <a:t>Operam a 100 Mbps ou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 a 200 Mbps (padrão FDDI-2)..</a:t>
            </a:r>
          </a:p>
          <a:p>
            <a:endParaRPr lang="pt-BR" altLang="pt-BR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10BaseFL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 sz="2800"/>
          </a:p>
          <a:p>
            <a:r>
              <a:rPr lang="pt-BR" altLang="pt-BR" sz="2800"/>
              <a:t>FL = Fiber Link</a:t>
            </a:r>
          </a:p>
          <a:p>
            <a:r>
              <a:rPr lang="pt-BR" altLang="pt-BR" sz="2800"/>
              <a:t>Primeiro padrão de redes Ethernet usando fibra ótica.</a:t>
            </a:r>
          </a:p>
          <a:p>
            <a:r>
              <a:rPr lang="pt-BR" altLang="pt-BR" sz="2800"/>
              <a:t>Taxa de transferência máxima:  10 Mbps.</a:t>
            </a:r>
          </a:p>
          <a:p>
            <a:r>
              <a:rPr lang="pt-BR" altLang="pt-BR" sz="2800"/>
              <a:t>Limite de segmento: 2Km</a:t>
            </a:r>
          </a:p>
          <a:p>
            <a:r>
              <a:rPr lang="pt-BR" altLang="pt-BR" sz="2800"/>
              <a:t>Fibra no modo múltiplo.</a:t>
            </a:r>
          </a:p>
          <a:p>
            <a:r>
              <a:rPr lang="pt-BR" altLang="pt-BR" sz="2800"/>
              <a:t>Comprimento de onda da luz: 850 nm.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100BaseFX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800"/>
              <a:t>FX = Fiber eXtended.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Padrão para Redes Ethernet.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Fibras em modo múltiplo.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100 Mbps.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Comprimento de onda da luz =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2800"/>
              <a:t>  1350 nm.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Limite de segmento: 412 metros.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Half-Duplex (um único cabo usado para transmitir e receber).</a:t>
            </a:r>
          </a:p>
          <a:p>
            <a:pPr>
              <a:lnSpc>
                <a:spcPct val="90000"/>
              </a:lnSpc>
            </a:pPr>
            <a:endParaRPr lang="pt-BR" altLang="pt-BR" sz="280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Cont... 100BaseFX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/>
              <a:t>Operando em full-duplex (dois cabos).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terá um limite de segmento = 2 Km.</a:t>
            </a:r>
          </a:p>
          <a:p>
            <a:r>
              <a:rPr lang="pt-BR" altLang="pt-BR" b="1"/>
              <a:t>Fibra de modo único</a:t>
            </a:r>
            <a:r>
              <a:rPr lang="pt-BR" altLang="pt-BR"/>
              <a:t> = segmentos de comprimento maior que 2 Km.</a:t>
            </a:r>
          </a:p>
          <a:p>
            <a:r>
              <a:rPr lang="pt-BR" altLang="pt-BR"/>
              <a:t>Podendo ter segmentos de 20 Km ou mais.</a:t>
            </a:r>
          </a:p>
          <a:p>
            <a:endParaRPr lang="pt-BR" altLang="pt-BR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1000BaseSX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/>
              <a:t>Padrão Ethernet Gigabit mais usado.</a:t>
            </a:r>
          </a:p>
          <a:p>
            <a:pPr>
              <a:lnSpc>
                <a:spcPct val="90000"/>
              </a:lnSpc>
            </a:pPr>
            <a:r>
              <a:rPr lang="pt-BR" altLang="pt-BR"/>
              <a:t>Limite de segmento: 220 metros.</a:t>
            </a:r>
          </a:p>
          <a:p>
            <a:pPr>
              <a:lnSpc>
                <a:spcPct val="90000"/>
              </a:lnSpc>
            </a:pPr>
            <a:r>
              <a:rPr lang="pt-BR" altLang="pt-BR"/>
              <a:t>Comprimento de onda da luz: 850 nm. </a:t>
            </a:r>
          </a:p>
          <a:p>
            <a:pPr>
              <a:lnSpc>
                <a:spcPct val="90000"/>
              </a:lnSpc>
            </a:pPr>
            <a:r>
              <a:rPr lang="pt-BR" altLang="pt-BR"/>
              <a:t>Taxa de Transmissão:  </a:t>
            </a:r>
            <a:r>
              <a:rPr lang="pt-BR" altLang="pt-BR" b="1"/>
              <a:t>1 Gbps</a:t>
            </a:r>
          </a:p>
          <a:p>
            <a:pPr>
              <a:lnSpc>
                <a:spcPct val="90000"/>
              </a:lnSpc>
            </a:pPr>
            <a:r>
              <a:rPr lang="pt-BR" altLang="pt-BR"/>
              <a:t>O “S” de SX vem de </a:t>
            </a:r>
            <a:r>
              <a:rPr lang="pt-BR" altLang="pt-BR" i="1"/>
              <a:t>Short</a:t>
            </a:r>
            <a:r>
              <a:rPr lang="pt-BR" altLang="pt-BR"/>
              <a:t>, usado para indicar o uso de </a:t>
            </a:r>
            <a:r>
              <a:rPr lang="pt-BR" altLang="pt-BR" b="1"/>
              <a:t>comprimento de onda curto</a:t>
            </a:r>
            <a:r>
              <a:rPr lang="pt-BR" altLang="pt-BR"/>
              <a:t> na transmissão.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533400"/>
            <a:ext cx="8162925" cy="762000"/>
          </a:xfrm>
        </p:spPr>
        <p:txBody>
          <a:bodyPr/>
          <a:lstStyle/>
          <a:p>
            <a:r>
              <a:rPr lang="pt-BR" altLang="pt-BR"/>
              <a:t>1000BaseLX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 sz="2400"/>
              <a:t>Segundo padrão Ethernet Gigabit usando fibra ótica.</a:t>
            </a:r>
          </a:p>
          <a:p>
            <a:r>
              <a:rPr lang="pt-BR" altLang="pt-BR" sz="2400"/>
              <a:t>Limite do segmento superior ao 1000Base SX.</a:t>
            </a:r>
          </a:p>
          <a:p>
            <a:r>
              <a:rPr lang="pt-BR" altLang="pt-BR" sz="2400"/>
              <a:t>Comprimento de onda da luz: 1300 nm.</a:t>
            </a:r>
          </a:p>
          <a:p>
            <a:r>
              <a:rPr lang="pt-BR" altLang="pt-BR" sz="2400"/>
              <a:t>Fibra em modo Múltiplo, limite do comprimento de segmento é de 550 metros.</a:t>
            </a:r>
          </a:p>
          <a:p>
            <a:r>
              <a:rPr lang="pt-BR" altLang="pt-BR" sz="2400"/>
              <a:t>Com Fibra modo Único, o limite de segmento é 5 Km.</a:t>
            </a:r>
          </a:p>
          <a:p>
            <a:r>
              <a:rPr lang="pt-BR" altLang="pt-BR" sz="2400"/>
              <a:t>O “L” de LX vem de </a:t>
            </a:r>
            <a:r>
              <a:rPr lang="pt-BR" altLang="pt-BR" sz="2400" i="1"/>
              <a:t>Long</a:t>
            </a:r>
            <a:r>
              <a:rPr lang="pt-BR" altLang="pt-BR" sz="2400"/>
              <a:t>, comprimento de onda longo.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1000BaseX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pt-BR" altLang="pt-BR" sz="2800"/>
          </a:p>
          <a:p>
            <a:pPr>
              <a:lnSpc>
                <a:spcPct val="90000"/>
              </a:lnSpc>
            </a:pPr>
            <a:endParaRPr lang="pt-BR" altLang="pt-BR" sz="2800"/>
          </a:p>
          <a:p>
            <a:pPr>
              <a:lnSpc>
                <a:spcPct val="90000"/>
              </a:lnSpc>
            </a:pPr>
            <a:r>
              <a:rPr lang="pt-BR" altLang="pt-BR"/>
              <a:t>Nome genérico dos padrões Ethernet, usando fibra ótica, englobando os padrões: </a:t>
            </a:r>
          </a:p>
          <a:p>
            <a:pPr>
              <a:lnSpc>
                <a:spcPct val="90000"/>
              </a:lnSpc>
            </a:pPr>
            <a:endParaRPr lang="pt-BR" altLang="pt-BR"/>
          </a:p>
          <a:p>
            <a:pPr>
              <a:lnSpc>
                <a:spcPct val="90000"/>
              </a:lnSpc>
            </a:pPr>
            <a:r>
              <a:rPr lang="pt-BR" altLang="pt-BR"/>
              <a:t>1000BaseSX e 1000BaseLX.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altLang="pt-BR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2800"/>
              <a:t>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2800"/>
              <a:t>   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Redes ATM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/>
              <a:t>Podem operar a duas velocidades:</a:t>
            </a:r>
          </a:p>
          <a:p>
            <a:endParaRPr lang="pt-BR" altLang="pt-BR"/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155 Mbps  ou 622 Mbps.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/>
          </a:p>
          <a:p>
            <a:r>
              <a:rPr lang="pt-BR" altLang="pt-BR"/>
              <a:t>Utilizam fibras óticas como no padrão 1000BaseX (SX ou LX). 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Conectores de rede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pt-BR" altLang="pt-BR"/>
          </a:p>
          <a:p>
            <a:pPr>
              <a:lnSpc>
                <a:spcPct val="90000"/>
              </a:lnSpc>
            </a:pPr>
            <a:r>
              <a:rPr lang="pt-BR" altLang="pt-BR"/>
              <a:t>O conector mais usado por redes de fibra ótica é o:</a:t>
            </a:r>
          </a:p>
          <a:p>
            <a:pPr>
              <a:lnSpc>
                <a:spcPct val="90000"/>
              </a:lnSpc>
            </a:pPr>
            <a:endParaRPr lang="pt-BR" altLang="pt-BR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/>
              <a:t>      ST (Straight Tip – ponta reta)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altLang="pt-BR"/>
          </a:p>
          <a:p>
            <a:pPr>
              <a:lnSpc>
                <a:spcPct val="90000"/>
              </a:lnSpc>
            </a:pPr>
            <a:r>
              <a:rPr lang="pt-BR" altLang="pt-BR"/>
              <a:t>Ver transparência do conector de fibra ótica.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Cont ...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/>
              <a:t>Desvantagem: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  A fibra possui dois conectores iguais, e precisa-se cuidar para não instalar um plugue no lugar do outro, na placa de rede ou dispositivo concentrador.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pt-BR" altLang="pt-BR"/>
              <a:t>Outros Conectores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800"/>
              <a:t>MIC (Medium Interface Connector).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Usado em redes FDDI.</a:t>
            </a:r>
          </a:p>
          <a:p>
            <a:pPr>
              <a:lnSpc>
                <a:spcPct val="90000"/>
              </a:lnSpc>
            </a:pPr>
            <a:endParaRPr lang="pt-BR" altLang="pt-BR" sz="2800"/>
          </a:p>
          <a:p>
            <a:pPr>
              <a:lnSpc>
                <a:spcPct val="90000"/>
              </a:lnSpc>
            </a:pPr>
            <a:r>
              <a:rPr lang="pt-BR" altLang="pt-BR" sz="2800"/>
              <a:t>Traz as duas fibras presas ao mesmo conector. Evita o erro como no conector ST.</a:t>
            </a:r>
          </a:p>
          <a:p>
            <a:pPr>
              <a:lnSpc>
                <a:spcPct val="90000"/>
              </a:lnSpc>
            </a:pPr>
            <a:endParaRPr lang="pt-BR" altLang="pt-BR" sz="2800"/>
          </a:p>
          <a:p>
            <a:pPr>
              <a:lnSpc>
                <a:spcPct val="90000"/>
              </a:lnSpc>
            </a:pPr>
            <a:r>
              <a:rPr lang="pt-BR" altLang="pt-BR" sz="2800"/>
              <a:t>Conector VF-45: um conector para fibra ótica do tamanho do RJ-45. Evita também o possível erro de instalação do conector 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stras">
  <a:themeElements>
    <a:clrScheme name="Listras 2">
      <a:dk1>
        <a:srgbClr val="000000"/>
      </a:dk1>
      <a:lt1>
        <a:srgbClr val="EAEAEA"/>
      </a:lt1>
      <a:dk2>
        <a:srgbClr val="003366"/>
      </a:dk2>
      <a:lt2>
        <a:srgbClr val="EAEAEA"/>
      </a:lt2>
      <a:accent1>
        <a:srgbClr val="FFFFFF"/>
      </a:accent1>
      <a:accent2>
        <a:srgbClr val="DDDDDD"/>
      </a:accent2>
      <a:accent3>
        <a:srgbClr val="F3F3F3"/>
      </a:accent3>
      <a:accent4>
        <a:srgbClr val="000000"/>
      </a:accent4>
      <a:accent5>
        <a:srgbClr val="FFFFFF"/>
      </a:accent5>
      <a:accent6>
        <a:srgbClr val="C8C8C8"/>
      </a:accent6>
      <a:hlink>
        <a:srgbClr val="336699"/>
      </a:hlink>
      <a:folHlink>
        <a:srgbClr val="9A0000"/>
      </a:folHlink>
    </a:clrScheme>
    <a:fontScheme name="Listra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Listras 1">
        <a:dk1>
          <a:srgbClr val="356677"/>
        </a:dk1>
        <a:lt1>
          <a:srgbClr val="FFFFFF"/>
        </a:lt1>
        <a:dk2>
          <a:srgbClr val="3E798E"/>
        </a:dk2>
        <a:lt2>
          <a:srgbClr val="FFFFCC"/>
        </a:lt2>
        <a:accent1>
          <a:srgbClr val="7FA0B1"/>
        </a:accent1>
        <a:accent2>
          <a:srgbClr val="3A7184"/>
        </a:accent2>
        <a:accent3>
          <a:srgbClr val="AFBEC6"/>
        </a:accent3>
        <a:accent4>
          <a:srgbClr val="DADADA"/>
        </a:accent4>
        <a:accent5>
          <a:srgbClr val="C0CDD5"/>
        </a:accent5>
        <a:accent6>
          <a:srgbClr val="346677"/>
        </a:accent6>
        <a:hlink>
          <a:srgbClr val="FFBF0B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tras 2">
        <a:dk1>
          <a:srgbClr val="000000"/>
        </a:dk1>
        <a:lt1>
          <a:srgbClr val="EAEAEA"/>
        </a:lt1>
        <a:dk2>
          <a:srgbClr val="003366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336699"/>
        </a:hlink>
        <a:folHlink>
          <a:srgbClr val="9A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istras 3">
        <a:dk1>
          <a:srgbClr val="000000"/>
        </a:dk1>
        <a:lt1>
          <a:srgbClr val="EAEAEA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77777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istras 4">
        <a:dk1>
          <a:srgbClr val="492417"/>
        </a:dk1>
        <a:lt1>
          <a:srgbClr val="D4D5C3"/>
        </a:lt1>
        <a:dk2>
          <a:srgbClr val="6E4900"/>
        </a:dk2>
        <a:lt2>
          <a:srgbClr val="B9BA9C"/>
        </a:lt2>
        <a:accent1>
          <a:srgbClr val="DBD8CF"/>
        </a:accent1>
        <a:accent2>
          <a:srgbClr val="C7C8B0"/>
        </a:accent2>
        <a:accent3>
          <a:srgbClr val="E6E7DE"/>
        </a:accent3>
        <a:accent4>
          <a:srgbClr val="3D1D12"/>
        </a:accent4>
        <a:accent5>
          <a:srgbClr val="EAE9E4"/>
        </a:accent5>
        <a:accent6>
          <a:srgbClr val="B4B59F"/>
        </a:accent6>
        <a:hlink>
          <a:srgbClr val="CC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C:\Arquivos de programas\Microsoft Office\Templates\Estruturas de apresentação\Listras.pot</Template>
  <TotalTime>940</TotalTime>
  <Words>3751</Words>
  <Application>Microsoft Office PowerPoint</Application>
  <PresentationFormat>Apresentação na tela (4:3)</PresentationFormat>
  <Paragraphs>605</Paragraphs>
  <Slides>97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97</vt:i4>
      </vt:variant>
    </vt:vector>
  </HeadingPairs>
  <TitlesOfParts>
    <vt:vector size="101" baseType="lpstr">
      <vt:lpstr>Times New Roman</vt:lpstr>
      <vt:lpstr>Verdana</vt:lpstr>
      <vt:lpstr>Wingdings</vt:lpstr>
      <vt:lpstr>Listras</vt:lpstr>
      <vt:lpstr>Meios de Transmissão</vt:lpstr>
      <vt:lpstr>Cabeamento </vt:lpstr>
      <vt:lpstr>Cabo Coaxial</vt:lpstr>
      <vt:lpstr>Fundamentação</vt:lpstr>
      <vt:lpstr>Baseband  (Unicanal)</vt:lpstr>
      <vt:lpstr>Broadband (Muti-Canal)</vt:lpstr>
      <vt:lpstr>Broadband</vt:lpstr>
      <vt:lpstr>Ruídos e Atenuação</vt:lpstr>
      <vt:lpstr>O Cabo Coaxial </vt:lpstr>
      <vt:lpstr>O Cabo Coaxial</vt:lpstr>
      <vt:lpstr>Vantagens</vt:lpstr>
      <vt:lpstr>Desvantagens</vt:lpstr>
      <vt:lpstr>Tipos de Cabo Coaxial</vt:lpstr>
      <vt:lpstr>10Base2</vt:lpstr>
      <vt:lpstr>10Base2</vt:lpstr>
      <vt:lpstr>10Base2</vt:lpstr>
      <vt:lpstr>10Base2</vt:lpstr>
      <vt:lpstr>Exemplo de uma rede</vt:lpstr>
      <vt:lpstr>Segmentação de uma rede</vt:lpstr>
      <vt:lpstr>10Base5</vt:lpstr>
      <vt:lpstr>10Base5</vt:lpstr>
      <vt:lpstr>10Base5</vt:lpstr>
      <vt:lpstr>10Base5</vt:lpstr>
      <vt:lpstr>10Base5</vt:lpstr>
      <vt:lpstr>Par Trançado</vt:lpstr>
      <vt:lpstr>Par Trançado</vt:lpstr>
      <vt:lpstr>Par trançado sem blindagem</vt:lpstr>
      <vt:lpstr>Campo Eletromagnético</vt:lpstr>
      <vt:lpstr>Polaridade Invertida  +TD</vt:lpstr>
      <vt:lpstr>Polaridade Invertida  -TD</vt:lpstr>
      <vt:lpstr>Direção dos Campos Eletromagnéticos</vt:lpstr>
      <vt:lpstr>Proteção contra Ruídos</vt:lpstr>
      <vt:lpstr>Duplicação da Informação</vt:lpstr>
      <vt:lpstr>Verificação da Informação</vt:lpstr>
      <vt:lpstr>Par Trançado Tradicional</vt:lpstr>
      <vt:lpstr>Vantagens</vt:lpstr>
      <vt:lpstr>Desvantagens</vt:lpstr>
      <vt:lpstr>Taxas de Transferência</vt:lpstr>
      <vt:lpstr>Padronização</vt:lpstr>
      <vt:lpstr>Categorias de Cabo</vt:lpstr>
      <vt:lpstr>Pinagem</vt:lpstr>
      <vt:lpstr>Pinagem</vt:lpstr>
      <vt:lpstr>Pinagem</vt:lpstr>
      <vt:lpstr>Gigabit Ethernet</vt:lpstr>
      <vt:lpstr>Gigabit Ethernet</vt:lpstr>
      <vt:lpstr>Cabo Par Trançado Cross-Over</vt:lpstr>
      <vt:lpstr>Ligação de dois Hubs</vt:lpstr>
      <vt:lpstr>Cabo Par Trançado Cross-Over Ligando Micro-a-Micro</vt:lpstr>
      <vt:lpstr>Cross-Over</vt:lpstr>
      <vt:lpstr>Pinagem Gigabit Ethernet</vt:lpstr>
      <vt:lpstr>Montagem de Cabo</vt:lpstr>
      <vt:lpstr>Par Trançado com Bindagem – (STP)</vt:lpstr>
      <vt:lpstr>Par Trançado Blindado</vt:lpstr>
      <vt:lpstr>Par Trançado Blindado</vt:lpstr>
      <vt:lpstr>STP em Redes Token Ring</vt:lpstr>
      <vt:lpstr>Cabeamento Estruturado</vt:lpstr>
      <vt:lpstr>Cabeamento Estruturado</vt:lpstr>
      <vt:lpstr>Cabeamento Estruturado</vt:lpstr>
      <vt:lpstr>Cabeamento Estruturado</vt:lpstr>
      <vt:lpstr>Cabeamento Estruturado</vt:lpstr>
      <vt:lpstr>Cabeamento Estruturado</vt:lpstr>
      <vt:lpstr>Cabeamento Estruturado</vt:lpstr>
      <vt:lpstr>Tipo de Transmissão</vt:lpstr>
      <vt:lpstr>Fibra Ótica</vt:lpstr>
      <vt:lpstr>Fundamentação</vt:lpstr>
      <vt:lpstr>Fundamentação</vt:lpstr>
      <vt:lpstr>Vantagens das Fibras Óticas</vt:lpstr>
      <vt:lpstr>Vantagens ...</vt:lpstr>
      <vt:lpstr>Outra vantagem ...</vt:lpstr>
      <vt:lpstr>Mais vantagens ...</vt:lpstr>
      <vt:lpstr>Cabo de Fibra</vt:lpstr>
      <vt:lpstr>Características ...</vt:lpstr>
      <vt:lpstr>Características ...</vt:lpstr>
      <vt:lpstr>Fibras x Cabos Convencionais</vt:lpstr>
      <vt:lpstr>Redes Mistas</vt:lpstr>
      <vt:lpstr>Redes Mistas</vt:lpstr>
      <vt:lpstr>Tipos de Fibra Ótica</vt:lpstr>
      <vt:lpstr>Modo Múltiplo</vt:lpstr>
      <vt:lpstr>Modo Múltiplo</vt:lpstr>
      <vt:lpstr>Modo Único</vt:lpstr>
      <vt:lpstr>Modo Único</vt:lpstr>
      <vt:lpstr>Espessuras das Fibras</vt:lpstr>
      <vt:lpstr>Fibras Mais Usadas ...</vt:lpstr>
      <vt:lpstr>Outra classificação</vt:lpstr>
      <vt:lpstr>Largura de Banda</vt:lpstr>
      <vt:lpstr>Atenuação do Sinal na Fibra </vt:lpstr>
      <vt:lpstr>Redes de Fibra Ótica</vt:lpstr>
      <vt:lpstr>10BaseFL</vt:lpstr>
      <vt:lpstr>100BaseFX</vt:lpstr>
      <vt:lpstr>Cont... 100BaseFX</vt:lpstr>
      <vt:lpstr>1000BaseSX</vt:lpstr>
      <vt:lpstr>1000BaseLX</vt:lpstr>
      <vt:lpstr>1000BaseX</vt:lpstr>
      <vt:lpstr>Redes ATM</vt:lpstr>
      <vt:lpstr>Conectores de rede</vt:lpstr>
      <vt:lpstr>Cont ...</vt:lpstr>
      <vt:lpstr>Outros Conectores</vt:lpstr>
    </vt:vector>
  </TitlesOfParts>
  <Company>UFSC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Meios de Transmissão</dc:title>
  <dc:creator>João Bosco M. Sobral</dc:creator>
  <cp:lastModifiedBy>052663 - RANIERI MARINHO DE SOUZA</cp:lastModifiedBy>
  <cp:revision>41</cp:revision>
  <dcterms:created xsi:type="dcterms:W3CDTF">2002-06-08T15:21:49Z</dcterms:created>
  <dcterms:modified xsi:type="dcterms:W3CDTF">2023-08-04T23:05:26Z</dcterms:modified>
</cp:coreProperties>
</file>