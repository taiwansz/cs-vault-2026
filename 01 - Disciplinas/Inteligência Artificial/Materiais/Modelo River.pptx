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6" r:id="rId27"/>
    <p:sldId id="280" r:id="rId28"/>
    <p:sldId id="281" r:id="rId29"/>
    <p:sldId id="287" r:id="rId30"/>
    <p:sldId id="284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ACB2C-0365-8A46-4272-D3B9092D4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9C6B54-6837-A08E-8D3D-EDF8AAD84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6A3930-E851-1D32-BAB1-67224ABDF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F85B1-A058-4152-AB3C-E44D1BC8E722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28F706-96E6-E364-4931-8AB7FC724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9FC659-649A-1E9F-3FC0-D97BF0A83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A1779-46FC-4901-93C7-2524880F50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1566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B271E-C91B-F9D6-40F3-74C5493BF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2C6153-571D-A7C6-DA93-B8CEEF223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CBE1DB-CAC2-9E50-304E-6110521A6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F85B1-A058-4152-AB3C-E44D1BC8E722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2A7634-D04C-290F-618F-3A4FBCCE1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388177-AEF1-7CC0-6681-EFF025BBD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A1779-46FC-4901-93C7-2524880F50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341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7CD7E6-BE11-030F-655C-8C68363B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299A9F-E196-F7E3-D34D-6BAA76A9E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01544F-D6A9-ABCB-682C-A3DD6596A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F85B1-A058-4152-AB3C-E44D1BC8E722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C06186-FF3C-C7DF-3587-EE1A1881F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B11CAC-1A7E-70E1-5BA2-364236023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A1779-46FC-4901-93C7-2524880F50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871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2C8CE-52F6-AC1D-88C7-4D35F4F6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8C49CE-8CB3-E347-6584-59698EC14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FF764F-3895-AB1B-3075-6FA796F38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D3B76A-633F-B67A-C902-1342BD23A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F85B1-A058-4152-AB3C-E44D1BC8E722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B09378-A263-14CF-FD48-7B011C112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9522716-3791-B1EB-6B4F-5DED0D5F0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A1779-46FC-4901-93C7-2524880F50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2639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82958-897B-BF68-FF78-D0DF652E0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0C1F8F-9134-2990-B7A0-5ED9C7B21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7E24D3-46FF-014A-5792-B1FFD8B3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20EA666-6847-8565-9896-779E44C1F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0F344CA-8AEF-E1FB-D878-E22853067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EEA2D06-97CA-156A-D535-C39C56445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F85B1-A058-4152-AB3C-E44D1BC8E722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B950BFB-A61C-81AF-549F-BD6C40B3A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2C2B9AC-D1AF-6F7D-F455-0935BA14B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A1779-46FC-4901-93C7-2524880F50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6499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98D62-E8BC-9125-D137-66947CC76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8430065-A5FF-48ED-4044-905E0308B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F85B1-A058-4152-AB3C-E44D1BC8E722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DC6BD0-2549-6923-2082-E8B44A11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0B83980-91E6-9297-010F-85781ECB0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A1779-46FC-4901-93C7-2524880F50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8354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50E6FC0-AFBA-2DE9-B6A2-6D3559957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F85B1-A058-4152-AB3C-E44D1BC8E722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5C7BCD0-7959-C304-1778-A00DABC72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DCCCB0-2FBB-1193-CA49-7AF18BA5E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A1779-46FC-4901-93C7-2524880F50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3633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9CE2D-5F34-0689-ED3E-A8B6ABF4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F4E0E9-6FDD-0D88-2C45-CD57CD8FC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B188181-E43B-B7B5-D519-DF4F21F02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ED1D28-FE3C-DAD6-DCC3-ABFC879E7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F85B1-A058-4152-AB3C-E44D1BC8E722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5ADF33-6307-B4E1-C08C-61702D8A2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6724DC-2FF1-7739-7DFA-B4B74E117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A1779-46FC-4901-93C7-2524880F50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0747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AE57E-EFB5-5C7E-B816-EF61EB39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140B98C-4D45-5FB1-D8DA-2F4300671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8E63B6-E110-AB26-0DC0-D923D8533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BAE06C-9527-3B69-8365-D003C4C2C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F85B1-A058-4152-AB3C-E44D1BC8E722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0DC4DE-0A35-C84A-EF7E-3F9611A2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B66CA8-4231-9E58-940D-38DD7EA6D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A1779-46FC-4901-93C7-2524880F50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426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3B947-AE09-3BB4-2922-FB3B1B34C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88AE08-AB5E-3DD6-95D1-7578E3919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F3112A-944A-BA3B-96EA-0717C208A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F85B1-A058-4152-AB3C-E44D1BC8E722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0D9665-C5FA-F510-42E8-8A3140CE6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ACBF44-15E1-38A7-692F-705B3D804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A1779-46FC-4901-93C7-2524880F50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966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56B3EA-C9C9-816C-7269-7E15CB4F69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9139725-72C7-D321-1FDE-E1828CD74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E6CC3B-0001-DA66-BA22-45688E530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F85B1-A058-4152-AB3C-E44D1BC8E722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E105BF-B566-E298-4CB8-0C728036F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F8F6A0-292B-9604-27D8-BAA6A3AB5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A1779-46FC-4901-93C7-2524880F50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C8C713B-D137-612B-A201-5CF32FD5C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6CD931-449F-D457-0A50-8D9DE1CEC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890DA7-C89B-013A-74C1-AAF53A3714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F85B1-A058-4152-AB3C-E44D1BC8E722}" type="datetimeFigureOut">
              <a:rPr lang="pt-BR" smtClean="0"/>
              <a:t>28/08/2025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714C36-2574-72C9-FA62-47D663810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7137A2-A4F5-C124-2414-C9F75423E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A1779-46FC-4901-93C7-2524880F50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9858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3A29A52-D19D-9992-49AC-D4D47B2C4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354" y="310113"/>
            <a:ext cx="4243291" cy="623777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A5EDEC1-26AB-AAF2-D78C-44E979ABBE05}"/>
              </a:ext>
            </a:extLst>
          </p:cNvPr>
          <p:cNvSpPr txBox="1"/>
          <p:nvPr/>
        </p:nvSpPr>
        <p:spPr>
          <a:xfrm flipH="1">
            <a:off x="502919" y="6400800"/>
            <a:ext cx="388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Prof.Rogerio</a:t>
            </a:r>
            <a:r>
              <a:rPr lang="pt-BR" dirty="0"/>
              <a:t> Morandi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EB9A1A8-FF7E-0E45-597C-9BFA61D4BFA7}"/>
              </a:ext>
            </a:extLst>
          </p:cNvPr>
          <p:cNvSpPr txBox="1"/>
          <p:nvPr/>
        </p:nvSpPr>
        <p:spPr>
          <a:xfrm>
            <a:off x="10074022" y="310113"/>
            <a:ext cx="1615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chemeClr val="accent1"/>
                </a:solidFill>
              </a:rPr>
              <a:t>Unimax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3F79B82-AA9D-159C-EE5C-A626F5FBB0B2}"/>
              </a:ext>
            </a:extLst>
          </p:cNvPr>
          <p:cNvSpPr txBox="1"/>
          <p:nvPr/>
        </p:nvSpPr>
        <p:spPr>
          <a:xfrm>
            <a:off x="502919" y="3244333"/>
            <a:ext cx="3131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Modelo River para aprendizado</a:t>
            </a:r>
          </a:p>
        </p:txBody>
      </p:sp>
    </p:spTree>
    <p:extLst>
      <p:ext uri="{BB962C8B-B14F-4D97-AF65-F5344CB8AC3E}">
        <p14:creationId xmlns:p14="http://schemas.microsoft.com/office/powerpoint/2010/main" val="2529553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E98F9-F60F-4EAF-2913-290B7B019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F4E20F9-0DDC-EE2C-8DAF-62033942E03A}"/>
              </a:ext>
            </a:extLst>
          </p:cNvPr>
          <p:cNvSpPr txBox="1"/>
          <p:nvPr/>
        </p:nvSpPr>
        <p:spPr>
          <a:xfrm>
            <a:off x="733732" y="265471"/>
            <a:ext cx="1122721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sz="2800" b="1" dirty="0"/>
              <a:t>O que é Inteligência Artificial (IA)?</a:t>
            </a:r>
          </a:p>
          <a:p>
            <a:pPr>
              <a:lnSpc>
                <a:spcPct val="150000"/>
              </a:lnSpc>
              <a:buNone/>
            </a:pPr>
            <a:r>
              <a:rPr lang="pt-BR" sz="2800" dirty="0"/>
              <a:t>A </a:t>
            </a:r>
            <a:r>
              <a:rPr lang="pt-BR" sz="2800" b="1" dirty="0"/>
              <a:t>Inteligência Artificial (IA)</a:t>
            </a:r>
            <a:r>
              <a:rPr lang="pt-BR" sz="2800" dirty="0"/>
              <a:t> é uma área da ciência da computação que se concentra em criar sistemas que podem aprender, raciocinar, resolver problemas, perceber o ambiente e até tomar decisões de forma semelhante ao comportamento humano. Ou seja, a IA tenta imitar a maneira como as pessoas pensam e agem para realizar tarefas específicas.</a:t>
            </a:r>
          </a:p>
        </p:txBody>
      </p:sp>
    </p:spTree>
    <p:extLst>
      <p:ext uri="{BB962C8B-B14F-4D97-AF65-F5344CB8AC3E}">
        <p14:creationId xmlns:p14="http://schemas.microsoft.com/office/powerpoint/2010/main" val="3758232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B3A25-E728-E6CB-368B-B1E36ED8F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261D5ED-E802-4DB1-D0BA-6BE91FCB1133}"/>
              </a:ext>
            </a:extLst>
          </p:cNvPr>
          <p:cNvSpPr txBox="1"/>
          <p:nvPr/>
        </p:nvSpPr>
        <p:spPr>
          <a:xfrm>
            <a:off x="851718" y="782031"/>
            <a:ext cx="10740513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sz="2800" b="1" dirty="0"/>
              <a:t>Como a IA é usada neste modelo?</a:t>
            </a:r>
          </a:p>
          <a:p>
            <a:pPr>
              <a:lnSpc>
                <a:spcPct val="150000"/>
              </a:lnSpc>
              <a:buNone/>
            </a:pPr>
            <a:r>
              <a:rPr lang="pt-BR" sz="2800" dirty="0"/>
              <a:t>Neste código, estamos usando um modelo de </a:t>
            </a:r>
            <a:r>
              <a:rPr lang="pt-BR" sz="2800" b="1" dirty="0"/>
              <a:t>classificação de texto</a:t>
            </a:r>
            <a:r>
              <a:rPr lang="pt-BR" sz="2800" dirty="0"/>
              <a:t>, ou seja, estamos ensinando a IA a entender e classificar perguntas feitas por um usuário. A IA, então, responde com base no que ela aprendeu. Vamos detalhar um pouco mais sobre isso.</a:t>
            </a:r>
          </a:p>
        </p:txBody>
      </p:sp>
    </p:spTree>
    <p:extLst>
      <p:ext uri="{BB962C8B-B14F-4D97-AF65-F5344CB8AC3E}">
        <p14:creationId xmlns:p14="http://schemas.microsoft.com/office/powerpoint/2010/main" val="3466600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DFE4D-99FE-616B-D9E0-AA4D6164F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5FFD21B-9F89-9D64-F86D-A4760AF72375}"/>
              </a:ext>
            </a:extLst>
          </p:cNvPr>
          <p:cNvSpPr txBox="1"/>
          <p:nvPr/>
        </p:nvSpPr>
        <p:spPr>
          <a:xfrm>
            <a:off x="556751" y="210742"/>
            <a:ext cx="11359945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/>
              <a:t>1. Classificação de Texto</a:t>
            </a:r>
          </a:p>
          <a:p>
            <a:pPr>
              <a:buNone/>
            </a:pPr>
            <a:r>
              <a:rPr lang="pt-BR" sz="2800" dirty="0"/>
              <a:t>O modelo utilizado aqui é um </a:t>
            </a:r>
            <a:r>
              <a:rPr lang="pt-BR" sz="2800" b="1" dirty="0"/>
              <a:t>classificador de texto</a:t>
            </a:r>
            <a:r>
              <a:rPr lang="pt-BR" sz="2800" dirty="0"/>
              <a:t>. A tarefa dele é </a:t>
            </a:r>
            <a:r>
              <a:rPr lang="pt-BR" sz="2800" b="1" dirty="0"/>
              <a:t>entender</a:t>
            </a:r>
            <a:r>
              <a:rPr lang="pt-BR" sz="2800" dirty="0"/>
              <a:t> e </a:t>
            </a:r>
            <a:r>
              <a:rPr lang="pt-BR" sz="2800" b="1" dirty="0"/>
              <a:t>classificar</a:t>
            </a:r>
            <a:r>
              <a:rPr lang="pt-BR" sz="2800" dirty="0"/>
              <a:t> diferentes perguntas em categorias, chamadas de </a:t>
            </a:r>
            <a:r>
              <a:rPr lang="pt-BR" sz="2800" b="1" dirty="0"/>
              <a:t>intenções</a:t>
            </a:r>
            <a:r>
              <a:rPr lang="pt-BR" sz="2800" dirty="0"/>
              <a:t>. Essas intenções ajudam o sistema a saber sobre o que a pergunta está falando.</a:t>
            </a:r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sz="2800" dirty="0"/>
              <a:t>Imagine que você tem várias perguntas sobre diferentes tópicos, como </a:t>
            </a:r>
            <a:r>
              <a:rPr lang="pt-BR" sz="2800" b="1" dirty="0"/>
              <a:t>jogos</a:t>
            </a:r>
            <a:r>
              <a:rPr lang="pt-BR" sz="2800" dirty="0"/>
              <a:t>, </a:t>
            </a:r>
            <a:r>
              <a:rPr lang="pt-BR" sz="2800" b="1" dirty="0"/>
              <a:t>motos</a:t>
            </a:r>
            <a:r>
              <a:rPr lang="pt-BR" sz="2800" dirty="0"/>
              <a:t> e </a:t>
            </a:r>
            <a:r>
              <a:rPr lang="pt-BR" sz="2800" b="1" dirty="0"/>
              <a:t>Rogerio</a:t>
            </a:r>
            <a:r>
              <a:rPr lang="pt-BR" sz="2800" dirty="0"/>
              <a:t>. Cada pergunta se encaixa em uma dessas categorias. O modelo de IA é treinado para aprender a </a:t>
            </a:r>
            <a:r>
              <a:rPr lang="pt-BR" sz="2800" b="1" dirty="0"/>
              <a:t>identificar</a:t>
            </a:r>
            <a:r>
              <a:rPr lang="pt-BR" sz="2800" dirty="0"/>
              <a:t> qual categoria a pergunta pertence.</a:t>
            </a:r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sz="2800" dirty="0"/>
              <a:t>Exemplo de intenções: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"Qual é o jogo mais popular atualmente?" → </a:t>
            </a:r>
            <a:r>
              <a:rPr lang="pt-BR" sz="2800" b="1" dirty="0" err="1"/>
              <a:t>informacao_jogo</a:t>
            </a:r>
            <a:endParaRPr lang="pt-BR" sz="2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pt-BR" sz="2800" dirty="0"/>
              <a:t>"Qual a melhor motocicleta para iniciantes?" → </a:t>
            </a:r>
            <a:r>
              <a:rPr lang="pt-BR" sz="2800" b="1" dirty="0" err="1"/>
              <a:t>informacao_moto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969648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CFF7C-5347-E42A-F56C-0E24DFA3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A65D279-1AE4-B404-52DD-4D541B58994B}"/>
              </a:ext>
            </a:extLst>
          </p:cNvPr>
          <p:cNvSpPr txBox="1"/>
          <p:nvPr/>
        </p:nvSpPr>
        <p:spPr>
          <a:xfrm>
            <a:off x="541389" y="263971"/>
            <a:ext cx="1137530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/>
              <a:t>2. Como a IA Aprende?</a:t>
            </a:r>
          </a:p>
          <a:p>
            <a:pPr>
              <a:buNone/>
            </a:pPr>
            <a:endParaRPr lang="pt-BR" sz="2800" b="1" dirty="0"/>
          </a:p>
          <a:p>
            <a:pPr>
              <a:buNone/>
            </a:pPr>
            <a:r>
              <a:rPr lang="pt-BR" sz="2800" dirty="0"/>
              <a:t>Para que a IA possa aprender a identificar as intenções de novas perguntas, precisamos ensinar ela com um </a:t>
            </a:r>
            <a:r>
              <a:rPr lang="pt-BR" sz="2800" b="1" dirty="0"/>
              <a:t>conjunto de treinamento</a:t>
            </a:r>
            <a:r>
              <a:rPr lang="pt-BR" sz="2800" dirty="0"/>
              <a:t>. Esse conjunto é basicamente uma lista de perguntas e suas respectivas intenções.</a:t>
            </a:r>
          </a:p>
          <a:p>
            <a:pPr>
              <a:buNone/>
            </a:pPr>
            <a:r>
              <a:rPr lang="pt-BR" sz="2800" dirty="0"/>
              <a:t>No código, temos um conjunto de perguntas e suas intenções associadas. A IA vai aprender a </a:t>
            </a:r>
            <a:r>
              <a:rPr lang="pt-BR" sz="2800" b="1" dirty="0"/>
              <a:t>reconhecer padrões</a:t>
            </a:r>
            <a:r>
              <a:rPr lang="pt-BR" sz="2800" dirty="0"/>
              <a:t> nas palavras das perguntas e associar esses padrões à intenção correta.</a:t>
            </a:r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sz="2800" dirty="0"/>
              <a:t>Por exemplo, se uma pergunta contém palavras como "melhor", "moto", "iniciantes", a IA aprende que ela está relacionada a uma pergunta sobre </a:t>
            </a:r>
            <a:r>
              <a:rPr lang="pt-BR" sz="2800" b="1" dirty="0"/>
              <a:t>motocicletas</a:t>
            </a:r>
            <a:r>
              <a:rPr lang="pt-BR" sz="2800" dirty="0"/>
              <a:t>. Quando ela vê uma nova pergunta com essas palavras, ela consegue identificar rapidamente que a intenção é sobre </a:t>
            </a:r>
            <a:r>
              <a:rPr lang="pt-BR" sz="2800" b="1" dirty="0"/>
              <a:t>motos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6923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88D25-6254-A2FF-E33A-27EF8FD57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AC08A5D-7816-1D91-4986-2D4E2F1036E7}"/>
              </a:ext>
            </a:extLst>
          </p:cNvPr>
          <p:cNvSpPr txBox="1"/>
          <p:nvPr/>
        </p:nvSpPr>
        <p:spPr>
          <a:xfrm>
            <a:off x="526640" y="340256"/>
            <a:ext cx="1113871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/>
              <a:t>3. Como a IA Responde?</a:t>
            </a:r>
          </a:p>
          <a:p>
            <a:pPr>
              <a:buNone/>
            </a:pPr>
            <a:endParaRPr lang="pt-BR" sz="2800" b="1" dirty="0"/>
          </a:p>
          <a:p>
            <a:pPr>
              <a:buNone/>
            </a:pPr>
            <a:r>
              <a:rPr lang="pt-BR" sz="2800" dirty="0"/>
              <a:t>Depois de </a:t>
            </a:r>
            <a:r>
              <a:rPr lang="pt-BR" sz="2800" b="1" dirty="0"/>
              <a:t>treinar</a:t>
            </a:r>
            <a:r>
              <a:rPr lang="pt-BR" sz="2800" dirty="0"/>
              <a:t> a IA, ela é capaz de </a:t>
            </a:r>
            <a:r>
              <a:rPr lang="pt-BR" sz="2800" b="1" dirty="0"/>
              <a:t>classificar</a:t>
            </a:r>
            <a:r>
              <a:rPr lang="pt-BR" sz="2800" dirty="0"/>
              <a:t> uma nova pergunta. Quando alguém faz uma pergunta, o sistema utiliza o que aprendeu para identificar a </a:t>
            </a:r>
            <a:r>
              <a:rPr lang="pt-BR" sz="2800" b="1" dirty="0"/>
              <a:t>intenção</a:t>
            </a:r>
            <a:r>
              <a:rPr lang="pt-BR" sz="2800" dirty="0"/>
              <a:t> dessa pergunta. Com base nessa intenção, a IA escolhe uma resposta relacionada.</a:t>
            </a:r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sz="2800" dirty="0"/>
              <a:t>Por exemplo:</a:t>
            </a:r>
          </a:p>
          <a:p>
            <a:pPr>
              <a:buNone/>
            </a:pPr>
            <a:endParaRPr lang="pt-B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Se o sistema entende que a pergunta é sobre </a:t>
            </a:r>
            <a:r>
              <a:rPr lang="pt-BR" sz="2800" b="1" dirty="0"/>
              <a:t>jogos</a:t>
            </a:r>
            <a:r>
              <a:rPr lang="pt-BR" sz="2800" dirty="0"/>
              <a:t>, ele escolhe uma resposta do tipo "O jogo mais popular atualmente é League </a:t>
            </a:r>
            <a:r>
              <a:rPr lang="pt-BR" sz="2800" dirty="0" err="1"/>
              <a:t>of</a:t>
            </a:r>
            <a:r>
              <a:rPr lang="pt-BR" sz="2800" dirty="0"/>
              <a:t> </a:t>
            </a:r>
            <a:r>
              <a:rPr lang="pt-BR" sz="2800" dirty="0" err="1"/>
              <a:t>Legends</a:t>
            </a:r>
            <a:r>
              <a:rPr lang="pt-BR" sz="2800" dirty="0"/>
              <a:t>".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Se for sobre </a:t>
            </a:r>
            <a:r>
              <a:rPr lang="pt-BR" sz="2800" b="1" dirty="0"/>
              <a:t>motos</a:t>
            </a:r>
            <a:r>
              <a:rPr lang="pt-BR" sz="2800" dirty="0"/>
              <a:t>, ele escolhe algo como "A melhor motocicleta para iniciantes é o patinete elétrico".</a:t>
            </a:r>
          </a:p>
        </p:txBody>
      </p:sp>
    </p:spTree>
    <p:extLst>
      <p:ext uri="{BB962C8B-B14F-4D97-AF65-F5344CB8AC3E}">
        <p14:creationId xmlns:p14="http://schemas.microsoft.com/office/powerpoint/2010/main" val="219954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87E56-6175-1707-73C1-16D137449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5EFE685-417E-FAB8-6B72-EA1C960B1701}"/>
              </a:ext>
            </a:extLst>
          </p:cNvPr>
          <p:cNvSpPr txBox="1"/>
          <p:nvPr/>
        </p:nvSpPr>
        <p:spPr>
          <a:xfrm>
            <a:off x="733731" y="340256"/>
            <a:ext cx="10976487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sz="2800" b="1" dirty="0"/>
              <a:t>4. A Máquina que Classifica: O Classificador SVM</a:t>
            </a:r>
          </a:p>
          <a:p>
            <a:pPr>
              <a:lnSpc>
                <a:spcPct val="150000"/>
              </a:lnSpc>
              <a:buNone/>
            </a:pPr>
            <a:r>
              <a:rPr lang="pt-BR" sz="2800" dirty="0"/>
              <a:t>Neste código, estamos usando um tipo de </a:t>
            </a:r>
            <a:r>
              <a:rPr lang="pt-BR" sz="2800" b="1" dirty="0"/>
              <a:t>classificador</a:t>
            </a:r>
            <a:r>
              <a:rPr lang="pt-BR" sz="2800" dirty="0"/>
              <a:t> chamado </a:t>
            </a:r>
            <a:r>
              <a:rPr lang="pt-BR" sz="2800" b="1" dirty="0"/>
              <a:t>SVC (</a:t>
            </a:r>
            <a:r>
              <a:rPr lang="pt-BR" sz="2800" b="1" dirty="0" err="1"/>
              <a:t>Support</a:t>
            </a:r>
            <a:r>
              <a:rPr lang="pt-BR" sz="2800" b="1" dirty="0"/>
              <a:t> Vector </a:t>
            </a:r>
            <a:r>
              <a:rPr lang="pt-BR" sz="2800" b="1" dirty="0" err="1"/>
              <a:t>Classifier</a:t>
            </a:r>
            <a:r>
              <a:rPr lang="pt-BR" sz="2800" b="1" dirty="0"/>
              <a:t>)</a:t>
            </a:r>
            <a:r>
              <a:rPr lang="pt-BR" sz="2800" dirty="0"/>
              <a:t>. Esse modelo é muito eficiente em classificar dados em diferentes categorias, baseando-se em padrões que ele aprende durante o treinamento.</a:t>
            </a:r>
          </a:p>
          <a:p>
            <a:pPr>
              <a:lnSpc>
                <a:spcPct val="150000"/>
              </a:lnSpc>
              <a:buNone/>
            </a:pPr>
            <a:r>
              <a:rPr lang="pt-BR" sz="2800" b="1" dirty="0"/>
              <a:t>SVC</a:t>
            </a:r>
            <a:r>
              <a:rPr lang="pt-BR" sz="2800" dirty="0"/>
              <a:t> é como um especialista que, após muito estudo, sabe como separar as perguntas em diferentes grupos. Ele aprende a reconhecer os "limites" entre as diferentes intenções das perguntas e usa esses limites para classificar novas perguntas de maneira precisa.</a:t>
            </a:r>
          </a:p>
        </p:txBody>
      </p:sp>
    </p:spTree>
    <p:extLst>
      <p:ext uri="{BB962C8B-B14F-4D97-AF65-F5344CB8AC3E}">
        <p14:creationId xmlns:p14="http://schemas.microsoft.com/office/powerpoint/2010/main" val="1113770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66B47-0565-5A7E-90B6-4C43AFDA9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ED90010-2472-1265-7176-32D99F18A25B}"/>
              </a:ext>
            </a:extLst>
          </p:cNvPr>
          <p:cNvSpPr txBox="1"/>
          <p:nvPr/>
        </p:nvSpPr>
        <p:spPr>
          <a:xfrm>
            <a:off x="645240" y="184586"/>
            <a:ext cx="11094475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sz="2800" b="1" dirty="0"/>
              <a:t>5. Por que usar IA aqui?</a:t>
            </a:r>
          </a:p>
          <a:p>
            <a:pPr>
              <a:lnSpc>
                <a:spcPct val="150000"/>
              </a:lnSpc>
              <a:buNone/>
            </a:pPr>
            <a:r>
              <a:rPr lang="pt-BR" sz="2800" dirty="0"/>
              <a:t>A ideia de usar IA para esse tipo de sistema é que ela pode </a:t>
            </a:r>
            <a:r>
              <a:rPr lang="pt-BR" sz="2800" b="1" dirty="0"/>
              <a:t>automatizar</a:t>
            </a:r>
            <a:r>
              <a:rPr lang="pt-BR" sz="2800" dirty="0"/>
              <a:t> a tarefa de entender e responder perguntas. Ao invés de criar uma lista fixa de respostas para cada pergunta possível, a IA pode aprender a </a:t>
            </a:r>
            <a:r>
              <a:rPr lang="pt-BR" sz="2800" b="1" dirty="0"/>
              <a:t>gerar respostas</a:t>
            </a:r>
            <a:r>
              <a:rPr lang="pt-BR" sz="2800" dirty="0"/>
              <a:t> baseadas no contexto e na intenção da pergunta. Isso torna o sistema mais </a:t>
            </a:r>
            <a:r>
              <a:rPr lang="pt-BR" sz="2800" b="1" dirty="0"/>
              <a:t>flexível</a:t>
            </a:r>
            <a:r>
              <a:rPr lang="pt-BR" sz="2800" dirty="0"/>
              <a:t> e </a:t>
            </a:r>
            <a:r>
              <a:rPr lang="pt-BR" sz="2800" b="1" dirty="0"/>
              <a:t>inteligente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8815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629E2-50E1-5A6D-6C69-FDB1A0865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086E5BF-37DE-3DC9-69B1-548FA5F17CCA}"/>
              </a:ext>
            </a:extLst>
          </p:cNvPr>
          <p:cNvSpPr txBox="1"/>
          <p:nvPr/>
        </p:nvSpPr>
        <p:spPr>
          <a:xfrm>
            <a:off x="615746" y="348197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Treinamento do modelo de IA: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BA7A377-28B8-4C60-9D6A-A684F20FCE0A}"/>
              </a:ext>
            </a:extLst>
          </p:cNvPr>
          <p:cNvSpPr txBox="1"/>
          <p:nvPr/>
        </p:nvSpPr>
        <p:spPr>
          <a:xfrm>
            <a:off x="2370802" y="1230740"/>
            <a:ext cx="6098458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2800" dirty="0" err="1"/>
              <a:t>model.fit</a:t>
            </a:r>
            <a:r>
              <a:rPr lang="pt-BR" sz="2800" dirty="0"/>
              <a:t>(perguntas, </a:t>
            </a:r>
            <a:r>
              <a:rPr lang="pt-BR" sz="2800" dirty="0" err="1"/>
              <a:t>intencao</a:t>
            </a:r>
            <a:r>
              <a:rPr lang="pt-BR" sz="2800" dirty="0"/>
              <a:t>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4618B1B-92E3-2F67-E7BD-8EA61BE6B38F}"/>
              </a:ext>
            </a:extLst>
          </p:cNvPr>
          <p:cNvSpPr txBox="1"/>
          <p:nvPr/>
        </p:nvSpPr>
        <p:spPr>
          <a:xfrm>
            <a:off x="615746" y="2113283"/>
            <a:ext cx="11050228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600" b="1" dirty="0"/>
              <a:t>O que acontece aqui?</a:t>
            </a:r>
            <a:endParaRPr lang="pt-BR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600" dirty="0"/>
              <a:t>Aqui, a IA começa a "aprender" com o que você forneceu para ela. O modelo que você está usando é um </a:t>
            </a:r>
            <a:r>
              <a:rPr lang="pt-BR" sz="2600" b="1" dirty="0"/>
              <a:t>classificador</a:t>
            </a:r>
            <a:r>
              <a:rPr lang="pt-BR" sz="2600" dirty="0"/>
              <a:t> (neste caso, o </a:t>
            </a:r>
            <a:r>
              <a:rPr lang="pt-BR" sz="2600" b="1" dirty="0"/>
              <a:t>SVC</a:t>
            </a:r>
            <a:r>
              <a:rPr lang="pt-BR" sz="2600" dirty="0"/>
              <a:t> - </a:t>
            </a:r>
            <a:r>
              <a:rPr lang="pt-BR" sz="2600" dirty="0" err="1"/>
              <a:t>Support</a:t>
            </a:r>
            <a:r>
              <a:rPr lang="pt-BR" sz="2600" dirty="0"/>
              <a:t> Vector </a:t>
            </a:r>
            <a:r>
              <a:rPr lang="pt-BR" sz="2600" dirty="0" err="1"/>
              <a:t>Classifier</a:t>
            </a:r>
            <a:r>
              <a:rPr lang="pt-BR" sz="2600" dirty="0"/>
              <a:t>), que tenta </a:t>
            </a:r>
            <a:r>
              <a:rPr lang="pt-BR" sz="2600" b="1" dirty="0"/>
              <a:t>entender as intenções</a:t>
            </a:r>
            <a:r>
              <a:rPr lang="pt-BR" sz="2600" dirty="0"/>
              <a:t> por trás das perguntas que você fez.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600" dirty="0"/>
              <a:t>Ele aprende a </a:t>
            </a:r>
            <a:r>
              <a:rPr lang="pt-BR" sz="2600" b="1" dirty="0"/>
              <a:t>relacionar</a:t>
            </a:r>
            <a:r>
              <a:rPr lang="pt-BR" sz="2600" dirty="0"/>
              <a:t> as perguntas com as intenções, como por exemplo: se alguém perguntar "Qual a melhor motocicleta para iniciantes?", a IA vai aprender que isso está relacionado à intenção de </a:t>
            </a:r>
            <a:r>
              <a:rPr lang="pt-BR" sz="2600" b="1" dirty="0"/>
              <a:t>informação sobre motos</a:t>
            </a:r>
            <a:r>
              <a:rPr lang="pt-BR" sz="2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600" dirty="0"/>
              <a:t>O </a:t>
            </a:r>
            <a:r>
              <a:rPr lang="pt-BR" sz="2600" b="1" dirty="0"/>
              <a:t>treinamento</a:t>
            </a:r>
            <a:r>
              <a:rPr lang="pt-BR" sz="2600" dirty="0"/>
              <a:t> é como se fosse um aluno estudando para uma prova. Ele vai olhar para as perguntas e as intenções associadas, e, depois de estudar, vai ser capaz de </a:t>
            </a:r>
            <a:r>
              <a:rPr lang="pt-BR" sz="2600" b="1" dirty="0"/>
              <a:t>adivinhar</a:t>
            </a:r>
            <a:r>
              <a:rPr lang="pt-BR" sz="2600" dirty="0"/>
              <a:t> qual é a intenção da pergunta quando ela aparecer novamente.</a:t>
            </a:r>
          </a:p>
        </p:txBody>
      </p:sp>
    </p:spTree>
    <p:extLst>
      <p:ext uri="{BB962C8B-B14F-4D97-AF65-F5344CB8AC3E}">
        <p14:creationId xmlns:p14="http://schemas.microsoft.com/office/powerpoint/2010/main" val="126956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F33AF-4CBD-C29B-B02C-EC689A6E6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1A47F83-2288-635A-A372-BEA7B0139742}"/>
              </a:ext>
            </a:extLst>
          </p:cNvPr>
          <p:cNvSpPr txBox="1"/>
          <p:nvPr/>
        </p:nvSpPr>
        <p:spPr>
          <a:xfrm>
            <a:off x="366867" y="309405"/>
            <a:ext cx="9988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Predição da intenção da pergunta (classificação):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1A57D20-B4D6-47D9-A678-1003E427ACBC}"/>
              </a:ext>
            </a:extLst>
          </p:cNvPr>
          <p:cNvSpPr txBox="1"/>
          <p:nvPr/>
        </p:nvSpPr>
        <p:spPr>
          <a:xfrm>
            <a:off x="1013951" y="1184426"/>
            <a:ext cx="8336526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2800" dirty="0" err="1"/>
              <a:t>intencao_predita</a:t>
            </a:r>
            <a:r>
              <a:rPr lang="pt-BR" sz="2800" dirty="0"/>
              <a:t> = </a:t>
            </a:r>
            <a:r>
              <a:rPr lang="pt-BR" sz="2800" dirty="0" err="1"/>
              <a:t>model.predict</a:t>
            </a:r>
            <a:r>
              <a:rPr lang="pt-BR" sz="2800" dirty="0"/>
              <a:t>([pergunta])[0]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0307E90-8407-A285-6C1B-15BCB163CAAE}"/>
              </a:ext>
            </a:extLst>
          </p:cNvPr>
          <p:cNvSpPr txBox="1"/>
          <p:nvPr/>
        </p:nvSpPr>
        <p:spPr>
          <a:xfrm>
            <a:off x="763228" y="2280672"/>
            <a:ext cx="109027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/>
              <a:t>O que acontece aqui?</a:t>
            </a:r>
            <a:endParaRPr lang="pt-B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Quando o programa recebe uma nova pergunta (a pergunta do usuário), ele passa essa pergunta pela IA para que ela </a:t>
            </a:r>
            <a:r>
              <a:rPr lang="pt-BR" sz="2800" b="1" dirty="0"/>
              <a:t>classifique a intenção</a:t>
            </a:r>
            <a:r>
              <a:rPr lang="pt-BR" sz="2800" dirty="0"/>
              <a:t> da pergunta.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b="1" dirty="0"/>
              <a:t>Exemplo:</a:t>
            </a:r>
            <a:r>
              <a:rPr lang="pt-BR" sz="2800" dirty="0"/>
              <a:t> Se o usuário perguntar "Qual jogo tem a melhor história?", o modelo vai tentar "adivinhar" qual é a </a:t>
            </a:r>
            <a:r>
              <a:rPr lang="pt-BR" sz="2800" b="1" dirty="0"/>
              <a:t>intenção</a:t>
            </a:r>
            <a:r>
              <a:rPr lang="pt-BR" sz="2800" dirty="0"/>
              <a:t> dessa pergunta com base no que ele aprendeu durante o treinamento.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Aqui está o coração da IA: o modelo de </a:t>
            </a:r>
            <a:r>
              <a:rPr lang="pt-BR" sz="2800" b="1" dirty="0"/>
              <a:t>classificação</a:t>
            </a:r>
            <a:r>
              <a:rPr lang="pt-BR" sz="2800" dirty="0"/>
              <a:t> tenta adivinhar, de acordo com o que foi treinado, a </a:t>
            </a:r>
            <a:r>
              <a:rPr lang="pt-BR" sz="2800" b="1" dirty="0"/>
              <a:t>intenção</a:t>
            </a:r>
            <a:r>
              <a:rPr lang="pt-BR" sz="2800" dirty="0"/>
              <a:t> da pergunta do usuário.</a:t>
            </a:r>
          </a:p>
        </p:txBody>
      </p:sp>
    </p:spTree>
    <p:extLst>
      <p:ext uri="{BB962C8B-B14F-4D97-AF65-F5344CB8AC3E}">
        <p14:creationId xmlns:p14="http://schemas.microsoft.com/office/powerpoint/2010/main" val="767784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42576-7A99-A648-ADA6-3B8AFE42A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1E351FB-5959-9BB9-E4DE-680CBF679838}"/>
              </a:ext>
            </a:extLst>
          </p:cNvPr>
          <p:cNvSpPr txBox="1"/>
          <p:nvPr/>
        </p:nvSpPr>
        <p:spPr>
          <a:xfrm>
            <a:off x="424016" y="250412"/>
            <a:ext cx="9162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Escolha da resposta com base na intenção prevista: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5C09F5B-4459-08EC-8941-40F637800325}"/>
              </a:ext>
            </a:extLst>
          </p:cNvPr>
          <p:cNvSpPr txBox="1"/>
          <p:nvPr/>
        </p:nvSpPr>
        <p:spPr>
          <a:xfrm>
            <a:off x="2238067" y="1131636"/>
            <a:ext cx="916243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 err="1"/>
              <a:t>if</a:t>
            </a:r>
            <a:r>
              <a:rPr lang="pt-BR" sz="2800" dirty="0"/>
              <a:t> </a:t>
            </a:r>
            <a:r>
              <a:rPr lang="pt-BR" sz="2800" dirty="0" err="1"/>
              <a:t>intencao_predita</a:t>
            </a:r>
            <a:r>
              <a:rPr lang="pt-BR" sz="2800" dirty="0"/>
              <a:t> == "</a:t>
            </a:r>
            <a:r>
              <a:rPr lang="pt-BR" sz="2800" dirty="0" err="1"/>
              <a:t>informacao_jogo</a:t>
            </a:r>
            <a:r>
              <a:rPr lang="pt-BR" sz="2800" dirty="0"/>
              <a:t>":</a:t>
            </a:r>
          </a:p>
          <a:p>
            <a:r>
              <a:rPr lang="pt-BR" sz="2800" dirty="0"/>
              <a:t>    return </a:t>
            </a:r>
            <a:r>
              <a:rPr lang="pt-BR" sz="2800" dirty="0" err="1"/>
              <a:t>random.choice</a:t>
            </a:r>
            <a:r>
              <a:rPr lang="pt-BR" sz="2800" dirty="0"/>
              <a:t>(respostas[:3])  # Respostas sobre jogos</a:t>
            </a:r>
          </a:p>
          <a:p>
            <a:r>
              <a:rPr lang="pt-BR" sz="2800" dirty="0" err="1"/>
              <a:t>elif</a:t>
            </a:r>
            <a:r>
              <a:rPr lang="pt-BR" sz="2800" dirty="0"/>
              <a:t> </a:t>
            </a:r>
            <a:r>
              <a:rPr lang="pt-BR" sz="2800" dirty="0" err="1"/>
              <a:t>intencao_predita</a:t>
            </a:r>
            <a:r>
              <a:rPr lang="pt-BR" sz="2800" dirty="0"/>
              <a:t> == "</a:t>
            </a:r>
            <a:r>
              <a:rPr lang="pt-BR" sz="2800" dirty="0" err="1"/>
              <a:t>informacao_moto</a:t>
            </a:r>
            <a:r>
              <a:rPr lang="pt-BR" sz="2800" dirty="0"/>
              <a:t>":</a:t>
            </a:r>
          </a:p>
          <a:p>
            <a:r>
              <a:rPr lang="pt-BR" sz="2800" dirty="0"/>
              <a:t>    return </a:t>
            </a:r>
            <a:r>
              <a:rPr lang="pt-BR" sz="2800" dirty="0" err="1"/>
              <a:t>random.choice</a:t>
            </a:r>
            <a:r>
              <a:rPr lang="pt-BR" sz="2800" dirty="0"/>
              <a:t>(respostas[3:6])  # Respostas sobre motos</a:t>
            </a:r>
          </a:p>
          <a:p>
            <a:r>
              <a:rPr lang="pt-BR" sz="2800" dirty="0" err="1"/>
              <a:t>elif</a:t>
            </a:r>
            <a:r>
              <a:rPr lang="pt-BR" sz="2800" dirty="0"/>
              <a:t> </a:t>
            </a:r>
            <a:r>
              <a:rPr lang="pt-BR" sz="2800" dirty="0" err="1"/>
              <a:t>intencao_predita</a:t>
            </a:r>
            <a:r>
              <a:rPr lang="pt-BR" sz="2800" dirty="0"/>
              <a:t> == "</a:t>
            </a:r>
            <a:r>
              <a:rPr lang="pt-BR" sz="2800" dirty="0" err="1"/>
              <a:t>informacao_rogerio</a:t>
            </a:r>
            <a:r>
              <a:rPr lang="pt-BR" sz="2800" dirty="0"/>
              <a:t>":</a:t>
            </a:r>
          </a:p>
          <a:p>
            <a:r>
              <a:rPr lang="pt-BR" sz="2800" dirty="0"/>
              <a:t>    return respostas[6]  # Resposta específica sobre o Rogerio</a:t>
            </a:r>
          </a:p>
        </p:txBody>
      </p:sp>
    </p:spTree>
    <p:extLst>
      <p:ext uri="{BB962C8B-B14F-4D97-AF65-F5344CB8AC3E}">
        <p14:creationId xmlns:p14="http://schemas.microsoft.com/office/powerpoint/2010/main" val="1615265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6EF99-71A8-0FD2-7D73-503E1E21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6A7E461-9601-1264-E57C-694E6B9B10E7}"/>
              </a:ext>
            </a:extLst>
          </p:cNvPr>
          <p:cNvSpPr txBox="1"/>
          <p:nvPr/>
        </p:nvSpPr>
        <p:spPr>
          <a:xfrm>
            <a:off x="424016" y="250412"/>
            <a:ext cx="9162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Escolha da resposta com base na intenção prevista: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F88AD05-2410-460A-3C44-FD66C48FCDB6}"/>
              </a:ext>
            </a:extLst>
          </p:cNvPr>
          <p:cNvSpPr txBox="1"/>
          <p:nvPr/>
        </p:nvSpPr>
        <p:spPr>
          <a:xfrm>
            <a:off x="866469" y="1228397"/>
            <a:ext cx="916243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/>
              <a:t>O que acontece aqui?</a:t>
            </a:r>
            <a:endParaRPr lang="pt-BR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Após o modelo </a:t>
            </a:r>
            <a:r>
              <a:rPr lang="pt-BR" sz="2800" b="1" dirty="0"/>
              <a:t>adivinhar a intenção</a:t>
            </a:r>
            <a:r>
              <a:rPr lang="pt-BR" sz="2800" dirty="0"/>
              <a:t> da pergunta, ele vai usar essa </a:t>
            </a:r>
            <a:r>
              <a:rPr lang="pt-BR" sz="2800" b="1" dirty="0"/>
              <a:t>informação</a:t>
            </a:r>
            <a:r>
              <a:rPr lang="pt-BR" sz="2800" dirty="0"/>
              <a:t> para escolher a </a:t>
            </a:r>
            <a:r>
              <a:rPr lang="pt-BR" sz="2800" b="1" dirty="0"/>
              <a:t>resposta adequada</a:t>
            </a:r>
            <a:r>
              <a:rPr lang="pt-BR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Ou seja, se a IA predizer que a pergunta é sobre </a:t>
            </a:r>
            <a:r>
              <a:rPr lang="pt-BR" sz="2800" b="1" dirty="0"/>
              <a:t>jogos</a:t>
            </a:r>
            <a:r>
              <a:rPr lang="pt-BR" sz="2800" dirty="0"/>
              <a:t>, ela vai escolher uma resposta relacionada aos jogos.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Se a IA identificar que a pergunta é sobre </a:t>
            </a:r>
            <a:r>
              <a:rPr lang="pt-BR" sz="2800" b="1" dirty="0"/>
              <a:t>motos</a:t>
            </a:r>
            <a:r>
              <a:rPr lang="pt-BR" sz="2800" dirty="0"/>
              <a:t>, ela vai escolher uma das respostas relacionadas às motos.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Esse é o processo de </a:t>
            </a:r>
            <a:r>
              <a:rPr lang="pt-BR" sz="2800" b="1" dirty="0"/>
              <a:t>tomada de decisão</a:t>
            </a:r>
            <a:r>
              <a:rPr lang="pt-BR" sz="2800" dirty="0"/>
              <a:t> da IA, que usa o conhecimento que foi treinado para fornecer a resposta mais adequada.</a:t>
            </a:r>
          </a:p>
        </p:txBody>
      </p:sp>
    </p:spTree>
    <p:extLst>
      <p:ext uri="{BB962C8B-B14F-4D97-AF65-F5344CB8AC3E}">
        <p14:creationId xmlns:p14="http://schemas.microsoft.com/office/powerpoint/2010/main" val="1122833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27071-02B6-5FAF-1E53-B02B9BAF1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AA0B7D5-154B-B4F0-97FF-AC8832839F34}"/>
              </a:ext>
            </a:extLst>
          </p:cNvPr>
          <p:cNvSpPr txBox="1"/>
          <p:nvPr/>
        </p:nvSpPr>
        <p:spPr>
          <a:xfrm>
            <a:off x="851720" y="471637"/>
            <a:ext cx="89854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Como a IA está sendo usada de forma geral: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063499-361E-1147-EA4A-C0B63E2CB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860" y="1685598"/>
            <a:ext cx="1134028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Treinamento: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modelo (IA) aprende com um conjunto de perguntas e suas intenções associadas, para depois ser capaz de fazer predições (adivinhar) sobre novas perguntas.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Classificação: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Quando o usuário faz uma pergunta, a IA classifica a pergunta em uma categoria (intenção) específica, como "informação sobre jogos" ou "informação sobre motos".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Escolha da Resposta: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 base na classificação da intenção, a IA escolhe a resposta que mais se adequa à pergunta.</a:t>
            </a:r>
          </a:p>
        </p:txBody>
      </p:sp>
    </p:spTree>
    <p:extLst>
      <p:ext uri="{BB962C8B-B14F-4D97-AF65-F5344CB8AC3E}">
        <p14:creationId xmlns:p14="http://schemas.microsoft.com/office/powerpoint/2010/main" val="3991571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570BA-E55A-9688-1A88-BA6365E91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ECF5B6-B4B3-DE96-E3A6-23500ED7B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678" y="415225"/>
            <a:ext cx="494077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Importação das bibliotecas: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D5C4671-1A6B-817E-75AD-9404FABDF75E}"/>
              </a:ext>
            </a:extLst>
          </p:cNvPr>
          <p:cNvSpPr txBox="1"/>
          <p:nvPr/>
        </p:nvSpPr>
        <p:spPr>
          <a:xfrm>
            <a:off x="1863212" y="1251345"/>
            <a:ext cx="8888361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 err="1"/>
              <a:t>import</a:t>
            </a:r>
            <a:r>
              <a:rPr lang="pt-BR" sz="2800" dirty="0"/>
              <a:t> random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from </a:t>
            </a:r>
            <a:r>
              <a:rPr lang="pt-BR" sz="2800" dirty="0" err="1"/>
              <a:t>sklearn.feature_extraction.text</a:t>
            </a:r>
            <a:r>
              <a:rPr lang="pt-BR" sz="2800" dirty="0"/>
              <a:t> </a:t>
            </a:r>
            <a:r>
              <a:rPr lang="pt-BR" sz="2800" dirty="0" err="1"/>
              <a:t>import</a:t>
            </a:r>
            <a:r>
              <a:rPr lang="pt-BR" sz="2800" dirty="0"/>
              <a:t> </a:t>
            </a:r>
            <a:r>
              <a:rPr lang="pt-BR" sz="2800" dirty="0" err="1"/>
              <a:t>TfidfVectorizer</a:t>
            </a:r>
            <a:endParaRPr lang="pt-BR" sz="2800" dirty="0"/>
          </a:p>
          <a:p>
            <a:pPr>
              <a:lnSpc>
                <a:spcPct val="150000"/>
              </a:lnSpc>
            </a:pPr>
            <a:r>
              <a:rPr lang="pt-BR" sz="2800" dirty="0"/>
              <a:t>from </a:t>
            </a:r>
            <a:r>
              <a:rPr lang="pt-BR" sz="2800" dirty="0" err="1"/>
              <a:t>sklearn.svm</a:t>
            </a:r>
            <a:r>
              <a:rPr lang="pt-BR" sz="2800" dirty="0"/>
              <a:t> </a:t>
            </a:r>
            <a:r>
              <a:rPr lang="pt-BR" sz="2800" dirty="0" err="1"/>
              <a:t>import</a:t>
            </a:r>
            <a:endParaRPr lang="pt-BR" sz="2800" dirty="0"/>
          </a:p>
          <a:p>
            <a:pPr>
              <a:lnSpc>
                <a:spcPct val="150000"/>
              </a:lnSpc>
            </a:pPr>
            <a:r>
              <a:rPr lang="pt-BR" sz="2800" dirty="0"/>
              <a:t>from </a:t>
            </a:r>
            <a:r>
              <a:rPr lang="pt-BR" sz="2800" dirty="0" err="1"/>
              <a:t>sklearn.pipeline</a:t>
            </a:r>
            <a:r>
              <a:rPr lang="pt-BR" sz="2800" dirty="0"/>
              <a:t> </a:t>
            </a:r>
            <a:r>
              <a:rPr lang="pt-BR" sz="2800" dirty="0" err="1"/>
              <a:t>import</a:t>
            </a:r>
            <a:r>
              <a:rPr lang="pt-BR" sz="2800" dirty="0"/>
              <a:t> </a:t>
            </a:r>
            <a:r>
              <a:rPr lang="pt-BR" sz="2800" dirty="0" err="1"/>
              <a:t>make_pipeline</a:t>
            </a:r>
            <a:endParaRPr lang="pt-BR" sz="2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C04BE1C-480D-A698-9F0C-547762BDF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31" y="4368686"/>
            <a:ext cx="1152832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import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random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Isso é como um "importador" de funções que a gente pode usar para fazer escolhas aleatórias. Por exemplo, se você quiser escolher aleatoriamente uma resposta entre várias opções, vai usar o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random.choice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Imagine que você tem um saco de balas e vai pegar uma aleatoriamente, isso é o 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random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3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273AD-C2F8-8B33-B66E-735DC0F66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B8DFB9-89C3-31EB-A657-1C84093C7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007" y="304549"/>
            <a:ext cx="10961985" cy="5193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sklearn.feature_extraction.text import TfidfVectorizer</a:t>
            </a:r>
            <a:r>
              <a:rPr kumimoji="0" lang="pt-BR" altLang="pt-BR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Aqui estamos trazendo uma ferramenta da biblioteca </a:t>
            </a:r>
            <a:r>
              <a:rPr kumimoji="0" lang="pt-BR" altLang="pt-BR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sklearn</a:t>
            </a:r>
            <a:r>
              <a:rPr kumimoji="0" lang="pt-BR" altLang="pt-BR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que ajuda a transformar o texto (pergunta) em números para o computador entender. O nome "TfidfVectorizer" pode parecer complicado, mas pense assim: ele ajuda a "entender" as palavras, separando palavras mais importantes de palavras menos importantes. Se você falar "melhor motocicleta", ele vai entender que "melhor" e "motocicleta" são mais importantes que palavras como "a", "é", "para". </a:t>
            </a:r>
            <a:endParaRPr kumimoji="0" lang="pt-BR" altLang="pt-BR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486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FCA5E-3753-817E-55F4-280DD8384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A3AEF3-9E6E-090C-844D-BC435C94A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" y="486414"/>
            <a:ext cx="11064240" cy="518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sklearn.svm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import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SVC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Aqui estamos importando uma "máquina" chamada 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SVC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Vector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Classifier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que vai aprender com as perguntas e, depois, decidir qual tipo de resposta dar com base no que ele aprendeu. É como um professor que, depois de ensinar muitas coisas, consegue responder a perguntas com base no que aprendeu. Imagine um professor de geografia que, depois de estudar muitas capitais, consegue adivinhar qual é a capital de um país apenas ouvindo algumas dicas. </a:t>
            </a:r>
          </a:p>
        </p:txBody>
      </p:sp>
    </p:spTree>
    <p:extLst>
      <p:ext uri="{BB962C8B-B14F-4D97-AF65-F5344CB8AC3E}">
        <p14:creationId xmlns:p14="http://schemas.microsoft.com/office/powerpoint/2010/main" val="3746396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8D155-817A-41F4-D3F1-2CBE0605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2F6BB5-4CE2-C818-CB56-E12F3FED4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" y="579642"/>
            <a:ext cx="10850880" cy="3254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sklearn.pipeline import make_pipeline</a:t>
            </a:r>
            <a:r>
              <a:rPr kumimoji="0" lang="pt-BR" altLang="pt-BR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Este aqui é um truque que ajuda a juntar todas as etapas do processo de aprendizado, tipo uma linha de produção de fábrica. Você coloca tudo que vai fazer (como transformar os textos em números e treinar a máquina) em um único fluxo. Assim, é mais fácil de gerenciar e funciona bem junto. </a:t>
            </a:r>
            <a:endParaRPr kumimoji="0" lang="pt-BR" altLang="pt-BR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116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C445-9602-5291-BAD7-9E8CE0280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2C3309D-9728-B234-45EF-1754E360D307}"/>
              </a:ext>
            </a:extLst>
          </p:cNvPr>
          <p:cNvSpPr txBox="1"/>
          <p:nvPr/>
        </p:nvSpPr>
        <p:spPr>
          <a:xfrm>
            <a:off x="1028700" y="279908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Definir perguntas e respostas: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BE71B7A-3911-E1F6-81E2-EF1C8182AF62}"/>
              </a:ext>
            </a:extLst>
          </p:cNvPr>
          <p:cNvSpPr txBox="1"/>
          <p:nvPr/>
        </p:nvSpPr>
        <p:spPr>
          <a:xfrm>
            <a:off x="3046771" y="1136064"/>
            <a:ext cx="60984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FF0000"/>
                </a:solidFill>
              </a:rPr>
              <a:t>perguntas = [</a:t>
            </a:r>
          </a:p>
          <a:p>
            <a:r>
              <a:rPr lang="pt-BR" sz="2000" dirty="0">
                <a:solidFill>
                  <a:srgbClr val="FF0000"/>
                </a:solidFill>
              </a:rPr>
              <a:t>    "Qual é o jogo mais popular atualmente?",</a:t>
            </a:r>
          </a:p>
          <a:p>
            <a:r>
              <a:rPr lang="pt-BR" sz="2000" dirty="0">
                <a:solidFill>
                  <a:srgbClr val="FF0000"/>
                </a:solidFill>
              </a:rPr>
              <a:t>    "Qual a melhor motocicleta para iniciantes?",</a:t>
            </a:r>
          </a:p>
          <a:p>
            <a:r>
              <a:rPr lang="pt-BR" sz="2000" dirty="0">
                <a:solidFill>
                  <a:srgbClr val="FF0000"/>
                </a:solidFill>
              </a:rPr>
              <a:t>    "Quais jogos têm o melhor modo multiplayer?",</a:t>
            </a:r>
          </a:p>
          <a:p>
            <a:r>
              <a:rPr lang="pt-BR" sz="2000" dirty="0">
                <a:solidFill>
                  <a:srgbClr val="FF0000"/>
                </a:solidFill>
              </a:rPr>
              <a:t>    "Qual moto tem o melhor desempenho em pistas?",</a:t>
            </a:r>
          </a:p>
          <a:p>
            <a:r>
              <a:rPr lang="pt-BR" sz="2000" dirty="0">
                <a:solidFill>
                  <a:srgbClr val="FF0000"/>
                </a:solidFill>
              </a:rPr>
              <a:t>    "Qual é a moto mais veloz do mundo?",</a:t>
            </a:r>
          </a:p>
          <a:p>
            <a:r>
              <a:rPr lang="pt-BR" sz="2000" dirty="0">
                <a:solidFill>
                  <a:srgbClr val="FF0000"/>
                </a:solidFill>
              </a:rPr>
              <a:t>    "Qual jogo tem a melhor história?",</a:t>
            </a:r>
          </a:p>
          <a:p>
            <a:r>
              <a:rPr lang="pt-BR" sz="2000" dirty="0">
                <a:solidFill>
                  <a:srgbClr val="FF0000"/>
                </a:solidFill>
              </a:rPr>
              <a:t>    "Qual moto o Rogerio tem?"</a:t>
            </a:r>
          </a:p>
          <a:p>
            <a:r>
              <a:rPr lang="pt-BR" sz="2000" dirty="0">
                <a:solidFill>
                  <a:srgbClr val="FF0000"/>
                </a:solidFill>
              </a:rPr>
              <a:t>]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B5DD686-1D91-88A9-6486-B6DEA0D50F21}"/>
              </a:ext>
            </a:extLst>
          </p:cNvPr>
          <p:cNvSpPr txBox="1"/>
          <p:nvPr/>
        </p:nvSpPr>
        <p:spPr>
          <a:xfrm>
            <a:off x="840657" y="4331323"/>
            <a:ext cx="1147424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Aqui, você tem uma lista de perguntas que podem ser feitas ao sistema. Cada pergunta é uma string (ou seja, uma sequência de texto). No exemplo, as perguntas são sobre jogos e motos, mas você pode mudar ou adicionar outras perguntas. Imagina que cada pergunta é um "cartão" com uma dúvida que o seu sistema vai tentar responder.</a:t>
            </a:r>
          </a:p>
        </p:txBody>
      </p:sp>
    </p:spTree>
    <p:extLst>
      <p:ext uri="{BB962C8B-B14F-4D97-AF65-F5344CB8AC3E}">
        <p14:creationId xmlns:p14="http://schemas.microsoft.com/office/powerpoint/2010/main" val="1503319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A2269-9A63-5C30-F852-126CF5B2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D43A5F0-AD32-B42C-0229-345D30E06AB8}"/>
              </a:ext>
            </a:extLst>
          </p:cNvPr>
          <p:cNvSpPr txBox="1"/>
          <p:nvPr/>
        </p:nvSpPr>
        <p:spPr>
          <a:xfrm>
            <a:off x="807474" y="349239"/>
            <a:ext cx="88674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FF0000"/>
                </a:solidFill>
              </a:rPr>
              <a:t>respostas = [</a:t>
            </a:r>
          </a:p>
          <a:p>
            <a:r>
              <a:rPr lang="pt-BR" sz="2400" dirty="0">
                <a:solidFill>
                  <a:srgbClr val="FF0000"/>
                </a:solidFill>
              </a:rPr>
              <a:t>    "O jogo mais popular atualmente é League </a:t>
            </a:r>
            <a:r>
              <a:rPr lang="pt-BR" sz="2400" dirty="0" err="1">
                <a:solidFill>
                  <a:srgbClr val="FF0000"/>
                </a:solidFill>
              </a:rPr>
              <a:t>of</a:t>
            </a:r>
            <a:r>
              <a:rPr lang="pt-BR" sz="2400" dirty="0">
                <a:solidFill>
                  <a:srgbClr val="FF0000"/>
                </a:solidFill>
              </a:rPr>
              <a:t> </a:t>
            </a:r>
            <a:r>
              <a:rPr lang="pt-BR" sz="2400" dirty="0" err="1">
                <a:solidFill>
                  <a:srgbClr val="FF0000"/>
                </a:solidFill>
              </a:rPr>
              <a:t>Legends</a:t>
            </a:r>
            <a:r>
              <a:rPr lang="pt-BR" sz="2400" dirty="0">
                <a:solidFill>
                  <a:srgbClr val="FF0000"/>
                </a:solidFill>
              </a:rPr>
              <a:t>.",</a:t>
            </a:r>
          </a:p>
          <a:p>
            <a:r>
              <a:rPr lang="pt-BR" sz="2400" dirty="0">
                <a:solidFill>
                  <a:srgbClr val="FF0000"/>
                </a:solidFill>
              </a:rPr>
              <a:t>    "A melhor motocicleta para iniciantes é o patinete elétrico.",</a:t>
            </a:r>
          </a:p>
          <a:p>
            <a:r>
              <a:rPr lang="pt-BR" sz="2400" dirty="0">
                <a:solidFill>
                  <a:srgbClr val="FF0000"/>
                </a:solidFill>
              </a:rPr>
              <a:t>    "Os jogos com o melhor modo multiplayer são [Jogo A] e [Jogo B].",</a:t>
            </a:r>
          </a:p>
          <a:p>
            <a:r>
              <a:rPr lang="pt-BR" sz="2400" dirty="0">
                <a:solidFill>
                  <a:srgbClr val="FF0000"/>
                </a:solidFill>
              </a:rPr>
              <a:t>    "A moto com o melhor desempenho em pistas é a [Moto Z].",</a:t>
            </a:r>
          </a:p>
          <a:p>
            <a:r>
              <a:rPr lang="pt-BR" sz="2400" dirty="0">
                <a:solidFill>
                  <a:srgbClr val="FF0000"/>
                </a:solidFill>
              </a:rPr>
              <a:t>    "A moto mais veloz do mundo é a do Marc Marques.",</a:t>
            </a:r>
          </a:p>
          <a:p>
            <a:r>
              <a:rPr lang="pt-BR" sz="2400" dirty="0">
                <a:solidFill>
                  <a:srgbClr val="FF0000"/>
                </a:solidFill>
              </a:rPr>
              <a:t>    "O jogo com a melhor história é Tomb Raider.",</a:t>
            </a:r>
          </a:p>
          <a:p>
            <a:r>
              <a:rPr lang="pt-BR" sz="2400" dirty="0">
                <a:solidFill>
                  <a:srgbClr val="FF0000"/>
                </a:solidFill>
              </a:rPr>
              <a:t>    "Ele tem uma TDM 850 e uma NC 750x, ambas são bem bacanas."</a:t>
            </a:r>
          </a:p>
          <a:p>
            <a:r>
              <a:rPr lang="pt-BR" sz="2400" dirty="0">
                <a:solidFill>
                  <a:srgbClr val="FF0000"/>
                </a:solidFill>
              </a:rPr>
              <a:t>]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0C689C0-ECBB-67B2-2E64-8C380D55EA0F}"/>
              </a:ext>
            </a:extLst>
          </p:cNvPr>
          <p:cNvSpPr txBox="1"/>
          <p:nvPr/>
        </p:nvSpPr>
        <p:spPr>
          <a:xfrm>
            <a:off x="643398" y="4286273"/>
            <a:ext cx="11155312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/>
              <a:t>Aqui temos a lista das </a:t>
            </a:r>
            <a:r>
              <a:rPr lang="pt-BR" sz="2800" b="1" dirty="0"/>
              <a:t>respostas</a:t>
            </a:r>
            <a:r>
              <a:rPr lang="pt-BR" sz="2800" dirty="0"/>
              <a:t>. Para cada pergunta, há uma resposta correspondente. O sistema vai comparar a pergunta que o usuário fez e escolher uma resposta da lista, dependendo do tipo de pergunta.</a:t>
            </a:r>
          </a:p>
        </p:txBody>
      </p:sp>
    </p:spTree>
    <p:extLst>
      <p:ext uri="{BB962C8B-B14F-4D97-AF65-F5344CB8AC3E}">
        <p14:creationId xmlns:p14="http://schemas.microsoft.com/office/powerpoint/2010/main" val="342826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7BD4B-0F15-1538-BC77-EDD5BC7A4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4AE4C6F-8294-32BB-84FA-06C3BF5EC569}"/>
              </a:ext>
            </a:extLst>
          </p:cNvPr>
          <p:cNvSpPr txBox="1"/>
          <p:nvPr/>
        </p:nvSpPr>
        <p:spPr>
          <a:xfrm>
            <a:off x="468260" y="70997"/>
            <a:ext cx="93689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Definir as intenções (tipos de perguntas):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8D6E44B-9D46-C932-7037-FCEE5945697E}"/>
              </a:ext>
            </a:extLst>
          </p:cNvPr>
          <p:cNvSpPr txBox="1"/>
          <p:nvPr/>
        </p:nvSpPr>
        <p:spPr>
          <a:xfrm>
            <a:off x="4100052" y="600694"/>
            <a:ext cx="60984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chemeClr val="accent1"/>
                </a:solidFill>
              </a:rPr>
              <a:t>intencao</a:t>
            </a:r>
            <a:r>
              <a:rPr lang="pt-BR" sz="2400" dirty="0">
                <a:solidFill>
                  <a:schemeClr val="accent1"/>
                </a:solidFill>
              </a:rPr>
              <a:t> = [</a:t>
            </a:r>
          </a:p>
          <a:p>
            <a:r>
              <a:rPr lang="pt-BR" sz="2400" dirty="0">
                <a:solidFill>
                  <a:schemeClr val="accent1"/>
                </a:solidFill>
              </a:rPr>
              <a:t>    "</a:t>
            </a:r>
            <a:r>
              <a:rPr lang="pt-BR" sz="2400" dirty="0" err="1">
                <a:solidFill>
                  <a:schemeClr val="accent1"/>
                </a:solidFill>
              </a:rPr>
              <a:t>informacao_jogo</a:t>
            </a:r>
            <a:r>
              <a:rPr lang="pt-BR" sz="2400" dirty="0">
                <a:solidFill>
                  <a:schemeClr val="accent1"/>
                </a:solidFill>
              </a:rPr>
              <a:t>",</a:t>
            </a:r>
          </a:p>
          <a:p>
            <a:r>
              <a:rPr lang="pt-BR" sz="2400" dirty="0">
                <a:solidFill>
                  <a:schemeClr val="accent1"/>
                </a:solidFill>
              </a:rPr>
              <a:t>    "</a:t>
            </a:r>
            <a:r>
              <a:rPr lang="pt-BR" sz="2400" dirty="0" err="1">
                <a:solidFill>
                  <a:schemeClr val="accent1"/>
                </a:solidFill>
              </a:rPr>
              <a:t>informacao_moto</a:t>
            </a:r>
            <a:r>
              <a:rPr lang="pt-BR" sz="2400" dirty="0">
                <a:solidFill>
                  <a:schemeClr val="accent1"/>
                </a:solidFill>
              </a:rPr>
              <a:t>",</a:t>
            </a:r>
          </a:p>
          <a:p>
            <a:r>
              <a:rPr lang="pt-BR" sz="2400" dirty="0">
                <a:solidFill>
                  <a:schemeClr val="accent1"/>
                </a:solidFill>
              </a:rPr>
              <a:t>    "</a:t>
            </a:r>
            <a:r>
              <a:rPr lang="pt-BR" sz="2400" dirty="0" err="1">
                <a:solidFill>
                  <a:schemeClr val="accent1"/>
                </a:solidFill>
              </a:rPr>
              <a:t>informacao_jogo</a:t>
            </a:r>
            <a:r>
              <a:rPr lang="pt-BR" sz="2400" dirty="0">
                <a:solidFill>
                  <a:schemeClr val="accent1"/>
                </a:solidFill>
              </a:rPr>
              <a:t>",</a:t>
            </a:r>
          </a:p>
          <a:p>
            <a:r>
              <a:rPr lang="pt-BR" sz="2400" dirty="0">
                <a:solidFill>
                  <a:schemeClr val="accent1"/>
                </a:solidFill>
              </a:rPr>
              <a:t>    "</a:t>
            </a:r>
            <a:r>
              <a:rPr lang="pt-BR" sz="2400" dirty="0" err="1">
                <a:solidFill>
                  <a:schemeClr val="accent1"/>
                </a:solidFill>
              </a:rPr>
              <a:t>informacao_moto</a:t>
            </a:r>
            <a:r>
              <a:rPr lang="pt-BR" sz="2400" dirty="0">
                <a:solidFill>
                  <a:schemeClr val="accent1"/>
                </a:solidFill>
              </a:rPr>
              <a:t>",</a:t>
            </a:r>
          </a:p>
          <a:p>
            <a:r>
              <a:rPr lang="pt-BR" sz="2400" dirty="0">
                <a:solidFill>
                  <a:schemeClr val="accent1"/>
                </a:solidFill>
              </a:rPr>
              <a:t>    "</a:t>
            </a:r>
            <a:r>
              <a:rPr lang="pt-BR" sz="2400" dirty="0" err="1">
                <a:solidFill>
                  <a:schemeClr val="accent1"/>
                </a:solidFill>
              </a:rPr>
              <a:t>informacao_moto</a:t>
            </a:r>
            <a:r>
              <a:rPr lang="pt-BR" sz="2400" dirty="0">
                <a:solidFill>
                  <a:schemeClr val="accent1"/>
                </a:solidFill>
              </a:rPr>
              <a:t>",</a:t>
            </a:r>
          </a:p>
          <a:p>
            <a:r>
              <a:rPr lang="pt-BR" sz="2400" dirty="0">
                <a:solidFill>
                  <a:schemeClr val="accent1"/>
                </a:solidFill>
              </a:rPr>
              <a:t>    "</a:t>
            </a:r>
            <a:r>
              <a:rPr lang="pt-BR" sz="2400" dirty="0" err="1">
                <a:solidFill>
                  <a:schemeClr val="accent1"/>
                </a:solidFill>
              </a:rPr>
              <a:t>informacao_jogo</a:t>
            </a:r>
            <a:r>
              <a:rPr lang="pt-BR" sz="2400" dirty="0">
                <a:solidFill>
                  <a:schemeClr val="accent1"/>
                </a:solidFill>
              </a:rPr>
              <a:t>",</a:t>
            </a:r>
          </a:p>
          <a:p>
            <a:r>
              <a:rPr lang="pt-BR" sz="2400" dirty="0">
                <a:solidFill>
                  <a:schemeClr val="accent1"/>
                </a:solidFill>
              </a:rPr>
              <a:t>    "</a:t>
            </a:r>
            <a:r>
              <a:rPr lang="pt-BR" sz="2400" dirty="0" err="1">
                <a:solidFill>
                  <a:schemeClr val="accent1"/>
                </a:solidFill>
              </a:rPr>
              <a:t>informacao_rogerio</a:t>
            </a:r>
            <a:r>
              <a:rPr lang="pt-BR" sz="2400" dirty="0">
                <a:solidFill>
                  <a:schemeClr val="accent1"/>
                </a:solidFill>
              </a:rPr>
              <a:t>"</a:t>
            </a:r>
          </a:p>
          <a:p>
            <a:r>
              <a:rPr lang="pt-BR" sz="2400" dirty="0">
                <a:solidFill>
                  <a:schemeClr val="accent1"/>
                </a:solidFill>
              </a:rPr>
              <a:t>]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3D0CFB2-9491-C092-FA65-6E27C38A1AE7}"/>
              </a:ext>
            </a:extLst>
          </p:cNvPr>
          <p:cNvSpPr txBox="1"/>
          <p:nvPr/>
        </p:nvSpPr>
        <p:spPr>
          <a:xfrm>
            <a:off x="468260" y="4311982"/>
            <a:ext cx="1195602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Aqui, a gente está dizendo </a:t>
            </a:r>
            <a:r>
              <a:rPr lang="pt-BR" sz="2800" b="1" dirty="0"/>
              <a:t>qual é a intenção</a:t>
            </a:r>
            <a:r>
              <a:rPr lang="pt-BR" sz="2800" dirty="0"/>
              <a:t> por trás de cada pergunta. Isso ajuda a máquina a entender o que a pergunta realmente está pedindo. Tipo, quando alguém pergunta "Qual a melhor motocicleta?", a </a:t>
            </a:r>
            <a:r>
              <a:rPr lang="pt-BR" sz="2800" b="1" dirty="0"/>
              <a:t>intenção</a:t>
            </a:r>
            <a:r>
              <a:rPr lang="pt-BR" sz="2800" dirty="0"/>
              <a:t> é buscar informações sobre </a:t>
            </a:r>
            <a:r>
              <a:rPr lang="pt-BR" sz="2800" b="1" dirty="0"/>
              <a:t>motos</a:t>
            </a:r>
            <a:r>
              <a:rPr lang="pt-BR" sz="2800" dirty="0"/>
              <a:t>. Quando perguntam "Qual o jogo mais popular?", a intenção é sobre </a:t>
            </a:r>
            <a:r>
              <a:rPr lang="pt-BR" sz="2800" b="1" dirty="0"/>
              <a:t>jogos</a:t>
            </a:r>
            <a:r>
              <a:rPr lang="pt-BR" sz="2800" dirty="0"/>
              <a:t>. E, assim, por diante.</a:t>
            </a:r>
          </a:p>
        </p:txBody>
      </p:sp>
    </p:spTree>
    <p:extLst>
      <p:ext uri="{BB962C8B-B14F-4D97-AF65-F5344CB8AC3E}">
        <p14:creationId xmlns:p14="http://schemas.microsoft.com/office/powerpoint/2010/main" val="2337915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035DC-3E21-D7E8-5129-48FFAC741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0B670FC-4108-B30C-5297-0D417F56EC7F}"/>
              </a:ext>
            </a:extLst>
          </p:cNvPr>
          <p:cNvSpPr txBox="1"/>
          <p:nvPr/>
        </p:nvSpPr>
        <p:spPr>
          <a:xfrm>
            <a:off x="320778" y="383147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Criar o modelo de aprendizado: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AEDC6CC-2B2D-1F78-6625-43334542CF7E}"/>
              </a:ext>
            </a:extLst>
          </p:cNvPr>
          <p:cNvSpPr txBox="1"/>
          <p:nvPr/>
        </p:nvSpPr>
        <p:spPr>
          <a:xfrm>
            <a:off x="2148962" y="1810234"/>
            <a:ext cx="9251541" cy="110273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pt-BR" sz="2800" dirty="0"/>
              <a:t>vectorizer = </a:t>
            </a:r>
            <a:r>
              <a:rPr lang="pt-BR" sz="2800" dirty="0" err="1"/>
              <a:t>TfidfVectorizer</a:t>
            </a:r>
            <a:r>
              <a:rPr lang="pt-BR" sz="2800" dirty="0"/>
              <a:t>()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model = </a:t>
            </a:r>
            <a:r>
              <a:rPr lang="pt-BR" sz="2800" dirty="0" err="1"/>
              <a:t>make_pipeline</a:t>
            </a:r>
            <a:r>
              <a:rPr lang="pt-BR" sz="2800" dirty="0"/>
              <a:t>(vectorizer, SVC(kernel='linear'))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233B960-68D0-3F2C-9937-D4F1EC9A3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419" y="3945028"/>
            <a:ext cx="1103376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vectorizer =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TfidfVectorizer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Esse 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vectorizer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é o que vai transformar as perguntas em números para o computador entender. Ele vai pegar as palavras e "quebrá-las" em números que representam a frequência das palavras e quão importantes elas são em relação a todo o texto. Pense nele como uma máquina de transformar palavras em algo que o computador consegue calcular 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36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C3F4E-2C43-C93F-E1F5-93DEE51EB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D1F3D2-0B74-212A-1DAA-7689292AF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54" y="574587"/>
            <a:ext cx="11533240" cy="4536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model = make_pipeline(vectorizer, SVC(kernel='linear'))</a:t>
            </a:r>
            <a:r>
              <a:rPr kumimoji="0" lang="pt-BR" altLang="pt-BR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Aqui, estamos criando o "fluxo" que combina o </a:t>
            </a:r>
            <a:r>
              <a:rPr kumimoji="0" lang="pt-BR" altLang="pt-BR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vectorizer</a:t>
            </a:r>
            <a:r>
              <a:rPr kumimoji="0" lang="pt-BR" altLang="pt-BR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com a máquina de aprendizado </a:t>
            </a:r>
            <a:r>
              <a:rPr kumimoji="0" lang="pt-BR" altLang="pt-BR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SVC</a:t>
            </a:r>
            <a:r>
              <a:rPr kumimoji="0" lang="pt-BR" altLang="pt-BR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Esse modelo vai aprender a classificar as perguntas em tipos (intenções). O "kernel linear" é um tipo de configuração da máquina SVC que ajuda a encontrar as melhores separações entre as categorias, de maneira simples, como traçar uma linha reta entre pontos em um gráfico. </a:t>
            </a:r>
          </a:p>
        </p:txBody>
      </p:sp>
    </p:spTree>
    <p:extLst>
      <p:ext uri="{BB962C8B-B14F-4D97-AF65-F5344CB8AC3E}">
        <p14:creationId xmlns:p14="http://schemas.microsoft.com/office/powerpoint/2010/main" val="31120946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068A7-4596-4842-7A6A-821885788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045A2FE-721A-A757-7140-4CD929E9F13D}"/>
              </a:ext>
            </a:extLst>
          </p:cNvPr>
          <p:cNvSpPr txBox="1"/>
          <p:nvPr/>
        </p:nvSpPr>
        <p:spPr>
          <a:xfrm>
            <a:off x="881216" y="324153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Treinar o modelo: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DA558FF-357E-B143-7844-A573DAC03B86}"/>
              </a:ext>
            </a:extLst>
          </p:cNvPr>
          <p:cNvSpPr txBox="1"/>
          <p:nvPr/>
        </p:nvSpPr>
        <p:spPr>
          <a:xfrm>
            <a:off x="3639164" y="1437995"/>
            <a:ext cx="10593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 err="1"/>
              <a:t>model.fit</a:t>
            </a:r>
            <a:r>
              <a:rPr lang="pt-BR" sz="2800" dirty="0"/>
              <a:t>(perguntas, </a:t>
            </a:r>
            <a:r>
              <a:rPr lang="pt-BR" sz="2800" dirty="0" err="1"/>
              <a:t>intencao</a:t>
            </a:r>
            <a:r>
              <a:rPr lang="pt-BR" sz="2800" dirty="0"/>
              <a:t>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1312400-9D1F-41AE-9293-F6BB7C2FBAFF}"/>
              </a:ext>
            </a:extLst>
          </p:cNvPr>
          <p:cNvSpPr txBox="1"/>
          <p:nvPr/>
        </p:nvSpPr>
        <p:spPr>
          <a:xfrm>
            <a:off x="476865" y="2684573"/>
            <a:ext cx="1123827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/>
              <a:t>Aqui, o modelo está </a:t>
            </a:r>
            <a:r>
              <a:rPr lang="pt-BR" sz="2800" b="1" dirty="0"/>
              <a:t>aprendendo</a:t>
            </a:r>
            <a:r>
              <a:rPr lang="pt-BR" sz="2800" dirty="0"/>
              <a:t> com as perguntas e intenções que você deu. Isso é chamado de </a:t>
            </a:r>
            <a:r>
              <a:rPr lang="pt-BR" sz="2800" b="1" dirty="0"/>
              <a:t>treinamento</a:t>
            </a:r>
            <a:r>
              <a:rPr lang="pt-BR" sz="2800" dirty="0"/>
              <a:t>. O modelo vai olhar para as perguntas e aprender qual resposta é a mais adequada, com base no que você forneceu. É como um estudante que estuda a matéria para poder responder as questões da prova.</a:t>
            </a:r>
          </a:p>
        </p:txBody>
      </p:sp>
    </p:spTree>
    <p:extLst>
      <p:ext uri="{BB962C8B-B14F-4D97-AF65-F5344CB8AC3E}">
        <p14:creationId xmlns:p14="http://schemas.microsoft.com/office/powerpoint/2010/main" val="4279072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09B49-D2F7-6DD3-99F5-817F622A4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3343F3-2F65-23C6-BCCC-8C20190AE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54" y="592205"/>
            <a:ext cx="613982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Função para responder perguntas: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62A641B-C521-1EF2-3A96-5FAFE6320CCF}"/>
              </a:ext>
            </a:extLst>
          </p:cNvPr>
          <p:cNvSpPr txBox="1"/>
          <p:nvPr/>
        </p:nvSpPr>
        <p:spPr>
          <a:xfrm>
            <a:off x="1913604" y="1768067"/>
            <a:ext cx="102783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 err="1"/>
              <a:t>def</a:t>
            </a:r>
            <a:r>
              <a:rPr lang="pt-BR" sz="2800" dirty="0"/>
              <a:t> responder(pergunta):</a:t>
            </a:r>
          </a:p>
          <a:p>
            <a:r>
              <a:rPr lang="pt-BR" sz="2800" dirty="0"/>
              <a:t>    </a:t>
            </a:r>
            <a:r>
              <a:rPr lang="pt-BR" sz="2800" dirty="0" err="1"/>
              <a:t>intencao_predita</a:t>
            </a:r>
            <a:r>
              <a:rPr lang="pt-BR" sz="2800" dirty="0"/>
              <a:t> = </a:t>
            </a:r>
            <a:r>
              <a:rPr lang="pt-BR" sz="2800" dirty="0" err="1"/>
              <a:t>model.predict</a:t>
            </a:r>
            <a:r>
              <a:rPr lang="pt-BR" sz="2800" dirty="0"/>
              <a:t>([pergunta])[0]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0804D61-8649-35CC-B6B6-32E65AC9E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53" y="3859887"/>
            <a:ext cx="1166597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def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responder(pergunta):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Aqui estamos criando uma função chamada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responder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que vai receber uma pergunta e devolver uma resposta. Pense nela como um "assistente" que ouve a pergunta e responde com base no que aprendeu.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intencao_predita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model.predict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([pergunta])[0]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Isso é o "cérebro" da IA tentando adivinhar qual é a intenção por trás da pergunta. Ele vai usar o modelo treinado para identificar se a pergunta é sobre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jogo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ou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Rogerio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predict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vai "adivinhar" a intenção.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8140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EF5E2-4CF4-E03C-4C72-3510B3F1C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CDF41BD-C5F6-5D21-E4DE-875AC00FDD58}"/>
              </a:ext>
            </a:extLst>
          </p:cNvPr>
          <p:cNvSpPr txBox="1"/>
          <p:nvPr/>
        </p:nvSpPr>
        <p:spPr>
          <a:xfrm>
            <a:off x="648929" y="315187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Escolher a resposta certa: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A1C0911-6A66-F05F-5603-B10FA63FD87A}"/>
              </a:ext>
            </a:extLst>
          </p:cNvPr>
          <p:cNvSpPr txBox="1"/>
          <p:nvPr/>
        </p:nvSpPr>
        <p:spPr>
          <a:xfrm>
            <a:off x="1987345" y="1316532"/>
            <a:ext cx="91476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 </a:t>
            </a:r>
            <a:r>
              <a:rPr lang="pt-BR" sz="2800" dirty="0" err="1"/>
              <a:t>if</a:t>
            </a:r>
            <a:r>
              <a:rPr lang="pt-BR" sz="2800" dirty="0"/>
              <a:t> </a:t>
            </a:r>
            <a:r>
              <a:rPr lang="pt-BR" sz="2800" dirty="0" err="1"/>
              <a:t>intencao_predita</a:t>
            </a:r>
            <a:r>
              <a:rPr lang="pt-BR" sz="2800" dirty="0"/>
              <a:t> == "</a:t>
            </a:r>
            <a:r>
              <a:rPr lang="pt-BR" sz="2800" dirty="0" err="1"/>
              <a:t>informacao_jogo</a:t>
            </a:r>
            <a:r>
              <a:rPr lang="pt-BR" sz="2800" dirty="0"/>
              <a:t>":</a:t>
            </a:r>
          </a:p>
          <a:p>
            <a:r>
              <a:rPr lang="pt-BR" sz="2800" dirty="0"/>
              <a:t>        return </a:t>
            </a:r>
            <a:r>
              <a:rPr lang="pt-BR" sz="2800" dirty="0" err="1"/>
              <a:t>random.choice</a:t>
            </a:r>
            <a:r>
              <a:rPr lang="pt-BR" sz="2800" dirty="0"/>
              <a:t>(respostas[:3])  # Respostas sobre jogos</a:t>
            </a:r>
          </a:p>
          <a:p>
            <a:r>
              <a:rPr lang="pt-BR" sz="2800" dirty="0"/>
              <a:t>    </a:t>
            </a:r>
            <a:r>
              <a:rPr lang="pt-BR" sz="2800" dirty="0" err="1"/>
              <a:t>elif</a:t>
            </a:r>
            <a:r>
              <a:rPr lang="pt-BR" sz="2800" dirty="0"/>
              <a:t> </a:t>
            </a:r>
            <a:r>
              <a:rPr lang="pt-BR" sz="2800" dirty="0" err="1"/>
              <a:t>intencao_predita</a:t>
            </a:r>
            <a:r>
              <a:rPr lang="pt-BR" sz="2800" dirty="0"/>
              <a:t> == "</a:t>
            </a:r>
            <a:r>
              <a:rPr lang="pt-BR" sz="2800" dirty="0" err="1"/>
              <a:t>informacao_moto</a:t>
            </a:r>
            <a:r>
              <a:rPr lang="pt-BR" sz="2800" dirty="0"/>
              <a:t>":</a:t>
            </a:r>
          </a:p>
          <a:p>
            <a:r>
              <a:rPr lang="pt-BR" sz="2800" dirty="0"/>
              <a:t>        return </a:t>
            </a:r>
            <a:r>
              <a:rPr lang="pt-BR" sz="2800" dirty="0" err="1"/>
              <a:t>random.choice</a:t>
            </a:r>
            <a:r>
              <a:rPr lang="pt-BR" sz="2800" dirty="0"/>
              <a:t>(respostas[3:6])  # Respostas sobre motos</a:t>
            </a:r>
          </a:p>
          <a:p>
            <a:r>
              <a:rPr lang="pt-BR" sz="2800" dirty="0"/>
              <a:t>    </a:t>
            </a:r>
            <a:r>
              <a:rPr lang="pt-BR" sz="2800" dirty="0" err="1"/>
              <a:t>elif</a:t>
            </a:r>
            <a:r>
              <a:rPr lang="pt-BR" sz="2800" dirty="0"/>
              <a:t> </a:t>
            </a:r>
            <a:r>
              <a:rPr lang="pt-BR" sz="2800" dirty="0" err="1"/>
              <a:t>intencao_predita</a:t>
            </a:r>
            <a:r>
              <a:rPr lang="pt-BR" sz="2800" dirty="0"/>
              <a:t> == "</a:t>
            </a:r>
            <a:r>
              <a:rPr lang="pt-BR" sz="2800" dirty="0" err="1"/>
              <a:t>informacao_rogerio</a:t>
            </a:r>
            <a:r>
              <a:rPr lang="pt-BR" sz="2800" dirty="0"/>
              <a:t>":</a:t>
            </a:r>
          </a:p>
          <a:p>
            <a:r>
              <a:rPr lang="pt-BR" sz="2800" dirty="0"/>
              <a:t>        return respostas[6]  # Resposta específica sobre o Rogerio</a:t>
            </a:r>
          </a:p>
        </p:txBody>
      </p:sp>
    </p:spTree>
    <p:extLst>
      <p:ext uri="{BB962C8B-B14F-4D97-AF65-F5344CB8AC3E}">
        <p14:creationId xmlns:p14="http://schemas.microsoft.com/office/powerpoint/2010/main" val="2443382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B24CB-6DE6-C9B2-11B3-C9BA096FD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3962AFD-1D39-3756-8FD8-3746588E0E7C}"/>
              </a:ext>
            </a:extLst>
          </p:cNvPr>
          <p:cNvSpPr txBox="1"/>
          <p:nvPr/>
        </p:nvSpPr>
        <p:spPr>
          <a:xfrm>
            <a:off x="648929" y="315187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Escolher a resposta certa: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52793DA-5DEF-B3AD-F188-5ED796B5DD4C}"/>
              </a:ext>
            </a:extLst>
          </p:cNvPr>
          <p:cNvSpPr txBox="1"/>
          <p:nvPr/>
        </p:nvSpPr>
        <p:spPr>
          <a:xfrm>
            <a:off x="1058196" y="1457839"/>
            <a:ext cx="1075034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dirty="0"/>
              <a:t>Agora, dependendo da intenção que o modelo previu, a função vai retornar uma resposta aleatória da lista de respostas. Se a pergunta for sobre </a:t>
            </a:r>
            <a:r>
              <a:rPr lang="pt-BR" sz="2800" b="1" dirty="0"/>
              <a:t>jogos</a:t>
            </a:r>
            <a:r>
              <a:rPr lang="pt-BR" sz="2800" dirty="0"/>
              <a:t>, ele escolhe uma resposta das primeiras 3 respostas. Se for sobre </a:t>
            </a:r>
            <a:r>
              <a:rPr lang="pt-BR" sz="2800" b="1" dirty="0"/>
              <a:t>motos</a:t>
            </a:r>
            <a:r>
              <a:rPr lang="pt-BR" sz="2800" dirty="0"/>
              <a:t>, escolhe uma das respostas sobre motos. E, se for sobre o </a:t>
            </a:r>
            <a:r>
              <a:rPr lang="pt-BR" sz="2800" b="1" dirty="0"/>
              <a:t>Rogerio</a:t>
            </a:r>
            <a:r>
              <a:rPr lang="pt-BR" sz="2800" dirty="0"/>
              <a:t>, ele vai dar uma resposta exclusiva sobre ele.</a:t>
            </a:r>
          </a:p>
        </p:txBody>
      </p:sp>
    </p:spTree>
    <p:extLst>
      <p:ext uri="{BB962C8B-B14F-4D97-AF65-F5344CB8AC3E}">
        <p14:creationId xmlns:p14="http://schemas.microsoft.com/office/powerpoint/2010/main" val="10438063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DFA4-5A67-2AF1-52C2-CC4B696AA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6F8E17-42CF-4068-2A14-623F61BBA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658" y="547960"/>
            <a:ext cx="44598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Interação com o usuário: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B75A92D-EEA7-0FB6-85E7-59BF69E22100}"/>
              </a:ext>
            </a:extLst>
          </p:cNvPr>
          <p:cNvSpPr txBox="1"/>
          <p:nvPr/>
        </p:nvSpPr>
        <p:spPr>
          <a:xfrm>
            <a:off x="383458" y="1502067"/>
            <a:ext cx="1156273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600" dirty="0" err="1"/>
              <a:t>while</a:t>
            </a:r>
            <a:r>
              <a:rPr lang="pt-BR" sz="2600" dirty="0"/>
              <a:t> </a:t>
            </a:r>
            <a:r>
              <a:rPr lang="pt-BR" sz="2600" dirty="0" err="1"/>
              <a:t>True</a:t>
            </a:r>
            <a:r>
              <a:rPr lang="pt-BR" sz="2600" dirty="0"/>
              <a:t>:</a:t>
            </a:r>
          </a:p>
          <a:p>
            <a:r>
              <a:rPr lang="pt-BR" sz="2600" dirty="0"/>
              <a:t>    </a:t>
            </a:r>
            <a:r>
              <a:rPr lang="pt-BR" sz="2600" dirty="0" err="1"/>
              <a:t>pergunta_usuario</a:t>
            </a:r>
            <a:r>
              <a:rPr lang="pt-BR" sz="2600" dirty="0"/>
              <a:t> = input("Faça uma pergunta (ou digite 'sair' para terminar): ")</a:t>
            </a:r>
          </a:p>
          <a:p>
            <a:endParaRPr lang="pt-BR" sz="2600" dirty="0"/>
          </a:p>
          <a:p>
            <a:r>
              <a:rPr lang="pt-BR" sz="2600" dirty="0"/>
              <a:t>    </a:t>
            </a:r>
            <a:r>
              <a:rPr lang="pt-BR" sz="2600" dirty="0" err="1"/>
              <a:t>if</a:t>
            </a:r>
            <a:r>
              <a:rPr lang="pt-BR" sz="2600" dirty="0"/>
              <a:t> </a:t>
            </a:r>
            <a:r>
              <a:rPr lang="pt-BR" sz="2600" dirty="0" err="1"/>
              <a:t>pergunta_usuario.lower</a:t>
            </a:r>
            <a:r>
              <a:rPr lang="pt-BR" sz="2600" dirty="0"/>
              <a:t>() == 'sair':</a:t>
            </a:r>
          </a:p>
          <a:p>
            <a:r>
              <a:rPr lang="pt-BR" sz="2600" dirty="0"/>
              <a:t>        print("Saindo...")</a:t>
            </a:r>
          </a:p>
          <a:p>
            <a:r>
              <a:rPr lang="pt-BR" sz="2600" dirty="0"/>
              <a:t>        break</a:t>
            </a:r>
          </a:p>
          <a:p>
            <a:endParaRPr lang="pt-BR" sz="2600" dirty="0"/>
          </a:p>
          <a:p>
            <a:r>
              <a:rPr lang="pt-BR" sz="2600" dirty="0"/>
              <a:t>    </a:t>
            </a:r>
            <a:r>
              <a:rPr lang="pt-BR" sz="2600" dirty="0" err="1"/>
              <a:t>resposta_ia</a:t>
            </a:r>
            <a:r>
              <a:rPr lang="pt-BR" sz="2600" dirty="0"/>
              <a:t> = responder(</a:t>
            </a:r>
            <a:r>
              <a:rPr lang="pt-BR" sz="2600" dirty="0" err="1"/>
              <a:t>pergunta_usuario</a:t>
            </a:r>
            <a:r>
              <a:rPr lang="pt-BR" sz="2600" dirty="0"/>
              <a:t>)</a:t>
            </a:r>
          </a:p>
          <a:p>
            <a:r>
              <a:rPr lang="pt-BR" sz="2600" dirty="0"/>
              <a:t>    print(</a:t>
            </a:r>
            <a:r>
              <a:rPr lang="pt-BR" sz="2600" dirty="0" err="1"/>
              <a:t>f"Resposta</a:t>
            </a:r>
            <a:r>
              <a:rPr lang="pt-BR" sz="2600" dirty="0"/>
              <a:t> da IA: {</a:t>
            </a:r>
            <a:r>
              <a:rPr lang="pt-BR" sz="2600" dirty="0" err="1"/>
              <a:t>resposta_ia</a:t>
            </a:r>
            <a:r>
              <a:rPr lang="pt-BR" sz="2600" dirty="0"/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32500069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3A239-B51F-D9A2-A575-EA12EAB9E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26A60A-885B-862B-02ED-A20EA46C4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09" y="262103"/>
            <a:ext cx="11606981" cy="5839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while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Isso é um "loop infinito" que vai manter o programa rodando até que o usuário decida parar. Ele vai ficar perguntando ao usuário até que ele digite "sair".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pergunta_usuario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input(...)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Aqui, o programa espera que o usuário digite uma pergunta. O 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input()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pega o que a pessoa escrever e armazena na variável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pergunta_usuario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pergunta_usuario.lower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 == 'sair':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Se o usuário digitar "sair", o programa vai parar e dizer "Saindo...". O 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lower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garante que o programa vai entender "sair", "SAIR", "Sair", etc., porque ele transforma tudo em minúsculo.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8015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B38F7-83FD-DF92-09E4-047254BB7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6F1BBF-80B3-0817-D047-2C88BE5A7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509" y="1615058"/>
            <a:ext cx="11606981" cy="3900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resposta_ia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responder(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pergunta_usuario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Essa linha chama a função que criamos antes, passando a pergunta do usuário para que a IA responda.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f"Resposta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da IA: {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resposta_ia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}")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Finalmente, o programa imprime a resposta que a IA escolheu, e o ciclo se repete até o usuário decidir sair.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70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D992C-5D1D-738A-11E2-33B9B1DE9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9679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2753</Words>
  <Application>Microsoft Office PowerPoint</Application>
  <PresentationFormat>Widescreen</PresentationFormat>
  <Paragraphs>143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5" baseType="lpstr">
      <vt:lpstr>Arial</vt:lpstr>
      <vt:lpstr>Arial Unicode MS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rogerio morandi</dc:creator>
  <cp:lastModifiedBy>rogerio morandi</cp:lastModifiedBy>
  <cp:revision>2</cp:revision>
  <dcterms:created xsi:type="dcterms:W3CDTF">2025-08-28T14:30:29Z</dcterms:created>
  <dcterms:modified xsi:type="dcterms:W3CDTF">2025-08-28T14:52:43Z</dcterms:modified>
</cp:coreProperties>
</file>