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5000" cx="9144000"/>
  <p:notesSz cx="6858000" cy="9144000"/>
  <p:embeddedFontLst>
    <p:embeddedFont>
      <p:font typeface="Roboto Mono"/>
      <p:regular r:id="rId32"/>
      <p:bold r:id="rId33"/>
      <p:italic r:id="rId34"/>
      <p:boldItalic r:id="rId35"/>
    </p:embeddedFont>
    <p:embeddedFont>
      <p:font typeface="Merriweath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Di1VluyhDfMt8AdW1Je2J2zJQ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Mono-bold.fntdata"/><Relationship Id="rId10" Type="http://schemas.openxmlformats.org/officeDocument/2006/relationships/slide" Target="slides/slide6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9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8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1.xml"/><Relationship Id="rId37" Type="http://schemas.openxmlformats.org/officeDocument/2006/relationships/font" Target="fonts/Merriweather-bold.fntdata"/><Relationship Id="rId14" Type="http://schemas.openxmlformats.org/officeDocument/2006/relationships/slide" Target="slides/slide10.xml"/><Relationship Id="rId36" Type="http://schemas.openxmlformats.org/officeDocument/2006/relationships/font" Target="fonts/Merriweather-regular.fntdata"/><Relationship Id="rId17" Type="http://schemas.openxmlformats.org/officeDocument/2006/relationships/slide" Target="slides/slide13.xml"/><Relationship Id="rId39" Type="http://schemas.openxmlformats.org/officeDocument/2006/relationships/font" Target="fonts/Merriweather-boldItalic.fntdata"/><Relationship Id="rId16" Type="http://schemas.openxmlformats.org/officeDocument/2006/relationships/slide" Target="slides/slide12.xml"/><Relationship Id="rId38" Type="http://schemas.openxmlformats.org/officeDocument/2006/relationships/font" Target="fonts/Merriweather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77207046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g3772070466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772070466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g37720704669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7528c78ce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7528c78cea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528c78ce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" name="Google Shape;39;g37528c78cea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528c78cea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g37528c78cea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528c78ce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g37528c78cea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528c78cea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7528c78cea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72070466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7720704669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528c78cea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g37528c78cea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72070466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720704669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72070466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720704669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72070466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7720704669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72070466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720704669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72070466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720704669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72070466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7720704669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72070466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7720704669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7207046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772070466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72070466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7720704669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72070466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7720704669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72070466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7720704669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72070466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7720704669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72070466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7720704669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72070466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7720704669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72070466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7720704669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72070466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720704669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72070466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7720704669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trinket.io/java/5fc734e7edd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hyperlink" Target="https://bucket-squid-98193005.figma.site/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preview-reactflow-editor-kzmljqhseurgg3cfw9xv.vusercontent.net/" TargetMode="External"/><Relationship Id="rId7" Type="http://schemas.openxmlformats.org/officeDocument/2006/relationships/hyperlink" Target="https://drive.google.com/file/d/1gGuoehYPC9u-MfvyRvQUWy6y093KlC06/view?usp=sharing" TargetMode="External"/><Relationship Id="rId8" Type="http://schemas.openxmlformats.org/officeDocument/2006/relationships/hyperlink" Target="https://jsoneditoronline.org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hyperlink" Target="https://trinket.io/java/df8ca16ce864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hyperlink" Target="https://trinket.io/java/cc843db34f78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2414018" y="850856"/>
            <a:ext cx="4316100" cy="1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pt-BR" sz="8800" u="none" cap="none" strike="noStrike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pa7uiclf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469392" y="2569464"/>
            <a:ext cx="8183880" cy="1551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Ciência da Computação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pt-BR" sz="2500" u="none" cap="none" strike="noStrike">
                <a:solidFill>
                  <a:srgbClr val="9D9CA0"/>
                </a:solidFill>
                <a:latin typeface="Arial"/>
                <a:ea typeface="Arial"/>
                <a:cs typeface="Arial"/>
                <a:sym typeface="Arial"/>
              </a:rPr>
              <a:t>Análise de Algoritmos </a:t>
            </a:r>
            <a:r>
              <a:rPr b="1" lang="pt-BR" sz="2500">
                <a:solidFill>
                  <a:srgbClr val="9D9CA0"/>
                </a:solidFill>
              </a:rPr>
              <a:t>com</a:t>
            </a:r>
            <a:r>
              <a:rPr b="1" i="0" lang="pt-BR" sz="2500" u="none" cap="none" strike="noStrike">
                <a:solidFill>
                  <a:srgbClr val="9D9C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2500">
                <a:solidFill>
                  <a:srgbClr val="9D9CA0"/>
                </a:solidFill>
              </a:rPr>
              <a:t>Listas (Simples e Dupla) Encadeadas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126992" y="4319016"/>
            <a:ext cx="902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rgbClr val="6F5C79"/>
                </a:solidFill>
              </a:rPr>
              <a:t>22</a:t>
            </a:r>
            <a:r>
              <a:rPr b="0" i="0" lang="pt-BR" sz="1400" u="none" cap="none" strike="noStrike">
                <a:solidFill>
                  <a:srgbClr val="6F5C79"/>
                </a:solidFill>
                <a:latin typeface="Arial"/>
                <a:ea typeface="Arial"/>
                <a:cs typeface="Arial"/>
                <a:sym typeface="Arial"/>
              </a:rPr>
              <a:t>/08/2025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7720704669_0_0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g37720704669_0_0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720704669_0_0"/>
          <p:cNvSpPr/>
          <p:nvPr/>
        </p:nvSpPr>
        <p:spPr>
          <a:xfrm>
            <a:off x="177499" y="1898324"/>
            <a:ext cx="86319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 sz="1800"/>
              <a:t>Revisão Paradigmas de Programação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Listas simplesmente encadeadas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Listas duplamente encadeadas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Exercícios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Caso de uso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7720704669_0_123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g37720704669_0_123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7720704669_0_123"/>
          <p:cNvSpPr/>
          <p:nvPr/>
        </p:nvSpPr>
        <p:spPr>
          <a:xfrm>
            <a:off x="133900" y="1540805"/>
            <a:ext cx="8631900" cy="16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Listas simplesmente encadeadas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g37528c78cea_1_26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7528c78cea_1_26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Listas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7528c78cea_1_26"/>
          <p:cNvSpPr txBox="1"/>
          <p:nvPr/>
        </p:nvSpPr>
        <p:spPr>
          <a:xfrm>
            <a:off x="0" y="1119100"/>
            <a:ext cx="9144000" cy="22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uma Lista Simplesmente Encadeada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nó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campo para armazenar 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(dado)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campo para armazenar a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 para o próximo nó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g37528c78cea_1_26" title="Captura de Tela 2025-08-15 às 17.02.3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125" y="2734753"/>
            <a:ext cx="5359901" cy="13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g37528c78cea_1_42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7528c78cea_1_42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g37528c78cea_1_42" title="Captura de Tela 2025-08-15 às 17.10.2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650" y="1628000"/>
            <a:ext cx="3196874" cy="24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g37528c78cea_1_42" title="Captura de Tela 2025-08-15 às 17.10.5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775" y="1628000"/>
            <a:ext cx="3740973" cy="246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g37528c78cea_1_50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7528c78cea_1_50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7528c78cea_1_50"/>
          <p:cNvSpPr txBox="1"/>
          <p:nvPr/>
        </p:nvSpPr>
        <p:spPr>
          <a:xfrm>
            <a:off x="0" y="1119100"/>
            <a:ext cx="9144000" cy="3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utilizar?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Implementação de Filas (Queue)</a:t>
            </a:r>
            <a:r>
              <a:rPr lang="pt-BR" sz="1100">
                <a:solidFill>
                  <a:schemeClr val="dk1"/>
                </a:solidFill>
              </a:rPr>
              <a:t> – onde só precisamos enfileirar no fim e desenfileirar no início.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Implementação de Pilhas (Stack)</a:t>
            </a:r>
            <a:r>
              <a:rPr lang="pt-BR" sz="1100">
                <a:solidFill>
                  <a:schemeClr val="dk1"/>
                </a:solidFill>
              </a:rPr>
              <a:t> – usando a cabeça da lista para push e pop.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Tabelas de Hash</a:t>
            </a:r>
            <a:r>
              <a:rPr lang="pt-BR" sz="1100">
                <a:solidFill>
                  <a:schemeClr val="dk1"/>
                </a:solidFill>
              </a:rPr>
              <a:t> – para resolver colisões com listas encadeadas.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Listas de Adjacência em Grafos</a:t>
            </a:r>
            <a:r>
              <a:rPr lang="pt-BR" sz="1100">
                <a:solidFill>
                  <a:schemeClr val="dk1"/>
                </a:solidFill>
              </a:rPr>
              <a:t> – armazenar vizinhos de cada vértice.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Estruturas auxiliares em algoritmos</a:t>
            </a:r>
            <a:r>
              <a:rPr lang="pt-BR" sz="1100">
                <a:solidFill>
                  <a:schemeClr val="dk1"/>
                </a:solidFill>
              </a:rPr>
              <a:t> – como percorrer árvores ou listas de tarefas.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37528c78cea_1_59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7528c78cea_1_59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7528c78cea_1_59"/>
          <p:cNvSpPr txBox="1"/>
          <p:nvPr/>
        </p:nvSpPr>
        <p:spPr>
          <a:xfrm>
            <a:off x="0" y="1119100"/>
            <a:ext cx="9144000" cy="29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utilizar?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1. Sistemas Operacionais / Gerenciamento de Memória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Usadas para gerenciar </a:t>
            </a:r>
            <a:r>
              <a:rPr b="1" lang="pt-BR" sz="1100">
                <a:solidFill>
                  <a:schemeClr val="dk1"/>
                </a:solidFill>
              </a:rPr>
              <a:t>blocos de memória livres</a:t>
            </a:r>
            <a:r>
              <a:rPr lang="pt-BR" sz="1100">
                <a:solidFill>
                  <a:schemeClr val="dk1"/>
                </a:solidFill>
              </a:rPr>
              <a:t> em alocação dinâmica — o sistema mantém uma lista encadeada para rastrear espaços disponíveis na memória.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Blockchain (Semelhante a uma LSE)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Cada bloco aponta para o anterior, formando uma cadeia linear — essencialmente uma “lista encadeada” com garantia criptográfica.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7528c78cea_1_71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7528c78cea_1_71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7528c78cea_1_71"/>
          <p:cNvSpPr txBox="1"/>
          <p:nvPr/>
        </p:nvSpPr>
        <p:spPr>
          <a:xfrm>
            <a:off x="0" y="1002825"/>
            <a:ext cx="9144000" cy="4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 onde não utilizar?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Acesso por índice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(planilhas, arrays indexados)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data/cálculos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(processamento matemático intensivo)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embarcados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(memória limitada)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Busca/ordenação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(operações que precisam de acesso aleatório)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 real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(performance previsível necessária)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b="0" i="0" lang="pt-BR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Acesso O(n), overhead de memória, cache ruim</a:t>
            </a:r>
            <a:endParaRPr b="0" i="0" sz="11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chemeClr val="dk1"/>
                </a:solidFill>
              </a:rPr>
              <a:t>Comparando com outros tempos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pt-BR" sz="1000">
                <a:solidFill>
                  <a:schemeClr val="dk1"/>
                </a:solidFill>
              </a:rPr>
              <a:t>O(1)</a:t>
            </a:r>
            <a:r>
              <a:rPr lang="pt-BR" sz="1000">
                <a:solidFill>
                  <a:schemeClr val="dk1"/>
                </a:solidFill>
              </a:rPr>
              <a:t> → constante (independe do tamanho da entrada). Ex: acessar </a:t>
            </a:r>
            <a:r>
              <a:rPr lang="pt-BR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lista[0]</a:t>
            </a:r>
            <a:r>
              <a:rPr lang="pt-BR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pt-BR" sz="1000">
                <a:solidFill>
                  <a:schemeClr val="dk1"/>
                </a:solidFill>
              </a:rPr>
              <a:t>O(log n)</a:t>
            </a:r>
            <a:r>
              <a:rPr lang="pt-BR" sz="1000">
                <a:solidFill>
                  <a:schemeClr val="dk1"/>
                </a:solidFill>
              </a:rPr>
              <a:t> → cresce devagar. Ex: busca binária em vetor ordenado.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pt-BR" sz="1000">
                <a:solidFill>
                  <a:schemeClr val="dk1"/>
                </a:solidFill>
              </a:rPr>
              <a:t>O(n)</a:t>
            </a:r>
            <a:r>
              <a:rPr lang="pt-BR" sz="1000">
                <a:solidFill>
                  <a:schemeClr val="dk1"/>
                </a:solidFill>
              </a:rPr>
              <a:t> → cresce linearmente. Ex: percorrer todos os elementos de uma lista.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pt-BR" sz="1000">
                <a:solidFill>
                  <a:schemeClr val="dk1"/>
                </a:solidFill>
              </a:rPr>
              <a:t>O(n²)</a:t>
            </a:r>
            <a:r>
              <a:rPr lang="pt-BR" sz="1000">
                <a:solidFill>
                  <a:schemeClr val="dk1"/>
                </a:solidFill>
              </a:rPr>
              <a:t> → cresce rápido (quadrático). Ex: percorrer pares de elementos (loops aninhados).</a:t>
            </a:r>
            <a:endParaRPr sz="1100" u="sng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 Prática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quando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inserções/deleções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frequentes e tamanho varia. Evite quando precisa de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acesso direto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previsível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20704669_0_129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37720704669_0_129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7720704669_0_129"/>
          <p:cNvSpPr/>
          <p:nvPr/>
        </p:nvSpPr>
        <p:spPr>
          <a:xfrm>
            <a:off x="177500" y="1898331"/>
            <a:ext cx="86319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Exercícios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7528c78cea_1_34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7528c78cea_1_34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7528c78cea_1_34"/>
          <p:cNvSpPr txBox="1"/>
          <p:nvPr/>
        </p:nvSpPr>
        <p:spPr>
          <a:xfrm>
            <a:off x="0" y="1119100"/>
            <a:ext cx="9144000" cy="2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uma Lista Simplesmente Encadeada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de exemplo: </a:t>
            </a:r>
            <a:r>
              <a:rPr b="0" i="0" lang="pt-BR" sz="105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https://trinket.io/java/5fc734e7edd1</a:t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720704669_0_135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37720704669_0_135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7720704669_0_135"/>
          <p:cNvSpPr/>
          <p:nvPr/>
        </p:nvSpPr>
        <p:spPr>
          <a:xfrm>
            <a:off x="177500" y="1898331"/>
            <a:ext cx="8631900" cy="18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Caso de uso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7720704669_0_23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7720704669_0_23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720704669_0_23"/>
          <p:cNvSpPr txBox="1"/>
          <p:nvPr/>
        </p:nvSpPr>
        <p:spPr>
          <a:xfrm>
            <a:off x="2339325" y="4648575"/>
            <a:ext cx="390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https://bucket-squid-98193005.figma.site/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g37720704669_0_23" title="Captura de Tela 2025-08-21 às 21.37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5175" y="923175"/>
            <a:ext cx="3548913" cy="21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7720704669_0_23"/>
          <p:cNvSpPr txBox="1"/>
          <p:nvPr/>
        </p:nvSpPr>
        <p:spPr>
          <a:xfrm>
            <a:off x="1056538" y="3119275"/>
            <a:ext cx="6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6"/>
              </a:rPr>
              <a:t>https://preview-reactflow-editor-kzmljqhseurgg3cfw9xv.vusercontent.net/</a:t>
            </a:r>
            <a:endParaRPr/>
          </a:p>
        </p:txBody>
      </p:sp>
      <p:sp>
        <p:nvSpPr>
          <p:cNvPr id="96" name="Google Shape;96;g37720704669_0_23"/>
          <p:cNvSpPr txBox="1"/>
          <p:nvPr/>
        </p:nvSpPr>
        <p:spPr>
          <a:xfrm>
            <a:off x="443300" y="3606675"/>
            <a:ext cx="756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7"/>
              </a:rPr>
              <a:t>https://drive.google.com/file/d/1gGuoehYPC9u-MfvyRvQUWy6y093KlC06/view?usp=sharing</a:t>
            </a:r>
            <a:endParaRPr/>
          </a:p>
        </p:txBody>
      </p:sp>
      <p:sp>
        <p:nvSpPr>
          <p:cNvPr id="97" name="Google Shape;97;g37720704669_0_23"/>
          <p:cNvSpPr txBox="1"/>
          <p:nvPr/>
        </p:nvSpPr>
        <p:spPr>
          <a:xfrm>
            <a:off x="2725700" y="4127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8"/>
              </a:rPr>
              <a:t>https://jsoneditoronline.org/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7720704669_0_90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7720704669_0_90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7720704669_0_90"/>
          <p:cNvSpPr txBox="1"/>
          <p:nvPr/>
        </p:nvSpPr>
        <p:spPr>
          <a:xfrm>
            <a:off x="0" y="1119100"/>
            <a:ext cx="9144000" cy="49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Estruturas Principais: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FlowNode</a:t>
            </a:r>
            <a:r>
              <a:rPr lang="pt-BR" sz="1100">
                <a:solidFill>
                  <a:schemeClr val="dk1"/>
                </a:solidFill>
              </a:rPr>
              <a:t>: Representa um nó do fluxo com ID, tipo, posição e dados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FlowEdge</a:t>
            </a:r>
            <a:r>
              <a:rPr lang="pt-BR" sz="1100">
                <a:solidFill>
                  <a:schemeClr val="dk1"/>
                </a:solidFill>
              </a:rPr>
              <a:t>: Representa uma conexão entre dois nós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NodeList</a:t>
            </a:r>
            <a:r>
              <a:rPr lang="pt-BR" sz="1100">
                <a:solidFill>
                  <a:schemeClr val="dk1"/>
                </a:solidFill>
              </a:rPr>
              <a:t>: Lista encadeada customizada para armazenar nós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EdgeList</a:t>
            </a:r>
            <a:r>
              <a:rPr lang="pt-BR" sz="1100">
                <a:solidFill>
                  <a:schemeClr val="dk1"/>
                </a:solidFill>
              </a:rPr>
              <a:t>: Lista encadeada customizada para armazenar arestas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Flow</a:t>
            </a:r>
            <a:r>
              <a:rPr lang="pt-BR" sz="1100">
                <a:solidFill>
                  <a:schemeClr val="dk1"/>
                </a:solidFill>
              </a:rPr>
              <a:t>: Classe principal que gerencia todo o fluxo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Funcionalidades Implementadas: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Adição/Remoção</a:t>
            </a:r>
            <a:r>
              <a:rPr lang="pt-BR" sz="1100">
                <a:solidFill>
                  <a:schemeClr val="dk1"/>
                </a:solidFill>
              </a:rPr>
              <a:t> de nós e arestas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Busca</a:t>
            </a:r>
            <a:r>
              <a:rPr lang="pt-BR" sz="1100">
                <a:solidFill>
                  <a:schemeClr val="dk1"/>
                </a:solidFill>
              </a:rPr>
              <a:t> por ID, origem ou destino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Navegação</a:t>
            </a:r>
            <a:r>
              <a:rPr lang="pt-BR" sz="1100">
                <a:solidFill>
                  <a:schemeClr val="dk1"/>
                </a:solidFill>
              </a:rPr>
              <a:t> no grafo (predecessores/sucessores)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Traversal</a:t>
            </a:r>
            <a:r>
              <a:rPr lang="pt-BR" sz="1100">
                <a:solidFill>
                  <a:schemeClr val="dk1"/>
                </a:solidFill>
              </a:rPr>
              <a:t> das listas encadeadas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Exibição</a:t>
            </a:r>
            <a:r>
              <a:rPr lang="pt-BR" sz="1100">
                <a:solidFill>
                  <a:schemeClr val="dk1"/>
                </a:solidFill>
              </a:rPr>
              <a:t> formatada do fluxo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7720704669_0_101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720704669_0_101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720704669_0_101"/>
          <p:cNvSpPr txBox="1"/>
          <p:nvPr/>
        </p:nvSpPr>
        <p:spPr>
          <a:xfrm>
            <a:off x="0" y="1119100"/>
            <a:ext cx="9144000" cy="5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Vantagens desta Implementação: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Memória Eficiente</a:t>
            </a:r>
            <a:r>
              <a:rPr lang="pt-BR" sz="1100">
                <a:solidFill>
                  <a:schemeClr val="dk1"/>
                </a:solidFill>
              </a:rPr>
              <a:t>: Aloca apenas o necessário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Inserção Rápida</a:t>
            </a:r>
            <a:r>
              <a:rPr lang="pt-BR" sz="1100">
                <a:solidFill>
                  <a:schemeClr val="dk1"/>
                </a:solidFill>
              </a:rPr>
              <a:t>: O(1) no final da lista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Flexibilidade</a:t>
            </a:r>
            <a:r>
              <a:rPr lang="pt-BR" sz="1100">
                <a:solidFill>
                  <a:schemeClr val="dk1"/>
                </a:solidFill>
              </a:rPr>
              <a:t>: Fácil de estender com novos tipos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Navegação de Grafo</a:t>
            </a:r>
            <a:r>
              <a:rPr lang="pt-BR" sz="1100">
                <a:solidFill>
                  <a:schemeClr val="dk1"/>
                </a:solidFill>
              </a:rPr>
              <a:t>: Encontrar conexões rapidamente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Exemplo de Uso: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O método 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main()</a:t>
            </a:r>
            <a:r>
              <a:rPr lang="pt-BR" sz="1100">
                <a:solidFill>
                  <a:schemeClr val="dk1"/>
                </a:solidFill>
              </a:rPr>
              <a:t> demonstra como criar um fluxo completo com: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6 nós (início, processamento, decisão, ações, fim)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6 conexões entre os nós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Navegação pelos sucessores e predecessores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720704669_0_141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7720704669_0_141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720704669_0_141"/>
          <p:cNvSpPr/>
          <p:nvPr/>
        </p:nvSpPr>
        <p:spPr>
          <a:xfrm>
            <a:off x="177500" y="1898331"/>
            <a:ext cx="8631900" cy="18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Exercícios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7720704669_0_13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7720704669_0_13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Simplesmente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7720704669_0_13"/>
          <p:cNvSpPr txBox="1"/>
          <p:nvPr/>
        </p:nvSpPr>
        <p:spPr>
          <a:xfrm>
            <a:off x="0" y="1119100"/>
            <a:ext cx="91440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Praticar!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7720704669_0_13"/>
          <p:cNvSpPr txBox="1"/>
          <p:nvPr/>
        </p:nvSpPr>
        <p:spPr>
          <a:xfrm>
            <a:off x="3008525" y="239940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chemeClr val="hlink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https://trinket.io/java/df8ca16ce864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20704669_0_147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7720704669_0_147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7720704669_0_147"/>
          <p:cNvSpPr/>
          <p:nvPr/>
        </p:nvSpPr>
        <p:spPr>
          <a:xfrm>
            <a:off x="177500" y="1898331"/>
            <a:ext cx="8631900" cy="18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Listas duplamente encadeadas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7720704669_0_6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7720704669_0_6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Listas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7720704669_0_6"/>
          <p:cNvSpPr txBox="1"/>
          <p:nvPr/>
        </p:nvSpPr>
        <p:spPr>
          <a:xfrm>
            <a:off x="0" y="1220850"/>
            <a:ext cx="9144000" cy="3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uma Lista </a:t>
            </a:r>
            <a:r>
              <a:rPr b="1" lang="pt-BR" sz="1700">
                <a:solidFill>
                  <a:schemeClr val="dk1"/>
                </a:solidFill>
              </a:rPr>
              <a:t>Duplamente</a:t>
            </a: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Encadeada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Antes de entrar em listas duplamente encadeadas: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Comparação Simples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Lista Simplesmente Encadeada (LSE):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Só anda em </a:t>
            </a:r>
            <a:r>
              <a:rPr b="1" lang="pt-BR" sz="1100">
                <a:solidFill>
                  <a:schemeClr val="dk1"/>
                </a:solidFill>
              </a:rPr>
              <a:t>uma direção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Cada nó guarda </a:t>
            </a:r>
            <a:r>
              <a:rPr b="1" lang="pt-BR" sz="1100">
                <a:solidFill>
                  <a:schemeClr val="dk1"/>
                </a:solidFill>
              </a:rPr>
              <a:t>1 ponteiro</a:t>
            </a:r>
            <a:r>
              <a:rPr lang="pt-BR" sz="1100">
                <a:solidFill>
                  <a:schemeClr val="dk1"/>
                </a:solidFill>
              </a:rPr>
              <a:t> (para o próximo)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Mais </a:t>
            </a:r>
            <a:r>
              <a:rPr b="1" lang="pt-BR" sz="1100">
                <a:solidFill>
                  <a:schemeClr val="dk1"/>
                </a:solidFill>
              </a:rPr>
              <a:t>simples</a:t>
            </a:r>
            <a:r>
              <a:rPr lang="pt-BR" sz="1100">
                <a:solidFill>
                  <a:schemeClr val="dk1"/>
                </a:solidFill>
              </a:rPr>
              <a:t> e ocupa </a:t>
            </a:r>
            <a:r>
              <a:rPr b="1" lang="pt-BR" sz="1100">
                <a:solidFill>
                  <a:schemeClr val="dk1"/>
                </a:solidFill>
              </a:rPr>
              <a:t>menos memória</a:t>
            </a:r>
            <a:br>
              <a:rPr b="1" lang="pt-B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Lista Duplamente Encadeada (LDE):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Anda em </a:t>
            </a:r>
            <a:r>
              <a:rPr b="1" lang="pt-BR" sz="1100">
                <a:solidFill>
                  <a:schemeClr val="dk1"/>
                </a:solidFill>
              </a:rPr>
              <a:t>duas direções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Cada nó guarda </a:t>
            </a:r>
            <a:r>
              <a:rPr b="1" lang="pt-BR" sz="1100">
                <a:solidFill>
                  <a:schemeClr val="dk1"/>
                </a:solidFill>
              </a:rPr>
              <a:t>2 ponteiros</a:t>
            </a:r>
            <a:r>
              <a:rPr lang="pt-BR" sz="1100">
                <a:solidFill>
                  <a:schemeClr val="dk1"/>
                </a:solidFill>
              </a:rPr>
              <a:t> (próximo e anterior)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Mais </a:t>
            </a:r>
            <a:r>
              <a:rPr b="1" lang="pt-BR" sz="1100">
                <a:solidFill>
                  <a:schemeClr val="dk1"/>
                </a:solidFill>
              </a:rPr>
              <a:t>flexível</a:t>
            </a:r>
            <a:r>
              <a:rPr lang="pt-BR" sz="1100">
                <a:solidFill>
                  <a:schemeClr val="dk1"/>
                </a:solidFill>
              </a:rPr>
              <a:t>, mas ocupa </a:t>
            </a:r>
            <a:r>
              <a:rPr b="1" lang="pt-BR" sz="1100">
                <a:solidFill>
                  <a:schemeClr val="dk1"/>
                </a:solidFill>
              </a:rPr>
              <a:t>mais memória</a:t>
            </a:r>
            <a:r>
              <a:rPr lang="pt-BR" sz="1100">
                <a:solidFill>
                  <a:schemeClr val="dk1"/>
                </a:solidFill>
              </a:rPr>
              <a:t> e é </a:t>
            </a:r>
            <a:r>
              <a:rPr b="1" lang="pt-BR" sz="1100">
                <a:solidFill>
                  <a:schemeClr val="dk1"/>
                </a:solidFill>
              </a:rPr>
              <a:t>mais complexa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7720704669_0_51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7720704669_0_51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Listas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g37720704669_0_51" title="Captura de Tela 2025-08-22 às 08.54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150" y="1403000"/>
            <a:ext cx="4999874" cy="33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7720704669_0_42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7720704669_0_42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Listas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7720704669_0_42"/>
          <p:cNvSpPr txBox="1"/>
          <p:nvPr/>
        </p:nvSpPr>
        <p:spPr>
          <a:xfrm>
            <a:off x="0" y="1119100"/>
            <a:ext cx="91440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uma Lista </a:t>
            </a:r>
            <a:r>
              <a:rPr b="1" lang="pt-BR" sz="1700">
                <a:solidFill>
                  <a:schemeClr val="dk1"/>
                </a:solidFill>
              </a:rPr>
              <a:t>Duplamente</a:t>
            </a: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Encadeada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t-BR" sz="1100">
                <a:solidFill>
                  <a:schemeClr val="dk1"/>
                </a:solidFill>
              </a:rPr>
              <a:t>Estrutura de nós conectados entre si.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t-BR" sz="1100">
                <a:solidFill>
                  <a:schemeClr val="dk1"/>
                </a:solidFill>
              </a:rPr>
              <a:t>Cada nó contém: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pt-BR" sz="1100">
                <a:solidFill>
                  <a:schemeClr val="dk1"/>
                </a:solidFill>
              </a:rPr>
              <a:t>Dado</a:t>
            </a:r>
            <a:r>
              <a:rPr lang="pt-BR" sz="1100">
                <a:solidFill>
                  <a:schemeClr val="dk1"/>
                </a:solidFill>
              </a:rPr>
              <a:t> (informação armazenada)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pt-BR" sz="1100">
                <a:solidFill>
                  <a:schemeClr val="dk1"/>
                </a:solidFill>
              </a:rPr>
              <a:t>Ponteiro para o próximo nó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pt-BR" sz="1100">
                <a:solidFill>
                  <a:schemeClr val="dk1"/>
                </a:solidFill>
              </a:rPr>
              <a:t>Ponteiro para o nó anterior</a:t>
            </a:r>
            <a:br>
              <a:rPr b="1" lang="pt-B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Isso permite </a:t>
            </a:r>
            <a:r>
              <a:rPr b="1" lang="pt-BR" sz="1100">
                <a:solidFill>
                  <a:schemeClr val="dk1"/>
                </a:solidFill>
              </a:rPr>
              <a:t>navegar tanto para frente quanto para trás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720704669_0_42" title="Captura de Tela 2025-08-21 às 21.54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775" y="3278298"/>
            <a:ext cx="6592227" cy="164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7720704669_0_58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7720704669_0_58"/>
          <p:cNvSpPr/>
          <p:nvPr/>
        </p:nvSpPr>
        <p:spPr>
          <a:xfrm>
            <a:off x="219424" y="347475"/>
            <a:ext cx="71058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</a:t>
            </a:r>
            <a:r>
              <a:rPr b="1" lang="pt-BR" sz="2000">
                <a:solidFill>
                  <a:schemeClr val="dk1"/>
                </a:solidFill>
              </a:rPr>
              <a:t>Lista Duplamente Encadeada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7720704669_0_58"/>
          <p:cNvSpPr txBox="1"/>
          <p:nvPr/>
        </p:nvSpPr>
        <p:spPr>
          <a:xfrm>
            <a:off x="0" y="1119100"/>
            <a:ext cx="9144000" cy="4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Onde utilizar?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Navegação em Navegadores e Exploradores de Arquivos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Navegadores utilizam LDE para permitir os botões "voltar" e "avançar", navegando suavemente entre páginas visitadas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 Funções de Undo/Redo (Desfazer/Refazer)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Editores de texto, IDEs e softwares como Photoshop ou Word implementam histórico de ações com LDE, permitindo avançar e retroceder em alterações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Playlists em Aplicativos de Mídia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Em players de música (Spotify, Apple Music, etc.), LDE facilitam navegar para a próxima ou a música anterior com facilidade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7720704669_0_79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7720704669_0_79"/>
          <p:cNvSpPr/>
          <p:nvPr/>
        </p:nvSpPr>
        <p:spPr>
          <a:xfrm>
            <a:off x="219424" y="347475"/>
            <a:ext cx="70767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</a:t>
            </a:r>
            <a:r>
              <a:rPr b="1" lang="pt-BR" sz="2000">
                <a:solidFill>
                  <a:schemeClr val="dk1"/>
                </a:solidFill>
              </a:rPr>
              <a:t>Lista Duplamente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7720704669_0_79" title="Captura de Tela 2025-08-22 às 09.18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675" y="1257251"/>
            <a:ext cx="4716374" cy="324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7720704669_0_79"/>
          <p:cNvSpPr txBox="1"/>
          <p:nvPr/>
        </p:nvSpPr>
        <p:spPr>
          <a:xfrm>
            <a:off x="363350" y="1655275"/>
            <a:ext cx="3539100" cy="2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Exemplo: LRU Cache com Lista Duplamente Encadeada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Estrutura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Nó da LDE guarda </a:t>
            </a:r>
            <a:r>
              <a:rPr b="1" lang="pt-BR" sz="1100">
                <a:solidFill>
                  <a:schemeClr val="dk1"/>
                </a:solidFill>
              </a:rPr>
              <a:t>chave, valor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 cabeça (head) da lista = item mais </a:t>
            </a:r>
            <a:r>
              <a:rPr b="1" lang="pt-BR" sz="1100">
                <a:solidFill>
                  <a:schemeClr val="dk1"/>
                </a:solidFill>
              </a:rPr>
              <a:t>recente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 cauda (tail) da lista = item mais </a:t>
            </a:r>
            <a:r>
              <a:rPr b="1" lang="pt-BR" sz="1100">
                <a:solidFill>
                  <a:schemeClr val="dk1"/>
                </a:solidFill>
              </a:rPr>
              <a:t>antigo</a:t>
            </a:r>
            <a:r>
              <a:rPr lang="pt-BR" sz="1100">
                <a:solidFill>
                  <a:schemeClr val="dk1"/>
                </a:solidFill>
              </a:rPr>
              <a:t> (pronto para ser removido).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7720704669_0_108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7720704669_0_108"/>
          <p:cNvSpPr/>
          <p:nvPr/>
        </p:nvSpPr>
        <p:spPr>
          <a:xfrm>
            <a:off x="219424" y="347475"/>
            <a:ext cx="71058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</a:t>
            </a:r>
            <a:r>
              <a:rPr b="1" lang="pt-BR" sz="2000">
                <a:solidFill>
                  <a:schemeClr val="dk1"/>
                </a:solidFill>
              </a:rPr>
              <a:t>Lista Duplamente Encadeada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7720704669_0_108"/>
          <p:cNvSpPr txBox="1"/>
          <p:nvPr/>
        </p:nvSpPr>
        <p:spPr>
          <a:xfrm>
            <a:off x="0" y="1119100"/>
            <a:ext cx="9144000" cy="89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Quando e onde não utilizar?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Quando memória é limitada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Cada nó carrega </a:t>
            </a:r>
            <a:r>
              <a:rPr b="1" lang="pt-BR" sz="1100">
                <a:solidFill>
                  <a:schemeClr val="dk1"/>
                </a:solidFill>
              </a:rPr>
              <a:t>dois ponteiros</a:t>
            </a:r>
            <a:r>
              <a:rPr lang="pt-BR" sz="1100">
                <a:solidFill>
                  <a:schemeClr val="dk1"/>
                </a:solidFill>
              </a:rPr>
              <a:t> extras, o que aumenta o consumo de memória.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Em sistemas embarcados ou dispositivos com pouca RAM, isso pode ser inviável.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Quando o acesso rápido por índice é necessário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LDE não permite acesso direto como vetores/arrays (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O(1)</a:t>
            </a:r>
            <a:r>
              <a:rPr lang="pt-BR" sz="1100">
                <a:solidFill>
                  <a:schemeClr val="dk1"/>
                </a:solidFill>
              </a:rPr>
              <a:t>), apenas percorrendo nó a nó (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O(n)</a:t>
            </a:r>
            <a:r>
              <a:rPr lang="pt-BR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Se a aplicação precisa consultar muito por posição (ex: 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lista[1000]</a:t>
            </a:r>
            <a:r>
              <a:rPr lang="pt-BR" sz="1100">
                <a:solidFill>
                  <a:schemeClr val="dk1"/>
                </a:solidFill>
              </a:rPr>
              <a:t>), é ruim.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Quando só percorremos em uma direção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Se a navegação reversa não é necessária, uma </a:t>
            </a:r>
            <a:r>
              <a:rPr b="1" lang="pt-BR" sz="1100">
                <a:solidFill>
                  <a:schemeClr val="dk1"/>
                </a:solidFill>
              </a:rPr>
              <a:t>lista simplesmente encadeada</a:t>
            </a:r>
            <a:r>
              <a:rPr lang="pt-BR" sz="1100">
                <a:solidFill>
                  <a:schemeClr val="dk1"/>
                </a:solidFill>
              </a:rPr>
              <a:t> já resolve, ocupando menos memória e sendo mais simples de implementar.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Quando a estrutura tem tamanho fixo e previsível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Se sabemos o tamanho máximo (ex: lista de 1000 elementos sempre), um </a:t>
            </a:r>
            <a:r>
              <a:rPr b="1" lang="pt-BR" sz="1100">
                <a:solidFill>
                  <a:schemeClr val="dk1"/>
                </a:solidFill>
              </a:rPr>
              <a:t>array</a:t>
            </a:r>
            <a:r>
              <a:rPr lang="pt-BR" sz="1100">
                <a:solidFill>
                  <a:schemeClr val="dk1"/>
                </a:solidFill>
              </a:rPr>
              <a:t> é melhor: ocupa menos memória e é mais eficiente em cache.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Em aplicações com foco em cache e performance de CPU</a:t>
            </a:r>
            <a:br>
              <a:rPr b="1" lang="pt-B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Arrays aproveitam melhor a </a:t>
            </a:r>
            <a:r>
              <a:rPr b="1" lang="pt-BR" sz="1100">
                <a:solidFill>
                  <a:schemeClr val="dk1"/>
                </a:solidFill>
              </a:rPr>
              <a:t>localidade de memória</a:t>
            </a:r>
            <a:r>
              <a:rPr lang="pt-BR" sz="1100">
                <a:solidFill>
                  <a:schemeClr val="dk1"/>
                </a:solidFill>
              </a:rPr>
              <a:t> (cache da CPU).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LDE pode ser bem mais lenta em cenários de alto desempenho, mesmo tendo operações 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O(1)</a:t>
            </a:r>
            <a:r>
              <a:rPr lang="pt-BR" sz="1100">
                <a:solidFill>
                  <a:schemeClr val="dk1"/>
                </a:solidFill>
              </a:rPr>
              <a:t> de inserção/remoção.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Quando a complexidade do código importa</a:t>
            </a:r>
            <a:br>
              <a:rPr b="1" lang="pt-B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Implementar, depurar e manter LDE é mais difícil.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Se a simplicidade for prioridade, muitas vezes um array ou LSE basta.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7720704669_0_115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720704669_0_115"/>
          <p:cNvSpPr/>
          <p:nvPr/>
        </p:nvSpPr>
        <p:spPr>
          <a:xfrm>
            <a:off x="219424" y="347475"/>
            <a:ext cx="71058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pt-BR" sz="2500">
                <a:solidFill>
                  <a:schemeClr val="dk1"/>
                </a:solidFill>
              </a:rPr>
              <a:t>Estrutura de dados - </a:t>
            </a:r>
            <a:r>
              <a:rPr b="1" lang="pt-BR" sz="2000">
                <a:solidFill>
                  <a:schemeClr val="dk1"/>
                </a:solidFill>
              </a:rPr>
              <a:t>Lista Duplamente Encadeada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720704669_0_115"/>
          <p:cNvSpPr txBox="1"/>
          <p:nvPr/>
        </p:nvSpPr>
        <p:spPr>
          <a:xfrm>
            <a:off x="0" y="1119100"/>
            <a:ext cx="9144000" cy="4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</a:rPr>
              <a:t>Quando e onde não utilizar?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Em aplicações com foco em cache e performance de CPU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Arrays aproveitam melhor a </a:t>
            </a:r>
            <a:r>
              <a:rPr b="1" lang="pt-BR" sz="1100">
                <a:solidFill>
                  <a:schemeClr val="dk1"/>
                </a:solidFill>
              </a:rPr>
              <a:t>localidade de memória</a:t>
            </a:r>
            <a:r>
              <a:rPr lang="pt-BR" sz="1100">
                <a:solidFill>
                  <a:schemeClr val="dk1"/>
                </a:solidFill>
              </a:rPr>
              <a:t> (cache da CPU).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LDE pode ser bem mais lenta em cenários de alto desempenho, mesmo tendo operações </a:t>
            </a:r>
            <a:r>
              <a:rPr lang="pt-B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O(1)</a:t>
            </a:r>
            <a:r>
              <a:rPr lang="pt-BR" sz="1100">
                <a:solidFill>
                  <a:schemeClr val="dk1"/>
                </a:solidFill>
              </a:rPr>
              <a:t> de inserção/remoção.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Quando a complexidade do código importa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Implementar, depurar e manter LDE é mais difícil.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Se a simplicidade for prioridade, muitas vezes um array ou LSE basta.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720704669_0_153"/>
          <p:cNvSpPr/>
          <p:nvPr/>
        </p:nvSpPr>
        <p:spPr>
          <a:xfrm>
            <a:off x="219436" y="347477"/>
            <a:ext cx="7178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pt-BR" sz="2500"/>
              <a:t>Estrutura de dados - Listas</a:t>
            </a:r>
            <a:r>
              <a:rPr b="1" i="0" lang="pt-BR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7720704669_0_153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99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720704669_0_153"/>
          <p:cNvSpPr/>
          <p:nvPr/>
        </p:nvSpPr>
        <p:spPr>
          <a:xfrm>
            <a:off x="177500" y="1898331"/>
            <a:ext cx="8631900" cy="18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 sz="1800">
                <a:solidFill>
                  <a:schemeClr val="dk1"/>
                </a:solidFill>
              </a:rPr>
              <a:t>Exercícios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7720704669_0_65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7720704669_0_65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dados - Lista </a:t>
            </a:r>
            <a:r>
              <a:rPr b="1" lang="pt-BR" sz="1800">
                <a:solidFill>
                  <a:schemeClr val="dk1"/>
                </a:solidFill>
              </a:rPr>
              <a:t>Duplamente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Encadeada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7720704669_0_65"/>
          <p:cNvSpPr txBox="1"/>
          <p:nvPr/>
        </p:nvSpPr>
        <p:spPr>
          <a:xfrm>
            <a:off x="0" y="1119100"/>
            <a:ext cx="9144000" cy="29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de uma Lista </a:t>
            </a:r>
            <a:r>
              <a:rPr b="1" lang="pt-BR" sz="1700">
                <a:solidFill>
                  <a:schemeClr val="dk1"/>
                </a:solidFill>
              </a:rPr>
              <a:t>Duplamente</a:t>
            </a: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Encadeada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de exemplo: </a:t>
            </a:r>
            <a:r>
              <a:rPr lang="pt-BR" sz="1050" u="sng">
                <a:solidFill>
                  <a:schemeClr val="hlink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https://trinket.io/java/cc843db34f78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7720704669_0_159" title="logo_unimax_ur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325" y="-152400"/>
            <a:ext cx="2204075" cy="16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7720704669_0_159"/>
          <p:cNvSpPr/>
          <p:nvPr/>
        </p:nvSpPr>
        <p:spPr>
          <a:xfrm>
            <a:off x="219437" y="347478"/>
            <a:ext cx="6669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Simulado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7720704669_0_159" title="url_qrcodecreator.com_14_00_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1850" y="1373425"/>
            <a:ext cx="2565450" cy="25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