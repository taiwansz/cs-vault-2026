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65" r:id="rId2"/>
    <p:sldId id="352" r:id="rId3"/>
    <p:sldId id="353" r:id="rId4"/>
    <p:sldId id="287" r:id="rId5"/>
    <p:sldId id="266" r:id="rId6"/>
    <p:sldId id="354" r:id="rId7"/>
    <p:sldId id="288" r:id="rId8"/>
    <p:sldId id="355" r:id="rId9"/>
    <p:sldId id="267" r:id="rId10"/>
    <p:sldId id="289" r:id="rId11"/>
    <p:sldId id="268" r:id="rId12"/>
    <p:sldId id="356" r:id="rId13"/>
    <p:sldId id="357" r:id="rId14"/>
    <p:sldId id="269" r:id="rId15"/>
    <p:sldId id="358" r:id="rId16"/>
    <p:sldId id="270" r:id="rId17"/>
    <p:sldId id="271" r:id="rId18"/>
    <p:sldId id="272" r:id="rId19"/>
    <p:sldId id="359" r:id="rId20"/>
    <p:sldId id="273" r:id="rId21"/>
    <p:sldId id="360" r:id="rId22"/>
    <p:sldId id="274" r:id="rId23"/>
    <p:sldId id="361" r:id="rId24"/>
    <p:sldId id="275" r:id="rId25"/>
    <p:sldId id="362" r:id="rId26"/>
    <p:sldId id="276" r:id="rId27"/>
    <p:sldId id="277" r:id="rId28"/>
  </p:sldIdLst>
  <p:sldSz cx="9144000" cy="6858000" type="screen4x3"/>
  <p:notesSz cx="6858000" cy="965835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60093"/>
    <a:srgbClr val="9933FF"/>
    <a:srgbClr val="3333FF"/>
    <a:srgbClr val="00FFCC"/>
    <a:srgbClr val="66FF33"/>
    <a:srgbClr val="FFFF00"/>
    <a:srgbClr val="FF6633"/>
    <a:srgbClr val="FF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endParaRPr lang="pt-BR" alt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endParaRPr lang="pt-BR" altLang="pt-B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22350" y="652463"/>
            <a:ext cx="4813300" cy="3606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87875"/>
            <a:ext cx="5029200" cy="434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75750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/>
            </a:lvl1pPr>
          </a:lstStyle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175750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/>
            </a:lvl1pPr>
          </a:lstStyle>
          <a:p>
            <a:fld id="{713816DA-1342-49E8-8482-71A274EDFAA2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B5601B-9CD5-4667-9ECD-48792FB03C07}" type="slidenum">
              <a:rPr lang="pt-BR" altLang="pt-BR"/>
              <a:pPr/>
              <a:t>1</a:t>
            </a:fld>
            <a:endParaRPr lang="pt-BR" altLang="pt-BR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504694-293C-419F-91CA-D5A6321B7170}" type="slidenum">
              <a:rPr lang="pt-BR" altLang="pt-BR"/>
              <a:pPr/>
              <a:t>5</a:t>
            </a:fld>
            <a:endParaRPr lang="pt-BR" altLang="pt-BR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C37583-D6F3-4A65-B33F-E51CA2B40BEC}" type="slidenum">
              <a:rPr lang="pt-BR" altLang="pt-BR"/>
              <a:pPr/>
              <a:t>9</a:t>
            </a:fld>
            <a:endParaRPr lang="pt-BR" altLang="pt-BR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15259AA-678A-4206-9ED9-864F465A2A61}" type="slidenum">
              <a:rPr lang="pt-BR" altLang="pt-BR"/>
              <a:pPr/>
              <a:t>11</a:t>
            </a:fld>
            <a:endParaRPr lang="pt-BR" altLang="pt-BR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A5832C-EB0C-4F8E-95AE-D8FC5B0F9744}" type="slidenum">
              <a:rPr lang="pt-BR" altLang="pt-BR"/>
              <a:pPr/>
              <a:t>14</a:t>
            </a:fld>
            <a:endParaRPr lang="pt-BR" altLang="pt-BR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467556-4735-4884-9F1B-F13C741747AB}" type="slidenum">
              <a:rPr lang="pt-BR" altLang="pt-BR"/>
              <a:pPr/>
              <a:t>16</a:t>
            </a:fld>
            <a:endParaRPr lang="pt-BR" altLang="pt-BR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5ACD9F-15CE-4FBC-BC89-87CB8044A837}" type="slidenum">
              <a:rPr lang="pt-BR" altLang="pt-BR"/>
              <a:pPr/>
              <a:t>17</a:t>
            </a:fld>
            <a:endParaRPr lang="pt-BR" altLang="pt-BR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7ED0122-A317-4BCB-87C3-9B3887B93AD0}" type="slidenum">
              <a:rPr lang="pt-BR" altLang="pt-BR"/>
              <a:pPr/>
              <a:t>18</a:t>
            </a:fld>
            <a:endParaRPr lang="pt-BR" altLang="pt-BR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9A62E4-7EF9-44FA-B73F-7998C3492DFA}" type="slidenum">
              <a:rPr lang="pt-BR" altLang="pt-BR"/>
              <a:pPr/>
              <a:t>20</a:t>
            </a:fld>
            <a:endParaRPr lang="pt-BR" altLang="pt-BR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B5874F-1773-4632-ACAA-704A5C4280A1}" type="slidenum">
              <a:rPr lang="pt-BR" altLang="pt-BR"/>
              <a:pPr/>
              <a:t>22</a:t>
            </a:fld>
            <a:endParaRPr lang="pt-BR" altLang="pt-BR"/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ABA3FD-0586-42AD-8FD9-4163C87A396E}" type="slidenum">
              <a:rPr lang="pt-BR" altLang="pt-BR"/>
              <a:pPr/>
              <a:t>24</a:t>
            </a:fld>
            <a:endParaRPr lang="pt-BR" altLang="pt-BR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F9D6F7-5D98-4AB7-B954-68401AE4A5E4}" type="slidenum">
              <a:rPr lang="pt-BR" altLang="pt-BR"/>
              <a:pPr/>
              <a:t>26</a:t>
            </a:fld>
            <a:endParaRPr lang="pt-BR" altLang="pt-BR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pt-BR" altLang="pt-BR"/>
              <a:t>Redes de Computadores - Roberto C. Betini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E95F65-E6E2-4512-BDC6-67751A694880}" type="slidenum">
              <a:rPr lang="pt-BR" altLang="pt-BR"/>
              <a:pPr/>
              <a:t>27</a:t>
            </a:fld>
            <a:endParaRPr lang="pt-BR" altLang="pt-BR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3938" y="652463"/>
            <a:ext cx="4810125" cy="3606800"/>
          </a:xfrm>
          <a:ln cap="flat"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pt-BR" alt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4" name="Group 36"/>
          <p:cNvGrpSpPr>
            <a:grpSpLocks/>
          </p:cNvGrpSpPr>
          <p:nvPr/>
        </p:nvGrpSpPr>
        <p:grpSpPr bwMode="auto">
          <a:xfrm>
            <a:off x="0" y="-20638"/>
            <a:ext cx="9137650" cy="6872288"/>
            <a:chOff x="0" y="-13"/>
            <a:chExt cx="5756" cy="4329"/>
          </a:xfrm>
        </p:grpSpPr>
        <p:sp>
          <p:nvSpPr>
            <p:cNvPr id="2050" name="Rectangle 2"/>
            <p:cNvSpPr>
              <a:spLocks noChangeArrowheads="1"/>
            </p:cNvSpPr>
            <p:nvPr/>
          </p:nvSpPr>
          <p:spPr bwMode="ltGray">
            <a:xfrm>
              <a:off x="0" y="-13"/>
              <a:ext cx="5756" cy="432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</a:gradFill>
            <a:ln>
              <a:noFill/>
            </a:ln>
            <a:effectLst>
              <a:outerShdw dist="13470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 useBgFill="1">
          <p:nvSpPr>
            <p:cNvPr id="2051" name="Rectangle 3"/>
            <p:cNvSpPr>
              <a:spLocks noChangeArrowheads="1"/>
            </p:cNvSpPr>
            <p:nvPr/>
          </p:nvSpPr>
          <p:spPr bwMode="white">
            <a:xfrm>
              <a:off x="235" y="417"/>
              <a:ext cx="5518" cy="3373"/>
            </a:xfrm>
            <a:prstGeom prst="rect">
              <a:avLst/>
            </a:prstGeom>
            <a:ln>
              <a:noFill/>
            </a:ln>
            <a:effectLst>
              <a:outerShdw dist="13470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2067" name="Group 19"/>
            <p:cNvGrpSpPr>
              <a:grpSpLocks/>
            </p:cNvGrpSpPr>
            <p:nvPr/>
          </p:nvGrpSpPr>
          <p:grpSpPr bwMode="auto">
            <a:xfrm>
              <a:off x="4293" y="2409"/>
              <a:ext cx="1280" cy="1224"/>
              <a:chOff x="4293" y="2409"/>
              <a:chExt cx="1280" cy="1224"/>
            </a:xfrm>
          </p:grpSpPr>
          <p:sp>
            <p:nvSpPr>
              <p:cNvPr id="2052" name="Rectangle 4"/>
              <p:cNvSpPr>
                <a:spLocks noChangeArrowheads="1"/>
              </p:cNvSpPr>
              <p:nvPr/>
            </p:nvSpPr>
            <p:spPr bwMode="auto">
              <a:xfrm>
                <a:off x="5488" y="3551"/>
                <a:ext cx="85" cy="82"/>
              </a:xfrm>
              <a:prstGeom prst="rect">
                <a:avLst/>
              </a:prstGeom>
              <a:solidFill>
                <a:srgbClr val="FC0128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3" name="Rectangle 5"/>
              <p:cNvSpPr>
                <a:spLocks noChangeArrowheads="1"/>
              </p:cNvSpPr>
              <p:nvPr/>
            </p:nvSpPr>
            <p:spPr bwMode="auto">
              <a:xfrm>
                <a:off x="5317" y="3551"/>
                <a:ext cx="86" cy="82"/>
              </a:xfrm>
              <a:prstGeom prst="rect">
                <a:avLst/>
              </a:prstGeom>
              <a:solidFill>
                <a:srgbClr val="FF5008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4" name="Rectangle 6"/>
              <p:cNvSpPr>
                <a:spLocks noChangeArrowheads="1"/>
              </p:cNvSpPr>
              <p:nvPr/>
            </p:nvSpPr>
            <p:spPr bwMode="auto">
              <a:xfrm>
                <a:off x="5147" y="3551"/>
                <a:ext cx="85" cy="82"/>
              </a:xfrm>
              <a:prstGeom prst="rect">
                <a:avLst/>
              </a:prstGeom>
              <a:solidFill>
                <a:srgbClr val="FAFD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5" name="Rectangle 7"/>
              <p:cNvSpPr>
                <a:spLocks noChangeArrowheads="1"/>
              </p:cNvSpPr>
              <p:nvPr/>
            </p:nvSpPr>
            <p:spPr bwMode="auto">
              <a:xfrm>
                <a:off x="4976" y="3551"/>
                <a:ext cx="85" cy="82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6" name="Rectangle 8"/>
              <p:cNvSpPr>
                <a:spLocks noChangeArrowheads="1"/>
              </p:cNvSpPr>
              <p:nvPr/>
            </p:nvSpPr>
            <p:spPr bwMode="auto">
              <a:xfrm>
                <a:off x="4805" y="3551"/>
                <a:ext cx="86" cy="82"/>
              </a:xfrm>
              <a:prstGeom prst="rect">
                <a:avLst/>
              </a:prstGeom>
              <a:solidFill>
                <a:srgbClr val="00DFCA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7" name="Rectangle 9"/>
              <p:cNvSpPr>
                <a:spLocks noChangeArrowheads="1"/>
              </p:cNvSpPr>
              <p:nvPr/>
            </p:nvSpPr>
            <p:spPr bwMode="auto">
              <a:xfrm>
                <a:off x="4635" y="3551"/>
                <a:ext cx="85" cy="82"/>
              </a:xfrm>
              <a:prstGeom prst="rect">
                <a:avLst/>
              </a:prstGeom>
              <a:solidFill>
                <a:srgbClr val="114FFB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8" name="Rectangle 10"/>
              <p:cNvSpPr>
                <a:spLocks noChangeArrowheads="1"/>
              </p:cNvSpPr>
              <p:nvPr/>
            </p:nvSpPr>
            <p:spPr bwMode="auto">
              <a:xfrm>
                <a:off x="4464" y="3551"/>
                <a:ext cx="85" cy="82"/>
              </a:xfrm>
              <a:prstGeom prst="rect">
                <a:avLst/>
              </a:prstGeom>
              <a:solidFill>
                <a:srgbClr val="8901F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59" name="Rectangle 11"/>
              <p:cNvSpPr>
                <a:spLocks noChangeArrowheads="1"/>
              </p:cNvSpPr>
              <p:nvPr/>
            </p:nvSpPr>
            <p:spPr bwMode="auto">
              <a:xfrm>
                <a:off x="4293" y="3551"/>
                <a:ext cx="86" cy="82"/>
              </a:xfrm>
              <a:prstGeom prst="rect">
                <a:avLst/>
              </a:prstGeom>
              <a:solidFill>
                <a:srgbClr val="DC0081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0" name="Rectangle 12"/>
              <p:cNvSpPr>
                <a:spLocks noChangeArrowheads="1"/>
              </p:cNvSpPr>
              <p:nvPr/>
            </p:nvSpPr>
            <p:spPr bwMode="auto">
              <a:xfrm>
                <a:off x="5488" y="3388"/>
                <a:ext cx="85" cy="82"/>
              </a:xfrm>
              <a:prstGeom prst="rect">
                <a:avLst/>
              </a:prstGeom>
              <a:solidFill>
                <a:srgbClr val="FF5008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1" name="Rectangle 13"/>
              <p:cNvSpPr>
                <a:spLocks noChangeArrowheads="1"/>
              </p:cNvSpPr>
              <p:nvPr/>
            </p:nvSpPr>
            <p:spPr bwMode="auto">
              <a:xfrm>
                <a:off x="5488" y="3225"/>
                <a:ext cx="85" cy="81"/>
              </a:xfrm>
              <a:prstGeom prst="rect">
                <a:avLst/>
              </a:prstGeom>
              <a:solidFill>
                <a:srgbClr val="FAFD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2" name="Rectangle 14"/>
              <p:cNvSpPr>
                <a:spLocks noChangeArrowheads="1"/>
              </p:cNvSpPr>
              <p:nvPr/>
            </p:nvSpPr>
            <p:spPr bwMode="auto">
              <a:xfrm>
                <a:off x="5488" y="3062"/>
                <a:ext cx="85" cy="81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3" name="Rectangle 15"/>
              <p:cNvSpPr>
                <a:spLocks noChangeArrowheads="1"/>
              </p:cNvSpPr>
              <p:nvPr/>
            </p:nvSpPr>
            <p:spPr bwMode="auto">
              <a:xfrm>
                <a:off x="5488" y="2898"/>
                <a:ext cx="85" cy="82"/>
              </a:xfrm>
              <a:prstGeom prst="rect">
                <a:avLst/>
              </a:prstGeom>
              <a:solidFill>
                <a:srgbClr val="00DFCA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4" name="Rectangle 16"/>
              <p:cNvSpPr>
                <a:spLocks noChangeArrowheads="1"/>
              </p:cNvSpPr>
              <p:nvPr/>
            </p:nvSpPr>
            <p:spPr bwMode="auto">
              <a:xfrm>
                <a:off x="5488" y="2735"/>
                <a:ext cx="85" cy="82"/>
              </a:xfrm>
              <a:prstGeom prst="rect">
                <a:avLst/>
              </a:prstGeom>
              <a:solidFill>
                <a:srgbClr val="114FFB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5" name="Rectangle 17"/>
              <p:cNvSpPr>
                <a:spLocks noChangeArrowheads="1"/>
              </p:cNvSpPr>
              <p:nvPr/>
            </p:nvSpPr>
            <p:spPr bwMode="auto">
              <a:xfrm>
                <a:off x="5488" y="2572"/>
                <a:ext cx="85" cy="81"/>
              </a:xfrm>
              <a:prstGeom prst="rect">
                <a:avLst/>
              </a:prstGeom>
              <a:solidFill>
                <a:srgbClr val="8901F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6" name="Rectangle 18"/>
              <p:cNvSpPr>
                <a:spLocks noChangeArrowheads="1"/>
              </p:cNvSpPr>
              <p:nvPr/>
            </p:nvSpPr>
            <p:spPr bwMode="auto">
              <a:xfrm>
                <a:off x="5488" y="2409"/>
                <a:ext cx="85" cy="82"/>
              </a:xfrm>
              <a:prstGeom prst="rect">
                <a:avLst/>
              </a:prstGeom>
              <a:solidFill>
                <a:srgbClr val="DC0081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2083" name="Group 35"/>
            <p:cNvGrpSpPr>
              <a:grpSpLocks/>
            </p:cNvGrpSpPr>
            <p:nvPr/>
          </p:nvGrpSpPr>
          <p:grpSpPr bwMode="auto">
            <a:xfrm>
              <a:off x="405" y="609"/>
              <a:ext cx="1280" cy="1446"/>
              <a:chOff x="405" y="609"/>
              <a:chExt cx="1280" cy="1446"/>
            </a:xfrm>
          </p:grpSpPr>
          <p:sp>
            <p:nvSpPr>
              <p:cNvPr id="2068" name="Rectangle 20"/>
              <p:cNvSpPr>
                <a:spLocks noChangeArrowheads="1"/>
              </p:cNvSpPr>
              <p:nvPr/>
            </p:nvSpPr>
            <p:spPr bwMode="auto">
              <a:xfrm>
                <a:off x="405" y="609"/>
                <a:ext cx="85" cy="97"/>
              </a:xfrm>
              <a:prstGeom prst="rect">
                <a:avLst/>
              </a:prstGeom>
              <a:solidFill>
                <a:srgbClr val="FF00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69" name="Rectangle 21"/>
              <p:cNvSpPr>
                <a:spLocks noChangeArrowheads="1"/>
              </p:cNvSpPr>
              <p:nvPr/>
            </p:nvSpPr>
            <p:spPr bwMode="auto">
              <a:xfrm>
                <a:off x="575" y="609"/>
                <a:ext cx="86" cy="97"/>
              </a:xfrm>
              <a:prstGeom prst="rect">
                <a:avLst/>
              </a:prstGeom>
              <a:solidFill>
                <a:srgbClr val="FF66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0" name="Rectangle 22"/>
              <p:cNvSpPr>
                <a:spLocks noChangeArrowheads="1"/>
              </p:cNvSpPr>
              <p:nvPr/>
            </p:nvSpPr>
            <p:spPr bwMode="auto">
              <a:xfrm>
                <a:off x="746" y="609"/>
                <a:ext cx="85" cy="9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1" name="Rectangle 23"/>
              <p:cNvSpPr>
                <a:spLocks noChangeArrowheads="1"/>
              </p:cNvSpPr>
              <p:nvPr/>
            </p:nvSpPr>
            <p:spPr bwMode="auto">
              <a:xfrm>
                <a:off x="917" y="609"/>
                <a:ext cx="85" cy="97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2" name="Rectangle 24"/>
              <p:cNvSpPr>
                <a:spLocks noChangeArrowheads="1"/>
              </p:cNvSpPr>
              <p:nvPr/>
            </p:nvSpPr>
            <p:spPr bwMode="auto">
              <a:xfrm>
                <a:off x="1087" y="609"/>
                <a:ext cx="86" cy="97"/>
              </a:xfrm>
              <a:prstGeom prst="rect">
                <a:avLst/>
              </a:prstGeom>
              <a:solidFill>
                <a:srgbClr val="00FFCC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3" name="Rectangle 25"/>
              <p:cNvSpPr>
                <a:spLocks noChangeArrowheads="1"/>
              </p:cNvSpPr>
              <p:nvPr/>
            </p:nvSpPr>
            <p:spPr bwMode="auto">
              <a:xfrm>
                <a:off x="1258" y="609"/>
                <a:ext cx="85" cy="97"/>
              </a:xfrm>
              <a:prstGeom prst="rect">
                <a:avLst/>
              </a:prstGeom>
              <a:solidFill>
                <a:srgbClr val="33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4" name="Rectangle 26"/>
              <p:cNvSpPr>
                <a:spLocks noChangeArrowheads="1"/>
              </p:cNvSpPr>
              <p:nvPr/>
            </p:nvSpPr>
            <p:spPr bwMode="auto">
              <a:xfrm>
                <a:off x="1429" y="609"/>
                <a:ext cx="85" cy="97"/>
              </a:xfrm>
              <a:prstGeom prst="rect">
                <a:avLst/>
              </a:prstGeom>
              <a:solidFill>
                <a:srgbClr val="99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5" name="Rectangle 27"/>
              <p:cNvSpPr>
                <a:spLocks noChangeArrowheads="1"/>
              </p:cNvSpPr>
              <p:nvPr/>
            </p:nvSpPr>
            <p:spPr bwMode="auto">
              <a:xfrm>
                <a:off x="1599" y="609"/>
                <a:ext cx="86" cy="97"/>
              </a:xfrm>
              <a:prstGeom prst="rect">
                <a:avLst/>
              </a:prstGeom>
              <a:solidFill>
                <a:srgbClr val="D6009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6" name="Rectangle 28"/>
              <p:cNvSpPr>
                <a:spLocks noChangeArrowheads="1"/>
              </p:cNvSpPr>
              <p:nvPr/>
            </p:nvSpPr>
            <p:spPr bwMode="auto">
              <a:xfrm>
                <a:off x="405" y="802"/>
                <a:ext cx="85" cy="97"/>
              </a:xfrm>
              <a:prstGeom prst="rect">
                <a:avLst/>
              </a:prstGeom>
              <a:solidFill>
                <a:srgbClr val="FF66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7" name="Rectangle 29"/>
              <p:cNvSpPr>
                <a:spLocks noChangeArrowheads="1"/>
              </p:cNvSpPr>
              <p:nvPr/>
            </p:nvSpPr>
            <p:spPr bwMode="auto">
              <a:xfrm>
                <a:off x="405" y="995"/>
                <a:ext cx="85" cy="9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8" name="Rectangle 30"/>
              <p:cNvSpPr>
                <a:spLocks noChangeArrowheads="1"/>
              </p:cNvSpPr>
              <p:nvPr/>
            </p:nvSpPr>
            <p:spPr bwMode="auto">
              <a:xfrm>
                <a:off x="405" y="1188"/>
                <a:ext cx="85" cy="96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79" name="Rectangle 31"/>
              <p:cNvSpPr>
                <a:spLocks noChangeArrowheads="1"/>
              </p:cNvSpPr>
              <p:nvPr/>
            </p:nvSpPr>
            <p:spPr bwMode="auto">
              <a:xfrm>
                <a:off x="405" y="1380"/>
                <a:ext cx="85" cy="97"/>
              </a:xfrm>
              <a:prstGeom prst="rect">
                <a:avLst/>
              </a:prstGeom>
              <a:solidFill>
                <a:srgbClr val="00FFCC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80" name="Rectangle 32"/>
              <p:cNvSpPr>
                <a:spLocks noChangeArrowheads="1"/>
              </p:cNvSpPr>
              <p:nvPr/>
            </p:nvSpPr>
            <p:spPr bwMode="auto">
              <a:xfrm>
                <a:off x="405" y="1573"/>
                <a:ext cx="85" cy="97"/>
              </a:xfrm>
              <a:prstGeom prst="rect">
                <a:avLst/>
              </a:prstGeom>
              <a:solidFill>
                <a:srgbClr val="33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81" name="Rectangle 33"/>
              <p:cNvSpPr>
                <a:spLocks noChangeArrowheads="1"/>
              </p:cNvSpPr>
              <p:nvPr/>
            </p:nvSpPr>
            <p:spPr bwMode="auto">
              <a:xfrm>
                <a:off x="405" y="1766"/>
                <a:ext cx="85" cy="96"/>
              </a:xfrm>
              <a:prstGeom prst="rect">
                <a:avLst/>
              </a:prstGeom>
              <a:solidFill>
                <a:srgbClr val="99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082" name="Rectangle 34"/>
              <p:cNvSpPr>
                <a:spLocks noChangeArrowheads="1"/>
              </p:cNvSpPr>
              <p:nvPr/>
            </p:nvSpPr>
            <p:spPr bwMode="auto">
              <a:xfrm>
                <a:off x="405" y="1959"/>
                <a:ext cx="85" cy="96"/>
              </a:xfrm>
              <a:prstGeom prst="rect">
                <a:avLst/>
              </a:prstGeom>
              <a:solidFill>
                <a:srgbClr val="D6009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sp>
        <p:nvSpPr>
          <p:cNvPr id="2085" name="Rectangle 37"/>
          <p:cNvSpPr>
            <a:spLocks noGrp="1" noChangeArrowheads="1"/>
          </p:cNvSpPr>
          <p:nvPr>
            <p:ph type="ctrTitle" sz="quarter"/>
          </p:nvPr>
        </p:nvSpPr>
        <p:spPr>
          <a:xfrm>
            <a:off x="1143000" y="1600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altLang="pt-BR" noProof="0" smtClean="0"/>
              <a:t>Clique para editar o estilo do título mestre</a:t>
            </a:r>
          </a:p>
        </p:txBody>
      </p:sp>
      <p:sp>
        <p:nvSpPr>
          <p:cNvPr id="2086" name="Rectangle 3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524000" y="3581400"/>
            <a:ext cx="6400800" cy="1752600"/>
          </a:xfrm>
        </p:spPr>
        <p:txBody>
          <a:bodyPr anchor="ctr"/>
          <a:lstStyle>
            <a:lvl1pPr marL="0" indent="0" algn="ctr">
              <a:buFont typeface="Monotype Sorts" charset="2"/>
              <a:buNone/>
              <a:defRPr/>
            </a:lvl1pPr>
          </a:lstStyle>
          <a:p>
            <a:pPr lvl="0"/>
            <a:r>
              <a:rPr lang="pt-BR" altLang="pt-BR" noProof="0" smtClean="0"/>
              <a:t>Clique para editar o estilo do subtítulo mestre</a:t>
            </a:r>
          </a:p>
        </p:txBody>
      </p:sp>
      <p:sp>
        <p:nvSpPr>
          <p:cNvPr id="2087" name="Rectangle 39"/>
          <p:cNvSpPr>
            <a:spLocks noGrp="1" noChangeArrowheads="1"/>
          </p:cNvSpPr>
          <p:nvPr>
            <p:ph type="dt" sz="quarter" idx="2"/>
          </p:nvPr>
        </p:nvSpPr>
        <p:spPr>
          <a:xfrm>
            <a:off x="6096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7EC194F-FDD5-4ED0-987E-2E085E7D0BC7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2088" name="Rectangle 40"/>
          <p:cNvSpPr>
            <a:spLocks noGrp="1" noChangeArrowheads="1"/>
          </p:cNvSpPr>
          <p:nvPr>
            <p:ph type="ftr" sz="quarter" idx="3"/>
          </p:nvPr>
        </p:nvSpPr>
        <p:spPr>
          <a:xfrm>
            <a:off x="3276600" y="6399213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2089" name="Rectangle 41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9342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62A67B9-BDD0-4985-AD71-1018D969C0DE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19E4E9-0D7C-4990-84A9-063DF24095D3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B19CA-E07F-45D6-824C-6B7D9E16737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83623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EB9693-97A8-460E-8D4F-7476D0F20C9C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3E5768-6164-4749-B980-16C7473660A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1431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90106E-DD1D-4954-9D11-724012381F4B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20909-EA5D-472B-AD0B-A23C5357BCFD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134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9A1602-6A0A-46A5-A81B-F43A8EE62ECB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441727-33AD-4EB9-86CB-196A5E7DFE4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3461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D69071-0F69-4B24-8B81-339801D028B1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EFC6C6-42D6-44DF-805B-559DF947D35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9534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92C961-DD65-405D-AC34-16B154243ECD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D11120-B84C-475C-B7B6-2893049E9FE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16642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41B4F7F-A33C-4C67-B34B-1B7CD3A5AAA9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8F3EEA-4F97-4061-AF28-3B493A0E825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27432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690E93-6996-4087-8206-5CBD3431FA51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9B01B6-9033-4CC4-9203-6132DB20B68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87199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B6E082-366F-4557-BCF2-36353085BCE5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F9B1A9-C085-4FC7-A4F7-F3AF553A989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72898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533400"/>
            <a:ext cx="1943100" cy="54864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85800" y="533400"/>
            <a:ext cx="5676900" cy="5486400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D2E788-C5A0-42D5-96B1-C1F2618C3FFE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DE2842-1A32-48CD-A041-A8B159A6DFC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58780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4" name="Group 20"/>
          <p:cNvGrpSpPr>
            <a:grpSpLocks/>
          </p:cNvGrpSpPr>
          <p:nvPr/>
        </p:nvGrpSpPr>
        <p:grpSpPr bwMode="auto">
          <a:xfrm>
            <a:off x="0" y="0"/>
            <a:ext cx="9132888" cy="6845300"/>
            <a:chOff x="0" y="0"/>
            <a:chExt cx="5753" cy="4312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0" y="0"/>
              <a:ext cx="5753" cy="4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path path="rect">
                <a:fillToRect r="100000" b="100000"/>
              </a:path>
            </a:gradFill>
            <a:ln>
              <a:noFill/>
            </a:ln>
            <a:effectLst>
              <a:outerShdw dist="13470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 useBgFill="1">
          <p:nvSpPr>
            <p:cNvPr id="1027" name="Rectangle 3"/>
            <p:cNvSpPr>
              <a:spLocks noChangeArrowheads="1"/>
            </p:cNvSpPr>
            <p:nvPr/>
          </p:nvSpPr>
          <p:spPr bwMode="white">
            <a:xfrm>
              <a:off x="235" y="240"/>
              <a:ext cx="5518" cy="4072"/>
            </a:xfrm>
            <a:prstGeom prst="rect">
              <a:avLst/>
            </a:prstGeom>
            <a:ln>
              <a:noFill/>
            </a:ln>
            <a:effectLst>
              <a:outerShdw dist="13470" dir="2700000" algn="ctr" rotWithShape="0">
                <a:srgbClr val="000000">
                  <a:alpha val="50000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1043" name="Group 19"/>
            <p:cNvGrpSpPr>
              <a:grpSpLocks/>
            </p:cNvGrpSpPr>
            <p:nvPr/>
          </p:nvGrpSpPr>
          <p:grpSpPr bwMode="auto">
            <a:xfrm>
              <a:off x="4245" y="2592"/>
              <a:ext cx="1280" cy="1440"/>
              <a:chOff x="4245" y="2592"/>
              <a:chExt cx="1280" cy="1440"/>
            </a:xfrm>
          </p:grpSpPr>
          <p:sp>
            <p:nvSpPr>
              <p:cNvPr id="1028" name="Rectangle 4"/>
              <p:cNvSpPr>
                <a:spLocks noChangeArrowheads="1"/>
              </p:cNvSpPr>
              <p:nvPr/>
            </p:nvSpPr>
            <p:spPr bwMode="auto">
              <a:xfrm>
                <a:off x="5440" y="3936"/>
                <a:ext cx="85" cy="96"/>
              </a:xfrm>
              <a:prstGeom prst="rect">
                <a:avLst/>
              </a:prstGeom>
              <a:solidFill>
                <a:srgbClr val="FF00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29" name="Rectangle 5"/>
              <p:cNvSpPr>
                <a:spLocks noChangeArrowheads="1"/>
              </p:cNvSpPr>
              <p:nvPr/>
            </p:nvSpPr>
            <p:spPr bwMode="auto">
              <a:xfrm>
                <a:off x="5269" y="3936"/>
                <a:ext cx="86" cy="96"/>
              </a:xfrm>
              <a:prstGeom prst="rect">
                <a:avLst/>
              </a:prstGeom>
              <a:solidFill>
                <a:srgbClr val="FF66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0" name="Rectangle 6"/>
              <p:cNvSpPr>
                <a:spLocks noChangeArrowheads="1"/>
              </p:cNvSpPr>
              <p:nvPr/>
            </p:nvSpPr>
            <p:spPr bwMode="auto">
              <a:xfrm>
                <a:off x="5099" y="3936"/>
                <a:ext cx="85" cy="9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1" name="Rectangle 7"/>
              <p:cNvSpPr>
                <a:spLocks noChangeArrowheads="1"/>
              </p:cNvSpPr>
              <p:nvPr/>
            </p:nvSpPr>
            <p:spPr bwMode="auto">
              <a:xfrm>
                <a:off x="4928" y="3936"/>
                <a:ext cx="85" cy="96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2" name="Rectangle 8"/>
              <p:cNvSpPr>
                <a:spLocks noChangeArrowheads="1"/>
              </p:cNvSpPr>
              <p:nvPr/>
            </p:nvSpPr>
            <p:spPr bwMode="auto">
              <a:xfrm>
                <a:off x="4757" y="3936"/>
                <a:ext cx="86" cy="96"/>
              </a:xfrm>
              <a:prstGeom prst="rect">
                <a:avLst/>
              </a:prstGeom>
              <a:solidFill>
                <a:srgbClr val="00FFCC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3" name="Rectangle 9"/>
              <p:cNvSpPr>
                <a:spLocks noChangeArrowheads="1"/>
              </p:cNvSpPr>
              <p:nvPr/>
            </p:nvSpPr>
            <p:spPr bwMode="auto">
              <a:xfrm>
                <a:off x="4587" y="3936"/>
                <a:ext cx="85" cy="96"/>
              </a:xfrm>
              <a:prstGeom prst="rect">
                <a:avLst/>
              </a:prstGeom>
              <a:solidFill>
                <a:srgbClr val="33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4" name="Rectangle 10"/>
              <p:cNvSpPr>
                <a:spLocks noChangeArrowheads="1"/>
              </p:cNvSpPr>
              <p:nvPr/>
            </p:nvSpPr>
            <p:spPr bwMode="auto">
              <a:xfrm>
                <a:off x="4416" y="3936"/>
                <a:ext cx="85" cy="96"/>
              </a:xfrm>
              <a:prstGeom prst="rect">
                <a:avLst/>
              </a:prstGeom>
              <a:solidFill>
                <a:srgbClr val="99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5" name="Rectangle 11"/>
              <p:cNvSpPr>
                <a:spLocks noChangeArrowheads="1"/>
              </p:cNvSpPr>
              <p:nvPr/>
            </p:nvSpPr>
            <p:spPr bwMode="auto">
              <a:xfrm>
                <a:off x="4245" y="3936"/>
                <a:ext cx="86" cy="96"/>
              </a:xfrm>
              <a:prstGeom prst="rect">
                <a:avLst/>
              </a:prstGeom>
              <a:solidFill>
                <a:srgbClr val="D6009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6" name="Rectangle 12"/>
              <p:cNvSpPr>
                <a:spLocks noChangeArrowheads="1"/>
              </p:cNvSpPr>
              <p:nvPr/>
            </p:nvSpPr>
            <p:spPr bwMode="auto">
              <a:xfrm>
                <a:off x="5440" y="3744"/>
                <a:ext cx="85" cy="96"/>
              </a:xfrm>
              <a:prstGeom prst="rect">
                <a:avLst/>
              </a:prstGeom>
              <a:solidFill>
                <a:srgbClr val="FF66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7" name="Rectangle 13"/>
              <p:cNvSpPr>
                <a:spLocks noChangeArrowheads="1"/>
              </p:cNvSpPr>
              <p:nvPr/>
            </p:nvSpPr>
            <p:spPr bwMode="auto">
              <a:xfrm>
                <a:off x="5440" y="3552"/>
                <a:ext cx="85" cy="96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8" name="Rectangle 14"/>
              <p:cNvSpPr>
                <a:spLocks noChangeArrowheads="1"/>
              </p:cNvSpPr>
              <p:nvPr/>
            </p:nvSpPr>
            <p:spPr bwMode="auto">
              <a:xfrm>
                <a:off x="5440" y="3360"/>
                <a:ext cx="85" cy="96"/>
              </a:xfrm>
              <a:prstGeom prst="rect">
                <a:avLst/>
              </a:prstGeom>
              <a:solidFill>
                <a:srgbClr val="66FF3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39" name="Rectangle 15"/>
              <p:cNvSpPr>
                <a:spLocks noChangeArrowheads="1"/>
              </p:cNvSpPr>
              <p:nvPr/>
            </p:nvSpPr>
            <p:spPr bwMode="auto">
              <a:xfrm>
                <a:off x="5440" y="3168"/>
                <a:ext cx="85" cy="96"/>
              </a:xfrm>
              <a:prstGeom prst="rect">
                <a:avLst/>
              </a:prstGeom>
              <a:solidFill>
                <a:srgbClr val="00FFCC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0" name="Rectangle 16"/>
              <p:cNvSpPr>
                <a:spLocks noChangeArrowheads="1"/>
              </p:cNvSpPr>
              <p:nvPr/>
            </p:nvSpPr>
            <p:spPr bwMode="auto">
              <a:xfrm>
                <a:off x="5440" y="2976"/>
                <a:ext cx="85" cy="96"/>
              </a:xfrm>
              <a:prstGeom prst="rect">
                <a:avLst/>
              </a:prstGeom>
              <a:solidFill>
                <a:srgbClr val="33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1" name="Rectangle 17"/>
              <p:cNvSpPr>
                <a:spLocks noChangeArrowheads="1"/>
              </p:cNvSpPr>
              <p:nvPr/>
            </p:nvSpPr>
            <p:spPr bwMode="auto">
              <a:xfrm>
                <a:off x="5440" y="2784"/>
                <a:ext cx="85" cy="96"/>
              </a:xfrm>
              <a:prstGeom prst="rect">
                <a:avLst/>
              </a:prstGeom>
              <a:solidFill>
                <a:srgbClr val="9933FF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42" name="Rectangle 18"/>
              <p:cNvSpPr>
                <a:spLocks noChangeArrowheads="1"/>
              </p:cNvSpPr>
              <p:nvPr/>
            </p:nvSpPr>
            <p:spPr bwMode="auto">
              <a:xfrm>
                <a:off x="5440" y="2592"/>
                <a:ext cx="85" cy="96"/>
              </a:xfrm>
              <a:prstGeom prst="rect">
                <a:avLst/>
              </a:prstGeom>
              <a:solidFill>
                <a:srgbClr val="D60093"/>
              </a:solidFill>
              <a:ln>
                <a:noFill/>
              </a:ln>
              <a:effectLst>
                <a:outerShdw dist="53882" dir="2700000" algn="ctr" rotWithShape="0">
                  <a:srgbClr val="000000">
                    <a:alpha val="50000"/>
                  </a:srgb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sp>
        <p:nvSpPr>
          <p:cNvPr id="1045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2. TOPOLOGIA DE REDES DE COMPUTADORES</a:t>
            </a:r>
          </a:p>
        </p:txBody>
      </p:sp>
      <p:sp>
        <p:nvSpPr>
          <p:cNvPr id="1046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smtClean="0"/>
              <a:t>Clique para editar os estilos do texto mestre</a:t>
            </a:r>
          </a:p>
          <a:p>
            <a:pPr lvl="1"/>
            <a:r>
              <a:rPr lang="pt-BR" altLang="pt-BR" smtClean="0"/>
              <a:t>Segundo nível</a:t>
            </a:r>
          </a:p>
          <a:p>
            <a:pPr lvl="2"/>
            <a:r>
              <a:rPr lang="pt-BR" altLang="pt-BR" smtClean="0"/>
              <a:t>Terceiro nível</a:t>
            </a:r>
          </a:p>
          <a:p>
            <a:pPr lvl="3"/>
            <a:r>
              <a:rPr lang="pt-BR" altLang="pt-BR" smtClean="0"/>
              <a:t>Quarto nível</a:t>
            </a:r>
          </a:p>
          <a:p>
            <a:pPr lvl="4"/>
            <a:r>
              <a:rPr lang="pt-BR" altLang="pt-BR" smtClean="0"/>
              <a:t>Quinto nível</a:t>
            </a:r>
          </a:p>
        </p:txBody>
      </p:sp>
      <p:sp>
        <p:nvSpPr>
          <p:cNvPr id="1047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1CBF7520-6ACC-4B91-934D-20B44A8F3EEE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1048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99213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 altLang="pt-BR" dirty="0"/>
          </a:p>
        </p:txBody>
      </p:sp>
      <p:sp>
        <p:nvSpPr>
          <p:cNvPr id="1049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52DDDC9-CFAA-4AC9-9580-AEE12D3D68D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FF00"/>
        </a:buClr>
        <a:buSzPct val="75000"/>
        <a:buFont typeface="Monotype Sorts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AFD00"/>
        </a:buClr>
        <a:buSzPct val="75000"/>
        <a:buFont typeface="Monotype Sorts" charset="2"/>
        <a:buChar char="n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5008"/>
        </a:buClr>
        <a:buSzPct val="65000"/>
        <a:buFont typeface="Monotype Sorts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901F3"/>
        </a:buClr>
        <a:buSzPct val="65000"/>
        <a:buFont typeface="Monotype Sorts" charset="2"/>
        <a:buChar char="n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06807-0713-4939-8D91-989271969DF7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493D0-9160-4FE0-9A98-7F1524B80DB9}" type="slidenum">
              <a:rPr lang="pt-BR" altLang="pt-BR"/>
              <a:pPr/>
              <a:t>1</a:t>
            </a:fld>
            <a:endParaRPr lang="pt-BR" altLang="pt-BR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0"/>
            <a:ext cx="7772400" cy="609600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/>
              <a:t>Repetidores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648200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dirty="0"/>
              <a:t>Movem seletivamente mensagens da rede ou passam estas à frente para o próximo nó.   (Fig. </a:t>
            </a:r>
            <a:r>
              <a:rPr lang="pt-BR" altLang="pt-BR" dirty="0" smtClean="0"/>
              <a:t>1-11</a:t>
            </a:r>
            <a:r>
              <a:rPr lang="pt-BR" altLang="pt-BR" dirty="0"/>
              <a:t>)</a:t>
            </a:r>
          </a:p>
          <a:p>
            <a:pPr>
              <a:lnSpc>
                <a:spcPct val="110000"/>
              </a:lnSpc>
              <a:buFont typeface="Monotype Sorts" charset="2"/>
              <a:buNone/>
            </a:pPr>
            <a:endParaRPr lang="pt-BR" altLang="pt-BR" dirty="0"/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26"/>
          <a:stretch/>
        </p:blipFill>
        <p:spPr bwMode="auto">
          <a:xfrm>
            <a:off x="2047875" y="3213100"/>
            <a:ext cx="5046663" cy="1872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F9BDD-1D2C-45A8-A07D-05EE798B84EE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99DEB-A80B-409E-A5FC-684210DAEC27}" type="slidenum">
              <a:rPr lang="pt-BR" altLang="pt-BR"/>
              <a:pPr/>
              <a:t>2</a:t>
            </a:fld>
            <a:endParaRPr lang="pt-BR" altLang="pt-BR"/>
          </a:p>
        </p:txBody>
      </p:sp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 sz="2800" b="1" u="sng"/>
              <a:t>Repetidores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57338"/>
            <a:ext cx="7772400" cy="446246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sz="2800" dirty="0"/>
              <a:t>São alimentados e mantidos separados do hardware da estação. (Fig. </a:t>
            </a:r>
            <a:r>
              <a:rPr lang="pt-BR" altLang="pt-BR" sz="2800" dirty="0" smtClean="0"/>
              <a:t>1-12</a:t>
            </a:r>
            <a:r>
              <a:rPr lang="pt-BR" altLang="pt-BR" sz="2800" dirty="0"/>
              <a:t>)</a:t>
            </a:r>
          </a:p>
          <a:p>
            <a:endParaRPr lang="pt-BR" altLang="pt-BR" sz="2800" dirty="0"/>
          </a:p>
        </p:txBody>
      </p:sp>
      <p:pic>
        <p:nvPicPr>
          <p:cNvPr id="130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767"/>
          <a:stretch/>
        </p:blipFill>
        <p:spPr bwMode="auto">
          <a:xfrm>
            <a:off x="1908175" y="2781301"/>
            <a:ext cx="5140325" cy="2591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2B4E-8CEC-44F1-B053-AF6F72666649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7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A40D5-E8E5-4503-912E-88071A92CBAD}" type="slidenum">
              <a:rPr lang="pt-BR" altLang="pt-BR"/>
              <a:pPr/>
              <a:t>3</a:t>
            </a:fld>
            <a:endParaRPr lang="pt-BR" altLang="pt-BR"/>
          </a:p>
        </p:txBody>
      </p:sp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663575"/>
          </a:xfrm>
        </p:spPr>
        <p:txBody>
          <a:bodyPr/>
          <a:lstStyle/>
          <a:p>
            <a:pPr algn="ctr"/>
            <a:r>
              <a:rPr lang="pt-BR" altLang="pt-BR" sz="2800" b="1" u="sng"/>
              <a:t>Repetidores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41438"/>
            <a:ext cx="7772400" cy="467836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sz="2800" dirty="0"/>
              <a:t>O relé remove mecanicamente o repetidor da rede em caso de falha.   (Fig. </a:t>
            </a:r>
            <a:r>
              <a:rPr lang="pt-BR" altLang="pt-BR" sz="2800" dirty="0" smtClean="0"/>
              <a:t>1-13</a:t>
            </a:r>
            <a:r>
              <a:rPr lang="pt-BR" altLang="pt-BR" sz="2800" dirty="0"/>
              <a:t>, </a:t>
            </a:r>
            <a:r>
              <a:rPr lang="pt-BR" altLang="pt-BR" sz="2800" dirty="0" smtClean="0"/>
              <a:t>1-14</a:t>
            </a:r>
            <a:r>
              <a:rPr lang="pt-BR" altLang="pt-BR" sz="2800" dirty="0"/>
              <a:t>)</a:t>
            </a:r>
          </a:p>
          <a:p>
            <a:pPr>
              <a:buFont typeface="Monotype Sorts" charset="2"/>
              <a:buNone/>
            </a:pPr>
            <a:endParaRPr lang="pt-BR" altLang="pt-BR" dirty="0"/>
          </a:p>
        </p:txBody>
      </p:sp>
      <p:pic>
        <p:nvPicPr>
          <p:cNvPr id="13107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96"/>
          <a:stretch/>
        </p:blipFill>
        <p:spPr bwMode="auto">
          <a:xfrm>
            <a:off x="468313" y="2708275"/>
            <a:ext cx="3671887" cy="2304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1077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05"/>
          <a:stretch/>
        </p:blipFill>
        <p:spPr bwMode="auto">
          <a:xfrm>
            <a:off x="4284663" y="2708275"/>
            <a:ext cx="4248150" cy="2304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9A4A1-3186-4FAA-A81A-FD29D1CD3F66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D4FD-3EEE-4A9A-AEA2-A448993D9119}" type="slidenum">
              <a:rPr lang="pt-BR" altLang="pt-BR"/>
              <a:pPr/>
              <a:t>4</a:t>
            </a:fld>
            <a:endParaRPr lang="pt-BR" altLang="pt-BR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879475"/>
          </a:xfrm>
        </p:spPr>
        <p:txBody>
          <a:bodyPr/>
          <a:lstStyle/>
          <a:p>
            <a:pPr algn="ctr"/>
            <a:r>
              <a:rPr lang="pt-BR" altLang="pt-BR" sz="3200" b="1" u="sng"/>
              <a:t>Repetidores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0000"/>
              </a:lnSpc>
              <a:buFont typeface="Monotype Sorts" charset="2"/>
              <a:buNone/>
            </a:pPr>
            <a:r>
              <a:rPr lang="pt-BR" altLang="pt-BR" b="1" u="sng"/>
              <a:t>Melhoras na Topologia em Anel</a:t>
            </a:r>
          </a:p>
          <a:p>
            <a:pPr>
              <a:lnSpc>
                <a:spcPct val="110000"/>
              </a:lnSpc>
            </a:pPr>
            <a:r>
              <a:rPr lang="pt-BR" altLang="pt-BR"/>
              <a:t>Tornam a rede praticamente não vulnerável a falhas.</a:t>
            </a:r>
          </a:p>
          <a:p>
            <a:pPr>
              <a:lnSpc>
                <a:spcPct val="110000"/>
              </a:lnSpc>
            </a:pPr>
            <a:r>
              <a:rPr lang="pt-BR" altLang="pt-BR"/>
              <a:t>Isola a falha</a:t>
            </a:r>
          </a:p>
          <a:p>
            <a:pPr>
              <a:lnSpc>
                <a:spcPct val="110000"/>
              </a:lnSpc>
            </a:pPr>
            <a:r>
              <a:rPr lang="pt-BR" altLang="pt-BR"/>
              <a:t>Possibilita a adição de novas estações sem a para total da rede.</a:t>
            </a:r>
          </a:p>
          <a:p>
            <a:endParaRPr lang="pt-BR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40719-0052-417D-A5BE-02A3D14FDC65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7C7898-8D7D-4673-815B-6C25EDBB4527}" type="slidenum">
              <a:rPr lang="pt-BR" altLang="pt-BR"/>
              <a:pPr/>
              <a:t>5</a:t>
            </a:fld>
            <a:endParaRPr lang="pt-BR" altLang="pt-BR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762000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>
                <a:solidFill>
                  <a:schemeClr val="tx1"/>
                </a:solidFill>
              </a:rPr>
              <a:t>Concentrador Passivo ou Hubs</a:t>
            </a:r>
            <a:r>
              <a:rPr lang="pt-BR" altLang="pt-BR" sz="2800">
                <a:solidFill>
                  <a:schemeClr val="tx1"/>
                </a:solidFill>
              </a:rPr>
              <a:t/>
            </a:r>
            <a:br>
              <a:rPr lang="pt-BR" altLang="pt-BR" sz="2800">
                <a:solidFill>
                  <a:schemeClr val="tx1"/>
                </a:solidFill>
              </a:rPr>
            </a:br>
            <a:endParaRPr lang="pt-BR" altLang="pt-BR" sz="2800">
              <a:solidFill>
                <a:schemeClr val="tx1"/>
              </a:solidFill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724400"/>
          </a:xfrm>
          <a:noFill/>
          <a:ln/>
        </p:spPr>
        <p:txBody>
          <a:bodyPr/>
          <a:lstStyle/>
          <a:p>
            <a:r>
              <a:rPr lang="pt-BR" altLang="pt-BR" dirty="0"/>
              <a:t>Permitem a concentração de todo o cabeamento e isolam o anel em caso de falha. (Fig. </a:t>
            </a:r>
            <a:r>
              <a:rPr lang="pt-BR" altLang="pt-BR" dirty="0" smtClean="0"/>
              <a:t>1-15</a:t>
            </a:r>
            <a:r>
              <a:rPr lang="pt-BR" altLang="pt-BR" dirty="0"/>
              <a:t>)</a:t>
            </a:r>
          </a:p>
          <a:p>
            <a:r>
              <a:rPr lang="pt-BR" altLang="pt-BR" dirty="0"/>
              <a:t>A distância entre dois concentradores não deverá ultrapassar o limite máximo permitido sem regeneração do sinal.   (</a:t>
            </a:r>
            <a:r>
              <a:rPr lang="pt-BR" altLang="pt-BR" dirty="0" err="1"/>
              <a:t>Fig</a:t>
            </a:r>
            <a:r>
              <a:rPr lang="pt-BR" altLang="pt-BR" dirty="0"/>
              <a:t> </a:t>
            </a:r>
            <a:r>
              <a:rPr lang="pt-BR" altLang="pt-BR" dirty="0" smtClean="0"/>
              <a:t>1-16</a:t>
            </a:r>
            <a:r>
              <a:rPr lang="pt-BR" altLang="pt-BR" dirty="0"/>
              <a:t>)</a:t>
            </a:r>
          </a:p>
          <a:p>
            <a:pPr>
              <a:buFont typeface="Monotype Sorts" charset="2"/>
              <a:buNone/>
            </a:pPr>
            <a:endParaRPr lang="pt-BR" altLang="pt-BR" dirty="0"/>
          </a:p>
          <a:p>
            <a:pPr>
              <a:buFont typeface="Monotype Sorts" charset="2"/>
              <a:buNone/>
            </a:pPr>
            <a:endParaRPr lang="pt-BR" altLang="pt-BR" b="1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32CBF-8722-4BE5-AE9B-0B9B2536EFDF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2F765-3E39-4A5D-B3C5-388126E40FF6}" type="slidenum">
              <a:rPr lang="pt-BR" altLang="pt-BR"/>
              <a:pPr/>
              <a:t>6</a:t>
            </a:fld>
            <a:endParaRPr lang="pt-BR" altLang="pt-BR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/>
              <a:t>Concentrador Passivo</a:t>
            </a:r>
          </a:p>
        </p:txBody>
      </p:sp>
      <p:pic>
        <p:nvPicPr>
          <p:cNvPr id="132103" name="Picture 7"/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31"/>
          <a:stretch/>
        </p:blipFill>
        <p:spPr>
          <a:xfrm>
            <a:off x="685800" y="2384425"/>
            <a:ext cx="3810000" cy="2340719"/>
          </a:xfrm>
          <a:noFill/>
          <a:ln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132104" name="Picture 8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77"/>
          <a:stretch/>
        </p:blipFill>
        <p:spPr>
          <a:xfrm>
            <a:off x="4648200" y="2170113"/>
            <a:ext cx="3810000" cy="2915071"/>
          </a:xfrm>
          <a:noFill/>
          <a:ln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1C61C-B396-409F-9C73-D260C4446D69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7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8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197BE-7DA7-404B-ACA3-CFC3203623BC}" type="slidenum">
              <a:rPr lang="pt-BR" altLang="pt-BR"/>
              <a:pPr/>
              <a:t>7</a:t>
            </a:fld>
            <a:endParaRPr lang="pt-BR" altLang="pt-BR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altLang="pt-BR" sz="4000" b="1" u="sng"/>
              <a:t>Concentrador Ativo ou Hubs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28775"/>
            <a:ext cx="7772400" cy="4391025"/>
          </a:xfrm>
        </p:spPr>
        <p:txBody>
          <a:bodyPr/>
          <a:lstStyle/>
          <a:p>
            <a:r>
              <a:rPr lang="pt-BR" altLang="pt-BR" sz="2400" dirty="0"/>
              <a:t>São concentradores dos repetidores do anel.</a:t>
            </a:r>
          </a:p>
          <a:p>
            <a:r>
              <a:rPr lang="pt-BR" altLang="pt-BR" sz="2400" dirty="0"/>
              <a:t>Falhas nos segmentos entre concentradores pode parar a rede.</a:t>
            </a:r>
          </a:p>
          <a:p>
            <a:r>
              <a:rPr lang="pt-BR" altLang="pt-BR" sz="2400" dirty="0"/>
              <a:t>Solução: utilização de caminhos alternativos.    Fig. </a:t>
            </a:r>
            <a:r>
              <a:rPr lang="pt-BR" altLang="pt-BR" sz="2400" dirty="0" smtClean="0"/>
              <a:t>(1-17</a:t>
            </a:r>
            <a:r>
              <a:rPr lang="pt-BR" altLang="pt-BR" sz="2400" dirty="0"/>
              <a:t>, </a:t>
            </a:r>
            <a:r>
              <a:rPr lang="pt-BR" altLang="pt-BR" sz="2400" dirty="0" smtClean="0"/>
              <a:t>1-18</a:t>
            </a:r>
            <a:r>
              <a:rPr lang="pt-BR" altLang="pt-BR" sz="2400" dirty="0"/>
              <a:t>)</a:t>
            </a:r>
            <a:br>
              <a:rPr lang="pt-BR" altLang="pt-BR" sz="2400" dirty="0"/>
            </a:br>
            <a:endParaRPr lang="pt-BR" altLang="pt-BR" sz="2400" dirty="0"/>
          </a:p>
          <a:p>
            <a:endParaRPr lang="pt-BR" altLang="pt-BR" dirty="0"/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91"/>
          <a:stretch/>
        </p:blipFill>
        <p:spPr bwMode="auto">
          <a:xfrm>
            <a:off x="468313" y="3644900"/>
            <a:ext cx="3867150" cy="2304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421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160"/>
          <a:stretch/>
        </p:blipFill>
        <p:spPr bwMode="auto">
          <a:xfrm>
            <a:off x="4427538" y="3644900"/>
            <a:ext cx="4176712" cy="2088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6A843-8BD4-4F72-8DBC-1941B81515F6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FAFA7-4EB4-43B2-81D1-771D167ACDD5}" type="slidenum">
              <a:rPr lang="pt-BR" altLang="pt-BR"/>
              <a:pPr/>
              <a:t>8</a:t>
            </a:fld>
            <a:endParaRPr lang="pt-BR" altLang="pt-BR"/>
          </a:p>
        </p:txBody>
      </p:sp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735013"/>
          </a:xfrm>
        </p:spPr>
        <p:txBody>
          <a:bodyPr/>
          <a:lstStyle/>
          <a:p>
            <a:pPr algn="ctr"/>
            <a:r>
              <a:rPr lang="pt-BR" altLang="pt-BR" sz="2800" b="1" u="sng"/>
              <a:t>Vários Anéis Conectados por Pontes</a:t>
            </a:r>
            <a:br>
              <a:rPr lang="pt-BR" altLang="pt-BR" sz="2800" b="1" u="sng"/>
            </a:br>
            <a:endParaRPr lang="pt-BR" altLang="pt-BR" sz="2800" b="1" u="sng"/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68413"/>
            <a:ext cx="7772400" cy="4751387"/>
          </a:xfrm>
        </p:spPr>
        <p:txBody>
          <a:bodyPr/>
          <a:lstStyle/>
          <a:p>
            <a:r>
              <a:rPr lang="pt-BR" altLang="pt-BR" sz="2400" dirty="0"/>
              <a:t>Aumenta a confiabilidade.</a:t>
            </a:r>
          </a:p>
          <a:p>
            <a:r>
              <a:rPr lang="pt-BR" altLang="pt-BR" sz="2400" dirty="0"/>
              <a:t>Melhora o nível de desempenho. (Fig. </a:t>
            </a:r>
            <a:r>
              <a:rPr lang="pt-BR" altLang="pt-BR" sz="2400" dirty="0" smtClean="0"/>
              <a:t>1-19</a:t>
            </a:r>
            <a:r>
              <a:rPr lang="pt-BR" altLang="pt-BR" sz="2400" dirty="0"/>
              <a:t>)</a:t>
            </a:r>
            <a:r>
              <a:rPr lang="pt-BR" altLang="pt-BR" dirty="0"/>
              <a:t> </a:t>
            </a:r>
          </a:p>
          <a:p>
            <a:endParaRPr lang="pt-BR" altLang="pt-BR" dirty="0"/>
          </a:p>
        </p:txBody>
      </p:sp>
      <p:pic>
        <p:nvPicPr>
          <p:cNvPr id="13414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31"/>
          <a:stretch/>
        </p:blipFill>
        <p:spPr bwMode="auto">
          <a:xfrm>
            <a:off x="1619250" y="2349501"/>
            <a:ext cx="6265863" cy="3239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1DF92-A5ED-4CBE-90DF-8D055D8BE97F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301DF3-FFF9-4FB7-8452-9ABFA572D8CD}" type="slidenum">
              <a:rPr lang="pt-BR" altLang="pt-BR"/>
              <a:pPr/>
              <a:t>9</a:t>
            </a:fld>
            <a:endParaRPr lang="pt-BR" altLang="pt-BR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838200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1.2.3 </a:t>
            </a:r>
            <a:r>
              <a:rPr lang="pt-BR" altLang="pt-BR" sz="2800" b="1" u="sng" dirty="0">
                <a:solidFill>
                  <a:schemeClr val="tx1"/>
                </a:solidFill>
              </a:rPr>
              <a:t>Topologia em  Barramento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648200"/>
          </a:xfrm>
          <a:noFill/>
          <a:ln/>
        </p:spPr>
        <p:txBody>
          <a:bodyPr/>
          <a:lstStyle/>
          <a:p>
            <a:r>
              <a:rPr lang="pt-BR" altLang="pt-BR" sz="2800"/>
              <a:t>Adaptado as redes locais de comunicação.</a:t>
            </a:r>
          </a:p>
          <a:p>
            <a:r>
              <a:rPr lang="pt-BR" altLang="pt-BR" sz="2800"/>
              <a:t>Elimina a necessidade do nó de comunicação central.</a:t>
            </a:r>
          </a:p>
          <a:p>
            <a:r>
              <a:rPr lang="pt-BR" altLang="pt-BR" sz="2800"/>
              <a:t>Sem roteamento.</a:t>
            </a:r>
          </a:p>
          <a:p>
            <a:r>
              <a:rPr lang="pt-BR" altLang="pt-BR" sz="2800"/>
              <a:t>Redução da complexidade de instalação do meio físico.</a:t>
            </a:r>
          </a:p>
          <a:p>
            <a:r>
              <a:rPr lang="pt-BR" altLang="pt-BR" sz="2800"/>
              <a:t>Os nós são endereçados logicamente.</a:t>
            </a:r>
          </a:p>
          <a:p>
            <a:r>
              <a:rPr lang="pt-BR" altLang="pt-BR" sz="2800"/>
              <a:t>A única decisão necessária em cada um dos nós de comunicação é a identificação das mensagens que lhe são destinadas.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9A5A9E-EEC3-4082-8992-CDC82FC8903B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63B1E-4DAC-4EB1-A273-88151F6AF2F1}" type="slidenum">
              <a:rPr lang="pt-BR" altLang="pt-BR"/>
              <a:pPr/>
              <a:t>10</a:t>
            </a:fld>
            <a:endParaRPr lang="pt-BR" altLang="pt-BR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808038"/>
          </a:xfrm>
        </p:spPr>
        <p:txBody>
          <a:bodyPr/>
          <a:lstStyle/>
          <a:p>
            <a:pPr algn="ctr"/>
            <a:r>
              <a:rPr lang="pt-BR" altLang="pt-BR" sz="3200" b="1" u="sng" dirty="0" smtClean="0">
                <a:solidFill>
                  <a:schemeClr val="tx1"/>
                </a:solidFill>
              </a:rPr>
              <a:t>1.2.3 </a:t>
            </a:r>
            <a:r>
              <a:rPr lang="pt-BR" altLang="pt-BR" sz="3200" b="1" u="sng" dirty="0">
                <a:solidFill>
                  <a:schemeClr val="tx1"/>
                </a:solidFill>
              </a:rPr>
              <a:t>Topologia em  Barramento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28775"/>
            <a:ext cx="7772400" cy="4391025"/>
          </a:xfrm>
        </p:spPr>
        <p:txBody>
          <a:bodyPr/>
          <a:lstStyle/>
          <a:p>
            <a:r>
              <a:rPr lang="pt-BR" altLang="pt-BR" sz="2400" dirty="0"/>
              <a:t>O meio físico é composto de um único segmento de transmissão multiponto, compartilhado pelos nós.</a:t>
            </a:r>
          </a:p>
          <a:p>
            <a:r>
              <a:rPr lang="pt-BR" altLang="pt-BR" sz="2400" dirty="0"/>
              <a:t>Alta confiabilidade, o nó tem comportamento passivo com relação a comunicação e o meio físico.</a:t>
            </a:r>
          </a:p>
          <a:p>
            <a:r>
              <a:rPr lang="pt-BR" altLang="pt-BR" sz="2400" dirty="0"/>
              <a:t>Há limitação no alcance da rede, e dos meios físicos disponíveis.   (Fig. </a:t>
            </a:r>
            <a:r>
              <a:rPr lang="pt-BR" altLang="pt-BR" sz="2400" dirty="0" smtClean="0"/>
              <a:t>1-20</a:t>
            </a:r>
            <a:r>
              <a:rPr lang="pt-BR" altLang="pt-BR" sz="2400" dirty="0"/>
              <a:t>)</a:t>
            </a:r>
          </a:p>
          <a:p>
            <a:endParaRPr lang="pt-BR" altLang="pt-BR" sz="2400" dirty="0"/>
          </a:p>
        </p:txBody>
      </p:sp>
      <p:pic>
        <p:nvPicPr>
          <p:cNvPr id="61444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84"/>
          <a:stretch/>
        </p:blipFill>
        <p:spPr bwMode="auto">
          <a:xfrm>
            <a:off x="1258888" y="4003675"/>
            <a:ext cx="4826000" cy="122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04CDE-B8E9-4B51-A4E8-0E13E9F7735D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C5FFCC-3C60-4F02-B216-155FA14B424A}" type="slidenum">
              <a:rPr lang="pt-BR" altLang="pt-BR"/>
              <a:pPr/>
              <a:t>11</a:t>
            </a:fld>
            <a:endParaRPr lang="pt-BR" altLang="pt-BR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33400"/>
            <a:ext cx="8351837" cy="1143000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1.2.3 </a:t>
            </a:r>
            <a:r>
              <a:rPr lang="pt-BR" altLang="pt-BR" sz="2800" b="1" u="sng" dirty="0">
                <a:solidFill>
                  <a:schemeClr val="tx1"/>
                </a:solidFill>
              </a:rPr>
              <a:t>Topologia em  Barramento (Continuação)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7989887" cy="4391025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sz="2800" b="1" dirty="0"/>
              <a:t>Transceptor </a:t>
            </a:r>
            <a:r>
              <a:rPr lang="pt-BR" altLang="pt-BR" sz="2800" dirty="0"/>
              <a:t>liga as estações ao meio de comunicação (transmissão/receptor)</a:t>
            </a:r>
          </a:p>
          <a:p>
            <a:pPr>
              <a:lnSpc>
                <a:spcPct val="110000"/>
              </a:lnSpc>
            </a:pPr>
            <a:r>
              <a:rPr lang="pt-BR" altLang="pt-BR" sz="2800" b="1" dirty="0"/>
              <a:t>Terminador</a:t>
            </a:r>
            <a:r>
              <a:rPr lang="pt-BR" altLang="pt-BR" sz="2800" dirty="0"/>
              <a:t> evita reflexões espúrias que interfiram no sinal transmitido. (Fig. </a:t>
            </a:r>
            <a:r>
              <a:rPr lang="pt-BR" altLang="pt-BR" sz="2800" dirty="0" smtClean="0"/>
              <a:t>1-21</a:t>
            </a:r>
            <a:r>
              <a:rPr lang="pt-BR" altLang="pt-BR" sz="2800" dirty="0"/>
              <a:t>)</a:t>
            </a:r>
          </a:p>
          <a:p>
            <a:pPr>
              <a:lnSpc>
                <a:spcPct val="110000"/>
              </a:lnSpc>
            </a:pPr>
            <a:endParaRPr lang="pt-BR" altLang="pt-BR" sz="2000" dirty="0"/>
          </a:p>
          <a:p>
            <a:pPr lvl="1">
              <a:lnSpc>
                <a:spcPct val="110000"/>
              </a:lnSpc>
            </a:pPr>
            <a:endParaRPr lang="pt-BR" altLang="pt-BR" sz="2400" dirty="0"/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87"/>
          <a:stretch/>
        </p:blipFill>
        <p:spPr bwMode="auto">
          <a:xfrm>
            <a:off x="1763713" y="3752851"/>
            <a:ext cx="4567237" cy="2124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FCEEB-C98D-4E1A-9816-B33E65B4680A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891949-63F9-4B79-8EAB-6D5D63F076D6}" type="slidenum">
              <a:rPr lang="pt-BR" altLang="pt-BR"/>
              <a:pPr/>
              <a:t>12</a:t>
            </a:fld>
            <a:endParaRPr lang="pt-BR" altLang="pt-BR"/>
          </a:p>
        </p:txBody>
      </p:sp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663575"/>
          </a:xfrm>
        </p:spPr>
        <p:txBody>
          <a:bodyPr/>
          <a:lstStyle/>
          <a:p>
            <a:pPr algn="ctr"/>
            <a:r>
              <a:rPr lang="pt-BR" altLang="pt-BR" sz="2800" b="1"/>
              <a:t>Hubs ou Concentradores</a:t>
            </a: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41438"/>
            <a:ext cx="7772400" cy="4678362"/>
          </a:xfrm>
        </p:spPr>
        <p:txBody>
          <a:bodyPr/>
          <a:lstStyle/>
          <a:p>
            <a:pPr lvl="1">
              <a:lnSpc>
                <a:spcPct val="110000"/>
              </a:lnSpc>
            </a:pPr>
            <a:r>
              <a:rPr lang="pt-BR" altLang="pt-BR" sz="2400" dirty="0"/>
              <a:t>Facilitam a localização e o isolamento de falhas</a:t>
            </a:r>
          </a:p>
          <a:p>
            <a:pPr lvl="1">
              <a:lnSpc>
                <a:spcPct val="110000"/>
              </a:lnSpc>
            </a:pPr>
            <a:r>
              <a:rPr lang="pt-BR" altLang="pt-BR" sz="2400" dirty="0"/>
              <a:t>Permite a inserção de novas estações na barra sem a parada do sistema.  (Fig. </a:t>
            </a:r>
            <a:r>
              <a:rPr lang="pt-BR" altLang="pt-BR" sz="2400" dirty="0" smtClean="0"/>
              <a:t>1-22</a:t>
            </a:r>
            <a:r>
              <a:rPr lang="pt-BR" altLang="pt-BR" sz="2400" dirty="0"/>
              <a:t>)</a:t>
            </a:r>
          </a:p>
          <a:p>
            <a:pPr lvl="1">
              <a:lnSpc>
                <a:spcPct val="110000"/>
              </a:lnSpc>
            </a:pPr>
            <a:r>
              <a:rPr lang="pt-BR" altLang="pt-BR" sz="2400" dirty="0"/>
              <a:t>Permitem a expansão do tamanho da rede.</a:t>
            </a:r>
          </a:p>
        </p:txBody>
      </p:sp>
      <p:pic>
        <p:nvPicPr>
          <p:cNvPr id="13517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975"/>
          <a:stretch/>
        </p:blipFill>
        <p:spPr bwMode="auto">
          <a:xfrm>
            <a:off x="1116013" y="3362325"/>
            <a:ext cx="7127875" cy="1506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2BD3D-1195-48D3-B200-058ABC4DD813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6F6B1-9EBF-4FCC-AFB2-116BE648253A}" type="slidenum">
              <a:rPr lang="pt-BR" altLang="pt-BR"/>
              <a:pPr/>
              <a:t>13</a:t>
            </a:fld>
            <a:endParaRPr lang="pt-BR" altLang="pt-BR"/>
          </a:p>
        </p:txBody>
      </p:sp>
      <p:pic>
        <p:nvPicPr>
          <p:cNvPr id="136196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097"/>
          <a:stretch/>
        </p:blipFill>
        <p:spPr bwMode="auto">
          <a:xfrm>
            <a:off x="1096963" y="1401763"/>
            <a:ext cx="6950075" cy="238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780E-948E-40BC-BC3F-FC8F95FF47B8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0392E-AD08-4985-A49C-02BDE1373497}" type="slidenum">
              <a:rPr lang="pt-BR" altLang="pt-BR"/>
              <a:pPr/>
              <a:t>14</a:t>
            </a:fld>
            <a:endParaRPr lang="pt-BR" altLang="pt-BR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879475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1.3 </a:t>
            </a:r>
            <a:r>
              <a:rPr lang="pt-BR" altLang="pt-BR" sz="2800" b="1" u="sng" dirty="0">
                <a:solidFill>
                  <a:schemeClr val="tx1"/>
                </a:solidFill>
              </a:rPr>
              <a:t>Satélite ou Radio</a:t>
            </a:r>
            <a:r>
              <a:rPr lang="pt-BR" altLang="pt-BR" sz="2000" b="1" u="sng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4313"/>
            <a:ext cx="7772400" cy="4535487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sz="2800" dirty="0"/>
              <a:t>Destinadas principalmente a transmissões multiponto.</a:t>
            </a:r>
          </a:p>
          <a:p>
            <a:pPr>
              <a:lnSpc>
                <a:spcPct val="110000"/>
              </a:lnSpc>
            </a:pPr>
            <a:r>
              <a:rPr lang="pt-BR" altLang="pt-BR" sz="2800" dirty="0"/>
              <a:t>Pode ser usada em redes locais, metropolitanas ou de longa distância.</a:t>
            </a:r>
          </a:p>
          <a:p>
            <a:pPr>
              <a:lnSpc>
                <a:spcPct val="110000"/>
              </a:lnSpc>
            </a:pPr>
            <a:r>
              <a:rPr lang="pt-BR" altLang="pt-BR" sz="2800" dirty="0"/>
              <a:t>Uso de roteamento fixo.</a:t>
            </a:r>
          </a:p>
          <a:p>
            <a:pPr>
              <a:lnSpc>
                <a:spcPct val="110000"/>
              </a:lnSpc>
            </a:pPr>
            <a:r>
              <a:rPr lang="pt-BR" altLang="pt-BR" sz="2800" dirty="0"/>
              <a:t>Meio físico barato porém equipamentos transmissores e receptores caros.</a:t>
            </a:r>
          </a:p>
          <a:p>
            <a:pPr>
              <a:lnSpc>
                <a:spcPct val="110000"/>
              </a:lnSpc>
            </a:pPr>
            <a:r>
              <a:rPr lang="pt-BR" altLang="pt-BR" sz="2800" dirty="0"/>
              <a:t>Transmissões diretas sem nó intermediário.</a:t>
            </a:r>
          </a:p>
          <a:p>
            <a:pPr>
              <a:lnSpc>
                <a:spcPct val="110000"/>
              </a:lnSpc>
            </a:pPr>
            <a:r>
              <a:rPr lang="pt-BR" altLang="pt-BR" sz="2800" dirty="0"/>
              <a:t>Velocidades limitadas.  (Fig. </a:t>
            </a:r>
            <a:r>
              <a:rPr lang="pt-BR" altLang="pt-BR" sz="2800" dirty="0" smtClean="0"/>
              <a:t>1-24</a:t>
            </a:r>
            <a:r>
              <a:rPr lang="pt-BR" altLang="pt-BR" sz="2800" dirty="0"/>
              <a:t>, </a:t>
            </a:r>
            <a:r>
              <a:rPr lang="pt-BR" altLang="pt-BR" sz="2800" dirty="0" smtClean="0"/>
              <a:t>1-25</a:t>
            </a:r>
            <a:r>
              <a:rPr lang="pt-BR" altLang="pt-BR" sz="2800" dirty="0"/>
              <a:t>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153F5-2A2B-48FF-98BC-34C8E7BD60AC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8F7AEA-C72A-4547-B4B1-73192B319039}" type="slidenum">
              <a:rPr lang="pt-BR" altLang="pt-BR"/>
              <a:pPr/>
              <a:t>15</a:t>
            </a:fld>
            <a:endParaRPr lang="pt-BR" altLang="pt-BR"/>
          </a:p>
        </p:txBody>
      </p:sp>
      <p:pic>
        <p:nvPicPr>
          <p:cNvPr id="137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452438"/>
            <a:ext cx="7775575" cy="556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tângulo 5"/>
          <p:cNvSpPr/>
          <p:nvPr/>
        </p:nvSpPr>
        <p:spPr bwMode="auto">
          <a:xfrm>
            <a:off x="692570" y="3236913"/>
            <a:ext cx="7695854" cy="408111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tângulo 7"/>
          <p:cNvSpPr/>
          <p:nvPr/>
        </p:nvSpPr>
        <p:spPr bwMode="auto">
          <a:xfrm>
            <a:off x="692570" y="5598134"/>
            <a:ext cx="7695854" cy="408111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FF262-DEE8-4438-93A0-18EB0CAC12E5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2653C-869C-4FC7-8926-FB3BD6E21F6C}" type="slidenum">
              <a:rPr lang="pt-BR" altLang="pt-BR"/>
              <a:pPr/>
              <a:t>16</a:t>
            </a:fld>
            <a:endParaRPr lang="pt-BR" altLang="pt-BR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7772400" cy="719138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1.4 </a:t>
            </a:r>
            <a:r>
              <a:rPr lang="pt-BR" altLang="pt-BR" sz="2800" b="1" u="sng" dirty="0">
                <a:solidFill>
                  <a:schemeClr val="tx1"/>
                </a:solidFill>
              </a:rPr>
              <a:t>Configurações Híbridas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68413"/>
            <a:ext cx="7772400" cy="4751387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sz="2800" b="1"/>
              <a:t>Associação das topologias básicas:</a:t>
            </a:r>
          </a:p>
          <a:p>
            <a:pPr lvl="1">
              <a:lnSpc>
                <a:spcPct val="110000"/>
              </a:lnSpc>
            </a:pPr>
            <a:r>
              <a:rPr lang="pt-BR" altLang="pt-BR" sz="2400"/>
              <a:t>Anel</a:t>
            </a:r>
          </a:p>
          <a:p>
            <a:pPr lvl="1">
              <a:lnSpc>
                <a:spcPct val="110000"/>
              </a:lnSpc>
            </a:pPr>
            <a:r>
              <a:rPr lang="pt-BR" altLang="pt-BR" sz="2400"/>
              <a:t>Barramento</a:t>
            </a:r>
          </a:p>
          <a:p>
            <a:pPr lvl="1">
              <a:lnSpc>
                <a:spcPct val="110000"/>
              </a:lnSpc>
            </a:pPr>
            <a:r>
              <a:rPr lang="pt-BR" altLang="pt-BR" sz="2400"/>
              <a:t>Estrela</a:t>
            </a:r>
          </a:p>
          <a:p>
            <a:pPr>
              <a:lnSpc>
                <a:spcPct val="110000"/>
              </a:lnSpc>
            </a:pPr>
            <a:r>
              <a:rPr lang="pt-BR" altLang="pt-BR" sz="2800" b="1"/>
              <a:t>Visam solucionar problemas de:</a:t>
            </a:r>
          </a:p>
          <a:p>
            <a:pPr lvl="1">
              <a:lnSpc>
                <a:spcPct val="110000"/>
              </a:lnSpc>
            </a:pPr>
            <a:r>
              <a:rPr lang="pt-BR" altLang="pt-BR" sz="2000"/>
              <a:t>Incompatibilidade tecnológica com o meio de transmissão.</a:t>
            </a:r>
          </a:p>
          <a:p>
            <a:pPr lvl="1">
              <a:lnSpc>
                <a:spcPct val="110000"/>
              </a:lnSpc>
            </a:pPr>
            <a:r>
              <a:rPr lang="pt-BR" altLang="pt-BR" sz="2000"/>
              <a:t>Dificuldades de manutenção e operação.</a:t>
            </a:r>
          </a:p>
          <a:p>
            <a:pPr lvl="1">
              <a:lnSpc>
                <a:spcPct val="110000"/>
              </a:lnSpc>
            </a:pPr>
            <a:r>
              <a:rPr lang="pt-BR" altLang="pt-BR" sz="2000"/>
              <a:t>Limitações no número de estações e no alcance da rede.</a:t>
            </a:r>
          </a:p>
          <a:p>
            <a:pPr lvl="1">
              <a:lnSpc>
                <a:spcPct val="110000"/>
              </a:lnSpc>
            </a:pPr>
            <a:r>
              <a:rPr lang="pt-BR" altLang="pt-BR" sz="2000"/>
              <a:t>Confiabilidade</a:t>
            </a:r>
          </a:p>
          <a:p>
            <a:pPr lvl="1">
              <a:lnSpc>
                <a:spcPct val="110000"/>
              </a:lnSpc>
            </a:pPr>
            <a:r>
              <a:rPr lang="pt-BR" altLang="pt-BR" sz="2000"/>
              <a:t>Necessidade de interconexão de redes, etc.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3038B-1B9B-4BA8-BB65-9B2CB943E524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11DA9-6DF7-4D57-8AF1-190E4D792BCA}" type="slidenum">
              <a:rPr lang="pt-BR" altLang="pt-BR"/>
              <a:pPr/>
              <a:t>17</a:t>
            </a:fld>
            <a:endParaRPr lang="pt-BR" altLang="pt-BR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1.4 </a:t>
            </a:r>
            <a:r>
              <a:rPr lang="pt-BR" altLang="pt-BR" sz="2800" b="1" u="sng" dirty="0">
                <a:solidFill>
                  <a:schemeClr val="tx1"/>
                </a:solidFill>
              </a:rPr>
              <a:t>Configurações Híbridas (Continuação)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pt-BR" altLang="pt-BR" sz="2800" b="1"/>
              <a:t>Tipos mais comuns</a:t>
            </a:r>
          </a:p>
          <a:p>
            <a:pPr lvl="1"/>
            <a:r>
              <a:rPr lang="pt-BR" altLang="pt-BR"/>
              <a:t>Anel-Estrela</a:t>
            </a:r>
          </a:p>
          <a:p>
            <a:pPr lvl="1"/>
            <a:r>
              <a:rPr lang="pt-BR" altLang="pt-BR"/>
              <a:t>Barramento-Estrela</a:t>
            </a:r>
          </a:p>
          <a:p>
            <a:pPr lvl="1"/>
            <a:r>
              <a:rPr lang="pt-BR" altLang="pt-BR"/>
              <a:t>Multianel ou Estrela-Anel</a:t>
            </a:r>
          </a:p>
          <a:p>
            <a:pPr lvl="1"/>
            <a:r>
              <a:rPr lang="pt-BR" altLang="pt-BR"/>
              <a:t>Árvores de barramentos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2E396-0905-4216-A166-1DAD69DD8160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C1A15-67B7-4A9C-A811-662B53B8B1D7}" type="slidenum">
              <a:rPr lang="pt-BR" altLang="pt-BR"/>
              <a:pPr/>
              <a:t>18</a:t>
            </a:fld>
            <a:endParaRPr lang="pt-BR" altLang="pt-BR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1.4.1 </a:t>
            </a:r>
            <a:r>
              <a:rPr lang="pt-BR" altLang="pt-BR" sz="2800" b="1" u="sng" dirty="0">
                <a:solidFill>
                  <a:schemeClr val="tx1"/>
                </a:solidFill>
              </a:rPr>
              <a:t>Anel-Estrela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pt-BR" altLang="pt-BR" sz="2800"/>
              <a:t>Estrutura de interconexão do tipo anel, com suportes físicos de transmissão centralizados em estrela.</a:t>
            </a:r>
          </a:p>
          <a:p>
            <a:r>
              <a:rPr lang="pt-BR" altLang="pt-BR" sz="2800"/>
              <a:t>A centralização é passiva.</a:t>
            </a:r>
          </a:p>
          <a:p>
            <a:r>
              <a:rPr lang="pt-BR" altLang="pt-BR" sz="2800"/>
              <a:t>Facilidade de operação e manutenção da rede.</a:t>
            </a:r>
          </a:p>
          <a:p>
            <a:pPr lvl="1"/>
            <a:r>
              <a:rPr lang="pt-BR" altLang="pt-BR"/>
              <a:t>Localização de falhas do meio físico.</a:t>
            </a:r>
          </a:p>
          <a:p>
            <a:pPr lvl="1"/>
            <a:r>
              <a:rPr lang="pt-BR" altLang="pt-BR"/>
              <a:t>Inserção e retiradas de nós.  (Fig. 2-26)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AC4E3-2B86-4FEB-8D5A-BA41C010DD4E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160A2-DA8D-4567-B9C5-37590156A21E}" type="slidenum">
              <a:rPr lang="pt-BR" altLang="pt-BR"/>
              <a:pPr/>
              <a:t>19</a:t>
            </a:fld>
            <a:endParaRPr lang="pt-BR" altLang="pt-BR"/>
          </a:p>
        </p:txBody>
      </p:sp>
      <p:pic>
        <p:nvPicPr>
          <p:cNvPr id="138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981075"/>
            <a:ext cx="4117975" cy="376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EF3CE-45A2-4789-843B-A268A1C95C91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773F2-F448-4E4B-B849-6F6E41DC549D}" type="slidenum">
              <a:rPr lang="pt-BR" altLang="pt-BR"/>
              <a:pPr/>
              <a:t>20</a:t>
            </a:fld>
            <a:endParaRPr lang="pt-BR" altLang="pt-BR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1.4.2 </a:t>
            </a:r>
            <a:r>
              <a:rPr lang="pt-BR" altLang="pt-BR" sz="2800" b="1" u="sng" dirty="0">
                <a:solidFill>
                  <a:schemeClr val="tx1"/>
                </a:solidFill>
              </a:rPr>
              <a:t>Barramento-Estrela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800" dirty="0"/>
              <a:t>Estrutura de interconexão do tipo barramento, com suportes físicos de transmissão centralizados em estrela.</a:t>
            </a:r>
          </a:p>
          <a:p>
            <a:pPr>
              <a:lnSpc>
                <a:spcPct val="90000"/>
              </a:lnSpc>
            </a:pPr>
            <a:r>
              <a:rPr lang="pt-BR" altLang="pt-BR" sz="2800" dirty="0"/>
              <a:t>A utilização é motivada pelas dificuldades na conexão multiponto com certas tecnologias de transmissão, tal como fibras óticas.</a:t>
            </a:r>
          </a:p>
          <a:p>
            <a:pPr>
              <a:lnSpc>
                <a:spcPct val="90000"/>
              </a:lnSpc>
            </a:pPr>
            <a:r>
              <a:rPr lang="pt-BR" altLang="pt-BR" sz="2800" dirty="0"/>
              <a:t>Acoplador central tem a função de difusão de mensagens.  (Fig. </a:t>
            </a:r>
            <a:r>
              <a:rPr lang="pt-BR" altLang="pt-BR" sz="2800" dirty="0" smtClean="0"/>
              <a:t>1-27</a:t>
            </a:r>
            <a:r>
              <a:rPr lang="pt-BR" altLang="pt-BR" sz="2800" dirty="0"/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20D36-E7C2-468C-AEFD-12E1B8159DD6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CB16E-05AB-4EAD-9052-CAAB462BF3DC}" type="slidenum">
              <a:rPr lang="pt-BR" altLang="pt-BR"/>
              <a:pPr/>
              <a:t>21</a:t>
            </a:fld>
            <a:endParaRPr lang="pt-BR" altLang="pt-BR"/>
          </a:p>
        </p:txBody>
      </p:sp>
      <p:pic>
        <p:nvPicPr>
          <p:cNvPr id="139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052513"/>
            <a:ext cx="7991475" cy="450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F9ADB-564B-40C5-A001-BF8897E3A2AE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CEFC3-BE07-49D3-A568-636F5A5459E6}" type="slidenum">
              <a:rPr lang="pt-BR" altLang="pt-BR"/>
              <a:pPr/>
              <a:t>22</a:t>
            </a:fld>
            <a:endParaRPr lang="pt-BR" altLang="pt-BR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735013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/>
              <a:t>1.4.3 </a:t>
            </a:r>
            <a:r>
              <a:rPr lang="pt-BR" altLang="pt-BR" sz="2800" b="1" u="sng" dirty="0" err="1"/>
              <a:t>Multianel</a:t>
            </a:r>
            <a:r>
              <a:rPr lang="pt-BR" altLang="pt-BR" sz="2800" b="1" u="sng" dirty="0"/>
              <a:t> ou Estrela-Anel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57338"/>
            <a:ext cx="7772400" cy="4462462"/>
          </a:xfrm>
          <a:noFill/>
          <a:ln/>
        </p:spPr>
        <p:txBody>
          <a:bodyPr/>
          <a:lstStyle/>
          <a:p>
            <a:r>
              <a:rPr lang="pt-BR" altLang="pt-BR" sz="2800" dirty="0"/>
              <a:t>Combina características das topologias: estrela e anel.</a:t>
            </a:r>
          </a:p>
          <a:p>
            <a:r>
              <a:rPr lang="pt-BR" altLang="pt-BR" sz="2800" dirty="0"/>
              <a:t>Anéis interconectados através de uma ou mais pontes ou nós.</a:t>
            </a:r>
          </a:p>
          <a:p>
            <a:r>
              <a:rPr lang="pt-BR" altLang="pt-BR" sz="2800" dirty="0"/>
              <a:t>Quando os anéis são interconectados por um único nó de interconexão, temos a configuração: estrela-anel.</a:t>
            </a:r>
          </a:p>
          <a:p>
            <a:r>
              <a:rPr lang="pt-BR" altLang="pt-BR" sz="2800" dirty="0"/>
              <a:t>Resulta da necessidade de interligação de redes do tipo anel e da necessidade de aumentar a confiabilidade da rede em anel.  (Fig. </a:t>
            </a:r>
            <a:r>
              <a:rPr lang="pt-BR" altLang="pt-BR" sz="2800" dirty="0" smtClean="0"/>
              <a:t>1-28</a:t>
            </a:r>
            <a:r>
              <a:rPr lang="pt-BR" altLang="pt-BR" sz="2800" dirty="0"/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2374C-EDE2-4FD1-BDFD-A0C55B9A68B4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407497-BC08-441E-900D-1B63A0583E1F}" type="slidenum">
              <a:rPr lang="pt-BR" altLang="pt-BR"/>
              <a:pPr/>
              <a:t>23</a:t>
            </a:fld>
            <a:endParaRPr lang="pt-BR" altLang="pt-BR"/>
          </a:p>
        </p:txBody>
      </p:sp>
      <p:pic>
        <p:nvPicPr>
          <p:cNvPr id="140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404813"/>
            <a:ext cx="6553200" cy="528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03C96E-12C7-4D39-8A94-8E4000ADCBD7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94C8B-D8AE-4FBB-8C46-273E6E31FEF9}" type="slidenum">
              <a:rPr lang="pt-BR" altLang="pt-BR"/>
              <a:pPr/>
              <a:t>24</a:t>
            </a:fld>
            <a:endParaRPr lang="pt-BR" altLang="pt-BR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pt-BR" altLang="pt-BR" sz="2800" b="1" u="sng" dirty="0" smtClean="0">
                <a:solidFill>
                  <a:schemeClr val="tx1"/>
                </a:solidFill>
              </a:rPr>
              <a:t>1.4.4 </a:t>
            </a:r>
            <a:r>
              <a:rPr lang="pt-BR" altLang="pt-BR" sz="2800" b="1" u="sng" dirty="0">
                <a:solidFill>
                  <a:schemeClr val="tx1"/>
                </a:solidFill>
              </a:rPr>
              <a:t>Árvore de Barramentos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pt-BR" altLang="pt-BR" sz="2800" dirty="0"/>
              <a:t>Estrutura de interconexão para vários barramentos.</a:t>
            </a:r>
          </a:p>
          <a:p>
            <a:r>
              <a:rPr lang="pt-BR" altLang="pt-BR" sz="2800" dirty="0"/>
              <a:t>Superar limitações de alcance e número de nós.</a:t>
            </a:r>
          </a:p>
          <a:p>
            <a:r>
              <a:rPr lang="pt-BR" altLang="pt-BR" sz="2800" dirty="0"/>
              <a:t>A interconexão é feita por um nó simplificado (nó repetidor).  (Fig. </a:t>
            </a:r>
            <a:r>
              <a:rPr lang="pt-BR" altLang="pt-BR" sz="2800" dirty="0" smtClean="0"/>
              <a:t>1-29</a:t>
            </a:r>
            <a:r>
              <a:rPr lang="pt-BR" altLang="pt-BR" sz="28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14763-3344-41F3-BCFC-A7E321AAEEE9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70E30-4985-4876-9FF0-C50049F37D66}" type="slidenum">
              <a:rPr lang="pt-BR" altLang="pt-BR"/>
              <a:pPr/>
              <a:t>25</a:t>
            </a:fld>
            <a:endParaRPr lang="pt-BR" altLang="pt-BR"/>
          </a:p>
        </p:txBody>
      </p:sp>
      <p:pic>
        <p:nvPicPr>
          <p:cNvPr id="141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549275"/>
            <a:ext cx="5045075" cy="474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2E359-24C8-4837-9F68-5263A8484D32}" type="datetime1">
              <a:rPr lang="pt-BR" altLang="pt-BR"/>
              <a:pPr/>
              <a:t>04/08/2023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6C16-30FB-4C2D-81A7-190FF6A603A0}" type="slidenum">
              <a:rPr lang="pt-BR" altLang="pt-BR"/>
              <a:pPr/>
              <a:t>26</a:t>
            </a:fld>
            <a:endParaRPr lang="pt-BR" altLang="pt-BR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pPr algn="ctr"/>
            <a:r>
              <a:rPr lang="pt-BR" altLang="pt-BR" b="1" u="sng" dirty="0" smtClean="0"/>
              <a:t>1.5 </a:t>
            </a:r>
            <a:r>
              <a:rPr lang="pt-BR" altLang="pt-BR" b="1" u="sng" dirty="0"/>
              <a:t>Fornecedores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pt-BR" altLang="pt-BR"/>
              <a:t>Quanto aos fornecedores as redes e os equipamentos podem ser:</a:t>
            </a:r>
          </a:p>
          <a:p>
            <a:pPr lvl="1"/>
            <a:r>
              <a:rPr lang="pt-BR" altLang="pt-BR"/>
              <a:t>Homogêneos</a:t>
            </a:r>
          </a:p>
          <a:p>
            <a:pPr lvl="1"/>
            <a:r>
              <a:rPr lang="pt-BR" altLang="pt-BR"/>
              <a:t>Heterogêneos</a:t>
            </a:r>
          </a:p>
          <a:p>
            <a:pPr>
              <a:buClr>
                <a:srgbClr val="FAFD00"/>
              </a:buClr>
            </a:pPr>
            <a:endParaRPr lang="pt-BR" altLang="pt-BR"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139A3-375C-4023-A8F8-65F325EA9F97}" type="datetime1">
              <a:rPr lang="pt-BR" altLang="pt-BR"/>
              <a:pPr/>
              <a:t>04/08/2023</a:t>
            </a:fld>
            <a:endParaRPr lang="pt-BR" alt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90D3F-C12E-4386-B213-50478E43693E}" type="slidenum">
              <a:rPr lang="pt-BR" altLang="pt-BR"/>
              <a:pPr/>
              <a:t>27</a:t>
            </a:fld>
            <a:endParaRPr lang="pt-BR" altLang="pt-BR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772400" cy="914400"/>
          </a:xfrm>
          <a:noFill/>
          <a:ln/>
        </p:spPr>
        <p:txBody>
          <a:bodyPr/>
          <a:lstStyle/>
          <a:p>
            <a:pPr algn="ctr"/>
            <a:r>
              <a:rPr lang="pt-BR" altLang="pt-BR" sz="2800" b="1" u="sng"/>
              <a:t>Sistemas Homogêneos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724400"/>
          </a:xfrm>
          <a:noFill/>
          <a:ln/>
        </p:spPr>
        <p:txBody>
          <a:bodyPr/>
          <a:lstStyle/>
          <a:p>
            <a:pPr>
              <a:lnSpc>
                <a:spcPct val="110000"/>
              </a:lnSpc>
            </a:pPr>
            <a:r>
              <a:rPr lang="pt-BR" altLang="pt-BR" sz="2000" b="1" dirty="0"/>
              <a:t>Vantagens</a:t>
            </a:r>
          </a:p>
          <a:p>
            <a:pPr lvl="1">
              <a:lnSpc>
                <a:spcPct val="110000"/>
              </a:lnSpc>
            </a:pPr>
            <a:r>
              <a:rPr lang="pt-BR" altLang="pt-BR" sz="2000" dirty="0"/>
              <a:t>Aplicação específica às necessidades</a:t>
            </a:r>
          </a:p>
          <a:p>
            <a:pPr lvl="1">
              <a:lnSpc>
                <a:spcPct val="110000"/>
              </a:lnSpc>
            </a:pPr>
            <a:r>
              <a:rPr lang="pt-BR" altLang="pt-BR" sz="2000" dirty="0"/>
              <a:t>Eficiência </a:t>
            </a:r>
          </a:p>
          <a:p>
            <a:pPr lvl="1">
              <a:lnSpc>
                <a:spcPct val="110000"/>
              </a:lnSpc>
            </a:pPr>
            <a:r>
              <a:rPr lang="pt-BR" altLang="pt-BR" sz="2000" dirty="0"/>
              <a:t>Não há problemas de ligação de seus componentes.</a:t>
            </a:r>
          </a:p>
          <a:p>
            <a:pPr lvl="1">
              <a:lnSpc>
                <a:spcPct val="110000"/>
              </a:lnSpc>
            </a:pPr>
            <a:r>
              <a:rPr lang="pt-BR" altLang="pt-BR" sz="2000" dirty="0"/>
              <a:t>Confiabilidade</a:t>
            </a:r>
          </a:p>
          <a:p>
            <a:pPr>
              <a:lnSpc>
                <a:spcPct val="110000"/>
              </a:lnSpc>
            </a:pPr>
            <a:r>
              <a:rPr lang="pt-BR" altLang="pt-BR" sz="2000" dirty="0"/>
              <a:t>Desvantagens</a:t>
            </a:r>
          </a:p>
          <a:p>
            <a:pPr lvl="1">
              <a:lnSpc>
                <a:spcPct val="110000"/>
              </a:lnSpc>
            </a:pPr>
            <a:r>
              <a:rPr lang="pt-BR" altLang="pt-BR" sz="2000" dirty="0"/>
              <a:t>Custo</a:t>
            </a:r>
          </a:p>
          <a:p>
            <a:pPr lvl="1">
              <a:lnSpc>
                <a:spcPct val="110000"/>
              </a:lnSpc>
            </a:pPr>
            <a:r>
              <a:rPr lang="pt-BR" altLang="pt-BR" sz="2000" dirty="0"/>
              <a:t>Dependência de um único fornecedor</a:t>
            </a:r>
          </a:p>
          <a:p>
            <a:pPr lvl="1">
              <a:lnSpc>
                <a:spcPct val="110000"/>
              </a:lnSpc>
            </a:pPr>
            <a:r>
              <a:rPr lang="pt-BR" altLang="pt-BR" sz="2000" dirty="0"/>
              <a:t>Evolução lenta (o sistema de comunicação não é produto final, mas um componente.)</a:t>
            </a:r>
          </a:p>
          <a:p>
            <a:pPr lvl="1">
              <a:lnSpc>
                <a:spcPct val="110000"/>
              </a:lnSpc>
            </a:pPr>
            <a:r>
              <a:rPr lang="pt-BR" altLang="pt-BR" sz="2000" dirty="0"/>
              <a:t>Incompatibilidade com sistemas de fabricantes diferentes ou até do mesmo fabricante, mas de gerações anteriores.</a:t>
            </a:r>
            <a:r>
              <a:rPr lang="pt-BR" altLang="pt-BR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ixas Coloridas">
  <a:themeElements>
    <a:clrScheme name="Caixas Coloridas 1">
      <a:dk1>
        <a:srgbClr val="000000"/>
      </a:dk1>
      <a:lt1>
        <a:srgbClr val="FFFFFF"/>
      </a:lt1>
      <a:dk2>
        <a:srgbClr val="969696"/>
      </a:dk2>
      <a:lt2>
        <a:srgbClr val="FFFFFF"/>
      </a:lt2>
      <a:accent1>
        <a:srgbClr val="0000FF"/>
      </a:accent1>
      <a:accent2>
        <a:srgbClr val="66FF33"/>
      </a:accent2>
      <a:accent3>
        <a:srgbClr val="C9C9C9"/>
      </a:accent3>
      <a:accent4>
        <a:srgbClr val="DADADA"/>
      </a:accent4>
      <a:accent5>
        <a:srgbClr val="AAAAFF"/>
      </a:accent5>
      <a:accent6>
        <a:srgbClr val="5CE72D"/>
      </a:accent6>
      <a:hlink>
        <a:srgbClr val="D60093"/>
      </a:hlink>
      <a:folHlink>
        <a:srgbClr val="B2B2B2"/>
      </a:folHlink>
    </a:clrScheme>
    <a:fontScheme name="Caixas Colorid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aixas Coloridas 1">
        <a:dk1>
          <a:srgbClr val="000000"/>
        </a:dk1>
        <a:lt1>
          <a:srgbClr val="FFFFFF"/>
        </a:lt1>
        <a:dk2>
          <a:srgbClr val="969696"/>
        </a:dk2>
        <a:lt2>
          <a:srgbClr val="FFFFFF"/>
        </a:lt2>
        <a:accent1>
          <a:srgbClr val="0000FF"/>
        </a:accent1>
        <a:accent2>
          <a:srgbClr val="66FF33"/>
        </a:accent2>
        <a:accent3>
          <a:srgbClr val="C9C9C9"/>
        </a:accent3>
        <a:accent4>
          <a:srgbClr val="DADADA"/>
        </a:accent4>
        <a:accent5>
          <a:srgbClr val="AAAAFF"/>
        </a:accent5>
        <a:accent6>
          <a:srgbClr val="5CE72D"/>
        </a:accent6>
        <a:hlink>
          <a:srgbClr val="D60093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ixas Coloridas 2">
        <a:dk1>
          <a:srgbClr val="000000"/>
        </a:dk1>
        <a:lt1>
          <a:srgbClr val="FFFFFF"/>
        </a:lt1>
        <a:dk2>
          <a:srgbClr val="000000"/>
        </a:dk2>
        <a:lt2>
          <a:srgbClr val="FFFFCC"/>
        </a:lt2>
        <a:accent1>
          <a:srgbClr val="FF00FF"/>
        </a:accent1>
        <a:accent2>
          <a:srgbClr val="00FF00"/>
        </a:accent2>
        <a:accent3>
          <a:srgbClr val="FFFFFF"/>
        </a:accent3>
        <a:accent4>
          <a:srgbClr val="000000"/>
        </a:accent4>
        <a:accent5>
          <a:srgbClr val="FFAAFF"/>
        </a:accent5>
        <a:accent6>
          <a:srgbClr val="00E700"/>
        </a:accent6>
        <a:hlink>
          <a:srgbClr val="00FFFF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ixas Coloridas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C:\MSOffice\Modelos\Estruturas de Apresentação\Caixas Coloridas.pot</Template>
  <TotalTime>452</TotalTime>
  <Words>951</Words>
  <Application>Microsoft Office PowerPoint</Application>
  <PresentationFormat>Apresentação na tela (4:3)</PresentationFormat>
  <Paragraphs>178</Paragraphs>
  <Slides>27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0" baseType="lpstr">
      <vt:lpstr>Arial</vt:lpstr>
      <vt:lpstr>Monotype Sorts</vt:lpstr>
      <vt:lpstr>Caixas Coloridas</vt:lpstr>
      <vt:lpstr>Repetidores</vt:lpstr>
      <vt:lpstr>Repetidores</vt:lpstr>
      <vt:lpstr>Repetidores</vt:lpstr>
      <vt:lpstr>Repetidores</vt:lpstr>
      <vt:lpstr>Concentrador Passivo ou Hubs </vt:lpstr>
      <vt:lpstr>Concentrador Passivo</vt:lpstr>
      <vt:lpstr>Concentrador Ativo ou Hubs</vt:lpstr>
      <vt:lpstr>Vários Anéis Conectados por Pontes </vt:lpstr>
      <vt:lpstr>1.2.3 Topologia em  Barramento</vt:lpstr>
      <vt:lpstr>1.2.3 Topologia em  Barramento</vt:lpstr>
      <vt:lpstr>1.2.3 Topologia em  Barramento (Continuação)</vt:lpstr>
      <vt:lpstr>Hubs ou Concentradores</vt:lpstr>
      <vt:lpstr>Apresentação do PowerPoint</vt:lpstr>
      <vt:lpstr>1.3 Satélite ou Radio </vt:lpstr>
      <vt:lpstr>Apresentação do PowerPoint</vt:lpstr>
      <vt:lpstr>1.4 Configurações Híbridas</vt:lpstr>
      <vt:lpstr>1.4 Configurações Híbridas (Continuação)</vt:lpstr>
      <vt:lpstr>1.4.1 Anel-Estrela</vt:lpstr>
      <vt:lpstr>Apresentação do PowerPoint</vt:lpstr>
      <vt:lpstr>1.4.2 Barramento-Estrela</vt:lpstr>
      <vt:lpstr>Apresentação do PowerPoint</vt:lpstr>
      <vt:lpstr>1.4.3 Multianel ou Estrela-Anel</vt:lpstr>
      <vt:lpstr>Apresentação do PowerPoint</vt:lpstr>
      <vt:lpstr>1.4.4 Árvore de Barramentos</vt:lpstr>
      <vt:lpstr>Apresentação do PowerPoint</vt:lpstr>
      <vt:lpstr>1.5 Fornecedores</vt:lpstr>
      <vt:lpstr>Sistemas Homogêneos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TOPOLOGIA DE REDES DE COMPUTADORES</dc:title>
  <dc:creator>RIEP</dc:creator>
  <cp:lastModifiedBy>052663 - RANIERI MARINHO DE SOUZA</cp:lastModifiedBy>
  <cp:revision>41</cp:revision>
  <cp:lastPrinted>1997-03-12T13:00:44Z</cp:lastPrinted>
  <dcterms:created xsi:type="dcterms:W3CDTF">1995-05-28T16:10:28Z</dcterms:created>
  <dcterms:modified xsi:type="dcterms:W3CDTF">2023-08-04T23:00:33Z</dcterms:modified>
</cp:coreProperties>
</file>