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8" r:id="rId1"/>
  </p:sldMasterIdLst>
  <p:notesMasterIdLst>
    <p:notesMasterId r:id="rId51"/>
  </p:notesMasterIdLst>
  <p:handoutMasterIdLst>
    <p:handoutMasterId r:id="rId52"/>
  </p:handoutMasterIdLst>
  <p:sldIdLst>
    <p:sldId id="585" r:id="rId2"/>
    <p:sldId id="586" r:id="rId3"/>
    <p:sldId id="587" r:id="rId4"/>
    <p:sldId id="592" r:id="rId5"/>
    <p:sldId id="334" r:id="rId6"/>
    <p:sldId id="610" r:id="rId7"/>
    <p:sldId id="517" r:id="rId8"/>
    <p:sldId id="518" r:id="rId9"/>
    <p:sldId id="335" r:id="rId10"/>
    <p:sldId id="346" r:id="rId11"/>
    <p:sldId id="599" r:id="rId12"/>
    <p:sldId id="355" r:id="rId13"/>
    <p:sldId id="621" r:id="rId14"/>
    <p:sldId id="622" r:id="rId15"/>
    <p:sldId id="352" r:id="rId16"/>
    <p:sldId id="608" r:id="rId17"/>
    <p:sldId id="347" r:id="rId18"/>
    <p:sldId id="619" r:id="rId19"/>
    <p:sldId id="614" r:id="rId20"/>
    <p:sldId id="348" r:id="rId21"/>
    <p:sldId id="523" r:id="rId22"/>
    <p:sldId id="600" r:id="rId23"/>
    <p:sldId id="350" r:id="rId24"/>
    <p:sldId id="522" r:id="rId25"/>
    <p:sldId id="356" r:id="rId26"/>
    <p:sldId id="357" r:id="rId27"/>
    <p:sldId id="392" r:id="rId28"/>
    <p:sldId id="359" r:id="rId29"/>
    <p:sldId id="393" r:id="rId30"/>
    <p:sldId id="361" r:id="rId31"/>
    <p:sldId id="362" r:id="rId32"/>
    <p:sldId id="601" r:id="rId33"/>
    <p:sldId id="363" r:id="rId34"/>
    <p:sldId id="368" r:id="rId35"/>
    <p:sldId id="613" r:id="rId36"/>
    <p:sldId id="521" r:id="rId37"/>
    <p:sldId id="519" r:id="rId38"/>
    <p:sldId id="602" r:id="rId39"/>
    <p:sldId id="603" r:id="rId40"/>
    <p:sldId id="604" r:id="rId41"/>
    <p:sldId id="605" r:id="rId42"/>
    <p:sldId id="618" r:id="rId43"/>
    <p:sldId id="606" r:id="rId44"/>
    <p:sldId id="336" r:id="rId45"/>
    <p:sldId id="397" r:id="rId46"/>
    <p:sldId id="337" r:id="rId47"/>
    <p:sldId id="369" r:id="rId48"/>
    <p:sldId id="370" r:id="rId49"/>
    <p:sldId id="371" r:id="rId50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74468"/>
    <a:srgbClr val="B1C800"/>
    <a:srgbClr val="DAE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181"/>
  </p:normalViewPr>
  <p:slideViewPr>
    <p:cSldViewPr>
      <p:cViewPr varScale="1">
        <p:scale>
          <a:sx n="109" d="100"/>
          <a:sy n="109" d="100"/>
        </p:scale>
        <p:origin x="168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529E20C-C788-47BF-B4F0-B9C3B0955164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68A44AE3-9A82-4227-9DEE-5BB06CE70CE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D1676D9-47E7-4BE7-BD05-E0A85F5EB6FE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563DDB44-1517-44CD-A503-183C10ADDC4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EBD8E-ACAA-4F13-8669-7D4868F8C55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60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8ED86-6ED5-4395-92CD-7B9978791B9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78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B389-D0F4-4A29-90B0-B9B492D3A071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6020D-1A7F-46D1-BDD9-829AFE089E5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4142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79465-EF30-434C-A820-353D7535F60F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3EC1A-3296-43A0-93F9-B0F4F8454FB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5834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71A83-8068-44BF-8D4D-9AEC85F255D1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FF1AF-DA3B-4E3B-BB99-8B15FC92917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8264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6527D-9CA4-4827-8CAC-8901A4C8C41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17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65ED3-5737-479E-B8BF-A63A361835CB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A39DF-BCD8-46EF-9C50-25109328AB1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7973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317FC847-964F-4727-BB8B-38E3FB9B4423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0A5E068-5F3B-4669-AB70-F5AE681B1D1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2693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E201B-CA23-4AF9-9261-835B27365D52}" type="datetimeFigureOut">
              <a:rPr lang="pt-BR"/>
              <a:pPr>
                <a:defRPr/>
              </a:pPr>
              <a:t>04/08/2023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42ADF-C8AE-4710-BF1F-C7F124D4EBD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6134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6852C-DD52-44C7-8A4E-4E9F91049DA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97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BB0FD-05A3-4AC0-95C7-F8EB2992E8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36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Editar estilos de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  <a:endParaRPr lang="en-US" altLang="pt-B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pt-BR"/>
              <a:t>NOME DA ÁREA OU CAMPUS (CAIXA ALTA) – Responsável pela apresentação (caixa alta e baixa)</a:t>
            </a:r>
          </a:p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8AB48B7-0D30-4689-B36A-0937230E374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1" r:id="rId1"/>
    <p:sldLayoutId id="2147484558" r:id="rId2"/>
    <p:sldLayoutId id="2147484562" r:id="rId3"/>
    <p:sldLayoutId id="2147484563" r:id="rId4"/>
    <p:sldLayoutId id="2147484564" r:id="rId5"/>
    <p:sldLayoutId id="2147484559" r:id="rId6"/>
    <p:sldLayoutId id="2147484565" r:id="rId7"/>
    <p:sldLayoutId id="2147484566" r:id="rId8"/>
    <p:sldLayoutId id="2147484567" r:id="rId9"/>
    <p:sldLayoutId id="2147484560" r:id="rId10"/>
    <p:sldLayoutId id="2147484568" r:id="rId11"/>
  </p:sldLayoutIdLst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fontAlgn="base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50825" y="-26988"/>
            <a:ext cx="5970588" cy="1076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pt-BR" sz="3200" b="1" dirty="0"/>
              <a:t>O </a:t>
            </a:r>
            <a:r>
              <a:rPr lang="pt-BR" sz="3200" b="1" dirty="0"/>
              <a:t>modelo de</a:t>
            </a:r>
          </a:p>
          <a:p>
            <a:pPr>
              <a:defRPr/>
            </a:pPr>
            <a:r>
              <a:rPr lang="pt-BR" sz="3200" b="1" dirty="0"/>
              <a:t> Referência OSI e o modelo TCP/IP</a:t>
            </a:r>
            <a:endParaRPr lang="pt-BR" sz="3200" b="1" dirty="0">
              <a:latin typeface="+mn-lt"/>
            </a:endParaRPr>
          </a:p>
        </p:txBody>
      </p:sp>
      <p:sp>
        <p:nvSpPr>
          <p:cNvPr id="12291" name="Retângulo 1"/>
          <p:cNvSpPr>
            <a:spLocks noChangeArrowheads="1"/>
          </p:cNvSpPr>
          <p:nvPr/>
        </p:nvSpPr>
        <p:spPr bwMode="auto">
          <a:xfrm>
            <a:off x="323850" y="1052513"/>
            <a:ext cx="8748713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Padrões internacionais: normas para que seja possível a interoperabilidade de diferentes plataformas </a:t>
            </a:r>
            <a:r>
              <a:rPr lang="pt-BR" altLang="pt-BR" sz="2800">
                <a:solidFill>
                  <a:srgbClr val="FF0000"/>
                </a:solidFill>
              </a:rPr>
              <a:t>(recursos de hardware e de software)</a:t>
            </a:r>
            <a:r>
              <a:rPr lang="pt-BR" altLang="pt-BR" sz="2800" b="1">
                <a:solidFill>
                  <a:srgbClr val="FF0000"/>
                </a:solidFill>
              </a:rPr>
              <a:t>.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No passado, o usuário era obrigado a ter equipamentos de um único fabricante devido à não compatibilidade entre máquinas existentes no mercado.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/>
              <a:t>	Existem diversas entidades que são responsáveis pela criação, autorização e padronização de regras, tecnologias, equipamentos para computadores e dispositivos de redes.</a:t>
            </a:r>
            <a:endParaRPr lang="pt-BR" altLang="pt-BR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50825" y="250825"/>
            <a:ext cx="4826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pt-BR" sz="3200" b="1" dirty="0"/>
              <a:t>Vantagens da padronização</a:t>
            </a:r>
            <a:endParaRPr lang="pt-BR" sz="3200" b="1" dirty="0">
              <a:latin typeface="+mn-lt"/>
            </a:endParaRPr>
          </a:p>
        </p:txBody>
      </p:sp>
      <p:sp>
        <p:nvSpPr>
          <p:cNvPr id="5" name="Rectangle 17"/>
          <p:cNvSpPr txBox="1">
            <a:spLocks noChangeArrowheads="1"/>
          </p:cNvSpPr>
          <p:nvPr/>
        </p:nvSpPr>
        <p:spPr bwMode="auto">
          <a:xfrm>
            <a:off x="755650" y="1125538"/>
            <a:ext cx="7777163" cy="2735262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+mn-lt"/>
                <a:cs typeface="Arial" charset="0"/>
              </a:rPr>
              <a:t> 1) Preservação de investimentos: segurança de continuidade e de integração com tecnologias emergentes.</a:t>
            </a:r>
          </a:p>
          <a:p>
            <a:pPr eaLnBrk="1" hangingPunct="1">
              <a:defRPr/>
            </a:pPr>
            <a:endParaRPr lang="pt-BR" sz="2800" b="1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+mn-lt"/>
                <a:cs typeface="Arial" charset="0"/>
              </a:rPr>
              <a:t> 2) Maior número de fabricantes: garantia de maior competitividade, menor preço e maior qualidade.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7"/>
          <p:cNvSpPr txBox="1">
            <a:spLocks noChangeArrowheads="1"/>
          </p:cNvSpPr>
          <p:nvPr/>
        </p:nvSpPr>
        <p:spPr bwMode="auto">
          <a:xfrm>
            <a:off x="512763" y="1125538"/>
            <a:ext cx="8235950" cy="4032250"/>
          </a:xfrm>
          <a:prstGeom prst="rect">
            <a:avLst/>
          </a:prstGeom>
          <a:noFill/>
          <a:ln w="762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/>
              <a:t> ANSI </a:t>
            </a:r>
            <a:r>
              <a:rPr lang="pt-BR" altLang="pt-BR" sz="2800"/>
              <a:t>(American National Standards Institute).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>
                <a:cs typeface="Arial" panose="020B0604020202020204" pitchFamily="34" charset="0"/>
              </a:rPr>
              <a:t> ABNT </a:t>
            </a:r>
            <a:r>
              <a:rPr lang="pt-BR" altLang="pt-BR" sz="2800">
                <a:cs typeface="Arial" panose="020B0604020202020204" pitchFamily="34" charset="0"/>
              </a:rPr>
              <a:t>(Associação Brasileira de Normas Técnicas).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pt-BR" sz="2800" b="1"/>
              <a:t> IANA </a:t>
            </a:r>
            <a:r>
              <a:rPr lang="en-US" altLang="pt-BR" sz="2800"/>
              <a:t>(Internet Assigned Numbers Authority).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/>
              <a:t> ISO </a:t>
            </a:r>
            <a:r>
              <a:rPr lang="pt-BR" altLang="pt-BR" sz="2800"/>
              <a:t>(International Standards Organization).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/>
              <a:t> ITU </a:t>
            </a:r>
            <a:r>
              <a:rPr lang="pt-BR" altLang="pt-BR" sz="2800"/>
              <a:t>(International Telecommunications Union)</a:t>
            </a:r>
            <a:r>
              <a:rPr lang="pt-BR" altLang="pt-BR" sz="2800">
                <a:cs typeface="Arial" panose="020B0604020202020204" pitchFamily="34" charset="0"/>
              </a:rPr>
              <a:t>: </a:t>
            </a:r>
            <a:r>
              <a:rPr lang="en-US" altLang="pt-BR" sz="2800">
                <a:cs typeface="Arial" panose="020B0604020202020204" pitchFamily="34" charset="0"/>
              </a:rPr>
              <a:t>é a antiga </a:t>
            </a:r>
            <a:r>
              <a:rPr lang="en-US" altLang="pt-BR" sz="2800" b="1">
                <a:cs typeface="Arial" panose="020B0604020202020204" pitchFamily="34" charset="0"/>
              </a:rPr>
              <a:t>CCITT</a:t>
            </a:r>
            <a:r>
              <a:rPr lang="en-US" altLang="pt-BR" sz="2800">
                <a:cs typeface="Arial" panose="020B0604020202020204" pitchFamily="34" charset="0"/>
              </a:rPr>
              <a:t> (Consultative Commitee for International Telephony and Telegraphy).</a:t>
            </a:r>
            <a:endParaRPr lang="pt-BR" altLang="pt-BR" sz="280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pt-BR" sz="2800" b="1"/>
              <a:t> IEEE </a:t>
            </a:r>
            <a:r>
              <a:rPr lang="en-US" altLang="pt-BR" sz="2800"/>
              <a:t>(Institute of Electrical and Electronic Engineers).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pt-BR" sz="2800" b="1"/>
              <a:t> IETF </a:t>
            </a:r>
            <a:r>
              <a:rPr lang="en-US" altLang="pt-BR" sz="2800"/>
              <a:t>(Internet Engineering Task Force). 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50825" y="250825"/>
            <a:ext cx="53228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pt-BR" sz="3200" b="1" dirty="0"/>
              <a:t>Organizações de padronização</a:t>
            </a:r>
            <a:endParaRPr lang="pt-BR" sz="3200" b="1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7"/>
          <p:cNvSpPr txBox="1">
            <a:spLocks noChangeArrowheads="1"/>
          </p:cNvSpPr>
          <p:nvPr/>
        </p:nvSpPr>
        <p:spPr bwMode="auto">
          <a:xfrm>
            <a:off x="468313" y="1135063"/>
            <a:ext cx="8382000" cy="2222500"/>
          </a:xfrm>
          <a:prstGeom prst="rect">
            <a:avLst/>
          </a:prstGeom>
          <a:noFill/>
          <a:ln w="762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pt-BR" sz="2800" b="1">
                <a:cs typeface="Arial" panose="020B0604020202020204" pitchFamily="34" charset="0"/>
              </a:rPr>
              <a:t> IETF </a:t>
            </a:r>
            <a:r>
              <a:rPr lang="en-US" altLang="pt-BR" sz="2800">
                <a:cs typeface="Arial" panose="020B0604020202020204" pitchFamily="34" charset="0"/>
              </a:rPr>
              <a:t>(Internet Engineering Task Force): r</a:t>
            </a:r>
            <a:r>
              <a:rPr lang="pt-BR" altLang="pt-BR" sz="2800" b="1">
                <a:cs typeface="Arial" panose="020B0604020202020204" pitchFamily="34" charset="0"/>
              </a:rPr>
              <a:t>esponsável pela publicação das RFCs </a:t>
            </a:r>
            <a:r>
              <a:rPr lang="pt-BR" altLang="pt-BR" sz="2800">
                <a:cs typeface="Arial" panose="020B0604020202020204" pitchFamily="34" charset="0"/>
              </a:rPr>
              <a:t>(Request for Comments)</a:t>
            </a:r>
            <a:r>
              <a:rPr lang="pt-BR" altLang="pt-BR" sz="2800" b="1">
                <a:cs typeface="Arial" panose="020B0604020202020204" pitchFamily="34" charset="0"/>
              </a:rPr>
              <a:t> para Internet.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>
                <a:cs typeface="Arial" panose="020B0604020202020204" pitchFamily="34" charset="0"/>
              </a:rPr>
              <a:t> </a:t>
            </a:r>
            <a:r>
              <a:rPr lang="pt-BR" altLang="pt-BR" sz="2800" b="1"/>
              <a:t>EIA </a:t>
            </a:r>
            <a:r>
              <a:rPr lang="pt-BR" altLang="pt-BR" sz="2800"/>
              <a:t>(Eletronic Industries Association).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800" b="1"/>
              <a:t> TIA </a:t>
            </a:r>
            <a:r>
              <a:rPr lang="pt-BR" altLang="pt-BR" sz="2800"/>
              <a:t>(Telecommunications Industries Association).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0" y="22860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603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Foruns abertos e outras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tângulo 2"/>
          <p:cNvSpPr>
            <a:spLocks noChangeArrowheads="1"/>
          </p:cNvSpPr>
          <p:nvPr/>
        </p:nvSpPr>
        <p:spPr bwMode="auto">
          <a:xfrm>
            <a:off x="468313" y="250825"/>
            <a:ext cx="4391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de Redes</a:t>
            </a:r>
            <a:endParaRPr lang="pt-BR" altLang="pt-BR" sz="3200" b="1">
              <a:solidFill>
                <a:srgbClr val="000000"/>
              </a:solidFill>
            </a:endParaRPr>
          </a:p>
        </p:txBody>
      </p:sp>
      <p:sp>
        <p:nvSpPr>
          <p:cNvPr id="16387" name="Retângulo 3"/>
          <p:cNvSpPr>
            <a:spLocks noChangeArrowheads="1"/>
          </p:cNvSpPr>
          <p:nvPr/>
        </p:nvSpPr>
        <p:spPr bwMode="auto">
          <a:xfrm>
            <a:off x="250825" y="1125538"/>
            <a:ext cx="8893175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Uma arquitetura de rede de computadores se caracteriza por ter um conjunto de camadas que auxilia o desenvolvimento de aplicações para redes é formada por interfaces, níveis e protocolos.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As arquiteturas proprietárias não permitem compatibilidade, ou seja interconexão de diferentes fornecedores.</a:t>
            </a:r>
          </a:p>
          <a:p>
            <a:pPr eaLnBrk="1" hangingPunct="1"/>
            <a:endParaRPr lang="pt-PT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PT" altLang="pt-BR" sz="2800" b="1">
                <a:solidFill>
                  <a:srgbClr val="FF0000"/>
                </a:solidFill>
              </a:rPr>
              <a:t>	As normas cuidam de diversos tipos de redes como ethernet, redes sem fio, fibra ótica dentre outros.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tângulo 3"/>
          <p:cNvSpPr>
            <a:spLocks noChangeArrowheads="1"/>
          </p:cNvSpPr>
          <p:nvPr/>
        </p:nvSpPr>
        <p:spPr bwMode="auto">
          <a:xfrm>
            <a:off x="250825" y="981075"/>
            <a:ext cx="8893175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Inicialmente, o modelo de referência foi o OSI </a:t>
            </a:r>
            <a:r>
              <a:rPr lang="pt-BR" altLang="pt-BR" sz="2800">
                <a:solidFill>
                  <a:srgbClr val="FF0000"/>
                </a:solidFill>
              </a:rPr>
              <a:t>(criado em meados dos anos 70)</a:t>
            </a:r>
            <a:r>
              <a:rPr lang="pt-BR" altLang="pt-BR" sz="2800" b="1">
                <a:solidFill>
                  <a:srgbClr val="FF0000"/>
                </a:solidFill>
              </a:rPr>
              <a:t>, que inspirou a criação do modelo TCP/IP.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O Modelo OSI tem como característica ser um modelo teórico, onde é muito bem definida a função de cada uma das sete camadas.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Segue abaixo, algumas arquiteturas de rede: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>
                <a:solidFill>
                  <a:srgbClr val="FF0000"/>
                </a:solidFill>
              </a:rPr>
              <a:t>- </a:t>
            </a:r>
            <a:r>
              <a:rPr lang="pt-BR" altLang="pt-BR" sz="2800" b="1">
                <a:solidFill>
                  <a:srgbClr val="FF0000"/>
                </a:solidFill>
              </a:rPr>
              <a:t>Modelo de Referência OSI da ISO.</a:t>
            </a:r>
          </a:p>
          <a:p>
            <a:pPr eaLnBrk="1" hangingPunct="1"/>
            <a:r>
              <a:rPr lang="pt-BR" altLang="pt-BR" sz="2800">
                <a:solidFill>
                  <a:srgbClr val="FF0000"/>
                </a:solidFill>
              </a:rPr>
              <a:t>- </a:t>
            </a:r>
            <a:r>
              <a:rPr lang="pt-BR" altLang="pt-BR" sz="2800" b="1">
                <a:solidFill>
                  <a:srgbClr val="FF0000"/>
                </a:solidFill>
              </a:rPr>
              <a:t>Arquitetura TCP/IP </a:t>
            </a:r>
            <a:r>
              <a:rPr lang="pt-BR" altLang="pt-BR" sz="2800">
                <a:solidFill>
                  <a:srgbClr val="FF0000"/>
                </a:solidFill>
              </a:rPr>
              <a:t>(Internet - IETF)</a:t>
            </a:r>
            <a:r>
              <a:rPr lang="pt-BR" altLang="pt-BR" sz="2800" b="1">
                <a:solidFill>
                  <a:srgbClr val="FF0000"/>
                </a:solidFill>
              </a:rPr>
              <a:t>.</a:t>
            </a:r>
          </a:p>
          <a:p>
            <a:pPr eaLnBrk="1" hangingPunct="1"/>
            <a:r>
              <a:rPr lang="pt-BR" altLang="pt-BR" sz="2800">
                <a:solidFill>
                  <a:srgbClr val="FF0000"/>
                </a:solidFill>
              </a:rPr>
              <a:t>- </a:t>
            </a:r>
            <a:r>
              <a:rPr lang="pt-BR" altLang="pt-BR" sz="2800" b="1">
                <a:solidFill>
                  <a:srgbClr val="FF0000"/>
                </a:solidFill>
              </a:rPr>
              <a:t>Arquitetura IEEE 802.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tângulo 1"/>
          <p:cNvSpPr>
            <a:spLocks noChangeArrowheads="1"/>
          </p:cNvSpPr>
          <p:nvPr/>
        </p:nvSpPr>
        <p:spPr bwMode="auto">
          <a:xfrm>
            <a:off x="395288" y="1196975"/>
            <a:ext cx="8353425" cy="353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Cada camada tem uma função, que pode ou não interferir na sua camada anterior ou posterior.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O princípio fundamental do modelo em camadas é permitir que cada protocolo possa funcionar na sua camada, respeitando apenas as ligações com as camadas adjacentes e a equivalência com a aplicação na máquina de destino. </a:t>
            </a:r>
          </a:p>
        </p:txBody>
      </p:sp>
      <p:sp>
        <p:nvSpPr>
          <p:cNvPr id="18435" name="Retângulo 2"/>
          <p:cNvSpPr>
            <a:spLocks noChangeArrowheads="1"/>
          </p:cNvSpPr>
          <p:nvPr/>
        </p:nvSpPr>
        <p:spPr bwMode="auto">
          <a:xfrm>
            <a:off x="250825" y="312738"/>
            <a:ext cx="6697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O que é uma distribuição em camadas?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tângulo 1"/>
          <p:cNvSpPr>
            <a:spLocks noChangeArrowheads="1"/>
          </p:cNvSpPr>
          <p:nvPr/>
        </p:nvSpPr>
        <p:spPr bwMode="auto">
          <a:xfrm>
            <a:off x="250825" y="260350"/>
            <a:ext cx="655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em camadas - Analogia </a:t>
            </a:r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1125538"/>
            <a:ext cx="86868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de Referência OSI da ISO</a:t>
            </a:r>
          </a:p>
        </p:txBody>
      </p:sp>
      <p:sp>
        <p:nvSpPr>
          <p:cNvPr id="3" name="Retângulo 2"/>
          <p:cNvSpPr/>
          <p:nvPr/>
        </p:nvSpPr>
        <p:spPr>
          <a:xfrm>
            <a:off x="612775" y="1252538"/>
            <a:ext cx="7991475" cy="3970337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+mn-lt"/>
              </a:rPr>
              <a:t>	O Modelo OSI </a:t>
            </a:r>
            <a:r>
              <a:rPr lang="pt-PT" sz="2800" dirty="0">
                <a:solidFill>
                  <a:srgbClr val="FF0000"/>
                </a:solidFill>
                <a:latin typeface="+mn-lt"/>
              </a:rPr>
              <a:t>(Open Systems Interconnection)</a:t>
            </a:r>
            <a:r>
              <a:rPr lang="pt-BR" sz="2800" b="1" dirty="0">
                <a:solidFill>
                  <a:srgbClr val="FF0000"/>
                </a:solidFill>
                <a:latin typeface="+mn-lt"/>
              </a:rPr>
              <a:t> , 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lan</a:t>
            </a:r>
            <a:r>
              <a:rPr lang="pt-BR" sz="2800" b="1" dirty="0">
                <a:solidFill>
                  <a:srgbClr val="FF0000"/>
                </a:solidFill>
                <a:latin typeface="Calibri"/>
                <a:ea typeface="Times New Roman" pitchFamily="18" charset="0"/>
                <a:cs typeface="Arial" pitchFamily="34" charset="0"/>
              </a:rPr>
              <a:t>ç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ado em 1984 e </a:t>
            </a:r>
            <a:r>
              <a:rPr lang="pt-BR" sz="2800" b="1" dirty="0">
                <a:solidFill>
                  <a:srgbClr val="FF0000"/>
                </a:solidFill>
                <a:latin typeface="+mn-lt"/>
              </a:rPr>
              <a:t>padronizado pela ISO </a:t>
            </a:r>
            <a:r>
              <a:rPr lang="pt-BR" sz="2800" dirty="0">
                <a:solidFill>
                  <a:srgbClr val="FF0000"/>
                </a:solidFill>
                <a:latin typeface="+mn-lt"/>
              </a:rPr>
              <a:t>(</a:t>
            </a:r>
            <a:r>
              <a:rPr lang="pt-BR" sz="2800" dirty="0" err="1">
                <a:solidFill>
                  <a:srgbClr val="FF0000"/>
                </a:solidFill>
                <a:latin typeface="+mn-lt"/>
              </a:rPr>
              <a:t>International</a:t>
            </a:r>
            <a:r>
              <a:rPr lang="pt-BR" sz="2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pt-BR" sz="2800" dirty="0" err="1">
                <a:solidFill>
                  <a:srgbClr val="FF0000"/>
                </a:solidFill>
                <a:latin typeface="+mn-lt"/>
              </a:rPr>
              <a:t>Standardization</a:t>
            </a:r>
            <a:r>
              <a:rPr lang="pt-BR" sz="2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pt-BR" sz="2800" dirty="0" err="1">
                <a:solidFill>
                  <a:srgbClr val="FF0000"/>
                </a:solidFill>
                <a:latin typeface="+mn-lt"/>
              </a:rPr>
              <a:t>Organization</a:t>
            </a:r>
            <a:r>
              <a:rPr lang="pt-BR" sz="2800" dirty="0">
                <a:solidFill>
                  <a:srgbClr val="FF0000"/>
                </a:solidFill>
                <a:latin typeface="+mn-lt"/>
              </a:rPr>
              <a:t>)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,</a:t>
            </a:r>
            <a:r>
              <a:rPr lang="pt-BR" sz="2800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pt-BR" sz="2800" b="1" dirty="0">
                <a:solidFill>
                  <a:srgbClr val="FF0000"/>
                </a:solidFill>
                <a:latin typeface="+mn-lt"/>
              </a:rPr>
              <a:t>foi o modelo escolhido para interconexão de sistemas e é aceito mundialmente.</a:t>
            </a:r>
          </a:p>
          <a:p>
            <a:pPr eaLnBrk="1" hangingPunct="1">
              <a:defRPr/>
            </a:pPr>
            <a:endParaRPr lang="pt-BR" sz="2800" b="1" dirty="0">
              <a:solidFill>
                <a:srgbClr val="FF0000"/>
              </a:solidFill>
              <a:latin typeface="+mn-lt"/>
            </a:endParaRPr>
          </a:p>
          <a:p>
            <a:pPr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+mn-lt"/>
              </a:rPr>
              <a:t>	O modelo OSI da ISO </a:t>
            </a:r>
            <a:r>
              <a:rPr lang="pt-BR" sz="2800" b="1" dirty="0">
                <a:solidFill>
                  <a:srgbClr val="FF0000"/>
                </a:solidFill>
                <a:latin typeface="Calibri"/>
                <a:ea typeface="Times New Roman" pitchFamily="18" charset="0"/>
                <a:cs typeface="Arial" pitchFamily="34" charset="0"/>
              </a:rPr>
              <a:t>é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composto de 7 camadas e cada uma executa uma fun</a:t>
            </a:r>
            <a:r>
              <a:rPr lang="pt-BR" sz="2800" b="1" dirty="0">
                <a:solidFill>
                  <a:srgbClr val="FF0000"/>
                </a:solidFill>
                <a:latin typeface="Calibri"/>
                <a:ea typeface="Times New Roman" pitchFamily="18" charset="0"/>
                <a:cs typeface="Arial" pitchFamily="34" charset="0"/>
              </a:rPr>
              <a:t>ç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ão espec</a:t>
            </a:r>
            <a:r>
              <a:rPr lang="pt-BR" sz="2800" b="1" dirty="0">
                <a:solidFill>
                  <a:srgbClr val="FF0000"/>
                </a:solidFill>
                <a:latin typeface="Calibri"/>
                <a:ea typeface="Times New Roman" pitchFamily="18" charset="0"/>
                <a:cs typeface="Arial" pitchFamily="34" charset="0"/>
              </a:rPr>
              <a:t>í</a:t>
            </a:r>
            <a:r>
              <a:rPr lang="pt-BR" sz="2800" b="1" dirty="0">
                <a:solidFill>
                  <a:srgbClr val="FF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fica da rede</a:t>
            </a:r>
            <a:r>
              <a:rPr lang="pt-BR" sz="2800" b="1" dirty="0">
                <a:solidFill>
                  <a:srgbClr val="FF0000"/>
                </a:solidFill>
                <a:latin typeface="+mn-lt"/>
              </a:rPr>
              <a:t>.</a:t>
            </a:r>
            <a:endParaRPr lang="pt-BR" sz="28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Características</a:t>
            </a:r>
          </a:p>
        </p:txBody>
      </p:sp>
      <p:sp>
        <p:nvSpPr>
          <p:cNvPr id="21507" name="Retângulo 4"/>
          <p:cNvSpPr>
            <a:spLocks noChangeArrowheads="1"/>
          </p:cNvSpPr>
          <p:nvPr/>
        </p:nvSpPr>
        <p:spPr bwMode="auto">
          <a:xfrm>
            <a:off x="323850" y="981075"/>
            <a:ext cx="8820150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• É um modelo de referência que define um padrão </a:t>
            </a:r>
            <a:r>
              <a:rPr lang="pt-BR" altLang="pt-BR" sz="2800"/>
              <a:t>(interoperabilidade entre fabricantes) </a:t>
            </a:r>
            <a:r>
              <a:rPr lang="pt-BR" altLang="pt-BR" sz="2800" b="1"/>
              <a:t>e especifica como os dados são gerados e transmitidos.</a:t>
            </a:r>
          </a:p>
          <a:p>
            <a:pPr eaLnBrk="1" hangingPunct="1"/>
            <a:endParaRPr lang="pt-BR" altLang="pt-BR" sz="2800" b="1"/>
          </a:p>
          <a:p>
            <a:pPr eaLnBrk="1" hangingPunct="1"/>
            <a:r>
              <a:rPr lang="pt-BR" altLang="pt-BR" sz="2800" b="1"/>
              <a:t>• Permite que redes </a:t>
            </a:r>
            <a:r>
              <a:rPr lang="pt-BR" altLang="pt-BR" sz="2800"/>
              <a:t>(equipamentos de diferentes fabricantes) </a:t>
            </a:r>
            <a:r>
              <a:rPr lang="pt-BR" altLang="pt-BR" sz="2800" b="1"/>
              <a:t>comuniquem entre si </a:t>
            </a:r>
            <a:r>
              <a:rPr lang="pt-BR" altLang="pt-BR" sz="2800"/>
              <a:t>(interoperabilidade).</a:t>
            </a:r>
          </a:p>
          <a:p>
            <a:pPr eaLnBrk="1" hangingPunct="1"/>
            <a:endParaRPr lang="pt-BR" altLang="pt-BR" sz="2800" b="1"/>
          </a:p>
          <a:p>
            <a:pPr eaLnBrk="1" hangingPunct="1"/>
            <a:r>
              <a:rPr lang="pt-BR" altLang="pt-BR" sz="2800" b="1"/>
              <a:t>• Divisão da complexidade em 7 camadas relativamente independentes </a:t>
            </a:r>
            <a:r>
              <a:rPr lang="pt-BR" altLang="pt-BR" sz="2800"/>
              <a:t>(cada camada com a sua respectiva responsabilidade)</a:t>
            </a:r>
          </a:p>
          <a:p>
            <a:pPr eaLnBrk="1" hangingPunct="1"/>
            <a:endParaRPr lang="pt-BR" altLang="pt-BR" sz="2800" b="1"/>
          </a:p>
          <a:p>
            <a:pPr eaLnBrk="1" hangingPunct="1"/>
            <a:r>
              <a:rPr lang="pt-BR" altLang="pt-BR" sz="2800" b="1"/>
              <a:t>• Desenvolvimento e/ou alteração é tratada em uma única camada </a:t>
            </a:r>
            <a:r>
              <a:rPr lang="pt-BR" altLang="pt-BR" sz="2800"/>
              <a:t>(sem alterar toda a estrutura).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Vantagens</a:t>
            </a:r>
          </a:p>
        </p:txBody>
      </p:sp>
      <p:sp>
        <p:nvSpPr>
          <p:cNvPr id="22531" name="Rectangle 1"/>
          <p:cNvSpPr>
            <a:spLocks noChangeArrowheads="1"/>
          </p:cNvSpPr>
          <p:nvPr/>
        </p:nvSpPr>
        <p:spPr bwMode="auto">
          <a:xfrm>
            <a:off x="107950" y="906463"/>
            <a:ext cx="9036050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 Decompõe as comunicações de rede em partes menores e mais simples, facilitando sua aprendizagem e compreensão.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Padroniza os componentes de rede, permitindo o desenvolvimento e o suporte por parte de vários fabricantes.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Possibilita a comunicação entre tipos diferentes de hardware e de software de rede.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Evita que as modificações em uma camada afetem as outras, possibilitando maior rapidez no seu desenvolvimento.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Características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79388" y="981075"/>
          <a:ext cx="8893175" cy="5484813"/>
        </p:xfrm>
        <a:graphic>
          <a:graphicData uri="http://schemas.openxmlformats.org/drawingml/2006/table">
            <a:tbl>
              <a:tblPr/>
              <a:tblGrid>
                <a:gridCol w="889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B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altLang="pt-BR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- Interfaces: limites entre níveis adjacente.</a:t>
                      </a:r>
                      <a:endParaRPr kumimoji="0" lang="pt-BR" alt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- Estrutura de rede: conjunto de camadas hierárquicas.</a:t>
                      </a:r>
                    </a:p>
                  </a:txBody>
                  <a:tcPr marL="91445" marR="91445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tângulo 1"/>
          <p:cNvSpPr>
            <a:spLocks noChangeArrowheads="1"/>
          </p:cNvSpPr>
          <p:nvPr/>
        </p:nvSpPr>
        <p:spPr bwMode="auto">
          <a:xfrm>
            <a:off x="250825" y="1065213"/>
            <a:ext cx="8821738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Camada ou nível: </a:t>
            </a:r>
            <a:r>
              <a:rPr lang="pt-BR" altLang="pt-BR" sz="2400"/>
              <a:t>reúne um conjunto de serviços relacionados que serão oferecidos para as camadas superiores. </a:t>
            </a:r>
            <a:r>
              <a:rPr lang="pt-BR" altLang="pt-BR" sz="2400">
                <a:solidFill>
                  <a:srgbClr val="000000"/>
                </a:solidFill>
              </a:rPr>
              <a:t>Programa ou processo implementado por hardware ou software. No Modelo OSI são definidos 7 camadas.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Protocolo: </a:t>
            </a:r>
            <a:r>
              <a:rPr lang="pt-BR" altLang="pt-BR" sz="2400"/>
              <a:t>regras e convenções usadas no diálogo entre as camadas pares de duas máquinas. </a:t>
            </a:r>
            <a:r>
              <a:rPr lang="pt-BR" altLang="pt-BR" sz="2400">
                <a:solidFill>
                  <a:srgbClr val="000000"/>
                </a:solidFill>
              </a:rPr>
              <a:t>Regra de controle de uma camada que utiliza para comunicação com uma determinada unidade de dados de protocolo (PDU).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Interface: </a:t>
            </a:r>
            <a:r>
              <a:rPr lang="pt-BR" altLang="pt-BR" sz="2400"/>
              <a:t>define as operações e serviços que a camada inferior tem a oferecer para a camada superior. L</a:t>
            </a:r>
            <a:r>
              <a:rPr lang="pt-BR" altLang="pt-BR" sz="2400">
                <a:solidFill>
                  <a:srgbClr val="000000"/>
                </a:solidFill>
              </a:rPr>
              <a:t>imites entre níveis adjacente.</a:t>
            </a:r>
            <a:endParaRPr lang="pt-BR" altLang="pt-BR" sz="2400">
              <a:solidFill>
                <a:schemeClr val="bg1"/>
              </a:solidFill>
            </a:endParaRPr>
          </a:p>
        </p:txBody>
      </p:sp>
      <p:sp>
        <p:nvSpPr>
          <p:cNvPr id="24579" name="Retângulo 2"/>
          <p:cNvSpPr>
            <a:spLocks noChangeArrowheads="1"/>
          </p:cNvSpPr>
          <p:nvPr/>
        </p:nvSpPr>
        <p:spPr bwMode="auto">
          <a:xfrm>
            <a:off x="179388" y="195263"/>
            <a:ext cx="60483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rgbClr val="000000"/>
                </a:solidFill>
              </a:rPr>
              <a:t>Terminologias do Modelo OSI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tângulo 1"/>
          <p:cNvSpPr>
            <a:spLocks noChangeArrowheads="1"/>
          </p:cNvSpPr>
          <p:nvPr/>
        </p:nvSpPr>
        <p:spPr bwMode="auto">
          <a:xfrm>
            <a:off x="250825" y="1052513"/>
            <a:ext cx="8821738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>
                <a:solidFill>
                  <a:srgbClr val="000000"/>
                </a:solidFill>
              </a:rPr>
              <a:t>Estrutura de rede: </a:t>
            </a:r>
            <a:r>
              <a:rPr lang="pt-BR" altLang="pt-BR" sz="2400">
                <a:solidFill>
                  <a:srgbClr val="000000"/>
                </a:solidFill>
              </a:rPr>
              <a:t>conjunto de camadas hierárquicas.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Entidade: </a:t>
            </a:r>
            <a:r>
              <a:rPr lang="pt-BR" altLang="pt-BR" sz="2400"/>
              <a:t>elemento ativo das camadas, que pode ser um software (um processso) ou hardware (uma placa).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Entidades pares (ou parceiras): </a:t>
            </a:r>
            <a:r>
              <a:rPr lang="pt-BR" altLang="pt-BR" sz="2400"/>
              <a:t>entidades de mesma camada em máquinas diferentes.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Serviço: </a:t>
            </a:r>
            <a:r>
              <a:rPr lang="pt-BR" altLang="pt-BR" sz="2400"/>
              <a:t>conjunto de funções oferecidas a um usuário por uma camada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/>
              <a:t>• </a:t>
            </a:r>
            <a:r>
              <a:rPr lang="pt-BR" altLang="pt-BR" sz="2400" b="1"/>
              <a:t>SAP (</a:t>
            </a:r>
            <a:r>
              <a:rPr lang="pt-BR" altLang="pt-BR" sz="2400" b="1" i="1"/>
              <a:t>service access point</a:t>
            </a:r>
            <a:r>
              <a:rPr lang="pt-BR" altLang="pt-BR" sz="2400" b="1"/>
              <a:t>): </a:t>
            </a:r>
            <a:r>
              <a:rPr lang="pt-BR" altLang="pt-BR" sz="2400"/>
              <a:t>ponto de acesso ao serviço oferecido pela camada.</a:t>
            </a:r>
          </a:p>
        </p:txBody>
      </p:sp>
      <p:sp>
        <p:nvSpPr>
          <p:cNvPr id="25603" name="Retângulo 2"/>
          <p:cNvSpPr>
            <a:spLocks noChangeArrowheads="1"/>
          </p:cNvSpPr>
          <p:nvPr/>
        </p:nvSpPr>
        <p:spPr bwMode="auto">
          <a:xfrm>
            <a:off x="179388" y="195263"/>
            <a:ext cx="60483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>
                <a:solidFill>
                  <a:srgbClr val="000000"/>
                </a:solidFill>
              </a:rPr>
              <a:t>Terminologias do Modelo OSI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173163"/>
            <a:ext cx="7367588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tângulo 3"/>
          <p:cNvSpPr>
            <a:spLocks noChangeArrowheads="1"/>
          </p:cNvSpPr>
          <p:nvPr/>
        </p:nvSpPr>
        <p:spPr bwMode="auto">
          <a:xfrm>
            <a:off x="4140200" y="1052513"/>
            <a:ext cx="83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PDU</a:t>
            </a:r>
            <a:endParaRPr lang="pt-BR" altLang="pt-BR" sz="2800"/>
          </a:p>
        </p:txBody>
      </p:sp>
      <p:sp>
        <p:nvSpPr>
          <p:cNvPr id="26628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PDUs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PDUs</a:t>
            </a:r>
          </a:p>
        </p:txBody>
      </p:sp>
      <p:sp>
        <p:nvSpPr>
          <p:cNvPr id="27651" name="Rectangle 1"/>
          <p:cNvSpPr>
            <a:spLocks noChangeArrowheads="1"/>
          </p:cNvSpPr>
          <p:nvPr/>
        </p:nvSpPr>
        <p:spPr bwMode="auto">
          <a:xfrm>
            <a:off x="576263" y="1270000"/>
            <a:ext cx="8027987" cy="4030663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32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Para que os pacotes de dados trafeguem da origem para o destino, cada camada do modelo OSI na origem deve se comunicar com sua camada par no destino.</a:t>
            </a:r>
          </a:p>
          <a:p>
            <a:endParaRPr lang="pt-BR" altLang="pt-BR" sz="32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32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Esta forma de comunicação é chamada de comunicação virtual entre camadas pares, quando os protocolos destas trocam PDUs.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096963"/>
            <a:ext cx="8628063" cy="506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PDUs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- PDUs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238250"/>
            <a:ext cx="54768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www.sydney.eti.br/wp-content/uploads/2011/11/OSI-Lay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63" y="1101725"/>
            <a:ext cx="6826250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tângulo 2"/>
          <p:cNvSpPr>
            <a:spLocks noChangeArrowheads="1"/>
          </p:cNvSpPr>
          <p:nvPr/>
        </p:nvSpPr>
        <p:spPr bwMode="auto">
          <a:xfrm>
            <a:off x="323850" y="260350"/>
            <a:ext cx="65516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PT" altLang="pt-BR" sz="3200" b="1"/>
              <a:t>Protocolos de rede e serviços</a:t>
            </a:r>
            <a:endParaRPr lang="pt-BR" altLang="pt-BR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tângulo 2"/>
          <p:cNvSpPr>
            <a:spLocks noChangeArrowheads="1"/>
          </p:cNvSpPr>
          <p:nvPr/>
        </p:nvSpPr>
        <p:spPr bwMode="auto">
          <a:xfrm>
            <a:off x="250825" y="250825"/>
            <a:ext cx="6335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Física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95288" y="1112838"/>
          <a:ext cx="8458200" cy="3108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074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 Camada</a:t>
                      </a:r>
                      <a:r>
                        <a:rPr lang="pt-BR" sz="2400" b="1" i="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Física</a:t>
                      </a:r>
                      <a:endParaRPr lang="pt-BR" sz="2400" b="1" i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689" marB="4568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2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Fornece características elétricas, mecânicas, funcionais para ativar, manter e desativar conexões físicas para transmissão de bits.</a:t>
                      </a:r>
                      <a:r>
                        <a:rPr lang="pt-BR" sz="2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Ou seja, c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ompreende as especificações do hardware utilizado na rede 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</a:rPr>
                        <a:t>(compreendidos em aspectos mecânicos, elétricos e físicos - todos documentados em padrões internacionais)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. Exemplos: Ethernet 802.3, RS-232, RS-449, V.22, V.35, V42 bis.</a:t>
                      </a:r>
                    </a:p>
                  </a:txBody>
                  <a:tcPr marT="45689" marB="4568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55" name="Retângulo 3"/>
          <p:cNvSpPr>
            <a:spLocks noChangeArrowheads="1"/>
          </p:cNvSpPr>
          <p:nvPr/>
        </p:nvSpPr>
        <p:spPr bwMode="auto">
          <a:xfrm>
            <a:off x="576263" y="4437063"/>
            <a:ext cx="7740650" cy="1570037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3200" b="1">
                <a:solidFill>
                  <a:srgbClr val="FF0000"/>
                </a:solidFill>
              </a:rPr>
              <a:t>	A camada física tem a finalidade de receber e transmitir bits através de um canal de telecomunicações.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tângulo 2"/>
          <p:cNvSpPr>
            <a:spLocks noChangeArrowheads="1"/>
          </p:cNvSpPr>
          <p:nvPr/>
        </p:nvSpPr>
        <p:spPr bwMode="auto">
          <a:xfrm>
            <a:off x="250825" y="250825"/>
            <a:ext cx="6335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Física</a:t>
            </a: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179388" y="1044575"/>
            <a:ext cx="8929687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-"/>
            </a:pP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camada f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sica define as especifica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ç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ões el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tricas, mecânicas, funcionais e de procedimentos para ativar, manter e desativar o link f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sico entre sistemas finais.</a:t>
            </a:r>
          </a:p>
          <a:p>
            <a:pPr>
              <a:buFontTx/>
              <a:buChar char="-"/>
            </a:pPr>
            <a:endParaRPr lang="pt-BR" altLang="pt-BR" sz="2800" b="1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Caracter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sticas como n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veis de voltagem, temporiza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ç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ão de altera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ç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ões de voltagem, taxas de dados f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sicos, distâncias m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ximas de transmissão, conectores f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sicos e outros atributos similares são definidas pelas especifica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ç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ões da camada f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sz="2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sica.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tângulo 1"/>
          <p:cNvSpPr>
            <a:spLocks noChangeArrowheads="1"/>
          </p:cNvSpPr>
          <p:nvPr/>
        </p:nvSpPr>
        <p:spPr bwMode="auto">
          <a:xfrm>
            <a:off x="323850" y="1125538"/>
            <a:ext cx="8640763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400" b="1"/>
              <a:t> Interface: dispositivo físico conectado entre o dispositivo transmissor e o meio de transmissão, responsável por desempenhar as funções das camadas física e de enlace. Os dispositivos de interface mais utilizados atualmente são os modems e as placas de rede. </a:t>
            </a:r>
          </a:p>
          <a:p>
            <a:pPr eaLnBrk="1" hangingPunct="1"/>
            <a:endParaRPr lang="pt-BR" altLang="pt-BR" sz="2400" b="1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400" b="1"/>
              <a:t> Canal: meio a partir do qual trafegam os dados. Num mesmo meio podemos estabelecer vário canais. Exemplo: TV a cabo </a:t>
            </a:r>
            <a:r>
              <a:rPr lang="pt-BR" altLang="pt-BR" sz="2400"/>
              <a:t>(vários canais e o seu aparelho receptor é responsável por sintonizar um deles). </a:t>
            </a:r>
          </a:p>
          <a:p>
            <a:pPr eaLnBrk="1" hangingPunct="1"/>
            <a:endParaRPr lang="pt-BR" altLang="pt-BR" sz="2400" b="1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sz="2400" b="1"/>
              <a:t> O meio físico pode ser um cabo metálico ou de fibra ótica, pode ainda ser uma onda eletromagnética trafegando pelo ar (wireless). </a:t>
            </a:r>
          </a:p>
        </p:txBody>
      </p:sp>
      <p:sp>
        <p:nvSpPr>
          <p:cNvPr id="33795" name="Retângulo 2"/>
          <p:cNvSpPr>
            <a:spLocks noChangeArrowheads="1"/>
          </p:cNvSpPr>
          <p:nvPr/>
        </p:nvSpPr>
        <p:spPr bwMode="auto">
          <a:xfrm>
            <a:off x="250825" y="250825"/>
            <a:ext cx="6335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Física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052513"/>
          <a:ext cx="8458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188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2- Camada</a:t>
                      </a:r>
                      <a:r>
                        <a:rPr lang="pt-BR" sz="2400" b="1" i="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de Enlace</a:t>
                      </a:r>
                      <a:endParaRPr lang="pt-BR" sz="2400" b="1" i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2" marB="4571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 como objetivo detectar e corrigir erros, tornando um canal de transmissão não confiável em confiável. A cadeia de bits é organizada em quadros. Ou seja, g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erencia o enlace de dados e é responsável pelo acesso lógico ao ambiente físico da rede, como transmissão e reconhecimento de erros. Exemplos: Ethernet 802.2, DDCMP, LAP-B, SDLC, HDLC, X.25.</a:t>
                      </a:r>
                      <a:endParaRPr lang="pt-BR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2" marB="4571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26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Enlace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323850" y="3860800"/>
            <a:ext cx="8569325" cy="2678113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A camada de enlace pode fornecer trânsito seguro de dados através de um link físico. Fazendo isso, a camada de enlace trata do endereçamento físico </a:t>
            </a:r>
            <a:r>
              <a:rPr lang="pt-BR" altLang="pt-BR" sz="280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(em oposição ao endereçamento lógico)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 da topologia de rede, do acesso à rede, da notificação de erro, da entrega ordenada de quadros e do controle de fluxo.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tângulo 1"/>
          <p:cNvSpPr>
            <a:spLocks noChangeArrowheads="1"/>
          </p:cNvSpPr>
          <p:nvPr/>
        </p:nvSpPr>
        <p:spPr bwMode="auto">
          <a:xfrm>
            <a:off x="539750" y="1196975"/>
            <a:ext cx="8280400" cy="440055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A camada de enlace tem algumas funções que tentam fazer com que o tráfego de dados da camada física pareça livre de erros. Para isto a camada realiza: 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- Sincronização entre receptor e transmissor .</a:t>
            </a: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- Detecção e correção de erros .</a:t>
            </a: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- Formatação e segmentação dos dados.</a:t>
            </a: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- Gerenciamento de transmissões em uma ou em duas direções simultâneas.</a:t>
            </a: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- Controle de acesso a um canal compartilhado.</a:t>
            </a:r>
          </a:p>
        </p:txBody>
      </p:sp>
      <p:sp>
        <p:nvSpPr>
          <p:cNvPr id="35843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Enlace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tângulo 1"/>
          <p:cNvSpPr>
            <a:spLocks noChangeArrowheads="1"/>
          </p:cNvSpPr>
          <p:nvPr/>
        </p:nvSpPr>
        <p:spPr bwMode="auto">
          <a:xfrm>
            <a:off x="381000" y="1155700"/>
            <a:ext cx="84582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Assegura que os dados sejam transmitidos ao equipamento correto, converte os dados da camada superior </a:t>
            </a:r>
            <a:r>
              <a:rPr lang="pt-BR" altLang="pt-BR" sz="2400">
                <a:solidFill>
                  <a:srgbClr val="FF0000"/>
                </a:solidFill>
              </a:rPr>
              <a:t>(rede) </a:t>
            </a:r>
            <a:r>
              <a:rPr lang="pt-BR" altLang="pt-BR" sz="2400" b="1">
                <a:solidFill>
                  <a:srgbClr val="FF0000"/>
                </a:solidFill>
              </a:rPr>
              <a:t>em bits. Tornando possível a transmissão pela camada física.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Formata a mensagem em Frame, adiciona o MAC </a:t>
            </a:r>
            <a:r>
              <a:rPr lang="pt-BR" altLang="pt-BR" sz="2400">
                <a:solidFill>
                  <a:srgbClr val="FF0000"/>
                </a:solidFill>
              </a:rPr>
              <a:t>(transmissor e receptor).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Camada de Enlace: Importa-se com a localização física da máquina </a:t>
            </a:r>
            <a:r>
              <a:rPr lang="pt-BR" altLang="pt-BR" sz="2400">
                <a:solidFill>
                  <a:srgbClr val="FF0000"/>
                </a:solidFill>
              </a:rPr>
              <a:t>(switches).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Camada de rede: Importa-se com a localização lógica da rede </a:t>
            </a:r>
            <a:r>
              <a:rPr lang="pt-BR" altLang="pt-BR" sz="2400">
                <a:solidFill>
                  <a:srgbClr val="FF0000"/>
                </a:solidFill>
              </a:rPr>
              <a:t>(roteadores).</a:t>
            </a:r>
          </a:p>
        </p:txBody>
      </p:sp>
      <p:sp>
        <p:nvSpPr>
          <p:cNvPr id="36867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Enlace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125538"/>
          <a:ext cx="8458200" cy="202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139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3- Camada de Rede</a:t>
                      </a:r>
                    </a:p>
                  </a:txBody>
                  <a:tcPr marT="45690" marB="456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00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Faz o encaminhamento dos pacotes, transferindo dados de uma rede para outra. A unidade de transmissão é o pacote. Ou seja, e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stabelece uma conexão lógica entre dois pontos, cuidando do tráfego e </a:t>
                      </a:r>
                      <a:r>
                        <a:rPr lang="pt-BR" sz="2400" b="1" dirty="0" err="1" smtClean="0">
                          <a:solidFill>
                            <a:schemeClr val="tx1"/>
                          </a:solidFill>
                        </a:rPr>
                        <a:t>roteamento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 dos dados da rede.</a:t>
                      </a:r>
                    </a:p>
                  </a:txBody>
                  <a:tcPr marT="45690" marB="456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898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Rede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936625" y="3429000"/>
            <a:ext cx="7091363" cy="2554288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32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A camada de rede é uma camada complexa que fornece conectividade e seleção de caminhos entre dois sistemas hosts que podem estar localizados em redes geograficamente separadas.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tângulo 2"/>
          <p:cNvSpPr>
            <a:spLocks noChangeArrowheads="1"/>
          </p:cNvSpPr>
          <p:nvPr/>
        </p:nvSpPr>
        <p:spPr bwMode="auto">
          <a:xfrm>
            <a:off x="250825" y="981075"/>
            <a:ext cx="889317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Responsável pelo roteamento dos dados pela Internetworking.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Roteadores são dispositivos que trabalham nesta camada </a:t>
            </a:r>
            <a:r>
              <a:rPr lang="pt-BR" altLang="pt-BR" sz="2400">
                <a:solidFill>
                  <a:srgbClr val="FF0000"/>
                </a:solidFill>
              </a:rPr>
              <a:t>(</a:t>
            </a:r>
            <a:r>
              <a:rPr lang="pt-BR" altLang="pt-BR" sz="2400" i="1">
                <a:solidFill>
                  <a:srgbClr val="FF0000"/>
                </a:solidFill>
              </a:rPr>
              <a:t>layer</a:t>
            </a:r>
            <a:r>
              <a:rPr lang="pt-BR" altLang="pt-BR" sz="2400">
                <a:solidFill>
                  <a:srgbClr val="FF0000"/>
                </a:solidFill>
              </a:rPr>
              <a:t> 3)</a:t>
            </a:r>
            <a:r>
              <a:rPr lang="pt-BR" altLang="pt-BR" sz="2400" b="1">
                <a:solidFill>
                  <a:srgbClr val="FF0000"/>
                </a:solidFill>
              </a:rPr>
              <a:t>, e provê os serviços relacionados a esta camada.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Tabela de roteamento </a:t>
            </a:r>
            <a:r>
              <a:rPr lang="pt-BR" altLang="pt-BR" sz="2400">
                <a:solidFill>
                  <a:srgbClr val="FF0000"/>
                </a:solidFill>
              </a:rPr>
              <a:t>(RAM)</a:t>
            </a:r>
            <a:r>
              <a:rPr lang="pt-BR" altLang="pt-BR" sz="2400" b="1">
                <a:solidFill>
                  <a:srgbClr val="FF0000"/>
                </a:solidFill>
              </a:rPr>
              <a:t>: pode ser estática ou dinâmica.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Protocolos de roteamento: RIP, OSFP, BGP e etc.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A tabela de roteamento possui: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Endereços lógicos </a:t>
            </a:r>
            <a:r>
              <a:rPr lang="pt-BR" altLang="pt-BR" sz="2400" i="1">
                <a:solidFill>
                  <a:srgbClr val="FF0000"/>
                </a:solidFill>
              </a:rPr>
              <a:t>(network addresses).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Interface de saída </a:t>
            </a:r>
            <a:r>
              <a:rPr lang="pt-BR" altLang="pt-BR" sz="2400" i="1">
                <a:solidFill>
                  <a:srgbClr val="FF0000"/>
                </a:solidFill>
              </a:rPr>
              <a:t>(exit interface).</a:t>
            </a:r>
          </a:p>
          <a:p>
            <a:pPr lvl="2" eaLnBrk="1" hangingPunct="1">
              <a:buFontTx/>
              <a:buChar char="-"/>
            </a:pPr>
            <a:r>
              <a:rPr lang="pt-BR" altLang="pt-BR" sz="2400" b="1">
                <a:solidFill>
                  <a:srgbClr val="FF0000"/>
                </a:solidFill>
              </a:rPr>
              <a:t> Métrica </a:t>
            </a:r>
            <a:r>
              <a:rPr lang="pt-BR" altLang="pt-BR" sz="2400" b="1" i="1">
                <a:solidFill>
                  <a:srgbClr val="FF0000"/>
                </a:solidFill>
              </a:rPr>
              <a:t>(</a:t>
            </a:r>
            <a:r>
              <a:rPr lang="pt-BR" altLang="pt-BR" sz="2400" i="1">
                <a:solidFill>
                  <a:srgbClr val="FF0000"/>
                </a:solidFill>
              </a:rPr>
              <a:t>metric):</a:t>
            </a:r>
            <a:r>
              <a:rPr lang="pt-BR" altLang="pt-BR" sz="2400" b="1">
                <a:solidFill>
                  <a:srgbClr val="FF0000"/>
                </a:solidFill>
              </a:rPr>
              <a:t> distância ou custo da rota.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Router: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Quebra domínios de broadcast.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Quebra domínio de colisão </a:t>
            </a:r>
            <a:r>
              <a:rPr lang="pt-BR" altLang="pt-BR" sz="2400" i="1">
                <a:solidFill>
                  <a:srgbClr val="FF0000"/>
                </a:solidFill>
              </a:rPr>
              <a:t>(collision domains).</a:t>
            </a:r>
            <a:endParaRPr lang="pt-BR" altLang="pt-BR" sz="2400" b="1">
              <a:solidFill>
                <a:srgbClr val="FF0000"/>
              </a:solidFill>
            </a:endParaRPr>
          </a:p>
        </p:txBody>
      </p:sp>
      <p:sp>
        <p:nvSpPr>
          <p:cNvPr id="38915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Rede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057275"/>
          <a:ext cx="8458200" cy="201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091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4- Camada de Transporte</a:t>
                      </a:r>
                    </a:p>
                  </a:txBody>
                  <a:tcPr marT="45682" marB="456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2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Garante que o pacote chegue ao seu destino livre de erros. Ou seja, c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ontrola a transferência de dados e transmissões. Protocolos de transporte 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</a:rPr>
                        <a:t>(TCP) 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são utilizados nesta camada. Exemplos: TCP, XNS, </a:t>
                      </a:r>
                      <a:r>
                        <a:rPr lang="pt-BR" sz="2400" b="1" dirty="0" err="1" smtClean="0">
                          <a:solidFill>
                            <a:schemeClr val="tx1"/>
                          </a:solidFill>
                        </a:rPr>
                        <a:t>DECnet</a:t>
                      </a:r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682" marB="4568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946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Modelo OSI da ISO – Camada de Transporte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395288" y="3141663"/>
            <a:ext cx="8461375" cy="34163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O nível de rede dependendo da tecnologia utilizada pode ou não garantir que um pacote chegue a seu destino. Desta forma a camada de transporte pode também implementar a confirmação de entrega.</a:t>
            </a:r>
          </a:p>
          <a:p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No nível de transporte a comunicação é fim a fim, isto é, a entidade do nível de transporte da máquina origem se comunica com a entidade do nível de transporte da máquina destino. Isto pode não acontecer nos níveis físico, de enlace e de rede, onde a comunicação se dá entre máquinas adjacentes </a:t>
            </a:r>
            <a:r>
              <a:rPr lang="pt-BR" altLang="pt-BR" sz="240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(vizinhos) </a:t>
            </a:r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na rede.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tângulo 2"/>
          <p:cNvSpPr>
            <a:spLocks noChangeArrowheads="1"/>
          </p:cNvSpPr>
          <p:nvPr/>
        </p:nvSpPr>
        <p:spPr bwMode="auto">
          <a:xfrm>
            <a:off x="381000" y="981075"/>
            <a:ext cx="8763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É responsável pela segmentação e reconstrução do fluxo de dados provenientes de camadas superiores.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Provê uma comunicação ponto a ponto e pode estabelecer conexões lógicas </a:t>
            </a:r>
            <a:r>
              <a:rPr lang="pt-BR" altLang="pt-BR" sz="2400">
                <a:solidFill>
                  <a:srgbClr val="FF0000"/>
                </a:solidFill>
              </a:rPr>
              <a:t>(aplicação origem e destino).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Mecanismos de Controle de Fluxo: impede que um transmissor inunde </a:t>
            </a:r>
            <a:r>
              <a:rPr lang="pt-BR" altLang="pt-BR" sz="2400">
                <a:solidFill>
                  <a:srgbClr val="FF0000"/>
                </a:solidFill>
              </a:rPr>
              <a:t>(buffer)</a:t>
            </a:r>
            <a:r>
              <a:rPr lang="pt-BR" altLang="pt-BR" sz="2400" b="1">
                <a:solidFill>
                  <a:srgbClr val="FF0000"/>
                </a:solidFill>
              </a:rPr>
              <a:t> um receptor.</a:t>
            </a:r>
          </a:p>
          <a:p>
            <a:pPr eaLnBrk="1" hangingPunct="1"/>
            <a:endParaRPr lang="pt-BR" altLang="pt-BR" sz="24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Estabelece uma comunicação orientada a conexão:</a:t>
            </a:r>
          </a:p>
          <a:p>
            <a:pPr eaLnBrk="1" hangingPunct="1"/>
            <a:r>
              <a:rPr lang="pt-BR" altLang="pt-BR" sz="2400" b="1" i="1">
                <a:solidFill>
                  <a:srgbClr val="FF0000"/>
                </a:solidFill>
              </a:rPr>
              <a:t>	- Segmentos transmitidos são confirmados </a:t>
            </a:r>
            <a:r>
              <a:rPr lang="pt-BR" altLang="pt-BR" sz="2400" i="1">
                <a:solidFill>
                  <a:srgbClr val="FF0000"/>
                </a:solidFill>
              </a:rPr>
              <a:t>(ACK).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</a:t>
            </a:r>
            <a:r>
              <a:rPr lang="pt-BR" altLang="pt-BR" sz="2400" b="1" i="1">
                <a:solidFill>
                  <a:srgbClr val="FF0000"/>
                </a:solidFill>
              </a:rPr>
              <a:t>Qualquer segmento não confirmado é retransmitido.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</a:t>
            </a:r>
            <a:r>
              <a:rPr lang="pt-BR" altLang="pt-BR" sz="2400" b="1" i="1">
                <a:solidFill>
                  <a:srgbClr val="FF0000"/>
                </a:solidFill>
              </a:rPr>
              <a:t>Os segmentos são montados no receptor.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	- </a:t>
            </a:r>
            <a:r>
              <a:rPr lang="pt-BR" altLang="pt-BR" sz="2400" b="1" i="1">
                <a:solidFill>
                  <a:srgbClr val="FF0000"/>
                </a:solidFill>
              </a:rPr>
              <a:t>Janela de fluxo para impedir congestionamento, sobrecarga e perda de pacotes </a:t>
            </a:r>
            <a:r>
              <a:rPr lang="pt-BR" altLang="pt-BR" sz="2400" i="1">
                <a:solidFill>
                  <a:srgbClr val="FF0000"/>
                </a:solidFill>
              </a:rPr>
              <a:t>(PKT)</a:t>
            </a:r>
            <a:r>
              <a:rPr lang="pt-BR" altLang="pt-BR" sz="2400" b="1" i="1">
                <a:solidFill>
                  <a:srgbClr val="FF0000"/>
                </a:solidFill>
              </a:rPr>
              <a:t>.</a:t>
            </a:r>
            <a:endParaRPr lang="pt-BR" altLang="pt-BR" sz="2400" b="1">
              <a:solidFill>
                <a:srgbClr val="FF0000"/>
              </a:solidFill>
            </a:endParaRPr>
          </a:p>
        </p:txBody>
      </p:sp>
      <p:sp>
        <p:nvSpPr>
          <p:cNvPr id="40963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Modelo OSI da ISO – Camada de Transporte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125538"/>
          <a:ext cx="8458200" cy="2781300"/>
        </p:xfrm>
        <a:graphic>
          <a:graphicData uri="http://schemas.openxmlformats.org/drawingml/2006/table">
            <a:tbl>
              <a:tblPr/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5- Camada de Sessão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Fornece mecanismos que permitem estruturar os circuitos do nível transporte, conectando as aplicações e ordenando a conversação entre equipamentos. Ou seja, </a:t>
                      </a:r>
                      <a:r>
                        <a:rPr kumimoji="0" lang="en-US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reconhece os nós da rede local LAN e configura a tabela de endereçamento entre fonte e destino, isto é, estabelece as sessões, no qual o usuário poderá acessar outras máquinas da rede.</a:t>
                      </a:r>
                      <a:endParaRPr kumimoji="0" lang="pt-BR" altLang="pt-BR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994" name="Retângulo 2"/>
          <p:cNvSpPr>
            <a:spLocks noChangeArrowheads="1"/>
          </p:cNvSpPr>
          <p:nvPr/>
        </p:nvSpPr>
        <p:spPr bwMode="auto">
          <a:xfrm>
            <a:off x="381000" y="4019550"/>
            <a:ext cx="8458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É responsável por estabelecer, gerenciar e finalizar sessões entre transmissores e receptores.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Exemplo de protocolos: NFS </a:t>
            </a:r>
            <a:r>
              <a:rPr lang="pt-BR" altLang="pt-BR" sz="2400">
                <a:solidFill>
                  <a:srgbClr val="FF0000"/>
                </a:solidFill>
              </a:rPr>
              <a:t>(</a:t>
            </a:r>
            <a:r>
              <a:rPr lang="pt-BR" altLang="pt-BR" sz="2400" i="1">
                <a:solidFill>
                  <a:srgbClr val="FF0000"/>
                </a:solidFill>
              </a:rPr>
              <a:t>Network File System</a:t>
            </a:r>
            <a:r>
              <a:rPr lang="pt-BR" altLang="pt-BR" sz="2400">
                <a:solidFill>
                  <a:srgbClr val="FF0000"/>
                </a:solidFill>
              </a:rPr>
              <a:t>), </a:t>
            </a:r>
            <a:r>
              <a:rPr lang="pt-BR" altLang="pt-BR" sz="2400" b="1">
                <a:solidFill>
                  <a:srgbClr val="FF0000"/>
                </a:solidFill>
              </a:rPr>
              <a:t>RPC </a:t>
            </a:r>
            <a:r>
              <a:rPr lang="pt-BR" altLang="pt-BR" sz="2400">
                <a:solidFill>
                  <a:srgbClr val="FF0000"/>
                </a:solidFill>
              </a:rPr>
              <a:t>(</a:t>
            </a:r>
            <a:r>
              <a:rPr lang="pt-BR" altLang="pt-BR" sz="2400" i="1">
                <a:solidFill>
                  <a:srgbClr val="FF0000"/>
                </a:solidFill>
              </a:rPr>
              <a:t>Remote Procedure Call) </a:t>
            </a:r>
            <a:r>
              <a:rPr lang="pt-BR" altLang="pt-BR" sz="2400" b="1">
                <a:solidFill>
                  <a:srgbClr val="FF0000"/>
                </a:solidFill>
              </a:rPr>
              <a:t>e SQL </a:t>
            </a:r>
            <a:r>
              <a:rPr lang="pt-BR" altLang="pt-BR" sz="2400" i="1">
                <a:solidFill>
                  <a:srgbClr val="FF0000"/>
                </a:solidFill>
              </a:rPr>
              <a:t>(Strutered Query Language)</a:t>
            </a:r>
            <a:r>
              <a:rPr lang="pt-BR" altLang="pt-BR" sz="2400" b="1">
                <a:solidFill>
                  <a:srgbClr val="FF0000"/>
                </a:solidFill>
              </a:rPr>
              <a:t> entre outros.</a:t>
            </a:r>
          </a:p>
        </p:txBody>
      </p:sp>
      <p:sp>
        <p:nvSpPr>
          <p:cNvPr id="41995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Modelo OSI da ISO – Camada de Sessão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052513"/>
          <a:ext cx="8458200" cy="3475037"/>
        </p:xfrm>
        <a:graphic>
          <a:graphicData uri="http://schemas.openxmlformats.org/drawingml/2006/table">
            <a:tbl>
              <a:tblPr/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6- Camada de Apresentação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82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Transforma os dados antes de serem enviados ao nível de sessão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(tais como a compressão de textos, a criptografia, a conversão de padrões de terminais e arquivos para padrões de rede e vice-versa)</a:t>
                      </a: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. Ou seja, </a:t>
                      </a:r>
                      <a:r>
                        <a:rPr kumimoji="0" lang="en-US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transfere informações de um software de aplicação da camada de sessão para o sistema operacional. Criptografia, conversão entre caracter ASCII e EBCDIC, compressão e descompressão de dados são algumas funções acumuladas nesta camada. Exemplos: NAPLPS, MAR.</a:t>
                      </a:r>
                      <a:endParaRPr kumimoji="0" lang="pt-BR" altLang="pt-BR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018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600" b="1"/>
              <a:t>Modelo OSI da ISO – Camada de Apresentação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tângulo 2"/>
          <p:cNvSpPr>
            <a:spLocks noChangeArrowheads="1"/>
          </p:cNvSpPr>
          <p:nvPr/>
        </p:nvSpPr>
        <p:spPr bwMode="auto">
          <a:xfrm>
            <a:off x="381000" y="1120775"/>
            <a:ext cx="8458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Interage com a camada de aplicação </a:t>
            </a:r>
            <a:r>
              <a:rPr lang="pt-BR" altLang="pt-BR" sz="2400">
                <a:solidFill>
                  <a:srgbClr val="FF0000"/>
                </a:solidFill>
              </a:rPr>
              <a:t>(respondendo solicitações)</a:t>
            </a:r>
            <a:r>
              <a:rPr lang="pt-BR" altLang="pt-BR" sz="2400" b="1">
                <a:solidFill>
                  <a:srgbClr val="FF0000"/>
                </a:solidFill>
              </a:rPr>
              <a:t> e com a camada abaixo sessão </a:t>
            </a:r>
            <a:r>
              <a:rPr lang="pt-BR" altLang="pt-BR" sz="2400">
                <a:solidFill>
                  <a:srgbClr val="FF0000"/>
                </a:solidFill>
              </a:rPr>
              <a:t>(envia solicitações)</a:t>
            </a:r>
            <a:r>
              <a:rPr lang="pt-BR" altLang="pt-BR" sz="2400" b="1">
                <a:solidFill>
                  <a:srgbClr val="FF0000"/>
                </a:solidFill>
              </a:rPr>
              <a:t>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É responsável pela sintaxe e semântica dos dados transferidos </a:t>
            </a:r>
            <a:r>
              <a:rPr lang="pt-BR" altLang="pt-BR" sz="2400">
                <a:solidFill>
                  <a:srgbClr val="FF0000"/>
                </a:solidFill>
              </a:rPr>
              <a:t>(não bits).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Além de formatar e interpretar os dados ela também faz a compressão e segurança </a:t>
            </a:r>
            <a:r>
              <a:rPr lang="pt-BR" altLang="pt-BR" sz="2400">
                <a:solidFill>
                  <a:srgbClr val="FF0000"/>
                </a:solidFill>
              </a:rPr>
              <a:t>(criptografia)</a:t>
            </a:r>
            <a:r>
              <a:rPr lang="pt-BR" altLang="pt-BR" sz="2400" b="1">
                <a:solidFill>
                  <a:srgbClr val="FF0000"/>
                </a:solidFill>
              </a:rPr>
              <a:t> dos dados.</a:t>
            </a:r>
          </a:p>
        </p:txBody>
      </p:sp>
      <p:sp>
        <p:nvSpPr>
          <p:cNvPr id="44035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600" b="1"/>
              <a:t>Modelo OSI da ISO – Camada de Apresentação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81000" y="1125538"/>
          <a:ext cx="8458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187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7- Camada de Aplicação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São os programas aplicativos </a:t>
                      </a:r>
                      <a:r>
                        <a:rPr lang="pt-BR" sz="2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(exemplo: correio eletrônico, banco de dados...)</a:t>
                      </a:r>
                      <a:r>
                        <a:rPr lang="pt-BR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pt-BR" sz="2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camada de aplicação é a camada OSI mais próxima do usuário; ela fornece serviços de rede aos aplicativos do usuário como navegadores, clientes de correio eletrônico, aplicativos bancários e outros que desejam acessar a rede.</a:t>
                      </a:r>
                      <a:r>
                        <a:rPr lang="pt-BR" sz="24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Exemplos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: X.400, NFS, NetWare, PC LAN, SNA, Vines.</a:t>
                      </a:r>
                    </a:p>
                  </a:txBody>
                  <a:tcPr marT="45711" marB="4571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066" name="Retângulo 2"/>
          <p:cNvSpPr>
            <a:spLocks noChangeArrowheads="1"/>
          </p:cNvSpPr>
          <p:nvPr/>
        </p:nvSpPr>
        <p:spPr bwMode="auto">
          <a:xfrm>
            <a:off x="381000" y="3933825"/>
            <a:ext cx="84582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Interação micro-usuário.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Responsável por identificar e estabelecer a disponibilidade da aplicação.</a:t>
            </a:r>
          </a:p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• Exemplos de serviços / aplicações: navegadores e servidores Web, e-mails, gateways, servidores de BD e outros.</a:t>
            </a:r>
          </a:p>
        </p:txBody>
      </p:sp>
      <p:sp>
        <p:nvSpPr>
          <p:cNvPr id="45067" name="Retângulo 2"/>
          <p:cNvSpPr>
            <a:spLocks noChangeArrowheads="1"/>
          </p:cNvSpPr>
          <p:nvPr/>
        </p:nvSpPr>
        <p:spPr bwMode="auto">
          <a:xfrm>
            <a:off x="250825" y="250825"/>
            <a:ext cx="691356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000" b="1"/>
              <a:t>Modelo OSI da ISO – Camada de Aplicação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8" y="1052513"/>
            <a:ext cx="6835775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https://chasqueweb.ufrgs.br/~paul.fisher/apostilas/redes/imagens/internet_pro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981075"/>
            <a:ext cx="9018587" cy="538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tângulo 2"/>
          <p:cNvSpPr>
            <a:spLocks noChangeArrowheads="1"/>
          </p:cNvSpPr>
          <p:nvPr/>
        </p:nvSpPr>
        <p:spPr bwMode="auto">
          <a:xfrm>
            <a:off x="323850" y="260350"/>
            <a:ext cx="65516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PT" altLang="pt-BR" sz="3200" b="1"/>
              <a:t>Protocolos de rede do TCP-IP</a:t>
            </a:r>
            <a:endParaRPr lang="pt-BR" altLang="pt-BR" sz="3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tângulo 1"/>
          <p:cNvSpPr>
            <a:spLocks noChangeArrowheads="1"/>
          </p:cNvSpPr>
          <p:nvPr/>
        </p:nvSpPr>
        <p:spPr bwMode="auto">
          <a:xfrm>
            <a:off x="1042988" y="1196975"/>
            <a:ext cx="72009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O Modelo TCP/IP foi desenvolvido utilizando como base o Modelo OSI. Por ser mais enxuto e utilizar dois protocolos centrais </a:t>
            </a:r>
            <a:r>
              <a:rPr lang="pt-BR" altLang="pt-BR" sz="2800">
                <a:solidFill>
                  <a:srgbClr val="FF0000"/>
                </a:solidFill>
              </a:rPr>
              <a:t>(TCP e IP) </a:t>
            </a:r>
            <a:r>
              <a:rPr lang="pt-BR" altLang="pt-BR" sz="2800" b="1">
                <a:solidFill>
                  <a:srgbClr val="FF0000"/>
                </a:solidFill>
              </a:rPr>
              <a:t>, tornou-se, em pouco tempo, um padrão para as redes de computadores.</a:t>
            </a:r>
          </a:p>
          <a:p>
            <a:pPr eaLnBrk="1" hangingPunct="1"/>
            <a:endParaRPr lang="pt-BR" altLang="pt-BR" sz="2800" b="1">
              <a:solidFill>
                <a:srgbClr val="FF0000"/>
              </a:solidFill>
            </a:endParaRPr>
          </a:p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O TCP/IP é um conjunto de protocolos hierárquicos que embasa o funcionamento da Internet e, atualmente o funcionamento de praticamente todas as redes locais.</a:t>
            </a:r>
          </a:p>
        </p:txBody>
      </p:sp>
      <p:sp>
        <p:nvSpPr>
          <p:cNvPr id="48131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052513"/>
            <a:ext cx="626268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</a:t>
            </a:r>
          </a:p>
        </p:txBody>
      </p:sp>
      <p:sp>
        <p:nvSpPr>
          <p:cNvPr id="50179" name="Rectangle 1"/>
          <p:cNvSpPr>
            <a:spLocks noChangeArrowheads="1"/>
          </p:cNvSpPr>
          <p:nvPr/>
        </p:nvSpPr>
        <p:spPr bwMode="auto">
          <a:xfrm>
            <a:off x="250825" y="868363"/>
            <a:ext cx="889317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 Aplicação: correspondendo aproximadamente as 3 camadas superiores do OSI, e que tem por função tratar questões de representação, codificação e controle de diálogo.  O TCP/IP combina todas as questões relacionadas a aplicações em uma camada e presume que esses dados estejam empacotados corretamente para a próxima camada. Exemplos de protocolos desta camada são: FTP, HTTP, Telnet, SMTP, POP3 e IMAP;</a:t>
            </a:r>
          </a:p>
          <a:p>
            <a:endParaRPr lang="pt-BR" altLang="pt-BR" sz="24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 Transporte: correspondendo aproximadamente à camada de transporte do OSI reúne os protocolos que realizam as funções de transporte de dados fim-a-fim, ou seja, considerando apenas a origem e o destino da comunicação, sem se preocupar com os elementos intermediários.  A camada de transporte possui dois protocolos principais que são o UDP </a:t>
            </a:r>
            <a:r>
              <a:rPr lang="pt-BR" altLang="pt-BR" sz="240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(User Datagram Protocol) </a:t>
            </a:r>
            <a:r>
              <a:rPr lang="pt-BR" altLang="pt-BR" sz="24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 TCP </a:t>
            </a:r>
            <a:r>
              <a:rPr lang="pt-BR" altLang="pt-BR" sz="240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(Transmission Control Protocol);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</a:t>
            </a:r>
          </a:p>
        </p:txBody>
      </p:sp>
      <p:sp>
        <p:nvSpPr>
          <p:cNvPr id="168961" name="Rectangle 1"/>
          <p:cNvSpPr>
            <a:spLocks noChangeArrowheads="1"/>
          </p:cNvSpPr>
          <p:nvPr/>
        </p:nvSpPr>
        <p:spPr bwMode="auto">
          <a:xfrm>
            <a:off x="323850" y="1046163"/>
            <a:ext cx="8712200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FF0000"/>
                </a:solidFill>
                <a:latin typeface="+mn-lt"/>
                <a:ea typeface="Times New Roman" pitchFamily="18" charset="0"/>
                <a:cs typeface="Arial" pitchFamily="34" charset="0"/>
              </a:rPr>
              <a:t>. Inter-Rede: correspondendo aproximadamente a camada de rede do OSI tem como finalidade enviar pacotes da origem de qualquer rede  e fazê-los chegar ao destino, independente do caminho e das redes que tomem para chegar lá. O protocolo específico que governa essa camada é chamado protocolo de Internet (IP). A determinação do melhor caminho e a comutação de pacotes acontecem nessa camada;</a:t>
            </a:r>
          </a:p>
          <a:p>
            <a:pPr>
              <a:defRPr/>
            </a:pPr>
            <a:endParaRPr lang="pt-BR" sz="2400" b="1" dirty="0">
              <a:solidFill>
                <a:srgbClr val="FF0000"/>
              </a:solidFill>
              <a:latin typeface="+mn-lt"/>
              <a:ea typeface="Times New Roman" pitchFamily="18" charset="0"/>
            </a:endParaRPr>
          </a:p>
          <a:p>
            <a:pPr>
              <a:defRPr/>
            </a:pPr>
            <a:r>
              <a:rPr lang="pt-BR" sz="2400" b="1" dirty="0">
                <a:solidFill>
                  <a:srgbClr val="FF0000"/>
                </a:solidFill>
                <a:latin typeface="+mn-lt"/>
                <a:ea typeface="Times New Roman" pitchFamily="18" charset="0"/>
                <a:cs typeface="Arial" pitchFamily="34" charset="0"/>
              </a:rPr>
              <a:t>· </a:t>
            </a:r>
            <a:r>
              <a:rPr lang="pt-BR" sz="2400" b="1" dirty="0" err="1">
                <a:solidFill>
                  <a:srgbClr val="FF0000"/>
                </a:solidFill>
                <a:latin typeface="+mn-lt"/>
                <a:ea typeface="Times New Roman" pitchFamily="18" charset="0"/>
                <a:cs typeface="Arial" pitchFamily="34" charset="0"/>
              </a:rPr>
              <a:t>Intra-rede</a:t>
            </a:r>
            <a:r>
              <a:rPr lang="pt-BR" sz="2400" b="1" dirty="0">
                <a:solidFill>
                  <a:srgbClr val="FF0000"/>
                </a:solidFill>
                <a:latin typeface="+mn-lt"/>
                <a:ea typeface="Times New Roman" pitchFamily="18" charset="0"/>
                <a:cs typeface="Arial" pitchFamily="34" charset="0"/>
              </a:rPr>
              <a:t>: é também chamada de camada host-rede ou rede de acesso. É a camada que se relaciona a tudo aquilo que um pacote IP necessita para realmente estabelecer um link físico e depois estabelecer outro link físico. Isso inclui detalhes de tecnologia de LAN e WAN e todos os detalhes nas camadas física e de enlace do OSI  </a:t>
            </a:r>
            <a:endParaRPr lang="pt-BR" sz="24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103313"/>
            <a:ext cx="8027987" cy="542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Retângulo 2"/>
          <p:cNvSpPr>
            <a:spLocks noChangeArrowheads="1"/>
          </p:cNvSpPr>
          <p:nvPr/>
        </p:nvSpPr>
        <p:spPr bwMode="auto">
          <a:xfrm>
            <a:off x="468313" y="-26988"/>
            <a:ext cx="6335712" cy="1076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 - </a:t>
            </a:r>
            <a:r>
              <a:rPr lang="pt-BR" altLang="pt-BR" sz="3200" b="1">
                <a:ea typeface="Times New Roman" panose="02020603050405020304" pitchFamily="18" charset="0"/>
                <a:cs typeface="Arial" panose="020B0604020202020204" pitchFamily="34" charset="0"/>
              </a:rPr>
              <a:t>Encapsulamento dos Dados</a:t>
            </a:r>
            <a:r>
              <a:rPr lang="pt-BR" altLang="pt-BR" sz="32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tângulo 2"/>
          <p:cNvSpPr>
            <a:spLocks noChangeArrowheads="1"/>
          </p:cNvSpPr>
          <p:nvPr/>
        </p:nvSpPr>
        <p:spPr bwMode="auto">
          <a:xfrm>
            <a:off x="468313" y="-26988"/>
            <a:ext cx="6335712" cy="1076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 - </a:t>
            </a:r>
            <a:r>
              <a:rPr lang="pt-BR" altLang="pt-BR" sz="3200" b="1">
                <a:ea typeface="Times New Roman" panose="02020603050405020304" pitchFamily="18" charset="0"/>
                <a:cs typeface="Arial" panose="020B0604020202020204" pitchFamily="34" charset="0"/>
              </a:rPr>
              <a:t>Encapsulamento dos Dados</a:t>
            </a:r>
            <a:r>
              <a:rPr lang="pt-BR" altLang="pt-BR" sz="3200" b="1"/>
              <a:t> </a:t>
            </a:r>
          </a:p>
        </p:txBody>
      </p:sp>
      <p:pic>
        <p:nvPicPr>
          <p:cNvPr id="532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5538"/>
            <a:ext cx="8712200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tângulo 2"/>
          <p:cNvSpPr>
            <a:spLocks noChangeArrowheads="1"/>
          </p:cNvSpPr>
          <p:nvPr/>
        </p:nvSpPr>
        <p:spPr bwMode="auto">
          <a:xfrm>
            <a:off x="468313" y="-26988"/>
            <a:ext cx="6335712" cy="1076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 - </a:t>
            </a:r>
            <a:r>
              <a:rPr lang="pt-BR" altLang="pt-BR" sz="3200" b="1">
                <a:ea typeface="Times New Roman" panose="02020603050405020304" pitchFamily="18" charset="0"/>
                <a:cs typeface="Arial" panose="020B0604020202020204" pitchFamily="34" charset="0"/>
              </a:rPr>
              <a:t>Encapsulamento dos Dados</a:t>
            </a:r>
            <a:r>
              <a:rPr lang="pt-BR" altLang="pt-BR" sz="3200" b="1"/>
              <a:t> </a:t>
            </a:r>
          </a:p>
        </p:txBody>
      </p:sp>
      <p:sp>
        <p:nvSpPr>
          <p:cNvPr id="54275" name="Retângulo 2"/>
          <p:cNvSpPr>
            <a:spLocks noChangeArrowheads="1"/>
          </p:cNvSpPr>
          <p:nvPr/>
        </p:nvSpPr>
        <p:spPr bwMode="auto">
          <a:xfrm>
            <a:off x="323850" y="1125538"/>
            <a:ext cx="8569325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No processo de comunicação entre elementos na rede a informação sai da aplicação do usuário e atravessa as diversas camadas funcionais apresentadas no modelo OSI sob a forma de uma Unidade de Informação, denominada PDU </a:t>
            </a:r>
            <a:r>
              <a:rPr lang="pt-BR" altLang="pt-BR" sz="280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(Protocol Data Unit)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	Cada camada funcional possui o seu PDU que, genericamente, é chamado de pacote. A partir da camada de transporte cada PDU recebe um nome específico, identificando-o conforme as funções que devem ser executadas em cada camada.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>
            <a:spLocks noChangeArrowheads="1"/>
          </p:cNvSpPr>
          <p:nvPr/>
        </p:nvSpPr>
        <p:spPr bwMode="auto">
          <a:xfrm>
            <a:off x="395288" y="1117600"/>
            <a:ext cx="8532812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       O PDU da camada de transporte é o segmento. Exemplo: segmento TCP ou datagrama de usuário no caso do UDP da pilha TCP/IP.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       O PDU da camada de rede é chamado de datagrama IP, no caso da pilha TCP/IP, ou pacote. 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       O PDU da camada de enlace é chamado de quadro </a:t>
            </a:r>
            <a:r>
              <a:rPr lang="pt-BR" altLang="pt-BR" sz="2800" b="1" i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(frame), 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como por exemplo, </a:t>
            </a:r>
            <a:r>
              <a:rPr lang="pt-BR" altLang="pt-BR" sz="2800" b="1" i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frame </a:t>
            </a:r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ethernet.</a:t>
            </a:r>
          </a:p>
          <a:p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altLang="pt-BR" sz="2800" b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·       Na camada física a informação a ser transportada é codificada como uma sequência de </a:t>
            </a:r>
            <a:r>
              <a:rPr lang="pt-BR" altLang="pt-BR" sz="2800" b="1" i="1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bits.</a:t>
            </a:r>
            <a:endParaRPr lang="pt-BR" altLang="pt-BR" sz="2800" b="1">
              <a:solidFill>
                <a:srgbClr val="FF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5299" name="Retângulo 2"/>
          <p:cNvSpPr>
            <a:spLocks noChangeArrowheads="1"/>
          </p:cNvSpPr>
          <p:nvPr/>
        </p:nvSpPr>
        <p:spPr bwMode="auto">
          <a:xfrm>
            <a:off x="468313" y="-26988"/>
            <a:ext cx="6335712" cy="1076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TCP-IP - </a:t>
            </a:r>
            <a:r>
              <a:rPr lang="pt-BR" altLang="pt-BR" sz="3200" b="1">
                <a:ea typeface="Times New Roman" panose="02020603050405020304" pitchFamily="18" charset="0"/>
                <a:cs typeface="Arial" panose="020B0604020202020204" pitchFamily="34" charset="0"/>
              </a:rPr>
              <a:t>Encapsulamento dos Dados</a:t>
            </a:r>
            <a:r>
              <a:rPr lang="pt-BR" altLang="pt-BR" sz="32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</a:t>
            </a:r>
          </a:p>
        </p:txBody>
      </p:sp>
      <p:pic>
        <p:nvPicPr>
          <p:cNvPr id="56323" name="Picture 5" descr="Relação entre camadas OSI e camadas IEEE 8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93800"/>
            <a:ext cx="8035925" cy="4287838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</a:t>
            </a:r>
          </a:p>
        </p:txBody>
      </p:sp>
      <p:sp>
        <p:nvSpPr>
          <p:cNvPr id="57347" name="Retângulo 1"/>
          <p:cNvSpPr>
            <a:spLocks noChangeArrowheads="1"/>
          </p:cNvSpPr>
          <p:nvPr/>
        </p:nvSpPr>
        <p:spPr bwMode="auto">
          <a:xfrm>
            <a:off x="900113" y="1252538"/>
            <a:ext cx="73437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>
                <a:solidFill>
                  <a:srgbClr val="FF0000"/>
                </a:solidFill>
              </a:rPr>
              <a:t>	</a:t>
            </a:r>
            <a:r>
              <a:rPr lang="pt-PT" altLang="pt-BR" sz="2800" b="1">
                <a:solidFill>
                  <a:srgbClr val="FF0000"/>
                </a:solidFill>
              </a:rPr>
              <a:t> A IEEE 802 é uma norma que tem como objetivo definir uma padronização para redes locais e metropolitanas das camadas 1 e 2 </a:t>
            </a:r>
            <a:r>
              <a:rPr lang="pt-PT" altLang="pt-BR" sz="2800">
                <a:solidFill>
                  <a:srgbClr val="FF0000"/>
                </a:solidFill>
              </a:rPr>
              <a:t>(física e enlace) </a:t>
            </a:r>
            <a:r>
              <a:rPr lang="pt-PT" altLang="pt-BR" sz="2800" b="1">
                <a:solidFill>
                  <a:srgbClr val="FF0000"/>
                </a:solidFill>
              </a:rPr>
              <a:t>do modelo OSI para padrão de redes.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802 - Camada LLC </a:t>
            </a:r>
          </a:p>
        </p:txBody>
      </p:sp>
      <p:sp>
        <p:nvSpPr>
          <p:cNvPr id="58371" name="Retângulo 1"/>
          <p:cNvSpPr>
            <a:spLocks noChangeArrowheads="1"/>
          </p:cNvSpPr>
          <p:nvPr/>
        </p:nvSpPr>
        <p:spPr bwMode="auto">
          <a:xfrm>
            <a:off x="287338" y="981075"/>
            <a:ext cx="867727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/>
              <a:t>- </a:t>
            </a:r>
            <a:r>
              <a:rPr lang="pt-BR" altLang="pt-BR" sz="2400" b="1">
                <a:solidFill>
                  <a:srgbClr val="FF0000"/>
                </a:solidFill>
              </a:rPr>
              <a:t>Especifica os mecanismos para endereçamento e conexões das estações conectadas ao meio, a geração de quadros e mensagens, controla a troca de dados entre os usuários da rede e também controla os erros. </a:t>
            </a:r>
            <a:r>
              <a:rPr lang="pt-BR" altLang="pt-BR" sz="2400" b="1"/>
              <a:t/>
            </a:r>
            <a:br>
              <a:rPr lang="pt-BR" altLang="pt-BR" sz="2400" b="1"/>
            </a:br>
            <a:endParaRPr lang="pt-BR" altLang="pt-BR" sz="2400" b="1"/>
          </a:p>
          <a:p>
            <a:pPr eaLnBrk="1" hangingPunct="1">
              <a:buFontTx/>
              <a:buChar char="-"/>
            </a:pPr>
            <a:r>
              <a:rPr lang="pt-BR" altLang="pt-BR" sz="2400" b="1"/>
              <a:t>Esta subcamada define os service access points (SAPs).</a:t>
            </a:r>
            <a:br>
              <a:rPr lang="pt-BR" altLang="pt-BR" sz="2400" b="1"/>
            </a:br>
            <a:r>
              <a:rPr lang="pt-BR" altLang="pt-BR" sz="2400" b="1"/>
              <a:t> </a:t>
            </a:r>
          </a:p>
          <a:p>
            <a:pPr eaLnBrk="1" hangingPunct="1">
              <a:buFontTx/>
              <a:buChar char="-"/>
            </a:pPr>
            <a:r>
              <a:rPr lang="pt-BR" altLang="pt-BR" sz="2400" b="1"/>
              <a:t> O protocolo HDLC </a:t>
            </a:r>
            <a:r>
              <a:rPr lang="pt-BR" altLang="pt-BR" sz="2400"/>
              <a:t>(high-level data link control)</a:t>
            </a:r>
            <a:r>
              <a:rPr lang="pt-BR" altLang="pt-BR" sz="2400" b="1"/>
              <a:t> é a base para operação e formato deste padrão.</a:t>
            </a:r>
            <a:br>
              <a:rPr lang="pt-BR" altLang="pt-BR" sz="2400" b="1"/>
            </a:br>
            <a:r>
              <a:rPr lang="pt-BR" altLang="pt-BR" sz="2400" b="1"/>
              <a:t> </a:t>
            </a:r>
          </a:p>
          <a:p>
            <a:pPr eaLnBrk="1" hangingPunct="1">
              <a:buFontTx/>
              <a:buChar char="-"/>
            </a:pPr>
            <a:r>
              <a:rPr lang="pt-BR" altLang="pt-BR" sz="2400" b="1"/>
              <a:t> A camada LLC estabelece três tipos de serviços:</a:t>
            </a:r>
          </a:p>
          <a:p>
            <a:pPr eaLnBrk="1" hangingPunct="1"/>
            <a:r>
              <a:rPr lang="pt-BR" altLang="pt-BR" sz="2400" b="1"/>
              <a:t/>
            </a:r>
            <a:br>
              <a:rPr lang="pt-BR" altLang="pt-BR" sz="2400" b="1"/>
            </a:br>
            <a:r>
              <a:rPr lang="pt-BR" altLang="pt-BR" sz="2400" b="1"/>
              <a:t>1 – sem conexão e sem reconhecimento;</a:t>
            </a:r>
            <a:br>
              <a:rPr lang="pt-BR" altLang="pt-BR" sz="2400" b="1"/>
            </a:br>
            <a:r>
              <a:rPr lang="pt-BR" altLang="pt-BR" sz="2400" b="1"/>
              <a:t>2 – com conexão;</a:t>
            </a:r>
            <a:br>
              <a:rPr lang="pt-BR" altLang="pt-BR" sz="2400" b="1"/>
            </a:br>
            <a:r>
              <a:rPr lang="pt-BR" altLang="pt-BR" sz="2400" b="1"/>
              <a:t>3 – com reconhecimento e sem conexão.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tângulo 2"/>
          <p:cNvSpPr>
            <a:spLocks noChangeArrowheads="1"/>
          </p:cNvSpPr>
          <p:nvPr/>
        </p:nvSpPr>
        <p:spPr bwMode="auto">
          <a:xfrm>
            <a:off x="468313" y="250825"/>
            <a:ext cx="633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– Camada MAC </a:t>
            </a:r>
          </a:p>
        </p:txBody>
      </p:sp>
      <p:sp>
        <p:nvSpPr>
          <p:cNvPr id="59395" name="Retângulo 1"/>
          <p:cNvSpPr>
            <a:spLocks noChangeArrowheads="1"/>
          </p:cNvSpPr>
          <p:nvPr/>
        </p:nvSpPr>
        <p:spPr bwMode="auto">
          <a:xfrm>
            <a:off x="287338" y="1052513"/>
            <a:ext cx="882173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400" b="1">
                <a:solidFill>
                  <a:srgbClr val="FF0000"/>
                </a:solidFill>
              </a:rPr>
              <a:t>- A camada MAC difere conforme o padrão IEEE 802 utilizado e permite que os dispositivos compartilhem a capacidade de transmissão de uma rede</a:t>
            </a:r>
            <a:r>
              <a:rPr lang="pt-BR" altLang="pt-BR" sz="2400" b="1"/>
              <a:t>.</a:t>
            </a:r>
          </a:p>
          <a:p>
            <a:pPr eaLnBrk="1" hangingPunct="1"/>
            <a:endParaRPr lang="pt-BR" altLang="pt-BR" sz="2400" b="1"/>
          </a:p>
          <a:p>
            <a:pPr eaLnBrk="1" hangingPunct="1">
              <a:buFontTx/>
              <a:buChar char="-"/>
            </a:pPr>
            <a:r>
              <a:rPr lang="pt-BR" altLang="pt-BR" sz="2400" b="1"/>
              <a:t> Também tem controle do acesso ao meio de transmissão e detecção de colisões.</a:t>
            </a:r>
          </a:p>
          <a:p>
            <a:pPr eaLnBrk="1" hangingPunct="1">
              <a:buFontTx/>
              <a:buChar char="-"/>
            </a:pPr>
            <a:endParaRPr lang="pt-BR" altLang="pt-BR" sz="2400" b="1"/>
          </a:p>
          <a:p>
            <a:pPr eaLnBrk="1" hangingPunct="1">
              <a:buFontTx/>
              <a:buChar char="-"/>
            </a:pPr>
            <a:r>
              <a:rPr lang="pt-BR" altLang="pt-BR" sz="2400" b="1"/>
              <a:t> Esta subcamada mantém uma tabela dos endereços físicos dos dispositivos.</a:t>
            </a:r>
          </a:p>
          <a:p>
            <a:pPr eaLnBrk="1" hangingPunct="1">
              <a:buFontTx/>
              <a:buChar char="-"/>
            </a:pPr>
            <a:endParaRPr lang="pt-BR" altLang="pt-BR" sz="2400" b="1"/>
          </a:p>
          <a:p>
            <a:pPr eaLnBrk="1" hangingPunct="1">
              <a:buFontTx/>
              <a:buChar char="-"/>
            </a:pPr>
            <a:r>
              <a:rPr lang="pt-BR" altLang="pt-BR" sz="2400" b="1"/>
              <a:t> Cada dispositivo será atribuído e deverá ter um endereço MAC exclusivo se o dispositivo for participar da rede.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tângulo 2"/>
          <p:cNvSpPr>
            <a:spLocks noChangeArrowheads="1"/>
          </p:cNvSpPr>
          <p:nvPr/>
        </p:nvSpPr>
        <p:spPr bwMode="auto">
          <a:xfrm>
            <a:off x="468313" y="250825"/>
            <a:ext cx="6480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– Camada Física </a:t>
            </a:r>
          </a:p>
        </p:txBody>
      </p:sp>
      <p:sp>
        <p:nvSpPr>
          <p:cNvPr id="60419" name="Retângulo 1"/>
          <p:cNvSpPr>
            <a:spLocks noChangeArrowheads="1"/>
          </p:cNvSpPr>
          <p:nvPr/>
        </p:nvSpPr>
        <p:spPr bwMode="auto">
          <a:xfrm>
            <a:off x="287338" y="1052513"/>
            <a:ext cx="8532812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Char char="-"/>
            </a:pPr>
            <a:r>
              <a:rPr lang="pt-BR" altLang="pt-BR" sz="2800" b="1">
                <a:solidFill>
                  <a:srgbClr val="FF0000"/>
                </a:solidFill>
              </a:rPr>
              <a:t> Composta pelos meios físicos para a transmissão dos dados, que podem ser fios, fibra ou sem Fio</a:t>
            </a:r>
            <a:r>
              <a:rPr lang="pt-BR" altLang="pt-BR" sz="2800" b="1"/>
              <a:t>.</a:t>
            </a:r>
            <a:br>
              <a:rPr lang="pt-BR" altLang="pt-BR" sz="2800" b="1"/>
            </a:br>
            <a:endParaRPr lang="pt-BR" altLang="pt-BR" sz="2800" b="1"/>
          </a:p>
          <a:p>
            <a:pPr eaLnBrk="1" hangingPunct="1">
              <a:buFontTx/>
              <a:buChar char="-"/>
            </a:pPr>
            <a:r>
              <a:rPr lang="pt-BR" altLang="pt-BR" sz="2800" b="1"/>
              <a:t> A IEEE 802 apresenta várias opções de MAC, associadas a vários meios físicos, como:</a:t>
            </a:r>
          </a:p>
        </p:txBody>
      </p:sp>
      <p:pic>
        <p:nvPicPr>
          <p:cNvPr id="60420" name="Picture 2" descr="tabela IE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429000"/>
            <a:ext cx="8540750" cy="20574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tângulo 2"/>
          <p:cNvSpPr>
            <a:spLocks noChangeArrowheads="1"/>
          </p:cNvSpPr>
          <p:nvPr/>
        </p:nvSpPr>
        <p:spPr bwMode="auto">
          <a:xfrm>
            <a:off x="250825" y="250825"/>
            <a:ext cx="655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Arquitetura IEEE 802 - Especificações </a:t>
            </a:r>
          </a:p>
        </p:txBody>
      </p:sp>
      <p:sp>
        <p:nvSpPr>
          <p:cNvPr id="61443" name="Retângulo 1"/>
          <p:cNvSpPr>
            <a:spLocks noChangeArrowheads="1"/>
          </p:cNvSpPr>
          <p:nvPr/>
        </p:nvSpPr>
        <p:spPr bwMode="auto">
          <a:xfrm>
            <a:off x="250825" y="1081088"/>
            <a:ext cx="889317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	</a:t>
            </a:r>
            <a:r>
              <a:rPr lang="pt-PT" altLang="pt-BR" sz="2000" b="1"/>
              <a:t> Definições:</a:t>
            </a:r>
          </a:p>
          <a:p>
            <a:pPr eaLnBrk="1" hangingPunct="1"/>
            <a:endParaRPr lang="pt-PT" altLang="pt-BR" sz="2000" b="1">
              <a:solidFill>
                <a:schemeClr val="bg1"/>
              </a:solidFill>
            </a:endParaRP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802.1 - Gerência de rede.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802.2 - LLC </a:t>
            </a:r>
            <a:r>
              <a:rPr lang="pt-PT" altLang="pt-BR" sz="2000">
                <a:solidFill>
                  <a:srgbClr val="000066"/>
                </a:solidFill>
              </a:rPr>
              <a:t>(Logical Link Control)</a:t>
            </a:r>
            <a:r>
              <a:rPr lang="pt-PT" altLang="pt-BR" sz="2000" b="1">
                <a:solidFill>
                  <a:srgbClr val="000066"/>
                </a:solidFill>
              </a:rPr>
              <a:t>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802.3 - Ethernet e especifíca a sintaxe e a semântica MAC </a:t>
            </a:r>
            <a:r>
              <a:rPr lang="pt-PT" altLang="pt-BR" sz="2000">
                <a:solidFill>
                  <a:srgbClr val="000066"/>
                </a:solidFill>
              </a:rPr>
              <a:t>(Media Access Control)</a:t>
            </a:r>
            <a:r>
              <a:rPr lang="pt-PT" altLang="pt-BR" sz="2000" b="1">
                <a:solidFill>
                  <a:srgbClr val="000066"/>
                </a:solidFill>
              </a:rPr>
              <a:t>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802.4 - Token Bus.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802.5 - Token Ring.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802.6 - Redes Metropolitanas.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802.7 - MANs de Banda Larga.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802.8 - Fibra Óptica.</a:t>
            </a:r>
          </a:p>
          <a:p>
            <a:pPr eaLnBrk="1" hangingPunct="1"/>
            <a:r>
              <a:rPr lang="pt-BR" altLang="pt-BR" sz="2000" b="1">
                <a:solidFill>
                  <a:srgbClr val="000066"/>
                </a:solidFill>
              </a:rPr>
              <a:t>802.9 - Integração de Redes Locais.</a:t>
            </a:r>
          </a:p>
          <a:p>
            <a:pPr eaLnBrk="1" hangingPunct="1"/>
            <a:r>
              <a:rPr lang="pt-BR" altLang="pt-BR" sz="2000" b="1">
                <a:solidFill>
                  <a:srgbClr val="000066"/>
                </a:solidFill>
              </a:rPr>
              <a:t>802.10 - Segurança em Redes Locais.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802.11 - Lans sem fios.</a:t>
            </a:r>
          </a:p>
          <a:p>
            <a:pPr eaLnBrk="1" hangingPunct="1"/>
            <a:r>
              <a:rPr lang="en-US" altLang="pt-BR" sz="2000" b="1">
                <a:solidFill>
                  <a:srgbClr val="000066"/>
                </a:solidFill>
              </a:rPr>
              <a:t>802.15 - Wireless Personal Area Network </a:t>
            </a:r>
            <a:r>
              <a:rPr lang="en-US" altLang="pt-BR" sz="2000">
                <a:solidFill>
                  <a:srgbClr val="000066"/>
                </a:solidFill>
              </a:rPr>
              <a:t>(Bluetooth)</a:t>
            </a:r>
            <a:r>
              <a:rPr lang="en-US" altLang="pt-BR" sz="2000" b="1">
                <a:solidFill>
                  <a:srgbClr val="000066"/>
                </a:solidFill>
              </a:rPr>
              <a:t>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802.16 - Broadband Wireless Access </a:t>
            </a:r>
            <a:r>
              <a:rPr lang="pt-PT" altLang="pt-BR" sz="2000">
                <a:solidFill>
                  <a:srgbClr val="000066"/>
                </a:solidFill>
              </a:rPr>
              <a:t>(Wimax)</a:t>
            </a:r>
            <a:r>
              <a:rPr lang="pt-PT" altLang="pt-BR" sz="2000" b="1">
                <a:solidFill>
                  <a:srgbClr val="000066"/>
                </a:solidFill>
              </a:rPr>
              <a:t>.</a:t>
            </a:r>
          </a:p>
          <a:p>
            <a:pPr eaLnBrk="1" hangingPunct="1"/>
            <a:r>
              <a:rPr lang="pt-PT" altLang="pt-BR" sz="2000" b="1">
                <a:solidFill>
                  <a:srgbClr val="000066"/>
                </a:solidFill>
              </a:rPr>
              <a:t>802.20 - Mobile Wireless Access </a:t>
            </a:r>
            <a:r>
              <a:rPr lang="pt-PT" altLang="pt-BR" sz="2000">
                <a:solidFill>
                  <a:srgbClr val="000066"/>
                </a:solidFill>
              </a:rPr>
              <a:t>(Mobile-fi)</a:t>
            </a:r>
            <a:r>
              <a:rPr lang="pt-PT" altLang="pt-BR" sz="2000" b="1">
                <a:solidFill>
                  <a:srgbClr val="000066"/>
                </a:solidFill>
              </a:rPr>
              <a:t>.</a:t>
            </a:r>
          </a:p>
          <a:p>
            <a:pPr eaLnBrk="1" hangingPunct="1"/>
            <a:r>
              <a:rPr lang="en-US" altLang="pt-BR" sz="2000" b="1">
                <a:solidFill>
                  <a:srgbClr val="000066"/>
                </a:solidFill>
              </a:rPr>
              <a:t>802.22 - Wireless Regional Area Network </a:t>
            </a:r>
            <a:r>
              <a:rPr lang="en-US" altLang="pt-BR" sz="2000">
                <a:solidFill>
                  <a:srgbClr val="000066"/>
                </a:solidFill>
              </a:rPr>
              <a:t>(WRAN)</a:t>
            </a:r>
            <a:r>
              <a:rPr lang="en-US" altLang="pt-BR" sz="2000" b="1">
                <a:solidFill>
                  <a:srgbClr val="000066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1799</Words>
  <Application>Microsoft Office PowerPoint</Application>
  <PresentationFormat>Apresentação na tela (4:3)</PresentationFormat>
  <Paragraphs>246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Calibri</vt:lpstr>
      <vt:lpstr>Arial</vt:lpstr>
      <vt:lpstr>Calibri Light</vt:lpstr>
      <vt:lpstr>Times New Roman</vt:lpstr>
      <vt:lpstr>Retrospectiva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Cerutti</dc:creator>
  <cp:lastModifiedBy>052663 - RANIERI MARINHO DE SOUZA</cp:lastModifiedBy>
  <cp:revision>2</cp:revision>
  <dcterms:created xsi:type="dcterms:W3CDTF">2016-03-18T12:29:57Z</dcterms:created>
  <dcterms:modified xsi:type="dcterms:W3CDTF">2023-08-04T23:11:48Z</dcterms:modified>
</cp:coreProperties>
</file>