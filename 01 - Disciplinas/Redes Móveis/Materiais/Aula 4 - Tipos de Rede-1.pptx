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343" r:id="rId3"/>
    <p:sldId id="257" r:id="rId4"/>
    <p:sldId id="344" r:id="rId5"/>
    <p:sldId id="281" r:id="rId6"/>
    <p:sldId id="345" r:id="rId7"/>
    <p:sldId id="259" r:id="rId8"/>
    <p:sldId id="346" r:id="rId9"/>
    <p:sldId id="347" r:id="rId10"/>
    <p:sldId id="282" r:id="rId11"/>
    <p:sldId id="348" r:id="rId12"/>
    <p:sldId id="260" r:id="rId13"/>
    <p:sldId id="283" r:id="rId14"/>
    <p:sldId id="349" r:id="rId15"/>
    <p:sldId id="261" r:id="rId16"/>
    <p:sldId id="284" r:id="rId17"/>
    <p:sldId id="350" r:id="rId18"/>
    <p:sldId id="262" r:id="rId19"/>
    <p:sldId id="263" r:id="rId20"/>
    <p:sldId id="285" r:id="rId21"/>
    <p:sldId id="264" r:id="rId22"/>
    <p:sldId id="286" r:id="rId23"/>
    <p:sldId id="351" r:id="rId24"/>
    <p:sldId id="265" r:id="rId25"/>
    <p:sldId id="352" r:id="rId26"/>
  </p:sldIdLst>
  <p:sldSz cx="9144000" cy="6858000" type="screen4x3"/>
  <p:notesSz cx="6858000" cy="965835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60093"/>
    <a:srgbClr val="9933FF"/>
    <a:srgbClr val="3333FF"/>
    <a:srgbClr val="00FFCC"/>
    <a:srgbClr val="66FF33"/>
    <a:srgbClr val="FFFF00"/>
    <a:srgbClr val="FF6633"/>
    <a:srgbClr val="FF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pt-BR" alt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endParaRPr lang="pt-BR" altLang="pt-B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22350" y="652463"/>
            <a:ext cx="4813300" cy="360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87875"/>
            <a:ext cx="5029200" cy="434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75750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175750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713816DA-1342-49E8-8482-71A274EDFAA2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CAC934-BBCF-409D-B5F9-770E1FD089F8}" type="slidenum">
              <a:rPr lang="pt-BR" altLang="pt-BR"/>
              <a:pPr/>
              <a:t>1</a:t>
            </a:fld>
            <a:endParaRPr lang="pt-BR" altLang="pt-BR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98A66A-826A-4601-BF10-44076334607E}" type="slidenum">
              <a:rPr lang="pt-BR" altLang="pt-BR"/>
              <a:pPr/>
              <a:t>3</a:t>
            </a:fld>
            <a:endParaRPr lang="pt-BR" altLang="pt-BR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D3C076-34D0-4327-B6E0-6515F9069CFF}" type="slidenum">
              <a:rPr lang="pt-BR" altLang="pt-BR"/>
              <a:pPr/>
              <a:t>7</a:t>
            </a:fld>
            <a:endParaRPr lang="pt-BR" altLang="pt-BR"/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87840A-9611-4908-8AE0-EC75EE813CFC}" type="slidenum">
              <a:rPr lang="pt-BR" altLang="pt-BR"/>
              <a:pPr/>
              <a:t>12</a:t>
            </a:fld>
            <a:endParaRPr lang="pt-BR" altLang="pt-BR"/>
          </a:p>
        </p:txBody>
      </p:sp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34F7D8-DCCB-437C-81B2-11572423B6FD}" type="slidenum">
              <a:rPr lang="pt-BR" altLang="pt-BR"/>
              <a:pPr/>
              <a:t>15</a:t>
            </a:fld>
            <a:endParaRPr lang="pt-BR" altLang="pt-BR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414A89-21C6-40B6-A0BC-B6F811C3A3A4}" type="slidenum">
              <a:rPr lang="pt-BR" altLang="pt-BR"/>
              <a:pPr/>
              <a:t>18</a:t>
            </a:fld>
            <a:endParaRPr lang="pt-BR" altLang="pt-BR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E78F9C-233F-4E8A-BB1F-8701B2B2C8E6}" type="slidenum">
              <a:rPr lang="pt-BR" altLang="pt-BR"/>
              <a:pPr/>
              <a:t>19</a:t>
            </a:fld>
            <a:endParaRPr lang="pt-BR" altLang="pt-BR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3AC38D-4191-449A-8259-AE4F5AD599C8}" type="slidenum">
              <a:rPr lang="pt-BR" altLang="pt-BR"/>
              <a:pPr/>
              <a:t>21</a:t>
            </a:fld>
            <a:endParaRPr lang="pt-BR" altLang="pt-BR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B5601B-9CD5-4667-9ECD-48792FB03C07}" type="slidenum">
              <a:rPr lang="pt-BR" altLang="pt-BR"/>
              <a:pPr/>
              <a:t>24</a:t>
            </a:fld>
            <a:endParaRPr lang="pt-BR" altLang="pt-BR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4" name="Group 36"/>
          <p:cNvGrpSpPr>
            <a:grpSpLocks/>
          </p:cNvGrpSpPr>
          <p:nvPr/>
        </p:nvGrpSpPr>
        <p:grpSpPr bwMode="auto">
          <a:xfrm>
            <a:off x="0" y="-20638"/>
            <a:ext cx="9137650" cy="6872288"/>
            <a:chOff x="0" y="-13"/>
            <a:chExt cx="5756" cy="4329"/>
          </a:xfrm>
        </p:grpSpPr>
        <p:sp>
          <p:nvSpPr>
            <p:cNvPr id="2050" name="Rectangle 2"/>
            <p:cNvSpPr>
              <a:spLocks noChangeArrowheads="1"/>
            </p:cNvSpPr>
            <p:nvPr/>
          </p:nvSpPr>
          <p:spPr bwMode="ltGray">
            <a:xfrm>
              <a:off x="0" y="-13"/>
              <a:ext cx="5756" cy="432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</a:gradFill>
            <a:ln>
              <a:noFill/>
            </a:ln>
            <a:effectLst>
              <a:outerShdw dist="13470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 useBgFill="1">
          <p:nvSpPr>
            <p:cNvPr id="2051" name="Rectangle 3"/>
            <p:cNvSpPr>
              <a:spLocks noChangeArrowheads="1"/>
            </p:cNvSpPr>
            <p:nvPr/>
          </p:nvSpPr>
          <p:spPr bwMode="white">
            <a:xfrm>
              <a:off x="235" y="417"/>
              <a:ext cx="5518" cy="3373"/>
            </a:xfrm>
            <a:prstGeom prst="rect">
              <a:avLst/>
            </a:prstGeom>
            <a:ln>
              <a:noFill/>
            </a:ln>
            <a:effectLst>
              <a:outerShdw dist="13470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2067" name="Group 19"/>
            <p:cNvGrpSpPr>
              <a:grpSpLocks/>
            </p:cNvGrpSpPr>
            <p:nvPr/>
          </p:nvGrpSpPr>
          <p:grpSpPr bwMode="auto">
            <a:xfrm>
              <a:off x="4293" y="2409"/>
              <a:ext cx="1280" cy="1224"/>
              <a:chOff x="4293" y="2409"/>
              <a:chExt cx="1280" cy="1224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5488" y="3551"/>
                <a:ext cx="85" cy="82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5317" y="3551"/>
                <a:ext cx="86" cy="82"/>
              </a:xfrm>
              <a:prstGeom prst="rect">
                <a:avLst/>
              </a:prstGeom>
              <a:solidFill>
                <a:srgbClr val="FF5008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" name="Rectangle 6"/>
              <p:cNvSpPr>
                <a:spLocks noChangeArrowheads="1"/>
              </p:cNvSpPr>
              <p:nvPr/>
            </p:nvSpPr>
            <p:spPr bwMode="auto">
              <a:xfrm>
                <a:off x="5147" y="3551"/>
                <a:ext cx="85" cy="82"/>
              </a:xfrm>
              <a:prstGeom prst="rect">
                <a:avLst/>
              </a:prstGeom>
              <a:solidFill>
                <a:srgbClr val="FAFD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4976" y="3551"/>
                <a:ext cx="85" cy="82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4805" y="3551"/>
                <a:ext cx="86" cy="82"/>
              </a:xfrm>
              <a:prstGeom prst="rect">
                <a:avLst/>
              </a:prstGeom>
              <a:solidFill>
                <a:srgbClr val="00DFCA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" name="Rectangle 9"/>
              <p:cNvSpPr>
                <a:spLocks noChangeArrowheads="1"/>
              </p:cNvSpPr>
              <p:nvPr/>
            </p:nvSpPr>
            <p:spPr bwMode="auto">
              <a:xfrm>
                <a:off x="4635" y="3551"/>
                <a:ext cx="85" cy="82"/>
              </a:xfrm>
              <a:prstGeom prst="rect">
                <a:avLst/>
              </a:prstGeom>
              <a:solidFill>
                <a:srgbClr val="114FFB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" name="Rectangle 10"/>
              <p:cNvSpPr>
                <a:spLocks noChangeArrowheads="1"/>
              </p:cNvSpPr>
              <p:nvPr/>
            </p:nvSpPr>
            <p:spPr bwMode="auto">
              <a:xfrm>
                <a:off x="4464" y="3551"/>
                <a:ext cx="85" cy="82"/>
              </a:xfrm>
              <a:prstGeom prst="rect">
                <a:avLst/>
              </a:prstGeom>
              <a:solidFill>
                <a:srgbClr val="8901F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" name="Rectangle 11"/>
              <p:cNvSpPr>
                <a:spLocks noChangeArrowheads="1"/>
              </p:cNvSpPr>
              <p:nvPr/>
            </p:nvSpPr>
            <p:spPr bwMode="auto">
              <a:xfrm>
                <a:off x="4293" y="3551"/>
                <a:ext cx="86" cy="82"/>
              </a:xfrm>
              <a:prstGeom prst="rect">
                <a:avLst/>
              </a:prstGeom>
              <a:solidFill>
                <a:srgbClr val="DC0081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" name="Rectangle 12"/>
              <p:cNvSpPr>
                <a:spLocks noChangeArrowheads="1"/>
              </p:cNvSpPr>
              <p:nvPr/>
            </p:nvSpPr>
            <p:spPr bwMode="auto">
              <a:xfrm>
                <a:off x="5488" y="3388"/>
                <a:ext cx="85" cy="82"/>
              </a:xfrm>
              <a:prstGeom prst="rect">
                <a:avLst/>
              </a:prstGeom>
              <a:solidFill>
                <a:srgbClr val="FF5008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" name="Rectangle 13"/>
              <p:cNvSpPr>
                <a:spLocks noChangeArrowheads="1"/>
              </p:cNvSpPr>
              <p:nvPr/>
            </p:nvSpPr>
            <p:spPr bwMode="auto">
              <a:xfrm>
                <a:off x="5488" y="3225"/>
                <a:ext cx="85" cy="81"/>
              </a:xfrm>
              <a:prstGeom prst="rect">
                <a:avLst/>
              </a:prstGeom>
              <a:solidFill>
                <a:srgbClr val="FAFD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2" name="Rectangle 14"/>
              <p:cNvSpPr>
                <a:spLocks noChangeArrowheads="1"/>
              </p:cNvSpPr>
              <p:nvPr/>
            </p:nvSpPr>
            <p:spPr bwMode="auto">
              <a:xfrm>
                <a:off x="5488" y="3062"/>
                <a:ext cx="85" cy="81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3" name="Rectangle 15"/>
              <p:cNvSpPr>
                <a:spLocks noChangeArrowheads="1"/>
              </p:cNvSpPr>
              <p:nvPr/>
            </p:nvSpPr>
            <p:spPr bwMode="auto">
              <a:xfrm>
                <a:off x="5488" y="2898"/>
                <a:ext cx="85" cy="82"/>
              </a:xfrm>
              <a:prstGeom prst="rect">
                <a:avLst/>
              </a:prstGeom>
              <a:solidFill>
                <a:srgbClr val="00DFCA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4" name="Rectangle 16"/>
              <p:cNvSpPr>
                <a:spLocks noChangeArrowheads="1"/>
              </p:cNvSpPr>
              <p:nvPr/>
            </p:nvSpPr>
            <p:spPr bwMode="auto">
              <a:xfrm>
                <a:off x="5488" y="2735"/>
                <a:ext cx="85" cy="82"/>
              </a:xfrm>
              <a:prstGeom prst="rect">
                <a:avLst/>
              </a:prstGeom>
              <a:solidFill>
                <a:srgbClr val="114FFB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5" name="Rectangle 17"/>
              <p:cNvSpPr>
                <a:spLocks noChangeArrowheads="1"/>
              </p:cNvSpPr>
              <p:nvPr/>
            </p:nvSpPr>
            <p:spPr bwMode="auto">
              <a:xfrm>
                <a:off x="5488" y="2572"/>
                <a:ext cx="85" cy="81"/>
              </a:xfrm>
              <a:prstGeom prst="rect">
                <a:avLst/>
              </a:prstGeom>
              <a:solidFill>
                <a:srgbClr val="8901F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6" name="Rectangle 18"/>
              <p:cNvSpPr>
                <a:spLocks noChangeArrowheads="1"/>
              </p:cNvSpPr>
              <p:nvPr/>
            </p:nvSpPr>
            <p:spPr bwMode="auto">
              <a:xfrm>
                <a:off x="5488" y="2409"/>
                <a:ext cx="85" cy="82"/>
              </a:xfrm>
              <a:prstGeom prst="rect">
                <a:avLst/>
              </a:prstGeom>
              <a:solidFill>
                <a:srgbClr val="DC0081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2083" name="Group 35"/>
            <p:cNvGrpSpPr>
              <a:grpSpLocks/>
            </p:cNvGrpSpPr>
            <p:nvPr/>
          </p:nvGrpSpPr>
          <p:grpSpPr bwMode="auto">
            <a:xfrm>
              <a:off x="405" y="609"/>
              <a:ext cx="1280" cy="1446"/>
              <a:chOff x="405" y="609"/>
              <a:chExt cx="1280" cy="1446"/>
            </a:xfrm>
          </p:grpSpPr>
          <p:sp>
            <p:nvSpPr>
              <p:cNvPr id="2068" name="Rectangle 20"/>
              <p:cNvSpPr>
                <a:spLocks noChangeArrowheads="1"/>
              </p:cNvSpPr>
              <p:nvPr/>
            </p:nvSpPr>
            <p:spPr bwMode="auto">
              <a:xfrm>
                <a:off x="405" y="609"/>
                <a:ext cx="85" cy="97"/>
              </a:xfrm>
              <a:prstGeom prst="rect">
                <a:avLst/>
              </a:prstGeom>
              <a:solidFill>
                <a:srgbClr val="FF00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9" name="Rectangle 21"/>
              <p:cNvSpPr>
                <a:spLocks noChangeArrowheads="1"/>
              </p:cNvSpPr>
              <p:nvPr/>
            </p:nvSpPr>
            <p:spPr bwMode="auto">
              <a:xfrm>
                <a:off x="575" y="609"/>
                <a:ext cx="86" cy="97"/>
              </a:xfrm>
              <a:prstGeom prst="rect">
                <a:avLst/>
              </a:prstGeom>
              <a:solidFill>
                <a:srgbClr val="FF66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0" name="Rectangle 22"/>
              <p:cNvSpPr>
                <a:spLocks noChangeArrowheads="1"/>
              </p:cNvSpPr>
              <p:nvPr/>
            </p:nvSpPr>
            <p:spPr bwMode="auto">
              <a:xfrm>
                <a:off x="746" y="609"/>
                <a:ext cx="85" cy="9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1" name="Rectangle 23"/>
              <p:cNvSpPr>
                <a:spLocks noChangeArrowheads="1"/>
              </p:cNvSpPr>
              <p:nvPr/>
            </p:nvSpPr>
            <p:spPr bwMode="auto">
              <a:xfrm>
                <a:off x="917" y="609"/>
                <a:ext cx="85" cy="97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2" name="Rectangle 24"/>
              <p:cNvSpPr>
                <a:spLocks noChangeArrowheads="1"/>
              </p:cNvSpPr>
              <p:nvPr/>
            </p:nvSpPr>
            <p:spPr bwMode="auto">
              <a:xfrm>
                <a:off x="1087" y="609"/>
                <a:ext cx="86" cy="97"/>
              </a:xfrm>
              <a:prstGeom prst="rect">
                <a:avLst/>
              </a:prstGeom>
              <a:solidFill>
                <a:srgbClr val="00FFCC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3" name="Rectangle 25"/>
              <p:cNvSpPr>
                <a:spLocks noChangeArrowheads="1"/>
              </p:cNvSpPr>
              <p:nvPr/>
            </p:nvSpPr>
            <p:spPr bwMode="auto">
              <a:xfrm>
                <a:off x="1258" y="609"/>
                <a:ext cx="85" cy="97"/>
              </a:xfrm>
              <a:prstGeom prst="rect">
                <a:avLst/>
              </a:prstGeom>
              <a:solidFill>
                <a:srgbClr val="33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4" name="Rectangle 26"/>
              <p:cNvSpPr>
                <a:spLocks noChangeArrowheads="1"/>
              </p:cNvSpPr>
              <p:nvPr/>
            </p:nvSpPr>
            <p:spPr bwMode="auto">
              <a:xfrm>
                <a:off x="1429" y="609"/>
                <a:ext cx="85" cy="97"/>
              </a:xfrm>
              <a:prstGeom prst="rect">
                <a:avLst/>
              </a:prstGeom>
              <a:solidFill>
                <a:srgbClr val="99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5" name="Rectangle 27"/>
              <p:cNvSpPr>
                <a:spLocks noChangeArrowheads="1"/>
              </p:cNvSpPr>
              <p:nvPr/>
            </p:nvSpPr>
            <p:spPr bwMode="auto">
              <a:xfrm>
                <a:off x="1599" y="609"/>
                <a:ext cx="86" cy="97"/>
              </a:xfrm>
              <a:prstGeom prst="rect">
                <a:avLst/>
              </a:prstGeom>
              <a:solidFill>
                <a:srgbClr val="D6009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6" name="Rectangle 28"/>
              <p:cNvSpPr>
                <a:spLocks noChangeArrowheads="1"/>
              </p:cNvSpPr>
              <p:nvPr/>
            </p:nvSpPr>
            <p:spPr bwMode="auto">
              <a:xfrm>
                <a:off x="405" y="802"/>
                <a:ext cx="85" cy="97"/>
              </a:xfrm>
              <a:prstGeom prst="rect">
                <a:avLst/>
              </a:prstGeom>
              <a:solidFill>
                <a:srgbClr val="FF66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7" name="Rectangle 29"/>
              <p:cNvSpPr>
                <a:spLocks noChangeArrowheads="1"/>
              </p:cNvSpPr>
              <p:nvPr/>
            </p:nvSpPr>
            <p:spPr bwMode="auto">
              <a:xfrm>
                <a:off x="405" y="995"/>
                <a:ext cx="85" cy="9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8" name="Rectangle 30"/>
              <p:cNvSpPr>
                <a:spLocks noChangeArrowheads="1"/>
              </p:cNvSpPr>
              <p:nvPr/>
            </p:nvSpPr>
            <p:spPr bwMode="auto">
              <a:xfrm>
                <a:off x="405" y="1188"/>
                <a:ext cx="85" cy="96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9" name="Rectangle 31"/>
              <p:cNvSpPr>
                <a:spLocks noChangeArrowheads="1"/>
              </p:cNvSpPr>
              <p:nvPr/>
            </p:nvSpPr>
            <p:spPr bwMode="auto">
              <a:xfrm>
                <a:off x="405" y="1380"/>
                <a:ext cx="85" cy="97"/>
              </a:xfrm>
              <a:prstGeom prst="rect">
                <a:avLst/>
              </a:prstGeom>
              <a:solidFill>
                <a:srgbClr val="00FFCC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80" name="Rectangle 32"/>
              <p:cNvSpPr>
                <a:spLocks noChangeArrowheads="1"/>
              </p:cNvSpPr>
              <p:nvPr/>
            </p:nvSpPr>
            <p:spPr bwMode="auto">
              <a:xfrm>
                <a:off x="405" y="1573"/>
                <a:ext cx="85" cy="97"/>
              </a:xfrm>
              <a:prstGeom prst="rect">
                <a:avLst/>
              </a:prstGeom>
              <a:solidFill>
                <a:srgbClr val="33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81" name="Rectangle 33"/>
              <p:cNvSpPr>
                <a:spLocks noChangeArrowheads="1"/>
              </p:cNvSpPr>
              <p:nvPr/>
            </p:nvSpPr>
            <p:spPr bwMode="auto">
              <a:xfrm>
                <a:off x="405" y="1766"/>
                <a:ext cx="85" cy="96"/>
              </a:xfrm>
              <a:prstGeom prst="rect">
                <a:avLst/>
              </a:prstGeom>
              <a:solidFill>
                <a:srgbClr val="99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82" name="Rectangle 34"/>
              <p:cNvSpPr>
                <a:spLocks noChangeArrowheads="1"/>
              </p:cNvSpPr>
              <p:nvPr/>
            </p:nvSpPr>
            <p:spPr bwMode="auto">
              <a:xfrm>
                <a:off x="405" y="1959"/>
                <a:ext cx="85" cy="96"/>
              </a:xfrm>
              <a:prstGeom prst="rect">
                <a:avLst/>
              </a:prstGeom>
              <a:solidFill>
                <a:srgbClr val="D6009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sp>
        <p:nvSpPr>
          <p:cNvPr id="2085" name="Rectangle 37"/>
          <p:cNvSpPr>
            <a:spLocks noGrp="1" noChangeArrowheads="1"/>
          </p:cNvSpPr>
          <p:nvPr>
            <p:ph type="ctrTitle" sz="quarter"/>
          </p:nvPr>
        </p:nvSpPr>
        <p:spPr>
          <a:xfrm>
            <a:off x="1143000" y="1600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altLang="pt-BR" noProof="0" smtClean="0"/>
              <a:t>Clique para editar o estilo do título mestre</a:t>
            </a:r>
          </a:p>
        </p:txBody>
      </p:sp>
      <p:sp>
        <p:nvSpPr>
          <p:cNvPr id="2086" name="Rectangle 3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524000" y="3581400"/>
            <a:ext cx="6400800" cy="1752600"/>
          </a:xfrm>
        </p:spPr>
        <p:txBody>
          <a:bodyPr anchor="ctr"/>
          <a:lstStyle>
            <a:lvl1pPr marL="0" indent="0" algn="ctr">
              <a:buFont typeface="Monotype Sorts" charset="2"/>
              <a:buNone/>
              <a:defRPr/>
            </a:lvl1pPr>
          </a:lstStyle>
          <a:p>
            <a:pPr lvl="0"/>
            <a:r>
              <a:rPr lang="pt-BR" altLang="pt-BR" noProof="0" smtClean="0"/>
              <a:t>Clique para editar o estilo do subtítulo mestre</a:t>
            </a:r>
          </a:p>
        </p:txBody>
      </p:sp>
      <p:sp>
        <p:nvSpPr>
          <p:cNvPr id="2087" name="Rectangle 39"/>
          <p:cNvSpPr>
            <a:spLocks noGrp="1" noChangeArrowheads="1"/>
          </p:cNvSpPr>
          <p:nvPr>
            <p:ph type="dt" sz="quarter" idx="2"/>
          </p:nvPr>
        </p:nvSpPr>
        <p:spPr>
          <a:xfrm>
            <a:off x="6096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7EC194F-FDD5-4ED0-987E-2E085E7D0BC7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2088" name="Rectangle 40"/>
          <p:cNvSpPr>
            <a:spLocks noGrp="1" noChangeArrowheads="1"/>
          </p:cNvSpPr>
          <p:nvPr>
            <p:ph type="ftr" sz="quarter" idx="3"/>
          </p:nvPr>
        </p:nvSpPr>
        <p:spPr>
          <a:xfrm>
            <a:off x="3276600" y="639921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2089" name="Rectangle 4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934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62A67B9-BDD0-4985-AD71-1018D969C0DE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19E4E9-0D7C-4990-84A9-063DF24095D3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B19CA-E07F-45D6-824C-6B7D9E16737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8362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EB9693-97A8-460E-8D4F-7476D0F20C9C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3E5768-6164-4749-B980-16C7473660A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1431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90106E-DD1D-4954-9D11-724012381F4B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20909-EA5D-472B-AD0B-A23C5357BCF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134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9A1602-6A0A-46A5-A81B-F43A8EE62ECB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41727-33AD-4EB9-86CB-196A5E7DFE4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3461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D69071-0F69-4B24-8B81-339801D028B1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EFC6C6-42D6-44DF-805B-559DF947D35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9534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92C961-DD65-405D-AC34-16B154243ECD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D11120-B84C-475C-B7B6-2893049E9FE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16642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1B4F7F-A33C-4C67-B34B-1B7CD3A5AAA9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8F3EEA-4F97-4061-AF28-3B493A0E825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2743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690E93-6996-4087-8206-5CBD3431FA51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9B01B6-9033-4CC4-9203-6132DB20B68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87199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B6E082-366F-4557-BCF2-36353085BCE5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F9B1A9-C085-4FC7-A4F7-F3AF553A989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72898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4864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486400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D2E788-C5A0-42D5-96B1-C1F2618C3FFE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DE2842-1A32-48CD-A041-A8B159A6DFC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58780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" name="Group 20"/>
          <p:cNvGrpSpPr>
            <a:grpSpLocks/>
          </p:cNvGrpSpPr>
          <p:nvPr/>
        </p:nvGrpSpPr>
        <p:grpSpPr bwMode="auto">
          <a:xfrm>
            <a:off x="0" y="0"/>
            <a:ext cx="9132888" cy="6845300"/>
            <a:chOff x="0" y="0"/>
            <a:chExt cx="5753" cy="4312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0" y="0"/>
              <a:ext cx="5753" cy="4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</a:gradFill>
            <a:ln>
              <a:noFill/>
            </a:ln>
            <a:effectLst>
              <a:outerShdw dist="13470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 useBgFill="1">
          <p:nvSpPr>
            <p:cNvPr id="1027" name="Rectangle 3"/>
            <p:cNvSpPr>
              <a:spLocks noChangeArrowheads="1"/>
            </p:cNvSpPr>
            <p:nvPr/>
          </p:nvSpPr>
          <p:spPr bwMode="white">
            <a:xfrm>
              <a:off x="235" y="240"/>
              <a:ext cx="5518" cy="4072"/>
            </a:xfrm>
            <a:prstGeom prst="rect">
              <a:avLst/>
            </a:prstGeom>
            <a:ln>
              <a:noFill/>
            </a:ln>
            <a:effectLst>
              <a:outerShdw dist="13470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1043" name="Group 19"/>
            <p:cNvGrpSpPr>
              <a:grpSpLocks/>
            </p:cNvGrpSpPr>
            <p:nvPr/>
          </p:nvGrpSpPr>
          <p:grpSpPr bwMode="auto">
            <a:xfrm>
              <a:off x="4245" y="2592"/>
              <a:ext cx="1280" cy="1440"/>
              <a:chOff x="4245" y="2592"/>
              <a:chExt cx="1280" cy="1440"/>
            </a:xfrm>
          </p:grpSpPr>
          <p:sp>
            <p:nvSpPr>
              <p:cNvPr id="1028" name="Rectangle 4"/>
              <p:cNvSpPr>
                <a:spLocks noChangeArrowheads="1"/>
              </p:cNvSpPr>
              <p:nvPr/>
            </p:nvSpPr>
            <p:spPr bwMode="auto">
              <a:xfrm>
                <a:off x="5440" y="3936"/>
                <a:ext cx="85" cy="96"/>
              </a:xfrm>
              <a:prstGeom prst="rect">
                <a:avLst/>
              </a:prstGeom>
              <a:solidFill>
                <a:srgbClr val="FF00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29" name="Rectangle 5"/>
              <p:cNvSpPr>
                <a:spLocks noChangeArrowheads="1"/>
              </p:cNvSpPr>
              <p:nvPr/>
            </p:nvSpPr>
            <p:spPr bwMode="auto">
              <a:xfrm>
                <a:off x="5269" y="3936"/>
                <a:ext cx="86" cy="96"/>
              </a:xfrm>
              <a:prstGeom prst="rect">
                <a:avLst/>
              </a:prstGeom>
              <a:solidFill>
                <a:srgbClr val="FF66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0" name="Rectangle 6"/>
              <p:cNvSpPr>
                <a:spLocks noChangeArrowheads="1"/>
              </p:cNvSpPr>
              <p:nvPr/>
            </p:nvSpPr>
            <p:spPr bwMode="auto">
              <a:xfrm>
                <a:off x="5099" y="3936"/>
                <a:ext cx="85" cy="9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1" name="Rectangle 7"/>
              <p:cNvSpPr>
                <a:spLocks noChangeArrowheads="1"/>
              </p:cNvSpPr>
              <p:nvPr/>
            </p:nvSpPr>
            <p:spPr bwMode="auto">
              <a:xfrm>
                <a:off x="4928" y="3936"/>
                <a:ext cx="85" cy="96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2" name="Rectangle 8"/>
              <p:cNvSpPr>
                <a:spLocks noChangeArrowheads="1"/>
              </p:cNvSpPr>
              <p:nvPr/>
            </p:nvSpPr>
            <p:spPr bwMode="auto">
              <a:xfrm>
                <a:off x="4757" y="3936"/>
                <a:ext cx="86" cy="96"/>
              </a:xfrm>
              <a:prstGeom prst="rect">
                <a:avLst/>
              </a:prstGeom>
              <a:solidFill>
                <a:srgbClr val="00FFCC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3" name="Rectangle 9"/>
              <p:cNvSpPr>
                <a:spLocks noChangeArrowheads="1"/>
              </p:cNvSpPr>
              <p:nvPr/>
            </p:nvSpPr>
            <p:spPr bwMode="auto">
              <a:xfrm>
                <a:off x="4587" y="3936"/>
                <a:ext cx="85" cy="96"/>
              </a:xfrm>
              <a:prstGeom prst="rect">
                <a:avLst/>
              </a:prstGeom>
              <a:solidFill>
                <a:srgbClr val="33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4" name="Rectangle 10"/>
              <p:cNvSpPr>
                <a:spLocks noChangeArrowheads="1"/>
              </p:cNvSpPr>
              <p:nvPr/>
            </p:nvSpPr>
            <p:spPr bwMode="auto">
              <a:xfrm>
                <a:off x="4416" y="3936"/>
                <a:ext cx="85" cy="96"/>
              </a:xfrm>
              <a:prstGeom prst="rect">
                <a:avLst/>
              </a:prstGeom>
              <a:solidFill>
                <a:srgbClr val="99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5" name="Rectangle 11"/>
              <p:cNvSpPr>
                <a:spLocks noChangeArrowheads="1"/>
              </p:cNvSpPr>
              <p:nvPr/>
            </p:nvSpPr>
            <p:spPr bwMode="auto">
              <a:xfrm>
                <a:off x="4245" y="3936"/>
                <a:ext cx="86" cy="96"/>
              </a:xfrm>
              <a:prstGeom prst="rect">
                <a:avLst/>
              </a:prstGeom>
              <a:solidFill>
                <a:srgbClr val="D6009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Rectangle 12"/>
              <p:cNvSpPr>
                <a:spLocks noChangeArrowheads="1"/>
              </p:cNvSpPr>
              <p:nvPr/>
            </p:nvSpPr>
            <p:spPr bwMode="auto">
              <a:xfrm>
                <a:off x="5440" y="3744"/>
                <a:ext cx="85" cy="96"/>
              </a:xfrm>
              <a:prstGeom prst="rect">
                <a:avLst/>
              </a:prstGeom>
              <a:solidFill>
                <a:srgbClr val="FF66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Rectangle 13"/>
              <p:cNvSpPr>
                <a:spLocks noChangeArrowheads="1"/>
              </p:cNvSpPr>
              <p:nvPr/>
            </p:nvSpPr>
            <p:spPr bwMode="auto">
              <a:xfrm>
                <a:off x="5440" y="3552"/>
                <a:ext cx="85" cy="9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Rectangle 14"/>
              <p:cNvSpPr>
                <a:spLocks noChangeArrowheads="1"/>
              </p:cNvSpPr>
              <p:nvPr/>
            </p:nvSpPr>
            <p:spPr bwMode="auto">
              <a:xfrm>
                <a:off x="5440" y="3360"/>
                <a:ext cx="85" cy="96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9" name="Rectangle 15"/>
              <p:cNvSpPr>
                <a:spLocks noChangeArrowheads="1"/>
              </p:cNvSpPr>
              <p:nvPr/>
            </p:nvSpPr>
            <p:spPr bwMode="auto">
              <a:xfrm>
                <a:off x="5440" y="3168"/>
                <a:ext cx="85" cy="96"/>
              </a:xfrm>
              <a:prstGeom prst="rect">
                <a:avLst/>
              </a:prstGeom>
              <a:solidFill>
                <a:srgbClr val="00FFCC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0" name="Rectangle 16"/>
              <p:cNvSpPr>
                <a:spLocks noChangeArrowheads="1"/>
              </p:cNvSpPr>
              <p:nvPr/>
            </p:nvSpPr>
            <p:spPr bwMode="auto">
              <a:xfrm>
                <a:off x="5440" y="2976"/>
                <a:ext cx="85" cy="96"/>
              </a:xfrm>
              <a:prstGeom prst="rect">
                <a:avLst/>
              </a:prstGeom>
              <a:solidFill>
                <a:srgbClr val="33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1" name="Rectangle 17"/>
              <p:cNvSpPr>
                <a:spLocks noChangeArrowheads="1"/>
              </p:cNvSpPr>
              <p:nvPr/>
            </p:nvSpPr>
            <p:spPr bwMode="auto">
              <a:xfrm>
                <a:off x="5440" y="2784"/>
                <a:ext cx="85" cy="96"/>
              </a:xfrm>
              <a:prstGeom prst="rect">
                <a:avLst/>
              </a:prstGeom>
              <a:solidFill>
                <a:srgbClr val="99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2" name="Rectangle 18"/>
              <p:cNvSpPr>
                <a:spLocks noChangeArrowheads="1"/>
              </p:cNvSpPr>
              <p:nvPr/>
            </p:nvSpPr>
            <p:spPr bwMode="auto">
              <a:xfrm>
                <a:off x="5440" y="2592"/>
                <a:ext cx="85" cy="96"/>
              </a:xfrm>
              <a:prstGeom prst="rect">
                <a:avLst/>
              </a:prstGeom>
              <a:solidFill>
                <a:srgbClr val="D6009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sp>
        <p:nvSpPr>
          <p:cNvPr id="1045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2. TOPOLOGIA DE REDES DE COMPUTADORES</a:t>
            </a:r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  <p:sp>
        <p:nvSpPr>
          <p:cNvPr id="1047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1CBF7520-6ACC-4B91-934D-20B44A8F3EEE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1048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9213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 altLang="pt-BR" dirty="0"/>
          </a:p>
        </p:txBody>
      </p:sp>
      <p:sp>
        <p:nvSpPr>
          <p:cNvPr id="1049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52DDDC9-CFAA-4AC9-9580-AEE12D3D68D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SzPct val="75000"/>
        <a:buFont typeface="Monotype Sorts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AFD00"/>
        </a:buClr>
        <a:buSzPct val="75000"/>
        <a:buFont typeface="Monotype Sorts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5008"/>
        </a:buClr>
        <a:buSzPct val="65000"/>
        <a:buFont typeface="Monotype Sorts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901F3"/>
        </a:buClr>
        <a:buSzPct val="65000"/>
        <a:buFont typeface="Monotype Sorts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F8A-184E-4CBE-93F8-47735F062E90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CB4019-BF25-4ED0-A125-1280CE83877B}" type="slidenum">
              <a:rPr lang="pt-BR" altLang="pt-BR"/>
              <a:pPr/>
              <a:t>1</a:t>
            </a:fld>
            <a:endParaRPr lang="pt-BR" altLang="pt-BR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pt-BR" altLang="pt-BR" sz="2800" b="1" dirty="0" smtClean="0"/>
              <a:t>1. </a:t>
            </a:r>
            <a:r>
              <a:rPr lang="pt-BR" altLang="pt-BR" sz="2800" b="1" dirty="0"/>
              <a:t>TOPOLOGIA DE REDES DE COMPUTADORES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pt-BR" altLang="pt-BR" b="1"/>
              <a:t>Topologia</a:t>
            </a:r>
            <a:r>
              <a:rPr lang="pt-BR" altLang="pt-BR"/>
              <a:t> é a estrutura física de interconexão das várias estações.</a:t>
            </a:r>
          </a:p>
          <a:p>
            <a:r>
              <a:rPr lang="pt-BR" altLang="pt-BR"/>
              <a:t>Reflete</a:t>
            </a:r>
          </a:p>
          <a:p>
            <a:pPr lvl="1"/>
            <a:r>
              <a:rPr lang="pt-BR" altLang="pt-BR"/>
              <a:t>Localização geográfica</a:t>
            </a:r>
          </a:p>
          <a:p>
            <a:pPr lvl="1"/>
            <a:r>
              <a:rPr lang="pt-BR" altLang="pt-BR"/>
              <a:t>Fluxo de informações entre estações</a:t>
            </a:r>
          </a:p>
          <a:p>
            <a:pPr lvl="1"/>
            <a:r>
              <a:rPr lang="pt-BR" altLang="pt-BR"/>
              <a:t>Confiabilidade do sistema</a:t>
            </a:r>
          </a:p>
          <a:p>
            <a:pPr lvl="1">
              <a:buFont typeface="Monotype Sorts" charset="2"/>
              <a:buNone/>
            </a:pPr>
            <a:r>
              <a:rPr lang="pt-BR" altLang="pt-BR"/>
              <a:t>                 </a:t>
            </a:r>
          </a:p>
          <a:p>
            <a:pPr>
              <a:buFont typeface="Monotype Sorts" charset="2"/>
              <a:buNone/>
            </a:pPr>
            <a:endParaRPr lang="pt-BR" altLang="pt-BR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803FE-2A54-4D6D-89A2-C5E03398995B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7B0-75D0-423E-B36C-195287D71054}" type="slidenum">
              <a:rPr lang="pt-BR" altLang="pt-BR"/>
              <a:pPr/>
              <a:t>2</a:t>
            </a:fld>
            <a:endParaRPr lang="pt-BR" altLang="pt-BR"/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33400"/>
            <a:ext cx="8675687" cy="1143000"/>
          </a:xfrm>
        </p:spPr>
        <p:txBody>
          <a:bodyPr/>
          <a:lstStyle/>
          <a:p>
            <a:pPr algn="ctr"/>
            <a:r>
              <a:rPr lang="pt-BR" altLang="pt-BR" sz="2400" b="1" dirty="0"/>
              <a:t>Fig. </a:t>
            </a:r>
            <a:r>
              <a:rPr lang="pt-BR" altLang="pt-BR" sz="2400" b="1" dirty="0" smtClean="0"/>
              <a:t>1-1</a:t>
            </a:r>
            <a:r>
              <a:rPr lang="pt-BR" altLang="pt-BR" sz="2400" b="1" dirty="0"/>
              <a:t>: Relação entre os Nós de Comunicações e as Estações</a:t>
            </a:r>
          </a:p>
        </p:txBody>
      </p:sp>
      <p:pic>
        <p:nvPicPr>
          <p:cNvPr id="117764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773238"/>
            <a:ext cx="7772400" cy="4022725"/>
          </a:xfrm>
          <a:noFill/>
          <a:ln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E9D68-1C54-4D68-970C-92920DB63A87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2F7B-DD14-4105-AAD2-FEE328852747}" type="slidenum">
              <a:rPr lang="pt-BR" altLang="pt-BR"/>
              <a:pPr/>
              <a:t>3</a:t>
            </a:fld>
            <a:endParaRPr lang="pt-BR" altLang="pt-B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/>
              <a:t>1.1 </a:t>
            </a:r>
            <a:r>
              <a:rPr lang="pt-BR" altLang="pt-BR" sz="2800" b="1" u="sng" dirty="0"/>
              <a:t>Redes Geograficamente Distribuídas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Monotype Sorts" charset="2"/>
              <a:buNone/>
            </a:pPr>
            <a:r>
              <a:rPr lang="pt-BR" altLang="pt-BR" b="1" u="sng"/>
              <a:t>2.1.1 Topologia Totalmente Ligada</a:t>
            </a:r>
          </a:p>
          <a:p>
            <a:r>
              <a:rPr lang="pt-BR" altLang="pt-BR" i="1"/>
              <a:t>N(N-1)/2</a:t>
            </a:r>
            <a:r>
              <a:rPr lang="pt-BR" altLang="pt-BR"/>
              <a:t> ligações ponto a ponto necessárias</a:t>
            </a:r>
            <a:endParaRPr lang="pt-BR" altLang="pt-BR" b="1" u="sng"/>
          </a:p>
          <a:p>
            <a:r>
              <a:rPr lang="pt-BR" altLang="pt-BR"/>
              <a:t>Custo de comunicação e hardware muito elevado.</a:t>
            </a:r>
          </a:p>
          <a:p>
            <a:r>
              <a:rPr lang="pt-BR" altLang="pt-BR"/>
              <a:t>Altamente confiável (Fig. 2-2)</a:t>
            </a:r>
          </a:p>
          <a:p>
            <a:pPr>
              <a:buFont typeface="Monotype Sorts" charset="2"/>
              <a:buNone/>
            </a:pPr>
            <a:endParaRPr lang="pt-BR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E0EE2-D5E7-4C8C-964A-2E39D454132D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4F1B-72BB-409E-851C-D9C6D71A051E}" type="slidenum">
              <a:rPr lang="pt-BR" altLang="pt-BR"/>
              <a:pPr/>
              <a:t>4</a:t>
            </a:fld>
            <a:endParaRPr lang="pt-BR" altLang="pt-BR"/>
          </a:p>
        </p:txBody>
      </p:sp>
      <p:pic>
        <p:nvPicPr>
          <p:cNvPr id="11878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30"/>
          <a:stretch/>
        </p:blipFill>
        <p:spPr bwMode="auto">
          <a:xfrm>
            <a:off x="1187450" y="1030288"/>
            <a:ext cx="6553200" cy="4342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6C930-06C7-433F-932E-2E76655D8173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1EDD3-D87A-40D9-A3EA-4A983646D304}" type="slidenum">
              <a:rPr lang="pt-BR" altLang="pt-BR"/>
              <a:pPr/>
              <a:t>5</a:t>
            </a:fld>
            <a:endParaRPr lang="pt-BR" altLang="pt-BR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 sz="4000" b="1" u="sng" dirty="0" smtClean="0"/>
              <a:t>1.1.2 </a:t>
            </a:r>
            <a:r>
              <a:rPr lang="pt-BR" altLang="pt-BR" sz="4000" b="1" u="sng" dirty="0"/>
              <a:t>Topologia em  Laço</a:t>
            </a:r>
            <a:r>
              <a:rPr lang="pt-BR" altLang="pt-BR" sz="4000" dirty="0"/>
              <a:t/>
            </a:r>
            <a:br>
              <a:rPr lang="pt-BR" altLang="pt-BR" sz="4000" dirty="0"/>
            </a:br>
            <a:endParaRPr lang="pt-BR" altLang="pt-BR" sz="4000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dirty="0"/>
              <a:t>Totalmente inverso ao caso anterior</a:t>
            </a:r>
          </a:p>
          <a:p>
            <a:r>
              <a:rPr lang="pt-BR" altLang="pt-BR" dirty="0"/>
              <a:t>Ligações </a:t>
            </a:r>
            <a:r>
              <a:rPr lang="pt-BR" altLang="pt-BR" dirty="0" err="1"/>
              <a:t>half</a:t>
            </a:r>
            <a:r>
              <a:rPr lang="pt-BR" altLang="pt-BR" dirty="0"/>
              <a:t>-duplex</a:t>
            </a:r>
          </a:p>
          <a:p>
            <a:r>
              <a:rPr lang="pt-BR" altLang="pt-BR" dirty="0"/>
              <a:t>Baixo custo de comunicações e hardware</a:t>
            </a:r>
          </a:p>
          <a:p>
            <a:r>
              <a:rPr lang="pt-BR" altLang="pt-BR" dirty="0"/>
              <a:t>Pouco confiável</a:t>
            </a:r>
          </a:p>
          <a:p>
            <a:r>
              <a:rPr lang="pt-BR" altLang="pt-BR" dirty="0"/>
              <a:t>Baixa velocidade (Fig. </a:t>
            </a:r>
            <a:r>
              <a:rPr lang="pt-BR" altLang="pt-BR" dirty="0" smtClean="0"/>
              <a:t>1-3</a:t>
            </a:r>
            <a:r>
              <a:rPr lang="pt-BR" altLang="pt-BR" dirty="0"/>
              <a:t>)</a:t>
            </a:r>
          </a:p>
          <a:p>
            <a:endParaRPr lang="pt-BR" alt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E80B-5B09-4430-9506-87FD5F90B487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6928-5FE2-40EB-B197-F565DE7ACDD6}" type="slidenum">
              <a:rPr lang="pt-BR" altLang="pt-BR"/>
              <a:pPr/>
              <a:t>6</a:t>
            </a:fld>
            <a:endParaRPr lang="pt-BR" altLang="pt-BR"/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Fig. </a:t>
            </a:r>
            <a:r>
              <a:rPr lang="pt-BR" altLang="pt-BR" dirty="0" smtClean="0"/>
              <a:t>1-3</a:t>
            </a:r>
            <a:r>
              <a:rPr lang="pt-BR" altLang="pt-BR" dirty="0"/>
              <a:t>: Topologia em Laço</a:t>
            </a:r>
          </a:p>
        </p:txBody>
      </p:sp>
      <p:pic>
        <p:nvPicPr>
          <p:cNvPr id="1198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073275"/>
            <a:ext cx="5256212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B4C66-6575-48DD-BC8C-3976F906B163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346E-587F-4B3F-B8B5-A0C283975F82}" type="slidenum">
              <a:rPr lang="pt-BR" altLang="pt-BR"/>
              <a:pPr/>
              <a:t>7</a:t>
            </a:fld>
            <a:endParaRPr lang="pt-BR" altLang="pt-BR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762000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1.1.3 </a:t>
            </a:r>
            <a:r>
              <a:rPr lang="pt-BR" altLang="pt-BR" sz="2800" b="1" u="sng" dirty="0">
                <a:solidFill>
                  <a:schemeClr val="tx1"/>
                </a:solidFill>
              </a:rPr>
              <a:t>Topologia Parcialmente  Ligada</a:t>
            </a:r>
            <a:br>
              <a:rPr lang="pt-BR" altLang="pt-BR" sz="2800" b="1" u="sng" dirty="0">
                <a:solidFill>
                  <a:schemeClr val="tx1"/>
                </a:solidFill>
              </a:rPr>
            </a:br>
            <a:endParaRPr lang="pt-BR" altLang="pt-BR" sz="2800" b="1" u="sng" dirty="0">
              <a:solidFill>
                <a:schemeClr val="tx1"/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648200"/>
          </a:xfrm>
          <a:noFill/>
          <a:ln/>
        </p:spPr>
        <p:txBody>
          <a:bodyPr/>
          <a:lstStyle/>
          <a:p>
            <a:r>
              <a:rPr lang="pt-BR" altLang="pt-BR" dirty="0"/>
              <a:t>Topologia intermediária entre laço e totalmente ligada.</a:t>
            </a:r>
          </a:p>
          <a:p>
            <a:r>
              <a:rPr lang="pt-BR" altLang="pt-BR" dirty="0"/>
              <a:t>Topologia mais usada em redes de longa distância.</a:t>
            </a:r>
          </a:p>
          <a:p>
            <a:r>
              <a:rPr lang="pt-BR" altLang="pt-BR" dirty="0"/>
              <a:t>Pode ser feita por chaveamento de circuitos, mensagens ou pacotes.</a:t>
            </a:r>
          </a:p>
          <a:p>
            <a:r>
              <a:rPr lang="pt-BR" altLang="pt-BR" dirty="0"/>
              <a:t>Necessidade de definir mecanismos de endereçamento (Fig. </a:t>
            </a:r>
            <a:r>
              <a:rPr lang="pt-BR" altLang="pt-BR" dirty="0" smtClean="0"/>
              <a:t>1-4</a:t>
            </a:r>
            <a:r>
              <a:rPr lang="pt-BR" altLang="pt-BR" dirty="0"/>
              <a:t>, </a:t>
            </a:r>
            <a:r>
              <a:rPr lang="pt-BR" altLang="pt-BR" dirty="0" smtClean="0"/>
              <a:t>1-5</a:t>
            </a:r>
            <a:r>
              <a:rPr lang="pt-BR" altLang="pt-BR" dirty="0"/>
              <a:t>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B23B5-D74D-4C52-A643-538A128E9B43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9646-7983-40F8-9A67-F4C586AA58E2}" type="slidenum">
              <a:rPr lang="pt-BR" altLang="pt-BR"/>
              <a:pPr/>
              <a:t>8</a:t>
            </a:fld>
            <a:endParaRPr lang="pt-BR" altLang="pt-BR"/>
          </a:p>
        </p:txBody>
      </p:sp>
      <p:sp>
        <p:nvSpPr>
          <p:cNvPr id="1218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 sz="2800" b="1" dirty="0"/>
              <a:t>Fig. </a:t>
            </a:r>
            <a:r>
              <a:rPr lang="pt-BR" altLang="pt-BR" sz="2800" b="1" dirty="0" smtClean="0"/>
              <a:t>1-4</a:t>
            </a:r>
            <a:r>
              <a:rPr lang="pt-BR" altLang="pt-BR" sz="2800" b="1" dirty="0"/>
              <a:t>: Topologia Parcialmente Ligada</a:t>
            </a:r>
          </a:p>
        </p:txBody>
      </p:sp>
      <p:pic>
        <p:nvPicPr>
          <p:cNvPr id="12186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1844675"/>
            <a:ext cx="5472112" cy="393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7CC28-28CB-4D90-962C-A1336C643591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EF00D-FE77-4998-BCAA-7A640E6A2313}" type="slidenum">
              <a:rPr lang="pt-BR" altLang="pt-BR"/>
              <a:pPr/>
              <a:t>9</a:t>
            </a:fld>
            <a:endParaRPr lang="pt-BR" altLang="pt-BR"/>
          </a:p>
        </p:txBody>
      </p:sp>
      <p:pic>
        <p:nvPicPr>
          <p:cNvPr id="12493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6" t="2153" r="-909" b="-2153"/>
          <a:stretch/>
        </p:blipFill>
        <p:spPr bwMode="auto">
          <a:xfrm>
            <a:off x="1979712" y="1268760"/>
            <a:ext cx="6625109" cy="451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EE9DC-9CC2-447B-B7EB-0E05D504154F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2C7C0-EC96-4F85-8EFA-0A7D31BAB68F}" type="slidenum">
              <a:rPr lang="pt-BR" altLang="pt-BR"/>
              <a:pPr/>
              <a:t>10</a:t>
            </a:fld>
            <a:endParaRPr lang="pt-BR" altLang="pt-BR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663575"/>
          </a:xfrm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1.1.3 </a:t>
            </a:r>
            <a:r>
              <a:rPr lang="pt-BR" altLang="pt-BR" sz="2800" b="1" u="sng" dirty="0">
                <a:solidFill>
                  <a:schemeClr val="tx1"/>
                </a:solidFill>
              </a:rPr>
              <a:t>Topologia Parcialmente  Ligada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7989887" cy="46783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Em redes comutadas por pacote há a necessidade de sistemas externos de controle responsáveis pelo: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Roteamento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Armazenamento de pacotes recebidos, e pacotes a serem transmitidos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Sequenciação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Detecção e correção de erros de transmissão e a retransmissão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etc.       </a:t>
            </a:r>
          </a:p>
          <a:p>
            <a:pPr lvl="1">
              <a:lnSpc>
                <a:spcPct val="90000"/>
              </a:lnSpc>
            </a:pPr>
            <a:r>
              <a:rPr lang="pt-BR" altLang="pt-BR" sz="2400"/>
              <a:t>Os ECD’s ou DSE’s ou IMPs são responsáveis pelas tarefas anteriores mencionadas.  (Fig. 2-6)</a:t>
            </a:r>
            <a:endParaRPr lang="pt-BR" altLang="pt-BR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6F2B0-3DA0-496D-8233-E7E6C57EB7ED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664D6-4F52-462E-94FA-FF1014D66D0C}" type="slidenum">
              <a:rPr lang="pt-BR" altLang="pt-BR"/>
              <a:pPr/>
              <a:t>11</a:t>
            </a:fld>
            <a:endParaRPr lang="pt-BR" altLang="pt-BR"/>
          </a:p>
        </p:txBody>
      </p:sp>
      <p:pic>
        <p:nvPicPr>
          <p:cNvPr id="12595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37"/>
          <a:stretch/>
        </p:blipFill>
        <p:spPr bwMode="auto">
          <a:xfrm>
            <a:off x="755650" y="1138238"/>
            <a:ext cx="7272338" cy="4306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0395-B6EB-495E-93E2-7E14F72A553C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69B96-6D00-4CE7-856F-40180FA6896A}" type="slidenum">
              <a:rPr lang="pt-BR" altLang="pt-BR"/>
              <a:pPr/>
              <a:t>12</a:t>
            </a:fld>
            <a:endParaRPr lang="pt-BR" altLang="pt-BR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609600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1.1.5 </a:t>
            </a:r>
            <a:r>
              <a:rPr lang="pt-BR" altLang="pt-BR" sz="2800" b="1" u="sng" dirty="0">
                <a:solidFill>
                  <a:schemeClr val="tx1"/>
                </a:solidFill>
              </a:rPr>
              <a:t>Estrela ou Radial</a:t>
            </a:r>
            <a:br>
              <a:rPr lang="pt-BR" altLang="pt-BR" sz="2800" b="1" u="sng" dirty="0">
                <a:solidFill>
                  <a:schemeClr val="tx1"/>
                </a:solidFill>
              </a:rPr>
            </a:br>
            <a:endParaRPr lang="pt-BR" altLang="pt-BR" sz="2800" b="1" u="sng" dirty="0">
              <a:solidFill>
                <a:schemeClr val="tx1"/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876800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sz="2800"/>
              <a:t>Utilizado bastante em sistemas de computação “ tradicionais” .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Decisão de roteamento concentrada no nó central.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Ligação do tipo ponto-a-ponto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Simplicidade de implementação dos nós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Desvantagens para fluxo de comunicações entre as estações.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F1AA1-5577-4717-BBDE-0FC89417A71E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C0DDA-0FE7-45F8-8509-53C630E0FA32}" type="slidenum">
              <a:rPr lang="pt-BR" altLang="pt-BR"/>
              <a:pPr/>
              <a:t>13</a:t>
            </a:fld>
            <a:endParaRPr lang="pt-BR" altLang="pt-BR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 sz="3200" b="1" u="sng" dirty="0" smtClean="0">
                <a:solidFill>
                  <a:schemeClr val="tx1"/>
                </a:solidFill>
              </a:rPr>
              <a:t>1.1.5 </a:t>
            </a:r>
            <a:r>
              <a:rPr lang="pt-BR" altLang="pt-BR" sz="3200" b="1" u="sng" dirty="0">
                <a:solidFill>
                  <a:schemeClr val="tx1"/>
                </a:solidFill>
              </a:rPr>
              <a:t>Estrela ou Radial</a:t>
            </a:r>
            <a:br>
              <a:rPr lang="pt-BR" altLang="pt-BR" sz="3200" b="1" u="sng" dirty="0">
                <a:solidFill>
                  <a:schemeClr val="tx1"/>
                </a:solidFill>
              </a:rPr>
            </a:br>
            <a:endParaRPr lang="pt-BR" altLang="pt-BR" sz="3200" b="1" u="sng" dirty="0">
              <a:solidFill>
                <a:schemeClr val="tx1"/>
              </a:solidFill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sz="2800"/>
              <a:t>Problema de confiabilidade do sistema.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Grande número de nós implica em grande número de ligações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O nó central tem que suportar uma grande capacidade de processamento.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Topologia de ligações de sistema PBX: Compartilhamento de redes digitais e canais de voz em PBX digitais CPA.  (Fig. 2-7) </a:t>
            </a:r>
            <a:endParaRPr lang="pt-BR" altLang="pt-BR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54870-55AF-4A76-B691-275A285676C3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5E1E1-6DA9-4EC6-87C1-B3B40D4F3D12}" type="slidenum">
              <a:rPr lang="pt-BR" altLang="pt-BR"/>
              <a:pPr/>
              <a:t>14</a:t>
            </a:fld>
            <a:endParaRPr lang="pt-BR" altLang="pt-BR"/>
          </a:p>
        </p:txBody>
      </p:sp>
      <p:pic>
        <p:nvPicPr>
          <p:cNvPr id="126980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0" t="18" r="-2907" b="13641"/>
          <a:stretch/>
        </p:blipFill>
        <p:spPr bwMode="auto">
          <a:xfrm>
            <a:off x="1403648" y="909638"/>
            <a:ext cx="6840240" cy="4391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C7231-4C54-4788-A1D4-837E23E907DE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D8E71-8DD0-4BBB-88D4-D6C2EBDF8047}" type="slidenum">
              <a:rPr lang="pt-BR" altLang="pt-BR"/>
              <a:pPr/>
              <a:t>15</a:t>
            </a:fld>
            <a:endParaRPr lang="pt-BR" altLang="pt-BR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792163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1.1.6 </a:t>
            </a:r>
            <a:r>
              <a:rPr lang="pt-BR" altLang="pt-BR" sz="2800" b="1" u="sng" dirty="0">
                <a:solidFill>
                  <a:schemeClr val="tx1"/>
                </a:solidFill>
              </a:rPr>
              <a:t>Topologia em Árvore</a:t>
            </a:r>
            <a:br>
              <a:rPr lang="pt-BR" altLang="pt-BR" sz="2800" b="1" u="sng" dirty="0">
                <a:solidFill>
                  <a:schemeClr val="tx1"/>
                </a:solidFill>
              </a:rPr>
            </a:br>
            <a:endParaRPr lang="pt-BR" altLang="pt-BR" sz="2800" b="1" u="sng" dirty="0">
              <a:solidFill>
                <a:schemeClr val="tx1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7772400" cy="4105275"/>
          </a:xfrm>
          <a:noFill/>
          <a:ln/>
        </p:spPr>
        <p:txBody>
          <a:bodyPr/>
          <a:lstStyle/>
          <a:p>
            <a:r>
              <a:rPr lang="pt-BR" altLang="pt-BR" sz="2800"/>
              <a:t>Normalmente associada a redes de longa distância.</a:t>
            </a:r>
          </a:p>
          <a:p>
            <a:r>
              <a:rPr lang="pt-BR" altLang="pt-BR" sz="2800"/>
              <a:t>Cada nó é conectado ao seu predecessor e ao seu sucessor.</a:t>
            </a:r>
          </a:p>
          <a:p>
            <a:r>
              <a:rPr lang="pt-BR" altLang="pt-BR" sz="2800"/>
              <a:t>Usa roteamento fixo.</a:t>
            </a:r>
          </a:p>
          <a:p>
            <a:r>
              <a:rPr lang="pt-BR" altLang="pt-BR" sz="2800"/>
              <a:t>Usa hierarquia de níveis.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94A5-80FA-4F49-BA7D-9CD47B0F8752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7DFC-45B4-427C-B7BC-6870C0229CC1}" type="slidenum">
              <a:rPr lang="pt-BR" altLang="pt-BR"/>
              <a:pPr/>
              <a:t>16</a:t>
            </a:fld>
            <a:endParaRPr lang="pt-BR" altLang="pt-BR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 sz="3200" b="1" u="sng" dirty="0" smtClean="0">
                <a:solidFill>
                  <a:schemeClr val="tx1"/>
                </a:solidFill>
              </a:rPr>
              <a:t>1.1.6 </a:t>
            </a:r>
            <a:r>
              <a:rPr lang="pt-BR" altLang="pt-BR" sz="3200" b="1" u="sng" dirty="0">
                <a:solidFill>
                  <a:schemeClr val="tx1"/>
                </a:solidFill>
              </a:rPr>
              <a:t>Topologia em Árvore</a:t>
            </a:r>
            <a:br>
              <a:rPr lang="pt-BR" altLang="pt-BR" sz="3200" b="1" u="sng" dirty="0">
                <a:solidFill>
                  <a:schemeClr val="tx1"/>
                </a:solidFill>
              </a:rPr>
            </a:br>
            <a:endParaRPr lang="pt-BR" altLang="pt-BR" sz="3200" b="1" u="sng" dirty="0">
              <a:solidFill>
                <a:schemeClr val="tx1"/>
              </a:solidFill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3600"/>
              <a:t>Ligação do tipo ponto-a-ponto.</a:t>
            </a:r>
          </a:p>
          <a:p>
            <a:pPr>
              <a:lnSpc>
                <a:spcPct val="90000"/>
              </a:lnSpc>
            </a:pPr>
            <a:r>
              <a:rPr lang="pt-BR" altLang="pt-BR" sz="3600"/>
              <a:t>Simplicidade de conexão dos nós.</a:t>
            </a:r>
          </a:p>
          <a:p>
            <a:pPr>
              <a:lnSpc>
                <a:spcPct val="90000"/>
              </a:lnSpc>
            </a:pPr>
            <a:r>
              <a:rPr lang="pt-BR" altLang="pt-BR" sz="3600"/>
              <a:t>Nó de hierarquia superior suporta um tráfego maior.</a:t>
            </a:r>
          </a:p>
          <a:p>
            <a:pPr>
              <a:lnSpc>
                <a:spcPct val="90000"/>
              </a:lnSpc>
            </a:pPr>
            <a:r>
              <a:rPr lang="pt-BR" altLang="pt-BR" sz="3600"/>
              <a:t>Confiabilidade do sistema depende dos nós hierárquicos superiores.   (Fig. 2-8)</a:t>
            </a:r>
          </a:p>
          <a:p>
            <a:pPr>
              <a:lnSpc>
                <a:spcPct val="90000"/>
              </a:lnSpc>
            </a:pPr>
            <a:endParaRPr lang="pt-BR" alt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80975-3D5B-44FA-952E-9CF1B8546E6C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51D1B-6A18-4580-BE49-E97F601C2217}" type="slidenum">
              <a:rPr lang="pt-BR" altLang="pt-BR"/>
              <a:pPr/>
              <a:t>17</a:t>
            </a:fld>
            <a:endParaRPr lang="pt-BR" altLang="pt-BR"/>
          </a:p>
        </p:txBody>
      </p:sp>
      <p:pic>
        <p:nvPicPr>
          <p:cNvPr id="12800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46"/>
          <a:stretch/>
        </p:blipFill>
        <p:spPr bwMode="auto">
          <a:xfrm>
            <a:off x="1931988" y="1454151"/>
            <a:ext cx="5278437" cy="2982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BB65B-9505-4849-8ECF-422BB12F85C5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743ED-0E19-4549-B486-B61F04B29F14}" type="slidenum">
              <a:rPr lang="pt-BR" altLang="pt-BR"/>
              <a:pPr/>
              <a:t>18</a:t>
            </a:fld>
            <a:endParaRPr lang="pt-BR" altLang="pt-BR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pt-BR" altLang="pt-BR" sz="3200" b="1" u="sng" dirty="0" smtClean="0"/>
              <a:t>1.2 </a:t>
            </a:r>
            <a:r>
              <a:rPr lang="pt-BR" altLang="pt-BR" sz="3200" b="1" u="sng" dirty="0"/>
              <a:t>Redes Locais e Metropolitanas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pt-BR" altLang="pt-BR"/>
              <a:t>Baixa taxa de erro</a:t>
            </a:r>
          </a:p>
          <a:p>
            <a:r>
              <a:rPr lang="pt-BR" altLang="pt-BR"/>
              <a:t>Alta velocidades</a:t>
            </a:r>
          </a:p>
          <a:p>
            <a:r>
              <a:rPr lang="pt-BR" altLang="pt-BR"/>
              <a:t>Baixo custo</a:t>
            </a:r>
          </a:p>
          <a:p>
            <a:r>
              <a:rPr lang="pt-BR" altLang="pt-BR"/>
              <a:t>Privacidade</a:t>
            </a:r>
          </a:p>
          <a:p>
            <a:r>
              <a:rPr lang="pt-BR" altLang="pt-BR"/>
              <a:t>Topologias mais usadas: estrela, anel e barra.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D6E6-56A5-451D-A072-CB57651AB1E7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99108-2421-4D48-AF52-48FB0C1AE67F}" type="slidenum">
              <a:rPr lang="pt-BR" altLang="pt-BR"/>
              <a:pPr/>
              <a:t>19</a:t>
            </a:fld>
            <a:endParaRPr lang="pt-BR" altLang="pt-BR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1.2.1 </a:t>
            </a:r>
            <a:r>
              <a:rPr lang="pt-BR" altLang="pt-BR" sz="2800" b="1" u="sng" dirty="0">
                <a:solidFill>
                  <a:schemeClr val="tx1"/>
                </a:solidFill>
              </a:rPr>
              <a:t>Topologia em  Estrela</a:t>
            </a:r>
            <a:br>
              <a:rPr lang="pt-BR" altLang="pt-BR" sz="2800" b="1" u="sng" dirty="0">
                <a:solidFill>
                  <a:schemeClr val="tx1"/>
                </a:solidFill>
              </a:rPr>
            </a:br>
            <a:endParaRPr lang="pt-BR" altLang="pt-BR" sz="2800" b="1" u="sng" dirty="0">
              <a:solidFill>
                <a:schemeClr val="tx1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313"/>
            <a:ext cx="7772400" cy="4535487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/>
              <a:t>Nó central (mestre) e estações secundárias (escravas)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Não possuem necessidade de roteamento.</a:t>
            </a:r>
          </a:p>
          <a:p>
            <a:pPr>
              <a:lnSpc>
                <a:spcPct val="90000"/>
              </a:lnSpc>
            </a:pPr>
            <a:r>
              <a:rPr lang="pt-BR" altLang="pt-BR" sz="2800"/>
              <a:t>O nó central pode realizar funções de:</a:t>
            </a:r>
          </a:p>
          <a:p>
            <a:pPr lvl="1">
              <a:lnSpc>
                <a:spcPct val="90000"/>
              </a:lnSpc>
            </a:pPr>
            <a:r>
              <a:rPr lang="pt-BR" altLang="pt-BR"/>
              <a:t>Chaveamento</a:t>
            </a:r>
          </a:p>
          <a:p>
            <a:pPr lvl="1">
              <a:lnSpc>
                <a:spcPct val="90000"/>
              </a:lnSpc>
            </a:pPr>
            <a:r>
              <a:rPr lang="pt-BR" altLang="pt-BR"/>
              <a:t>Processamento normal</a:t>
            </a:r>
          </a:p>
          <a:p>
            <a:pPr lvl="1">
              <a:lnSpc>
                <a:spcPct val="90000"/>
              </a:lnSpc>
            </a:pPr>
            <a:r>
              <a:rPr lang="pt-BR" altLang="pt-BR"/>
              <a:t>Compatibilidade de velocidades de comunicação entre o transmissor e o receptor</a:t>
            </a:r>
          </a:p>
          <a:p>
            <a:pPr lvl="1">
              <a:lnSpc>
                <a:spcPct val="90000"/>
              </a:lnSpc>
            </a:pPr>
            <a:r>
              <a:rPr lang="pt-BR" altLang="pt-BR"/>
              <a:t>Conversor de protocolos, etc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76962-89C8-406B-94CA-A1599063C95F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7383E-E486-466E-93CB-B9A1E1F71F03}" type="slidenum">
              <a:rPr lang="pt-BR" altLang="pt-BR"/>
              <a:pPr/>
              <a:t>20</a:t>
            </a:fld>
            <a:endParaRPr lang="pt-BR" altLang="pt-BR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 sz="3200" b="1" u="sng" dirty="0" smtClean="0">
                <a:solidFill>
                  <a:schemeClr val="tx1"/>
                </a:solidFill>
              </a:rPr>
              <a:t>1.2.1 </a:t>
            </a:r>
            <a:r>
              <a:rPr lang="pt-BR" altLang="pt-BR" sz="3200" b="1" u="sng" dirty="0">
                <a:solidFill>
                  <a:schemeClr val="tx1"/>
                </a:solidFill>
              </a:rPr>
              <a:t>Topologia em  Estrela</a:t>
            </a:r>
            <a:br>
              <a:rPr lang="pt-BR" altLang="pt-BR" sz="3200" b="1" u="sng" dirty="0">
                <a:solidFill>
                  <a:schemeClr val="tx1"/>
                </a:solidFill>
              </a:rPr>
            </a:br>
            <a:endParaRPr lang="pt-BR" altLang="pt-BR" sz="3200" b="1" u="sng" dirty="0">
              <a:solidFill>
                <a:schemeClr val="tx1"/>
              </a:solidFill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2875"/>
            <a:ext cx="7772400" cy="4606925"/>
          </a:xfrm>
        </p:spPr>
        <p:txBody>
          <a:bodyPr/>
          <a:lstStyle/>
          <a:p>
            <a:r>
              <a:rPr lang="pt-BR" altLang="pt-BR" dirty="0"/>
              <a:t>Baixa confiabilidade</a:t>
            </a:r>
          </a:p>
          <a:p>
            <a:r>
              <a:rPr lang="pt-BR" altLang="pt-BR" dirty="0"/>
              <a:t>Pouca modularidade</a:t>
            </a:r>
          </a:p>
          <a:p>
            <a:r>
              <a:rPr lang="pt-BR" altLang="pt-BR" dirty="0"/>
              <a:t>Desempenho dependente do nó central.   (Fig. </a:t>
            </a:r>
            <a:r>
              <a:rPr lang="pt-BR" altLang="pt-BR" dirty="0" smtClean="0"/>
              <a:t>1-9</a:t>
            </a:r>
            <a:r>
              <a:rPr lang="pt-BR" altLang="pt-BR" dirty="0"/>
              <a:t>)</a:t>
            </a:r>
          </a:p>
          <a:p>
            <a:endParaRPr lang="pt-BR" altLang="pt-BR" dirty="0"/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5"/>
          <a:stretch/>
        </p:blipFill>
        <p:spPr bwMode="auto">
          <a:xfrm>
            <a:off x="2195513" y="3644901"/>
            <a:ext cx="4032250" cy="2520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D826D-F7E9-4E54-A95A-5C557A9CA6D9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971E5-1890-40A9-8C51-E271547874BA}" type="slidenum">
              <a:rPr lang="pt-BR" altLang="pt-BR"/>
              <a:pPr/>
              <a:t>21</a:t>
            </a:fld>
            <a:endParaRPr lang="pt-BR" altLang="pt-BR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609600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1.2.2 </a:t>
            </a:r>
            <a:r>
              <a:rPr lang="pt-BR" altLang="pt-BR" sz="2800" b="1" u="sng" dirty="0">
                <a:solidFill>
                  <a:schemeClr val="tx1"/>
                </a:solidFill>
              </a:rPr>
              <a:t>Topologia em  Anel</a:t>
            </a:r>
            <a:br>
              <a:rPr lang="pt-BR" altLang="pt-BR" sz="2800" b="1" u="sng" dirty="0">
                <a:solidFill>
                  <a:schemeClr val="tx1"/>
                </a:solidFill>
              </a:rPr>
            </a:br>
            <a:endParaRPr lang="pt-BR" altLang="pt-BR" sz="2800" b="1" u="sng" dirty="0">
              <a:solidFill>
                <a:schemeClr val="tx1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941888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sz="2800"/>
              <a:t>Adaptado a redes locais de comunicação.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Elimina a necessidade do nó de comunicação central.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O fluxo de comunicação entre os nós tende a ser descentralizado.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Sem roteamento.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Redução da complexidade de instalação do meio físico.</a:t>
            </a:r>
          </a:p>
          <a:p>
            <a:pPr>
              <a:lnSpc>
                <a:spcPct val="110000"/>
              </a:lnSpc>
            </a:pPr>
            <a:r>
              <a:rPr lang="pt-BR" altLang="pt-BR" sz="2800"/>
              <a:t>Os nós são endereçados logicamente.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408D6-98A2-4EA8-BF97-FF84A29555BF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9696B-C071-47F6-9ABE-475AEF2E8320}" type="slidenum">
              <a:rPr lang="pt-BR" altLang="pt-BR"/>
              <a:pPr/>
              <a:t>22</a:t>
            </a:fld>
            <a:endParaRPr lang="pt-BR" altLang="pt-BR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735013"/>
          </a:xfrm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1.2.2 </a:t>
            </a:r>
            <a:r>
              <a:rPr lang="pt-BR" altLang="pt-BR" sz="2800" b="1" u="sng" dirty="0">
                <a:solidFill>
                  <a:schemeClr val="tx1"/>
                </a:solidFill>
              </a:rPr>
              <a:t>Topologia em  Anel</a:t>
            </a:r>
            <a:br>
              <a:rPr lang="pt-BR" altLang="pt-BR" sz="2800" b="1" u="sng" dirty="0">
                <a:solidFill>
                  <a:schemeClr val="tx1"/>
                </a:solidFill>
              </a:rPr>
            </a:br>
            <a:endParaRPr lang="pt-BR" altLang="pt-BR" sz="2800" b="1" u="sng" dirty="0">
              <a:solidFill>
                <a:schemeClr val="tx1"/>
              </a:solidFill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41438"/>
            <a:ext cx="7772400" cy="496728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sz="2800" dirty="0"/>
              <a:t>Mensagens transmitidas. </a:t>
            </a:r>
            <a:r>
              <a:rPr lang="pt-BR" altLang="pt-BR" sz="2800" dirty="0" err="1"/>
              <a:t>unidirecionalmente</a:t>
            </a:r>
            <a:r>
              <a:rPr lang="pt-BR" altLang="pt-BR" sz="2800" dirty="0"/>
              <a:t> de nó em nó até atingir o nó destinatário.</a:t>
            </a:r>
          </a:p>
          <a:p>
            <a:pPr>
              <a:lnSpc>
                <a:spcPct val="110000"/>
              </a:lnSpc>
            </a:pPr>
            <a:r>
              <a:rPr lang="pt-BR" altLang="pt-BR" sz="2800" dirty="0"/>
              <a:t>Os nós intermediários funcionam como repetidores, permitindo um maior alcance.</a:t>
            </a:r>
          </a:p>
          <a:p>
            <a:pPr>
              <a:lnSpc>
                <a:spcPct val="110000"/>
              </a:lnSpc>
            </a:pPr>
            <a:r>
              <a:rPr lang="pt-BR" altLang="pt-BR" sz="2800" dirty="0"/>
              <a:t>Como não existe armazenamento intermediário de mensagem ao nível da </a:t>
            </a:r>
            <a:r>
              <a:rPr lang="pt-BR" altLang="pt-BR" sz="2800" dirty="0" err="1"/>
              <a:t>sub-rede</a:t>
            </a:r>
            <a:r>
              <a:rPr lang="pt-BR" altLang="pt-BR" sz="2800" dirty="0"/>
              <a:t>, pode-se obter em geral um melhor desempenho da rede em termos de atraso e vazão.   (</a:t>
            </a:r>
            <a:r>
              <a:rPr lang="pt-BR" altLang="pt-BR" sz="2800" dirty="0" err="1"/>
              <a:t>Fig</a:t>
            </a:r>
            <a:r>
              <a:rPr lang="pt-BR" altLang="pt-BR" sz="2800" dirty="0"/>
              <a:t> </a:t>
            </a:r>
            <a:r>
              <a:rPr lang="pt-BR" altLang="pt-BR" sz="2800" dirty="0" smtClean="0"/>
              <a:t>1-10</a:t>
            </a:r>
            <a:r>
              <a:rPr lang="pt-BR" altLang="pt-BR" sz="2800" dirty="0"/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3E180-355B-42A7-8E0D-60F724A532E0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EBC95-DDE6-4914-918F-15BC2CC5095A}" type="slidenum">
              <a:rPr lang="pt-BR" altLang="pt-BR"/>
              <a:pPr/>
              <a:t>23</a:t>
            </a:fld>
            <a:endParaRPr lang="pt-BR" altLang="pt-BR"/>
          </a:p>
        </p:txBody>
      </p:sp>
      <p:pic>
        <p:nvPicPr>
          <p:cNvPr id="129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8" t="1345" r="-2900" b="17356"/>
          <a:stretch/>
        </p:blipFill>
        <p:spPr bwMode="auto">
          <a:xfrm>
            <a:off x="2051720" y="692150"/>
            <a:ext cx="4730080" cy="432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6807-0713-4939-8D91-989271969DF7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93D0-9160-4FE0-9A98-7F1524B80DB9}" type="slidenum">
              <a:rPr lang="pt-BR" altLang="pt-BR"/>
              <a:pPr/>
              <a:t>24</a:t>
            </a:fld>
            <a:endParaRPr lang="pt-BR" altLang="pt-BR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609600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/>
              <a:t>Repetidores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648200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dirty="0"/>
              <a:t>Movem seletivamente mensagens da rede ou passam estas à frente para o próximo nó.   (Fig. </a:t>
            </a:r>
            <a:r>
              <a:rPr lang="pt-BR" altLang="pt-BR" dirty="0" smtClean="0"/>
              <a:t>1-11</a:t>
            </a:r>
            <a:r>
              <a:rPr lang="pt-BR" altLang="pt-BR" dirty="0"/>
              <a:t>)</a:t>
            </a:r>
          </a:p>
          <a:p>
            <a:pPr>
              <a:lnSpc>
                <a:spcPct val="110000"/>
              </a:lnSpc>
              <a:buFont typeface="Monotype Sorts" charset="2"/>
              <a:buNone/>
            </a:pPr>
            <a:endParaRPr lang="pt-BR" altLang="pt-BR" dirty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26"/>
          <a:stretch/>
        </p:blipFill>
        <p:spPr bwMode="auto">
          <a:xfrm>
            <a:off x="2047875" y="3213100"/>
            <a:ext cx="5046663" cy="187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F9BDD-1D2C-45A8-A07D-05EE798B84EE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99DEB-A80B-409E-A5FC-684210DAEC27}" type="slidenum">
              <a:rPr lang="pt-BR" altLang="pt-BR"/>
              <a:pPr/>
              <a:t>25</a:t>
            </a:fld>
            <a:endParaRPr lang="pt-BR" altLang="pt-BR"/>
          </a:p>
        </p:txBody>
      </p:sp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 sz="2800" b="1" u="sng"/>
              <a:t>Repetidores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57338"/>
            <a:ext cx="7772400" cy="446246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sz="2800" dirty="0"/>
              <a:t>São alimentados e mantidos separados do hardware da estação. (Fig. </a:t>
            </a:r>
            <a:r>
              <a:rPr lang="pt-BR" altLang="pt-BR" sz="2800" dirty="0" smtClean="0"/>
              <a:t>1-12</a:t>
            </a:r>
            <a:r>
              <a:rPr lang="pt-BR" altLang="pt-BR" sz="2800" dirty="0"/>
              <a:t>)</a:t>
            </a:r>
          </a:p>
          <a:p>
            <a:endParaRPr lang="pt-BR" altLang="pt-BR" sz="2800" dirty="0"/>
          </a:p>
        </p:txBody>
      </p:sp>
      <p:pic>
        <p:nvPicPr>
          <p:cNvPr id="130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67"/>
          <a:stretch/>
        </p:blipFill>
        <p:spPr bwMode="auto">
          <a:xfrm>
            <a:off x="1908175" y="2781301"/>
            <a:ext cx="5140325" cy="2591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aixas Coloridas">
  <a:themeElements>
    <a:clrScheme name="Caixas Coloridas 1">
      <a:dk1>
        <a:srgbClr val="000000"/>
      </a:dk1>
      <a:lt1>
        <a:srgbClr val="FFFFFF"/>
      </a:lt1>
      <a:dk2>
        <a:srgbClr val="969696"/>
      </a:dk2>
      <a:lt2>
        <a:srgbClr val="FFFFFF"/>
      </a:lt2>
      <a:accent1>
        <a:srgbClr val="0000FF"/>
      </a:accent1>
      <a:accent2>
        <a:srgbClr val="66FF33"/>
      </a:accent2>
      <a:accent3>
        <a:srgbClr val="C9C9C9"/>
      </a:accent3>
      <a:accent4>
        <a:srgbClr val="DADADA"/>
      </a:accent4>
      <a:accent5>
        <a:srgbClr val="AAAAFF"/>
      </a:accent5>
      <a:accent6>
        <a:srgbClr val="5CE72D"/>
      </a:accent6>
      <a:hlink>
        <a:srgbClr val="D60093"/>
      </a:hlink>
      <a:folHlink>
        <a:srgbClr val="B2B2B2"/>
      </a:folHlink>
    </a:clrScheme>
    <a:fontScheme name="Caixas Colorid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aixas Coloridas 1">
        <a:dk1>
          <a:srgbClr val="000000"/>
        </a:dk1>
        <a:lt1>
          <a:srgbClr val="FFFFFF"/>
        </a:lt1>
        <a:dk2>
          <a:srgbClr val="969696"/>
        </a:dk2>
        <a:lt2>
          <a:srgbClr val="FFFFFF"/>
        </a:lt2>
        <a:accent1>
          <a:srgbClr val="0000FF"/>
        </a:accent1>
        <a:accent2>
          <a:srgbClr val="66FF33"/>
        </a:accent2>
        <a:accent3>
          <a:srgbClr val="C9C9C9"/>
        </a:accent3>
        <a:accent4>
          <a:srgbClr val="DADADA"/>
        </a:accent4>
        <a:accent5>
          <a:srgbClr val="AAAAFF"/>
        </a:accent5>
        <a:accent6>
          <a:srgbClr val="5CE72D"/>
        </a:accent6>
        <a:hlink>
          <a:srgbClr val="D60093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ixas Coloridas 2">
        <a:dk1>
          <a:srgbClr val="000000"/>
        </a:dk1>
        <a:lt1>
          <a:srgbClr val="FFFFFF"/>
        </a:lt1>
        <a:dk2>
          <a:srgbClr val="000000"/>
        </a:dk2>
        <a:lt2>
          <a:srgbClr val="FFFFCC"/>
        </a:lt2>
        <a:accent1>
          <a:srgbClr val="FF00FF"/>
        </a:accent1>
        <a:accent2>
          <a:srgbClr val="00FF00"/>
        </a:accent2>
        <a:accent3>
          <a:srgbClr val="FFFFFF"/>
        </a:accent3>
        <a:accent4>
          <a:srgbClr val="000000"/>
        </a:accent4>
        <a:accent5>
          <a:srgbClr val="FFAAFF"/>
        </a:accent5>
        <a:accent6>
          <a:srgbClr val="00E700"/>
        </a:accent6>
        <a:hlink>
          <a:srgbClr val="00FF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ixas Coloridas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C:\MSOffice\Modelos\Estruturas de Apresentação\Caixas Coloridas.pot</Template>
  <TotalTime>452</TotalTime>
  <Words>761</Words>
  <Application>Microsoft Office PowerPoint</Application>
  <PresentationFormat>Apresentação na tela (4:3)</PresentationFormat>
  <Paragraphs>156</Paragraphs>
  <Slides>25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8" baseType="lpstr">
      <vt:lpstr>Arial</vt:lpstr>
      <vt:lpstr>Monotype Sorts</vt:lpstr>
      <vt:lpstr>Caixas Coloridas</vt:lpstr>
      <vt:lpstr>1. TOPOLOGIA DE REDES DE COMPUTADORES</vt:lpstr>
      <vt:lpstr>Fig. 1-1: Relação entre os Nós de Comunicações e as Estações</vt:lpstr>
      <vt:lpstr>1.1 Redes Geograficamente Distribuídas</vt:lpstr>
      <vt:lpstr>Apresentação do PowerPoint</vt:lpstr>
      <vt:lpstr>1.1.2 Topologia em  Laço </vt:lpstr>
      <vt:lpstr>Fig. 1-3: Topologia em Laço</vt:lpstr>
      <vt:lpstr>1.1.3 Topologia Parcialmente  Ligada </vt:lpstr>
      <vt:lpstr>Fig. 1-4: Topologia Parcialmente Ligada</vt:lpstr>
      <vt:lpstr>Apresentação do PowerPoint</vt:lpstr>
      <vt:lpstr>1.1.3 Topologia Parcialmente  Ligada</vt:lpstr>
      <vt:lpstr>Apresentação do PowerPoint</vt:lpstr>
      <vt:lpstr>1.1.5 Estrela ou Radial </vt:lpstr>
      <vt:lpstr>1.1.5 Estrela ou Radial </vt:lpstr>
      <vt:lpstr>Apresentação do PowerPoint</vt:lpstr>
      <vt:lpstr>1.1.6 Topologia em Árvore </vt:lpstr>
      <vt:lpstr>1.1.6 Topologia em Árvore </vt:lpstr>
      <vt:lpstr>Apresentação do PowerPoint</vt:lpstr>
      <vt:lpstr>1.2 Redes Locais e Metropolitanas</vt:lpstr>
      <vt:lpstr>1.2.1 Topologia em  Estrela </vt:lpstr>
      <vt:lpstr>1.2.1 Topologia em  Estrela </vt:lpstr>
      <vt:lpstr>1.2.2 Topologia em  Anel </vt:lpstr>
      <vt:lpstr>1.2.2 Topologia em  Anel </vt:lpstr>
      <vt:lpstr>Apresentação do PowerPoint</vt:lpstr>
      <vt:lpstr>Repetidores</vt:lpstr>
      <vt:lpstr>Repetidores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TOPOLOGIA DE REDES DE COMPUTADORES</dc:title>
  <dc:creator>RIEP</dc:creator>
  <cp:lastModifiedBy>052663 - RANIERI MARINHO DE SOUZA</cp:lastModifiedBy>
  <cp:revision>41</cp:revision>
  <cp:lastPrinted>1997-03-12T13:00:44Z</cp:lastPrinted>
  <dcterms:created xsi:type="dcterms:W3CDTF">1995-05-28T16:10:28Z</dcterms:created>
  <dcterms:modified xsi:type="dcterms:W3CDTF">2023-08-04T23:01:18Z</dcterms:modified>
</cp:coreProperties>
</file>