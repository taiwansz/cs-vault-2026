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17BC6-E8D5-4657-ACE6-C1F12CAE30D4}" v="82" dt="2024-10-09T17:27:34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59F17BC6-E8D5-4657-ACE6-C1F12CAE30D4}"/>
    <pc:docChg chg="modSld">
      <pc:chgData name="Carlos Miglinski" userId="31b42f8782254bec" providerId="Windows Live" clId="Web-{59F17BC6-E8D5-4657-ACE6-C1F12CAE30D4}" dt="2024-10-09T17:27:34.634" v="98" actId="20577"/>
      <pc:docMkLst>
        <pc:docMk/>
      </pc:docMkLst>
      <pc:sldChg chg="modSp">
        <pc:chgData name="Carlos Miglinski" userId="31b42f8782254bec" providerId="Windows Live" clId="Web-{59F17BC6-E8D5-4657-ACE6-C1F12CAE30D4}" dt="2024-10-09T17:25:38.789" v="94" actId="20577"/>
        <pc:sldMkLst>
          <pc:docMk/>
          <pc:sldMk cId="4066103671" sldId="257"/>
        </pc:sldMkLst>
        <pc:spChg chg="mod">
          <ac:chgData name="Carlos Miglinski" userId="31b42f8782254bec" providerId="Windows Live" clId="Web-{59F17BC6-E8D5-4657-ACE6-C1F12CAE30D4}" dt="2024-10-09T17:25:38.789" v="94" actId="20577"/>
          <ac:spMkLst>
            <pc:docMk/>
            <pc:sldMk cId="4066103671" sldId="257"/>
            <ac:spMk id="3" creationId="{0791A2E8-15FE-7B11-2E87-A7D30921E2B3}"/>
          </ac:spMkLst>
        </pc:spChg>
      </pc:sldChg>
      <pc:sldChg chg="modSp">
        <pc:chgData name="Carlos Miglinski" userId="31b42f8782254bec" providerId="Windows Live" clId="Web-{59F17BC6-E8D5-4657-ACE6-C1F12CAE30D4}" dt="2024-10-09T17:27:34.634" v="98" actId="20577"/>
        <pc:sldMkLst>
          <pc:docMk/>
          <pc:sldMk cId="841272916" sldId="258"/>
        </pc:sldMkLst>
        <pc:spChg chg="mod">
          <ac:chgData name="Carlos Miglinski" userId="31b42f8782254bec" providerId="Windows Live" clId="Web-{59F17BC6-E8D5-4657-ACE6-C1F12CAE30D4}" dt="2024-10-09T17:27:34.634" v="98" actId="20577"/>
          <ac:spMkLst>
            <pc:docMk/>
            <pc:sldMk cId="841272916" sldId="258"/>
            <ac:spMk id="3" creationId="{6CBA2378-5ABC-1E1D-742B-43052543CB58}"/>
          </ac:spMkLst>
        </pc:spChg>
      </pc:sldChg>
      <pc:sldChg chg="modSp">
        <pc:chgData name="Carlos Miglinski" userId="31b42f8782254bec" providerId="Windows Live" clId="Web-{59F17BC6-E8D5-4657-ACE6-C1F12CAE30D4}" dt="2024-10-09T17:23:21.383" v="69" actId="20577"/>
        <pc:sldMkLst>
          <pc:docMk/>
          <pc:sldMk cId="243680215" sldId="259"/>
        </pc:sldMkLst>
        <pc:spChg chg="mod">
          <ac:chgData name="Carlos Miglinski" userId="31b42f8782254bec" providerId="Windows Live" clId="Web-{59F17BC6-E8D5-4657-ACE6-C1F12CAE30D4}" dt="2024-10-09T17:23:21.383" v="69" actId="20577"/>
          <ac:spMkLst>
            <pc:docMk/>
            <pc:sldMk cId="243680215" sldId="259"/>
            <ac:spMk id="3" creationId="{0933F429-EF21-3701-3C33-0665519A9274}"/>
          </ac:spMkLst>
        </pc:spChg>
      </pc:sldChg>
      <pc:sldChg chg="modSp">
        <pc:chgData name="Carlos Miglinski" userId="31b42f8782254bec" providerId="Windows Live" clId="Web-{59F17BC6-E8D5-4657-ACE6-C1F12CAE30D4}" dt="2024-10-09T17:19:17.585" v="7" actId="20577"/>
        <pc:sldMkLst>
          <pc:docMk/>
          <pc:sldMk cId="2071851974" sldId="260"/>
        </pc:sldMkLst>
        <pc:spChg chg="mod">
          <ac:chgData name="Carlos Miglinski" userId="31b42f8782254bec" providerId="Windows Live" clId="Web-{59F17BC6-E8D5-4657-ACE6-C1F12CAE30D4}" dt="2024-10-09T17:19:17.585" v="7" actId="20577"/>
          <ac:spMkLst>
            <pc:docMk/>
            <pc:sldMk cId="2071851974" sldId="260"/>
            <ac:spMk id="3" creationId="{29D3B443-18C3-4AAF-E880-F0B02EC6D260}"/>
          </ac:spMkLst>
        </pc:spChg>
      </pc:sldChg>
      <pc:sldChg chg="modSp">
        <pc:chgData name="Carlos Miglinski" userId="31b42f8782254bec" providerId="Windows Live" clId="Web-{59F17BC6-E8D5-4657-ACE6-C1F12CAE30D4}" dt="2024-10-09T17:19:56.147" v="9" actId="20577"/>
        <pc:sldMkLst>
          <pc:docMk/>
          <pc:sldMk cId="3943933320" sldId="261"/>
        </pc:sldMkLst>
        <pc:spChg chg="mod">
          <ac:chgData name="Carlos Miglinski" userId="31b42f8782254bec" providerId="Windows Live" clId="Web-{59F17BC6-E8D5-4657-ACE6-C1F12CAE30D4}" dt="2024-10-09T17:19:56.147" v="9" actId="20577"/>
          <ac:spMkLst>
            <pc:docMk/>
            <pc:sldMk cId="3943933320" sldId="261"/>
            <ac:spMk id="11" creationId="{D3CC00BE-E7BF-0202-6EED-422CD30784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>
                <a:cs typeface="Calibri Light"/>
              </a:rPr>
              <a:t>Estrutura</a:t>
            </a:r>
            <a:r>
              <a:rPr lang="de-DE" dirty="0">
                <a:cs typeface="Calibri Light"/>
              </a:rPr>
              <a:t> de </a:t>
            </a:r>
            <a:r>
              <a:rPr lang="de-DE" dirty="0" err="1">
                <a:cs typeface="Calibri Light"/>
              </a:rPr>
              <a:t>Dados</a:t>
            </a:r>
            <a:endParaRPr lang="de-DE" dirty="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>
                <a:cs typeface="Calibri"/>
              </a:rPr>
              <a:t>Busca</a:t>
            </a: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A3161-FBA1-4B13-83D9-1E5ABE6F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Busca linear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1A2E8-15FE-7B11-2E87-A7D30921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A busca sequencial é um tipo de pesquisa em vetores ou listas onde os elementos são verificados um a um. A função do tempo em relação ao número de elementos é linear, ou seja, cresce proporcionalmente. Em um vetor ordenado, essa não é a pesquisa mais eficiente.</a:t>
            </a:r>
            <a:endParaRPr lang="pt-BR"/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No melhor caso, o elemento a ser buscado é encontrado na primeira tentativa. No pior caso, o elemento está na última posição, resultando em N comparações, onde N é o número total de elementos. Em média, o elemento é encontrado após (N+1)/2 comparações.</a:t>
            </a:r>
            <a:endParaRPr lang="pt-BR"/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610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72388-5DD6-D057-C295-9D8B09FD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Algoritmo Busca Linear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D3B443-18C3-4AAF-E880-F0B02EC6D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pt-BR" err="1">
                <a:cs typeface="Calibri"/>
              </a:rPr>
              <a:t>int</a:t>
            </a:r>
            <a:r>
              <a:rPr lang="pt-BR">
                <a:cs typeface="Calibri"/>
              </a:rPr>
              <a:t> </a:t>
            </a:r>
            <a:r>
              <a:rPr lang="pt-BR" err="1">
                <a:cs typeface="Calibri"/>
              </a:rPr>
              <a:t>buscaSequencial</a:t>
            </a:r>
            <a:r>
              <a:rPr lang="pt-BR">
                <a:cs typeface="Calibri"/>
              </a:rPr>
              <a:t>(</a:t>
            </a:r>
            <a:r>
              <a:rPr lang="pt-BR" err="1">
                <a:cs typeface="Calibri"/>
              </a:rPr>
              <a:t>int</a:t>
            </a:r>
            <a:r>
              <a:rPr lang="pt-BR">
                <a:cs typeface="Calibri"/>
              </a:rPr>
              <a:t> </a:t>
            </a:r>
            <a:r>
              <a:rPr lang="pt-BR" err="1">
                <a:cs typeface="Calibri"/>
              </a:rPr>
              <a:t>arr</a:t>
            </a:r>
            <a:r>
              <a:rPr lang="pt-BR">
                <a:cs typeface="Calibri"/>
              </a:rPr>
              <a:t>[], </a:t>
            </a:r>
            <a:r>
              <a:rPr lang="pt-BR" err="1">
                <a:cs typeface="Calibri"/>
              </a:rPr>
              <a:t>int</a:t>
            </a:r>
            <a:r>
              <a:rPr lang="pt-BR">
                <a:cs typeface="Calibri"/>
              </a:rPr>
              <a:t> n, </a:t>
            </a:r>
            <a:r>
              <a:rPr lang="pt-BR" err="1">
                <a:cs typeface="Calibri"/>
              </a:rPr>
              <a:t>int</a:t>
            </a:r>
            <a:r>
              <a:rPr lang="pt-BR">
                <a:cs typeface="Calibri"/>
              </a:rPr>
              <a:t> elemento)</a:t>
            </a:r>
            <a:endParaRPr lang="pt-BR"/>
          </a:p>
          <a:p>
            <a:pPr>
              <a:buNone/>
            </a:pPr>
            <a:r>
              <a:rPr lang="pt-BR" dirty="0">
                <a:cs typeface="Calibri"/>
              </a:rPr>
              <a:t>{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    for (</a:t>
            </a:r>
            <a:r>
              <a:rPr lang="pt-BR" dirty="0" err="1">
                <a:cs typeface="Calibri"/>
              </a:rPr>
              <a:t>int</a:t>
            </a:r>
            <a:r>
              <a:rPr lang="pt-BR" dirty="0">
                <a:cs typeface="Calibri"/>
              </a:rPr>
              <a:t> i = 0; i &lt; n; i++)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    {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        </a:t>
            </a:r>
            <a:r>
              <a:rPr lang="pt-BR" dirty="0" err="1">
                <a:cs typeface="Calibri"/>
              </a:rPr>
              <a:t>if</a:t>
            </a:r>
            <a:r>
              <a:rPr lang="pt-BR" dirty="0">
                <a:cs typeface="Calibri"/>
              </a:rPr>
              <a:t> (</a:t>
            </a:r>
            <a:r>
              <a:rPr lang="pt-BR" dirty="0" err="1">
                <a:cs typeface="Calibri"/>
              </a:rPr>
              <a:t>arr</a:t>
            </a:r>
            <a:r>
              <a:rPr lang="pt-BR" dirty="0">
                <a:cs typeface="Calibri"/>
              </a:rPr>
              <a:t>[i] == elemento)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            </a:t>
            </a:r>
            <a:r>
              <a:rPr lang="pt-BR" dirty="0" err="1">
                <a:cs typeface="Calibri"/>
              </a:rPr>
              <a:t>return</a:t>
            </a:r>
            <a:r>
              <a:rPr lang="pt-BR" dirty="0">
                <a:cs typeface="Calibri"/>
              </a:rPr>
              <a:t> i; // Retorna o índice do elemento encontrado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    }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    </a:t>
            </a:r>
            <a:r>
              <a:rPr lang="pt-BR" dirty="0" err="1">
                <a:cs typeface="Calibri"/>
              </a:rPr>
              <a:t>return</a:t>
            </a:r>
            <a:r>
              <a:rPr lang="pt-BR" dirty="0">
                <a:cs typeface="Calibri"/>
              </a:rPr>
              <a:t> -1; // Retorna -1 se o elemento não for encontrado</a:t>
            </a:r>
            <a:endParaRPr lang="pt-BR" dirty="0"/>
          </a:p>
          <a:p>
            <a:pPr>
              <a:buNone/>
            </a:pPr>
            <a:r>
              <a:rPr lang="pt-BR" dirty="0">
                <a:cs typeface="Calibri"/>
              </a:rPr>
              <a:t>}</a:t>
            </a:r>
            <a:endParaRPr lang="pt-BR" dirty="0"/>
          </a:p>
          <a:p>
            <a:pPr>
              <a:buNone/>
            </a:pPr>
            <a:endParaRPr lang="pt-BR" dirty="0">
              <a:cs typeface="Calibri" panose="020F0502020204030204"/>
            </a:endParaRPr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7185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1B13A-0695-8F4A-F1CE-2F862E6C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Busca Binária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BA2378-5ABC-1E1D-742B-43052543C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A busca binária é um algoritmo de pesquisa em vetores que segue o paradigma de divisão e conquista. Ela parte do pressuposto de que o vetor está ordenado e realiza sucessivas divisões do espaço de busca, comparando o elemento buscado (chave) com o elemento central do vetor. Se o elemento central for a chave, a busca termina com sucesso. Caso contrário, se o elemento central for menor que a chave, a busca continua na metade posterior do vetor. Se o elemento central for maior que a chave, a busca continua na metade anterior do vetor.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127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D6D56-7B9C-0CBF-B111-328D91CE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577" y="365125"/>
            <a:ext cx="10501223" cy="1009262"/>
          </a:xfrm>
        </p:spPr>
        <p:txBody>
          <a:bodyPr/>
          <a:lstStyle/>
          <a:p>
            <a:r>
              <a:rPr lang="pt-BR" dirty="0">
                <a:cs typeface="Calibri Light"/>
              </a:rPr>
              <a:t>Busca binária       </a:t>
            </a:r>
            <a:r>
              <a:rPr lang="pt-BR" sz="3200" dirty="0">
                <a:cs typeface="Calibri Light"/>
              </a:rPr>
              <a:t>procurar o 5</a:t>
            </a:r>
            <a:endParaRPr lang="pt-BR" sz="3200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5B3191A0-40AB-F932-9359-5881EEC1D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348168"/>
              </p:ext>
            </p:extLst>
          </p:nvPr>
        </p:nvGraphicFramePr>
        <p:xfrm>
          <a:off x="852577" y="2630757"/>
          <a:ext cx="10515600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062933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554724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812526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55889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05332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759238"/>
                  </a:ext>
                </a:extLst>
              </a:tr>
            </a:tbl>
          </a:graphicData>
        </a:graphic>
      </p:graphicFrame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B51CC11B-E843-8275-72D5-CEBA75894224}"/>
              </a:ext>
            </a:extLst>
          </p:cNvPr>
          <p:cNvSpPr/>
          <p:nvPr/>
        </p:nvSpPr>
        <p:spPr>
          <a:xfrm>
            <a:off x="1324816" y="1703343"/>
            <a:ext cx="1164565" cy="934528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cs typeface="Calibri"/>
              </a:rPr>
              <a:t>0</a:t>
            </a:r>
            <a:endParaRPr lang="pt-BR" sz="4000" dirty="0">
              <a:solidFill>
                <a:schemeClr val="tx1"/>
              </a:solidFill>
            </a:endParaRP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2924C373-8FFA-7DAA-A23A-E97226212BDF}"/>
              </a:ext>
            </a:extLst>
          </p:cNvPr>
          <p:cNvSpPr/>
          <p:nvPr/>
        </p:nvSpPr>
        <p:spPr>
          <a:xfrm>
            <a:off x="5523004" y="1703343"/>
            <a:ext cx="1164565" cy="934528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cs typeface="Calibri"/>
              </a:rPr>
              <a:t>2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B429C183-F01F-ECFE-DDF8-83A2BB6CE621}"/>
              </a:ext>
            </a:extLst>
          </p:cNvPr>
          <p:cNvSpPr/>
          <p:nvPr/>
        </p:nvSpPr>
        <p:spPr>
          <a:xfrm>
            <a:off x="9807457" y="1703343"/>
            <a:ext cx="1164565" cy="934528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cs typeface="Calibri"/>
              </a:rPr>
              <a:t>4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F34875-0C2A-3EB1-D26D-851BCA30A170}"/>
              </a:ext>
            </a:extLst>
          </p:cNvPr>
          <p:cNvSpPr txBox="1"/>
          <p:nvPr/>
        </p:nvSpPr>
        <p:spPr>
          <a:xfrm>
            <a:off x="1495244" y="1250829"/>
            <a:ext cx="21219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cs typeface="Calibri"/>
              </a:rPr>
              <a:t>inicio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CF1472A-9D45-433C-3E8E-18EFA070A605}"/>
              </a:ext>
            </a:extLst>
          </p:cNvPr>
          <p:cNvSpPr txBox="1"/>
          <p:nvPr/>
        </p:nvSpPr>
        <p:spPr>
          <a:xfrm>
            <a:off x="5679055" y="1250828"/>
            <a:ext cx="21219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cs typeface="Calibri"/>
              </a:rPr>
              <a:t>meio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482929F-21F6-510A-8044-F0EDA8FD5AAF}"/>
              </a:ext>
            </a:extLst>
          </p:cNvPr>
          <p:cNvSpPr txBox="1"/>
          <p:nvPr/>
        </p:nvSpPr>
        <p:spPr>
          <a:xfrm>
            <a:off x="10049773" y="1250829"/>
            <a:ext cx="12592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cs typeface="Calibri"/>
              </a:rPr>
              <a:t>fim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CC00BE-E7BF-0202-6EED-422CD30784BE}"/>
              </a:ext>
            </a:extLst>
          </p:cNvPr>
          <p:cNvSpPr txBox="1"/>
          <p:nvPr/>
        </p:nvSpPr>
        <p:spPr>
          <a:xfrm>
            <a:off x="848264" y="3432144"/>
            <a:ext cx="1050391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cs typeface="Calibri"/>
              </a:rPr>
              <a:t>Se elemento do meio for 5, achou </a:t>
            </a:r>
          </a:p>
          <a:p>
            <a:r>
              <a:rPr lang="pt-BR" sz="2400" dirty="0">
                <a:cs typeface="Calibri"/>
              </a:rPr>
              <a:t>Se 5 for menor elemento do meio (7), pesquisar a esquerda (fim = meio –1)</a:t>
            </a:r>
          </a:p>
          <a:p>
            <a:r>
              <a:rPr lang="pt-BR" sz="2400" dirty="0">
                <a:cs typeface="Calibri"/>
              </a:rPr>
              <a:t>Senão , pesquisar a direita (início = meio +1)</a:t>
            </a:r>
          </a:p>
        </p:txBody>
      </p:sp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8A5511D6-3AA9-C787-9E84-4D26CCE81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227797"/>
              </p:ext>
            </p:extLst>
          </p:nvPr>
        </p:nvGraphicFramePr>
        <p:xfrm>
          <a:off x="833437" y="5619749"/>
          <a:ext cx="437044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222">
                  <a:extLst>
                    <a:ext uri="{9D8B030D-6E8A-4147-A177-3AD203B41FA5}">
                      <a16:colId xmlns:a16="http://schemas.microsoft.com/office/drawing/2014/main" val="283811731"/>
                    </a:ext>
                  </a:extLst>
                </a:gridCol>
                <a:gridCol w="2185222">
                  <a:extLst>
                    <a:ext uri="{9D8B030D-6E8A-4147-A177-3AD203B41FA5}">
                      <a16:colId xmlns:a16="http://schemas.microsoft.com/office/drawing/2014/main" val="4262531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514530"/>
                  </a:ext>
                </a:extLst>
              </a:tr>
            </a:tbl>
          </a:graphicData>
        </a:graphic>
      </p:graphicFrame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7F30926E-24F1-7100-2B60-2817F03161C7}"/>
              </a:ext>
            </a:extLst>
          </p:cNvPr>
          <p:cNvSpPr/>
          <p:nvPr/>
        </p:nvSpPr>
        <p:spPr>
          <a:xfrm>
            <a:off x="741410" y="4953748"/>
            <a:ext cx="1164565" cy="648779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cs typeface="Calibri"/>
              </a:rPr>
              <a:t>0</a:t>
            </a:r>
            <a:endParaRPr lang="pt-BR" sz="4000" dirty="0">
              <a:solidFill>
                <a:schemeClr val="tx1"/>
              </a:solidFill>
            </a:endParaRPr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92F62AF1-C8E3-547C-FA5E-0C14C14EFDA8}"/>
              </a:ext>
            </a:extLst>
          </p:cNvPr>
          <p:cNvSpPr/>
          <p:nvPr/>
        </p:nvSpPr>
        <p:spPr>
          <a:xfrm>
            <a:off x="1908222" y="4953748"/>
            <a:ext cx="1140753" cy="648779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cs typeface="Calibri"/>
              </a:rPr>
              <a:t>0</a:t>
            </a:r>
            <a:endParaRPr lang="pt-BR" sz="4000" dirty="0">
              <a:solidFill>
                <a:schemeClr val="tx1"/>
              </a:solidFill>
            </a:endParaRP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1DBF4DA7-D9D8-BF75-489E-19AE46769543}"/>
              </a:ext>
            </a:extLst>
          </p:cNvPr>
          <p:cNvSpPr/>
          <p:nvPr/>
        </p:nvSpPr>
        <p:spPr>
          <a:xfrm>
            <a:off x="3610816" y="4953748"/>
            <a:ext cx="1164565" cy="648779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cs typeface="Calibri"/>
              </a:rPr>
              <a:t>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14CF65D-2483-DFA7-9F86-BA9584BF7BE6}"/>
              </a:ext>
            </a:extLst>
          </p:cNvPr>
          <p:cNvSpPr txBox="1"/>
          <p:nvPr/>
        </p:nvSpPr>
        <p:spPr>
          <a:xfrm>
            <a:off x="852307" y="4572672"/>
            <a:ext cx="21219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cs typeface="Calibri"/>
              </a:rPr>
              <a:t>inicio</a:t>
            </a:r>
            <a:endParaRPr lang="pt-BR" sz="28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74A39DD-A5C4-40E8-D07C-6F8FC351E2DD}"/>
              </a:ext>
            </a:extLst>
          </p:cNvPr>
          <p:cNvSpPr txBox="1"/>
          <p:nvPr/>
        </p:nvSpPr>
        <p:spPr>
          <a:xfrm>
            <a:off x="2071461" y="4572672"/>
            <a:ext cx="21219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cs typeface="Calibri"/>
              </a:rPr>
              <a:t>meio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F5F14C5-8E12-B4FE-933D-27BB21491166}"/>
              </a:ext>
            </a:extLst>
          </p:cNvPr>
          <p:cNvSpPr txBox="1"/>
          <p:nvPr/>
        </p:nvSpPr>
        <p:spPr>
          <a:xfrm>
            <a:off x="3870428" y="4572672"/>
            <a:ext cx="12592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cs typeface="Calibri"/>
              </a:rPr>
              <a:t>fim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439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48E26-59EC-2AB4-B4BE-1BA2972F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Algoritmo de busca binária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33F429-EF21-3701-3C33-0665519A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int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buscaBinaria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int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arr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[],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int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inicio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int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fim,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int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elemento){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(inicio &lt;= fim){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   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int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meio = inicio + (fim - inicio) / 2;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        </a:t>
            </a:r>
            <a:r>
              <a:rPr lang="pt-BR" err="1">
                <a:solidFill>
                  <a:srgbClr val="000000"/>
                </a:solidFill>
                <a:latin typeface="Calibri"/>
                <a:cs typeface="Calibri" panose="020F0502020204030204"/>
              </a:rPr>
              <a:t>if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(</a:t>
            </a:r>
            <a:r>
              <a:rPr lang="pt-BR" err="1">
                <a:solidFill>
                  <a:srgbClr val="000000"/>
                </a:solidFill>
                <a:latin typeface="Calibri"/>
                <a:cs typeface="Calibri" panose="020F0502020204030204"/>
              </a:rPr>
              <a:t>arr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[meio] == elemento) </a:t>
            </a:r>
            <a:r>
              <a:rPr lang="pt-BR" sz="2100" dirty="0">
                <a:solidFill>
                  <a:srgbClr val="000000"/>
                </a:solidFill>
                <a:latin typeface="Calibri"/>
                <a:cs typeface="Calibri" panose="020F0502020204030204"/>
              </a:rPr>
              <a:t>// Verifica se o elemento está no meio</a:t>
            </a: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       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meio;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     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if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arr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[meio] &lt; elemento) </a:t>
            </a:r>
            <a:r>
              <a:rPr lang="pt-BR" sz="2100" dirty="0">
                <a:solidFill>
                  <a:srgbClr val="000000"/>
                </a:solidFill>
                <a:latin typeface="Calibri"/>
                <a:cs typeface="Calibri" panose="020F0502020204030204"/>
              </a:rPr>
              <a:t>// Se o elemento for maior, ignore a metade esquerda</a:t>
            </a: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     </a:t>
            </a:r>
            <a:r>
              <a:rPr lang="pt-BR">
                <a:solidFill>
                  <a:srgbClr val="000000"/>
                </a:solidFill>
                <a:latin typeface="Calibri"/>
                <a:cs typeface="Calibri" panose="020F0502020204030204"/>
              </a:rPr>
              <a:t> 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</a:t>
            </a:r>
            <a:r>
              <a:rPr lang="pt-BR" err="1">
                <a:solidFill>
                  <a:srgbClr val="000000"/>
                </a:solidFill>
                <a:latin typeface="Calibri"/>
                <a:cs typeface="Calibri" panose="020F0502020204030204"/>
              </a:rPr>
              <a:t>inicio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= meio + 1;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     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</a:t>
            </a:r>
            <a:r>
              <a:rPr lang="pt-BR" sz="1800" dirty="0">
                <a:solidFill>
                  <a:srgbClr val="000000"/>
                </a:solidFill>
                <a:latin typeface="Calibri"/>
                <a:cs typeface="Calibri" panose="020F0502020204030204"/>
              </a:rPr>
              <a:t>// Se o elemento for menor, ignore a metade direita</a:t>
            </a: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         fim = meio - 1;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}</a:t>
            </a:r>
            <a:endParaRPr lang="en-US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    </a:t>
            </a:r>
            <a:r>
              <a:rPr lang="pt-BR" dirty="0" err="1">
                <a:solidFill>
                  <a:srgbClr val="000000"/>
                </a:solidFill>
                <a:latin typeface="Calibri"/>
                <a:cs typeface="Calibri" panose="020F0502020204030204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 -1;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Calibri"/>
                <a:cs typeface="Calibri" panose="020F0502020204030204"/>
              </a:rPr>
              <a:t>}</a:t>
            </a:r>
            <a:endParaRPr lang="pt-BR" dirty="0"/>
          </a:p>
          <a:p>
            <a:pPr marL="0" indent="0">
              <a:buNone/>
            </a:pPr>
            <a:endParaRPr lang="pt-BR" dirty="0">
              <a:solidFill>
                <a:srgbClr val="000000"/>
              </a:solidFill>
              <a:latin typeface="Calibri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6802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Estrutura de Dados</vt:lpstr>
      <vt:lpstr>Busca linear</vt:lpstr>
      <vt:lpstr>Algoritmo Busca Linear</vt:lpstr>
      <vt:lpstr>Busca Binária</vt:lpstr>
      <vt:lpstr>Busca binária       procurar o 5</vt:lpstr>
      <vt:lpstr>Algoritmo de busca binária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</dc:title>
  <dc:creator/>
  <cp:lastModifiedBy/>
  <cp:revision>194</cp:revision>
  <dcterms:created xsi:type="dcterms:W3CDTF">2012-07-30T23:50:35Z</dcterms:created>
  <dcterms:modified xsi:type="dcterms:W3CDTF">2024-10-09T17:27:34Z</dcterms:modified>
</cp:coreProperties>
</file>