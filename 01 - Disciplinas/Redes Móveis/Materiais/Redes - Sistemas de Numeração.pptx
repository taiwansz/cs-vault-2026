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56"/>
  </p:notesMasterIdLst>
  <p:sldIdLst>
    <p:sldId id="256" r:id="rId2"/>
    <p:sldId id="276" r:id="rId3"/>
    <p:sldId id="279" r:id="rId4"/>
    <p:sldId id="277" r:id="rId5"/>
    <p:sldId id="278" r:id="rId6"/>
    <p:sldId id="283" r:id="rId7"/>
    <p:sldId id="280" r:id="rId8"/>
    <p:sldId id="281" r:id="rId9"/>
    <p:sldId id="282" r:id="rId10"/>
    <p:sldId id="284" r:id="rId11"/>
    <p:sldId id="285" r:id="rId12"/>
    <p:sldId id="28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286" r:id="rId22"/>
    <p:sldId id="287" r:id="rId23"/>
    <p:sldId id="288" r:id="rId24"/>
    <p:sldId id="290" r:id="rId25"/>
    <p:sldId id="291" r:id="rId26"/>
    <p:sldId id="292" r:id="rId27"/>
    <p:sldId id="293" r:id="rId28"/>
    <p:sldId id="294" r:id="rId29"/>
    <p:sldId id="296" r:id="rId30"/>
    <p:sldId id="295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24" r:id="rId48"/>
    <p:sldId id="325" r:id="rId49"/>
    <p:sldId id="326" r:id="rId50"/>
    <p:sldId id="327" r:id="rId51"/>
    <p:sldId id="328" r:id="rId52"/>
    <p:sldId id="297" r:id="rId53"/>
    <p:sldId id="298" r:id="rId54"/>
    <p:sldId id="299" r:id="rId55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6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os estilos do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C30129C-8924-46C8-8CF0-CAC361466BA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322788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 smtClean="0">
                <a:ea typeface="ＭＳ Ｐゴシック" charset="0"/>
              </a:rPr>
              <a:t>Alterar</a:t>
            </a:r>
            <a:r>
              <a:rPr lang="en-US" dirty="0" smtClean="0">
                <a:ea typeface="ＭＳ Ｐゴシック" charset="0"/>
              </a:rPr>
              <a:t> o </a:t>
            </a:r>
            <a:r>
              <a:rPr lang="en-US" dirty="0" err="1" smtClean="0">
                <a:ea typeface="ＭＳ Ｐゴシック" charset="0"/>
              </a:rPr>
              <a:t>valores</a:t>
            </a:r>
            <a:r>
              <a:rPr lang="en-US" dirty="0" smtClean="0">
                <a:ea typeface="ＭＳ Ｐゴシック" charset="0"/>
              </a:rPr>
              <a:t> dos </a:t>
            </a:r>
            <a:r>
              <a:rPr lang="en-US" dirty="0" err="1" smtClean="0">
                <a:ea typeface="ＭＳ Ｐゴシック" charset="0"/>
              </a:rPr>
              <a:t>expoentes</a:t>
            </a:r>
            <a:r>
              <a:rPr lang="en-US" dirty="0" smtClean="0">
                <a:ea typeface="ＭＳ Ｐゴシック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A57061D7-BA24-42E0-9BE4-175AB3CC659A}" type="slidenum">
              <a:rPr lang="pt-BR" altLang="pt-BR" sz="1200">
                <a:latin typeface="Arial" panose="020B0604020202020204" pitchFamily="34" charset="0"/>
              </a:rPr>
              <a:pPr eaLnBrk="1" hangingPunct="1"/>
              <a:t>8</a:t>
            </a:fld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5" name="Rectangle 8"/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Verdana" charset="0"/>
                <a:ea typeface="ＭＳ Ｐゴシック" charset="0"/>
              </a:endParaRPr>
            </a:p>
          </p:txBody>
        </p:sp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Verdana" charset="0"/>
                <a:ea typeface="ＭＳ Ｐゴシック" charset="0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Verdana" charset="0"/>
                <a:ea typeface="ＭＳ Ｐゴシック" charset="0"/>
              </a:endParaRPr>
            </a:p>
          </p:txBody>
        </p:sp>
      </p:grp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pPr lvl="0"/>
            <a:r>
              <a:rPr lang="pt-BR" noProof="0" smtClean="0"/>
              <a:t>Clique para editar o estilo do título mestre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charset="0"/>
              <a:buNone/>
              <a:defRPr sz="3000"/>
            </a:lvl1pPr>
          </a:lstStyle>
          <a:p>
            <a:pPr lvl="0"/>
            <a:r>
              <a:rPr lang="pt-BR" noProof="0" smtClean="0"/>
              <a:t>Clique para editar o estilo do subtítulo mestre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/>
            </a:lvl1pPr>
          </a:lstStyle>
          <a:p>
            <a:fld id="{7B31C845-7945-4B90-BCF8-838311665D5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06503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0FC1EA-C660-45D8-8803-E23F43996A2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4137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71EC27-114A-4F8B-B74A-9C47ED9281F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5427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AAB1EF-E2A7-48D9-9286-95BB9A02315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0552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D0B2F6-D2F8-479D-8879-8A0480D28C1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79183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FA79B0-E17E-4D93-B392-555AE889FE0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330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EA7263-5E21-4DF1-8383-935FC81EBA1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8780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1C809F-FCBE-43BF-B2B1-A088D9589B8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26847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DF11BE-6BF4-4150-A5CD-FEC8D595EA9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9793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2D6C40-AE46-4F17-AA73-D24E80A5B05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91608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DD2225-5815-4FA1-931D-A90502ED15F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90856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85E601-7DF9-4505-9F6A-75946DEF1F9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99675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FF9CD1-65C7-415C-AD5C-50342B740BA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99483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C1D769-8A3C-4DAC-A017-C8D86416277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3014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 estilo do título mestre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os estilos do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latin typeface="Verdana" charset="0"/>
                <a:ea typeface="ＭＳ Ｐゴシック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>
                <a:latin typeface="Verdana" charset="0"/>
                <a:ea typeface="ＭＳ Ｐゴシック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DDFE170C-3707-4C5E-B1C5-AFE252176F95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53255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charset="0"/>
              <a:ea typeface="ＭＳ Ｐゴシック" charset="0"/>
            </a:endParaRPr>
          </a:p>
        </p:txBody>
      </p:sp>
      <p:sp>
        <p:nvSpPr>
          <p:cNvPr id="53256" name="Line 8"/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Verdana" charset="0"/>
              <a:ea typeface="ＭＳ Ｐゴシック" charset="0"/>
            </a:endParaRPr>
          </a:p>
        </p:txBody>
      </p:sp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charset="0"/>
              <a:ea typeface="ＭＳ Ｐゴシック" charset="0"/>
            </a:endParaRPr>
          </a:p>
        </p:txBody>
      </p:sp>
      <p:sp>
        <p:nvSpPr>
          <p:cNvPr id="53258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charset="0"/>
              <a:ea typeface="ＭＳ Ｐゴシック" charset="0"/>
            </a:endParaRPr>
          </a:p>
        </p:txBody>
      </p:sp>
      <p:pic>
        <p:nvPicPr>
          <p:cNvPr id="1035" name="Picture 11" descr="Logo IFBA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338" y="188913"/>
            <a:ext cx="25812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6" r:id="rId14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  <a:ea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  <a:ea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  <a:ea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  <a:ea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charset="0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charset="0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charset="0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charset="0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mass.edu/~Verts/cs32/endian.html" TargetMode="Externa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68413"/>
            <a:ext cx="7772400" cy="154463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pt-BR" altLang="pt-BR" sz="5400" b="1" smtClean="0"/>
              <a:t>Introdução a Tecnologia da Informação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27088" y="3357563"/>
            <a:ext cx="7921625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pt-BR" altLang="pt-BR" sz="3200"/>
              <a:t>Sistema de Numeração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Sistema de Numeração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Um sistema de numeração</a:t>
            </a:r>
            <a:r>
              <a:rPr lang="pt-BR" altLang="pt-BR" i="1" smtClean="0"/>
              <a:t> </a:t>
            </a:r>
            <a:r>
              <a:rPr lang="pt-BR" altLang="pt-BR" smtClean="0"/>
              <a:t>é formado por um </a:t>
            </a:r>
            <a:r>
              <a:rPr lang="pt-BR" altLang="pt-BR" smtClean="0">
                <a:solidFill>
                  <a:schemeClr val="tx2"/>
                </a:solidFill>
              </a:rPr>
              <a:t>conjunto de símbolos </a:t>
            </a:r>
            <a:r>
              <a:rPr lang="pt-BR" altLang="pt-BR" smtClean="0"/>
              <a:t>utilizados para representação de quantidades e </a:t>
            </a:r>
            <a:r>
              <a:rPr lang="pt-BR" altLang="pt-BR" smtClean="0">
                <a:solidFill>
                  <a:schemeClr val="tx2"/>
                </a:solidFill>
              </a:rPr>
              <a:t>as regras que definem a forma de representação</a:t>
            </a:r>
            <a:r>
              <a:rPr lang="pt-BR" altLang="pt-BR" smtClean="0"/>
              <a:t>;</a:t>
            </a:r>
          </a:p>
          <a:p>
            <a:pPr eaLnBrk="1" hangingPunct="1"/>
            <a:r>
              <a:rPr lang="pt-BR" altLang="pt-BR" smtClean="0"/>
              <a:t>Um sistema de numeração é determinado fundamentalmente pela sua base;</a:t>
            </a:r>
          </a:p>
          <a:p>
            <a:pPr lvl="1" eaLnBrk="1" hangingPunct="1"/>
            <a:r>
              <a:rPr lang="pt-BR" altLang="pt-BR" smtClean="0"/>
              <a:t>Sistema decimal, por exemplo, estabelece que a base de contagem é 10, pois possui 10 símbolos: </a:t>
            </a:r>
            <a:r>
              <a:rPr lang="pt-BR" altLang="pt-BR" b="1" smtClean="0">
                <a:solidFill>
                  <a:schemeClr val="tx2"/>
                </a:solidFill>
              </a:rPr>
              <a:t>0 1 2 3 4 5 6 7 8 9;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pt-BR" altLang="pt-BR" b="1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Sistema de Numeração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Nosso sistema de numeração é o </a:t>
            </a:r>
            <a:r>
              <a:rPr lang="pt-BR" altLang="pt-BR" smtClean="0">
                <a:solidFill>
                  <a:schemeClr val="tx2"/>
                </a:solidFill>
              </a:rPr>
              <a:t>decimal</a:t>
            </a:r>
            <a:r>
              <a:rPr lang="pt-BR" altLang="pt-BR" smtClean="0"/>
              <a:t>;</a:t>
            </a:r>
          </a:p>
          <a:p>
            <a:pPr eaLnBrk="1" hangingPunct="1"/>
            <a:r>
              <a:rPr lang="pt-BR" altLang="pt-BR" smtClean="0"/>
              <a:t>Mas é possível ter sistema de numeração em qualquer base, desde que seja maior que 1;</a:t>
            </a:r>
          </a:p>
          <a:p>
            <a:pPr eaLnBrk="1" hangingPunct="1"/>
            <a:r>
              <a:rPr lang="pt-BR" altLang="pt-BR" smtClean="0"/>
              <a:t>Vamos estudar:</a:t>
            </a:r>
          </a:p>
          <a:p>
            <a:pPr lvl="1" eaLnBrk="1" hangingPunct="1"/>
            <a:r>
              <a:rPr lang="pt-BR" altLang="pt-BR" smtClean="0"/>
              <a:t>Sistema </a:t>
            </a:r>
            <a:r>
              <a:rPr lang="pt-BR" altLang="pt-BR" smtClean="0">
                <a:solidFill>
                  <a:schemeClr val="tx2"/>
                </a:solidFill>
              </a:rPr>
              <a:t>decimal (base 10)</a:t>
            </a:r>
            <a:r>
              <a:rPr lang="pt-BR" altLang="pt-BR" smtClean="0"/>
              <a:t>;</a:t>
            </a:r>
          </a:p>
          <a:p>
            <a:pPr lvl="1" eaLnBrk="1" hangingPunct="1"/>
            <a:r>
              <a:rPr lang="pt-BR" altLang="pt-BR" smtClean="0"/>
              <a:t>Sistema </a:t>
            </a:r>
            <a:r>
              <a:rPr lang="pt-BR" altLang="pt-BR" smtClean="0">
                <a:solidFill>
                  <a:schemeClr val="tx2"/>
                </a:solidFill>
              </a:rPr>
              <a:t>binário(base 2)</a:t>
            </a:r>
            <a:r>
              <a:rPr lang="pt-BR" altLang="pt-BR" smtClean="0"/>
              <a:t>;</a:t>
            </a:r>
          </a:p>
          <a:p>
            <a:pPr lvl="1" eaLnBrk="1" hangingPunct="1"/>
            <a:r>
              <a:rPr lang="pt-BR" altLang="pt-BR" smtClean="0"/>
              <a:t>Sistema </a:t>
            </a:r>
            <a:r>
              <a:rPr lang="pt-BR" altLang="pt-BR" smtClean="0">
                <a:solidFill>
                  <a:schemeClr val="tx2"/>
                </a:solidFill>
              </a:rPr>
              <a:t>hexadecimal (base 16)</a:t>
            </a:r>
            <a:r>
              <a:rPr lang="pt-BR" altLang="pt-BR" smtClean="0"/>
              <a:t>;</a:t>
            </a:r>
          </a:p>
          <a:p>
            <a:pPr lvl="1" eaLnBrk="1" hangingPunct="1"/>
            <a:r>
              <a:rPr lang="pt-BR" altLang="pt-BR" smtClean="0"/>
              <a:t>OBS: São </a:t>
            </a:r>
            <a:r>
              <a:rPr lang="pt-BR" altLang="pt-BR" smtClean="0">
                <a:solidFill>
                  <a:schemeClr val="tx2"/>
                </a:solidFill>
              </a:rPr>
              <a:t>sistemas posicionais</a:t>
            </a:r>
            <a:r>
              <a:rPr lang="pt-BR" altLang="pt-BR" smtClean="0"/>
              <a:t> (o valor do número depende da posição dos símbolos</a:t>
            </a:r>
            <a:r>
              <a:rPr lang="pt-BR" altLang="pt-BR" smtClean="0">
                <a:solidFill>
                  <a:schemeClr val="tx2"/>
                </a:solidFill>
              </a:rPr>
              <a:t>)</a:t>
            </a:r>
            <a:endParaRPr lang="pt-BR" altLang="pt-BR" smtClean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pt-BR" altLang="pt-BR" smtClean="0"/>
          </a:p>
          <a:p>
            <a:pPr eaLnBrk="1" hangingPunct="1"/>
            <a:endParaRPr lang="pt-BR" alt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>
                <a:ea typeface="+mj-ea"/>
              </a:rPr>
              <a:t>Sistema Decimal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91513" cy="29813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mtClean="0"/>
              <a:t>No sistema decimal existem </a:t>
            </a:r>
            <a:r>
              <a:rPr lang="pt-BR" altLang="pt-BR" smtClean="0">
                <a:solidFill>
                  <a:schemeClr val="tx2"/>
                </a:solidFill>
              </a:rPr>
              <a:t>dez símbolos numéricos</a:t>
            </a:r>
            <a:r>
              <a:rPr lang="pt-BR" altLang="pt-BR" smtClean="0"/>
              <a:t>, </a:t>
            </a:r>
            <a:r>
              <a:rPr lang="ja-JP" altLang="pt-BR" i="1" smtClean="0">
                <a:latin typeface="Arial" panose="020B0604020202020204" pitchFamily="34" charset="0"/>
              </a:rPr>
              <a:t>“</a:t>
            </a:r>
            <a:r>
              <a:rPr lang="pt-BR" altLang="ja-JP" i="1" smtClean="0"/>
              <a:t>algarismos</a:t>
            </a:r>
            <a:r>
              <a:rPr lang="ja-JP" altLang="pt-BR" smtClean="0">
                <a:latin typeface="Arial" panose="020B0604020202020204" pitchFamily="34" charset="0"/>
              </a:rPr>
              <a:t>”</a:t>
            </a:r>
            <a:r>
              <a:rPr lang="pt-BR" altLang="ja-JP" smtClean="0"/>
              <a:t>: 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b="1" smtClean="0"/>
              <a:t>0 1 2 3 4 5 6 7 8 9</a:t>
            </a:r>
            <a:r>
              <a:rPr lang="pt-BR" altLang="pt-BR" smtClean="0"/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mtClean="0"/>
              <a:t>Através das </a:t>
            </a:r>
            <a:r>
              <a:rPr lang="pt-BR" altLang="pt-BR" smtClean="0">
                <a:solidFill>
                  <a:schemeClr val="tx2"/>
                </a:solidFill>
              </a:rPr>
              <a:t>combinações adequadas</a:t>
            </a:r>
            <a:r>
              <a:rPr lang="pt-BR" altLang="pt-BR" smtClean="0"/>
              <a:t> destes símbolos, constrói-se os números do Sistema Decimal;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mtClean="0"/>
              <a:t>São organizados em ordens e classes: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mtClean="0"/>
          </a:p>
          <a:p>
            <a:pPr lvl="1" eaLnBrk="1" hangingPunct="1">
              <a:lnSpc>
                <a:spcPct val="90000"/>
              </a:lnSpc>
            </a:pPr>
            <a:endParaRPr lang="pt-BR" altLang="pt-BR" sz="1800" smtClean="0"/>
          </a:p>
        </p:txBody>
      </p:sp>
      <p:graphicFrame>
        <p:nvGraphicFramePr>
          <p:cNvPr id="85141" name="Group 149"/>
          <p:cNvGraphicFramePr>
            <a:graphicFrameLocks noGrp="1"/>
          </p:cNvGraphicFramePr>
          <p:nvPr>
            <p:ph sz="quarter" idx="3"/>
          </p:nvPr>
        </p:nvGraphicFramePr>
        <p:xfrm>
          <a:off x="611188" y="5157788"/>
          <a:ext cx="8075612" cy="973137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</a:tblGrid>
              <a:tr h="487362"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Bilhão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Milhão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Milhar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Unidades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centena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dezena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unidade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centena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dezena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unidade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centena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dezena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unidade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centena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dezena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unidade</a:t>
                      </a:r>
                      <a:endParaRPr kumimoji="0" lang="pt-B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>
                <a:ea typeface="+mj-ea"/>
              </a:rPr>
              <a:t>Sistema Decimal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5040312"/>
          </a:xfrm>
        </p:spPr>
        <p:txBody>
          <a:bodyPr/>
          <a:lstStyle/>
          <a:p>
            <a:pPr eaLnBrk="1" hangingPunct="1"/>
            <a:r>
              <a:rPr lang="pt-BR" altLang="pt-BR" smtClean="0"/>
              <a:t>Ex: 1745</a:t>
            </a:r>
          </a:p>
          <a:p>
            <a:pPr lvl="1" eaLnBrk="1" hangingPunct="1"/>
            <a:r>
              <a:rPr lang="pt-BR" altLang="pt-BR" sz="2000" smtClean="0"/>
              <a:t>O algarismo 5 representa 5 unidades e vale 5 (1ª Ordem / 1ª Classe);</a:t>
            </a:r>
          </a:p>
          <a:p>
            <a:pPr lvl="1" eaLnBrk="1" hangingPunct="1"/>
            <a:r>
              <a:rPr lang="pt-BR" altLang="pt-BR" sz="2000" smtClean="0"/>
              <a:t>O algarismo 4 representa 4 dezenas e vale 40 (2ª Ordem / 1ª Classe);</a:t>
            </a:r>
          </a:p>
          <a:p>
            <a:pPr lvl="1" eaLnBrk="1" hangingPunct="1"/>
            <a:r>
              <a:rPr lang="pt-BR" altLang="pt-BR" sz="2000" smtClean="0"/>
              <a:t>O algarismo 7 representa 7 centenas e vale 700 (3ª Ordem / 1ª Classe);</a:t>
            </a:r>
          </a:p>
          <a:p>
            <a:pPr lvl="1" eaLnBrk="1" hangingPunct="1"/>
            <a:r>
              <a:rPr lang="pt-BR" altLang="pt-BR" sz="2000" smtClean="0"/>
              <a:t>O algarismo 1 representa 1 unidade de milhar e vale 1000 (1ª Ordem / 2ª Classe);</a:t>
            </a:r>
          </a:p>
          <a:p>
            <a:pPr lvl="1" eaLnBrk="1" hangingPunct="1"/>
            <a:r>
              <a:rPr lang="pt-BR" altLang="pt-BR" sz="2000" smtClean="0"/>
              <a:t>1.000 + 700 + 40 + 5 = 1745</a:t>
            </a:r>
          </a:p>
          <a:p>
            <a:pPr eaLnBrk="1" hangingPunct="1"/>
            <a:r>
              <a:rPr lang="pt-BR" altLang="pt-BR" smtClean="0"/>
              <a:t>Cada posição tem um valor que equivale a </a:t>
            </a:r>
            <a:r>
              <a:rPr lang="pt-BR" altLang="pt-BR" smtClean="0">
                <a:solidFill>
                  <a:schemeClr val="tx2"/>
                </a:solidFill>
              </a:rPr>
              <a:t>dez vezes</a:t>
            </a:r>
            <a:r>
              <a:rPr lang="pt-BR" altLang="pt-BR" smtClean="0"/>
              <a:t> o valor da posição que está imediatamente a sua direita;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>
                <a:ea typeface="+mj-ea"/>
              </a:rPr>
              <a:t>Sistema Decimal</a:t>
            </a:r>
          </a:p>
        </p:txBody>
      </p:sp>
      <p:grpSp>
        <p:nvGrpSpPr>
          <p:cNvPr id="9218" name="Group 62"/>
          <p:cNvGrpSpPr>
            <a:grpSpLocks/>
          </p:cNvGrpSpPr>
          <p:nvPr/>
        </p:nvGrpSpPr>
        <p:grpSpPr bwMode="auto">
          <a:xfrm>
            <a:off x="1044575" y="2205038"/>
            <a:ext cx="7488238" cy="3349625"/>
            <a:chOff x="770" y="1592"/>
            <a:chExt cx="4378" cy="1793"/>
          </a:xfrm>
        </p:grpSpPr>
        <p:sp>
          <p:nvSpPr>
            <p:cNvPr id="9219" name="Text Box 34"/>
            <p:cNvSpPr txBox="1">
              <a:spLocks noChangeArrowheads="1"/>
            </p:cNvSpPr>
            <p:nvPr/>
          </p:nvSpPr>
          <p:spPr bwMode="auto">
            <a:xfrm>
              <a:off x="770" y="2209"/>
              <a:ext cx="1384" cy="3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 sz="2000">
                  <a:latin typeface="Times New Roman" panose="02020603050405020304" pitchFamily="18" charset="0"/>
                </a:rPr>
                <a:t>6    8    3    9</a:t>
              </a:r>
              <a:endParaRPr lang="pt-BR" altLang="pt-BR" sz="2000"/>
            </a:p>
          </p:txBody>
        </p:sp>
        <p:sp>
          <p:nvSpPr>
            <p:cNvPr id="9220" name="Line 35"/>
            <p:cNvSpPr>
              <a:spLocks noChangeShapeType="1"/>
            </p:cNvSpPr>
            <p:nvPr/>
          </p:nvSpPr>
          <p:spPr bwMode="auto">
            <a:xfrm flipH="1" flipV="1">
              <a:off x="1605" y="2176"/>
              <a:ext cx="3" cy="1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1" name="Line 36"/>
            <p:cNvSpPr>
              <a:spLocks noChangeShapeType="1"/>
            </p:cNvSpPr>
            <p:nvPr/>
          </p:nvSpPr>
          <p:spPr bwMode="auto">
            <a:xfrm flipV="1">
              <a:off x="1605" y="2166"/>
              <a:ext cx="502" cy="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2" name="Line 37"/>
            <p:cNvSpPr>
              <a:spLocks noChangeShapeType="1"/>
            </p:cNvSpPr>
            <p:nvPr/>
          </p:nvSpPr>
          <p:spPr bwMode="auto">
            <a:xfrm flipV="1">
              <a:off x="1363" y="2060"/>
              <a:ext cx="0" cy="2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3" name="Line 38"/>
            <p:cNvSpPr>
              <a:spLocks noChangeShapeType="1"/>
            </p:cNvSpPr>
            <p:nvPr/>
          </p:nvSpPr>
          <p:spPr bwMode="auto">
            <a:xfrm flipV="1">
              <a:off x="1363" y="2028"/>
              <a:ext cx="744" cy="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4" name="Line 39"/>
            <p:cNvSpPr>
              <a:spLocks noChangeShapeType="1"/>
            </p:cNvSpPr>
            <p:nvPr/>
          </p:nvSpPr>
          <p:spPr bwMode="auto">
            <a:xfrm flipH="1" flipV="1">
              <a:off x="1103" y="1902"/>
              <a:ext cx="16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5" name="Line 40"/>
            <p:cNvSpPr>
              <a:spLocks noChangeShapeType="1"/>
            </p:cNvSpPr>
            <p:nvPr/>
          </p:nvSpPr>
          <p:spPr bwMode="auto">
            <a:xfrm>
              <a:off x="1104" y="1891"/>
              <a:ext cx="969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6" name="Line 41"/>
            <p:cNvSpPr>
              <a:spLocks noChangeShapeType="1"/>
            </p:cNvSpPr>
            <p:nvPr/>
          </p:nvSpPr>
          <p:spPr bwMode="auto">
            <a:xfrm flipV="1">
              <a:off x="842" y="1765"/>
              <a:ext cx="0" cy="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7" name="Line 42"/>
            <p:cNvSpPr>
              <a:spLocks noChangeShapeType="1"/>
            </p:cNvSpPr>
            <p:nvPr/>
          </p:nvSpPr>
          <p:spPr bwMode="auto">
            <a:xfrm flipV="1">
              <a:off x="842" y="1755"/>
              <a:ext cx="12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8" name="Text Box 43"/>
            <p:cNvSpPr txBox="1">
              <a:spLocks noChangeArrowheads="1"/>
            </p:cNvSpPr>
            <p:nvPr/>
          </p:nvSpPr>
          <p:spPr bwMode="auto">
            <a:xfrm>
              <a:off x="2108" y="2012"/>
              <a:ext cx="2269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 sz="2000">
                  <a:latin typeface="Times New Roman" panose="02020603050405020304" pitchFamily="18" charset="0"/>
                </a:rPr>
                <a:t>Unidade (peso </a:t>
              </a:r>
              <a:r>
                <a:rPr lang="pt-BR" altLang="pt-BR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pt-BR" altLang="pt-BR" sz="2000">
                  <a:latin typeface="Times New Roman" panose="02020603050405020304" pitchFamily="18" charset="0"/>
                </a:rPr>
                <a:t>)</a:t>
              </a:r>
              <a:endParaRPr lang="pt-BR" altLang="pt-BR" sz="2000"/>
            </a:p>
          </p:txBody>
        </p:sp>
        <p:sp>
          <p:nvSpPr>
            <p:cNvPr id="9229" name="Text Box 44"/>
            <p:cNvSpPr txBox="1">
              <a:spLocks noChangeArrowheads="1"/>
            </p:cNvSpPr>
            <p:nvPr/>
          </p:nvSpPr>
          <p:spPr bwMode="auto">
            <a:xfrm>
              <a:off x="2109" y="1856"/>
              <a:ext cx="2670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 sz="2000">
                  <a:latin typeface="Times New Roman" panose="02020603050405020304" pitchFamily="18" charset="0"/>
                </a:rPr>
                <a:t>Dezena 	(peso </a:t>
              </a:r>
              <a:r>
                <a:rPr lang="pt-BR" altLang="pt-BR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10</a:t>
              </a:r>
              <a:r>
                <a:rPr lang="pt-BR" altLang="pt-BR" sz="2000">
                  <a:latin typeface="Times New Roman" panose="02020603050405020304" pitchFamily="18" charset="0"/>
                </a:rPr>
                <a:t>)</a:t>
              </a:r>
              <a:endParaRPr lang="pt-BR" altLang="pt-BR" sz="2000"/>
            </a:p>
          </p:txBody>
        </p:sp>
        <p:sp>
          <p:nvSpPr>
            <p:cNvPr id="9230" name="Text Box 45"/>
            <p:cNvSpPr txBox="1">
              <a:spLocks noChangeArrowheads="1"/>
            </p:cNvSpPr>
            <p:nvPr/>
          </p:nvSpPr>
          <p:spPr bwMode="auto">
            <a:xfrm>
              <a:off x="2114" y="1718"/>
              <a:ext cx="2444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 sz="2000">
                  <a:latin typeface="Times New Roman" panose="02020603050405020304" pitchFamily="18" charset="0"/>
                </a:rPr>
                <a:t>Centena 	(peso </a:t>
              </a:r>
              <a:r>
                <a:rPr lang="pt-BR" altLang="pt-BR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100</a:t>
              </a:r>
              <a:r>
                <a:rPr lang="pt-BR" altLang="pt-BR" sz="2000">
                  <a:latin typeface="Times New Roman" panose="02020603050405020304" pitchFamily="18" charset="0"/>
                </a:rPr>
                <a:t>)</a:t>
              </a:r>
              <a:endParaRPr lang="pt-BR" altLang="pt-BR" sz="2000"/>
            </a:p>
          </p:txBody>
        </p:sp>
        <p:sp>
          <p:nvSpPr>
            <p:cNvPr id="9231" name="Text Box 46"/>
            <p:cNvSpPr txBox="1">
              <a:spLocks noChangeArrowheads="1"/>
            </p:cNvSpPr>
            <p:nvPr/>
          </p:nvSpPr>
          <p:spPr bwMode="auto">
            <a:xfrm>
              <a:off x="2107" y="1592"/>
              <a:ext cx="2633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 sz="2000">
                  <a:latin typeface="Times New Roman" panose="02020603050405020304" pitchFamily="18" charset="0"/>
                </a:rPr>
                <a:t>Milhar 	(peso </a:t>
              </a:r>
              <a:r>
                <a:rPr lang="pt-BR" altLang="pt-BR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1000</a:t>
              </a:r>
              <a:r>
                <a:rPr lang="pt-BR" altLang="pt-BR" sz="2000">
                  <a:latin typeface="Times New Roman" panose="02020603050405020304" pitchFamily="18" charset="0"/>
                </a:rPr>
                <a:t>)</a:t>
              </a:r>
              <a:endParaRPr lang="pt-BR" altLang="pt-BR" sz="2000"/>
            </a:p>
          </p:txBody>
        </p:sp>
        <p:sp>
          <p:nvSpPr>
            <p:cNvPr id="9232" name="Line 47"/>
            <p:cNvSpPr>
              <a:spLocks noChangeShapeType="1"/>
            </p:cNvSpPr>
            <p:nvPr/>
          </p:nvSpPr>
          <p:spPr bwMode="auto">
            <a:xfrm>
              <a:off x="1573" y="2507"/>
              <a:ext cx="4" cy="1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3" name="Line 48"/>
            <p:cNvSpPr>
              <a:spLocks noChangeShapeType="1"/>
            </p:cNvSpPr>
            <p:nvPr/>
          </p:nvSpPr>
          <p:spPr bwMode="auto">
            <a:xfrm flipV="1">
              <a:off x="1591" y="2610"/>
              <a:ext cx="520" cy="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4" name="Line 49"/>
            <p:cNvSpPr>
              <a:spLocks noChangeShapeType="1"/>
            </p:cNvSpPr>
            <p:nvPr/>
          </p:nvSpPr>
          <p:spPr bwMode="auto">
            <a:xfrm>
              <a:off x="1335" y="2498"/>
              <a:ext cx="0" cy="2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5" name="Line 50"/>
            <p:cNvSpPr>
              <a:spLocks noChangeShapeType="1"/>
            </p:cNvSpPr>
            <p:nvPr/>
          </p:nvSpPr>
          <p:spPr bwMode="auto">
            <a:xfrm flipV="1">
              <a:off x="1349" y="2744"/>
              <a:ext cx="744" cy="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6" name="Line 51"/>
            <p:cNvSpPr>
              <a:spLocks noChangeShapeType="1"/>
            </p:cNvSpPr>
            <p:nvPr/>
          </p:nvSpPr>
          <p:spPr bwMode="auto">
            <a:xfrm flipH="1" flipV="1">
              <a:off x="1103" y="2475"/>
              <a:ext cx="16" cy="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7" name="Line 52"/>
            <p:cNvSpPr>
              <a:spLocks noChangeShapeType="1"/>
            </p:cNvSpPr>
            <p:nvPr/>
          </p:nvSpPr>
          <p:spPr bwMode="auto">
            <a:xfrm>
              <a:off x="1132" y="2885"/>
              <a:ext cx="96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8" name="Line 53"/>
            <p:cNvSpPr>
              <a:spLocks noChangeShapeType="1"/>
            </p:cNvSpPr>
            <p:nvPr/>
          </p:nvSpPr>
          <p:spPr bwMode="auto">
            <a:xfrm flipV="1">
              <a:off x="856" y="2480"/>
              <a:ext cx="0" cy="5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9" name="Line 54"/>
            <p:cNvSpPr>
              <a:spLocks noChangeShapeType="1"/>
            </p:cNvSpPr>
            <p:nvPr/>
          </p:nvSpPr>
          <p:spPr bwMode="auto">
            <a:xfrm flipV="1">
              <a:off x="870" y="3026"/>
              <a:ext cx="12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0" name="Text Box 55"/>
            <p:cNvSpPr txBox="1">
              <a:spLocks noChangeArrowheads="1"/>
            </p:cNvSpPr>
            <p:nvPr/>
          </p:nvSpPr>
          <p:spPr bwMode="auto">
            <a:xfrm>
              <a:off x="2090" y="2450"/>
              <a:ext cx="3058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 sz="2000">
                  <a:latin typeface="Times New Roman" panose="02020603050405020304" pitchFamily="18" charset="0"/>
                </a:rPr>
                <a:t>9 X </a:t>
              </a:r>
              <a:r>
                <a:rPr lang="pt-BR" altLang="pt-BR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pt-BR" altLang="pt-BR" sz="2000">
                  <a:latin typeface="Times New Roman" panose="02020603050405020304" pitchFamily="18" charset="0"/>
                </a:rPr>
                <a:t> = 	            9</a:t>
              </a:r>
              <a:endParaRPr lang="pt-BR" altLang="pt-BR" sz="2000"/>
            </a:p>
          </p:txBody>
        </p:sp>
        <p:sp>
          <p:nvSpPr>
            <p:cNvPr id="9241" name="Text Box 56"/>
            <p:cNvSpPr txBox="1">
              <a:spLocks noChangeArrowheads="1"/>
            </p:cNvSpPr>
            <p:nvPr/>
          </p:nvSpPr>
          <p:spPr bwMode="auto">
            <a:xfrm>
              <a:off x="2109" y="2585"/>
              <a:ext cx="2767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 sz="2000">
                  <a:latin typeface="Times New Roman" panose="02020603050405020304" pitchFamily="18" charset="0"/>
                </a:rPr>
                <a:t>3 X </a:t>
              </a:r>
              <a:r>
                <a:rPr lang="pt-BR" altLang="pt-BR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10</a:t>
              </a:r>
              <a:r>
                <a:rPr lang="pt-BR" altLang="pt-BR" sz="2000">
                  <a:latin typeface="Times New Roman" panose="02020603050405020304" pitchFamily="18" charset="0"/>
                </a:rPr>
                <a:t> =          30</a:t>
              </a:r>
              <a:endParaRPr lang="pt-BR" altLang="pt-BR" sz="2000"/>
            </a:p>
          </p:txBody>
        </p:sp>
        <p:sp>
          <p:nvSpPr>
            <p:cNvPr id="9242" name="Text Box 57"/>
            <p:cNvSpPr txBox="1">
              <a:spLocks noChangeArrowheads="1"/>
            </p:cNvSpPr>
            <p:nvPr/>
          </p:nvSpPr>
          <p:spPr bwMode="auto">
            <a:xfrm>
              <a:off x="2102" y="2728"/>
              <a:ext cx="2366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 sz="2000">
                  <a:latin typeface="Times New Roman" panose="02020603050405020304" pitchFamily="18" charset="0"/>
                </a:rPr>
                <a:t>8 X </a:t>
              </a:r>
              <a:r>
                <a:rPr lang="pt-BR" altLang="pt-BR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100</a:t>
              </a:r>
              <a:r>
                <a:rPr lang="pt-BR" altLang="pt-BR" sz="2000">
                  <a:latin typeface="Times New Roman" panose="02020603050405020304" pitchFamily="18" charset="0"/>
                </a:rPr>
                <a:t> =       800</a:t>
              </a:r>
              <a:endParaRPr lang="pt-BR" altLang="pt-BR" sz="2000"/>
            </a:p>
          </p:txBody>
        </p:sp>
        <p:sp>
          <p:nvSpPr>
            <p:cNvPr id="9243" name="Text Box 58"/>
            <p:cNvSpPr txBox="1">
              <a:spLocks noChangeArrowheads="1"/>
            </p:cNvSpPr>
            <p:nvPr/>
          </p:nvSpPr>
          <p:spPr bwMode="auto">
            <a:xfrm>
              <a:off x="2097" y="2867"/>
              <a:ext cx="2643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 sz="2000">
                  <a:latin typeface="Times New Roman" panose="02020603050405020304" pitchFamily="18" charset="0"/>
                </a:rPr>
                <a:t>6 X </a:t>
              </a:r>
              <a:r>
                <a:rPr lang="pt-BR" altLang="pt-BR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1000</a:t>
              </a:r>
              <a:r>
                <a:rPr lang="pt-BR" altLang="pt-BR" sz="2000">
                  <a:latin typeface="Times New Roman" panose="02020603050405020304" pitchFamily="18" charset="0"/>
                </a:rPr>
                <a:t> =   6000</a:t>
              </a:r>
              <a:endParaRPr lang="pt-BR" altLang="pt-BR" sz="2000"/>
            </a:p>
          </p:txBody>
        </p:sp>
        <p:sp>
          <p:nvSpPr>
            <p:cNvPr id="9244" name="Line 59"/>
            <p:cNvSpPr>
              <a:spLocks noChangeShapeType="1"/>
            </p:cNvSpPr>
            <p:nvPr/>
          </p:nvSpPr>
          <p:spPr bwMode="auto">
            <a:xfrm>
              <a:off x="2835" y="3126"/>
              <a:ext cx="7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5" name="Text Box 60"/>
            <p:cNvSpPr txBox="1">
              <a:spLocks noChangeArrowheads="1"/>
            </p:cNvSpPr>
            <p:nvPr/>
          </p:nvSpPr>
          <p:spPr bwMode="auto">
            <a:xfrm>
              <a:off x="2925" y="3079"/>
              <a:ext cx="1065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 sz="2000" b="1">
                  <a:latin typeface="Times New Roman" panose="02020603050405020304" pitchFamily="18" charset="0"/>
                </a:rPr>
                <a:t>6839</a:t>
              </a:r>
              <a:endParaRPr lang="pt-BR" altLang="pt-BR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>
                <a:ea typeface="+mj-ea"/>
              </a:rPr>
              <a:t>Sistema Decimal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07413" cy="4852988"/>
          </a:xfrm>
        </p:spPr>
        <p:txBody>
          <a:bodyPr/>
          <a:lstStyle/>
          <a:p>
            <a:pPr eaLnBrk="1" hangingPunct="1"/>
            <a:r>
              <a:rPr lang="pt-BR" altLang="pt-BR" smtClean="0"/>
              <a:t>Representação exponencial:</a:t>
            </a:r>
          </a:p>
          <a:p>
            <a:pPr lvl="1" eaLnBrk="1" hangingPunct="1"/>
            <a:r>
              <a:rPr lang="pt-BR" altLang="pt-BR" smtClean="0"/>
              <a:t>Um número decimal é um </a:t>
            </a:r>
            <a:r>
              <a:rPr lang="pt-BR" altLang="pt-BR" smtClean="0">
                <a:solidFill>
                  <a:schemeClr val="tx2"/>
                </a:solidFill>
              </a:rPr>
              <a:t>somatório dos seus algarismos</a:t>
            </a:r>
            <a:r>
              <a:rPr lang="pt-BR" altLang="pt-BR" i="1" smtClean="0">
                <a:solidFill>
                  <a:schemeClr val="tx2"/>
                </a:solidFill>
              </a:rPr>
              <a:t> </a:t>
            </a:r>
            <a:r>
              <a:rPr lang="pt-BR" altLang="pt-BR" smtClean="0">
                <a:solidFill>
                  <a:schemeClr val="tx2"/>
                </a:solidFill>
              </a:rPr>
              <a:t>multiplicados</a:t>
            </a:r>
            <a:r>
              <a:rPr lang="pt-BR" altLang="pt-BR" smtClean="0"/>
              <a:t>, cada um, </a:t>
            </a:r>
            <a:r>
              <a:rPr lang="pt-BR" altLang="pt-BR" smtClean="0">
                <a:solidFill>
                  <a:schemeClr val="tx2"/>
                </a:solidFill>
              </a:rPr>
              <a:t>por uma base 10 de expoentes sequenciais</a:t>
            </a:r>
            <a:r>
              <a:rPr lang="pt-BR" altLang="pt-BR" smtClean="0"/>
              <a:t>;</a:t>
            </a:r>
          </a:p>
          <a:p>
            <a:pPr lvl="1" eaLnBrk="1" hangingPunct="1"/>
            <a:r>
              <a:rPr lang="pt-BR" altLang="pt-BR" smtClean="0"/>
              <a:t>Ex: 100</a:t>
            </a:r>
          </a:p>
          <a:p>
            <a:pPr lvl="2" eaLnBrk="1" hangingPunct="1"/>
            <a:r>
              <a:rPr lang="pt-BR" altLang="pt-BR" smtClean="0"/>
              <a:t>1x10² + 0x10¹ + 0x10º = 1x100 + 0x10 + 0x1 = 100;</a:t>
            </a:r>
          </a:p>
          <a:p>
            <a:pPr lvl="1" eaLnBrk="1" hangingPunct="1"/>
            <a:r>
              <a:rPr lang="pt-BR" altLang="pt-BR" smtClean="0"/>
              <a:t>Ex: 1324</a:t>
            </a:r>
          </a:p>
          <a:p>
            <a:pPr lvl="2" eaLnBrk="1" hangingPunct="1"/>
            <a:r>
              <a:rPr lang="pt-BR" altLang="pt-BR" smtClean="0"/>
              <a:t>1x10³ + 3x10² + 2x10¹ + 4x10° = 1x1000 + 3x100 + 2x10 + 4x1 = 1000 + 300+ 20 + 4 = 1324 </a:t>
            </a:r>
          </a:p>
          <a:p>
            <a:pPr lvl="1" eaLnBrk="1" hangingPunct="1"/>
            <a:r>
              <a:rPr lang="pt-BR" altLang="pt-BR" smtClean="0"/>
              <a:t>Ex:0,01</a:t>
            </a:r>
          </a:p>
          <a:p>
            <a:pPr lvl="2" eaLnBrk="1" hangingPunct="1"/>
            <a:r>
              <a:rPr lang="pt-BR" altLang="pt-BR" smtClean="0"/>
              <a:t>0x10 ˉ + 1x10ˉ² = 0 + 1x (1/10 ²) = 0 + 0,01 = 0,01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Sistema Binário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47050" cy="2549525"/>
          </a:xfrm>
        </p:spPr>
        <p:txBody>
          <a:bodyPr/>
          <a:lstStyle/>
          <a:p>
            <a:pPr eaLnBrk="1" hangingPunct="1"/>
            <a:r>
              <a:rPr lang="pt-BR" altLang="pt-BR" smtClean="0"/>
              <a:t>Cada número é representado de uma forma única, mediante uma </a:t>
            </a:r>
            <a:r>
              <a:rPr lang="pt-BR" altLang="pt-BR" smtClean="0">
                <a:solidFill>
                  <a:schemeClr val="tx2"/>
                </a:solidFill>
              </a:rPr>
              <a:t>combinação de símbolos 0 e 1</a:t>
            </a:r>
            <a:r>
              <a:rPr lang="pt-BR" altLang="pt-BR" smtClean="0"/>
              <a:t> (dígitos binários);</a:t>
            </a:r>
          </a:p>
          <a:p>
            <a:pPr eaLnBrk="1" hangingPunct="1"/>
            <a:r>
              <a:rPr lang="pt-BR" altLang="pt-BR" smtClean="0"/>
              <a:t>No sistema binário Cada posição tem um valor que equivale a </a:t>
            </a:r>
            <a:r>
              <a:rPr lang="pt-BR" altLang="pt-BR" smtClean="0">
                <a:solidFill>
                  <a:schemeClr val="tx2"/>
                </a:solidFill>
              </a:rPr>
              <a:t>2 vezes</a:t>
            </a:r>
            <a:r>
              <a:rPr lang="pt-BR" altLang="pt-BR" smtClean="0"/>
              <a:t> o valor da posição que está imediatamente a sua direita;</a:t>
            </a:r>
          </a:p>
        </p:txBody>
      </p:sp>
      <p:graphicFrame>
        <p:nvGraphicFramePr>
          <p:cNvPr id="91172" name="Group 36"/>
          <p:cNvGraphicFramePr>
            <a:graphicFrameLocks noGrp="1"/>
          </p:cNvGraphicFramePr>
          <p:nvPr>
            <p:ph sz="half" idx="2"/>
          </p:nvPr>
        </p:nvGraphicFramePr>
        <p:xfrm>
          <a:off x="900113" y="5200650"/>
          <a:ext cx="7489825" cy="822960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xmlns="" val="1126284474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xmlns="" val="2385109773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xmlns="" val="1189165777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xmlns="" val="3645557453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xmlns="" val="1527561491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xmlns="" val="1251369130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xmlns="" val="2525413848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xmlns="" val="2743572375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xmlns="" val="2112390509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xmlns="" val="1561175978"/>
                    </a:ext>
                  </a:extLst>
                </a:gridCol>
              </a:tblGrid>
              <a:tr h="460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MS PGothic" panose="020B0600070205080204" pitchFamily="34" charset="-128"/>
                        </a:rPr>
                        <a:t>...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MS PGothic" panose="020B0600070205080204" pitchFamily="34" charset="-128"/>
                        </a:rPr>
                        <a:t>2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MS PGothic" panose="020B0600070205080204" pitchFamily="34" charset="-128"/>
                        </a:rPr>
                        <a:t>2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MS PGothic" panose="020B0600070205080204" pitchFamily="34" charset="-128"/>
                        </a:rPr>
                        <a:t>2³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MS PGothic" panose="020B0600070205080204" pitchFamily="34" charset="-128"/>
                        </a:rPr>
                        <a:t>2 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MS PGothic" panose="020B0600070205080204" pitchFamily="34" charset="-128"/>
                        </a:rPr>
                        <a:t>2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MS PGothic" panose="020B0600070205080204" pitchFamily="34" charset="-128"/>
                        </a:rPr>
                        <a:t>2º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MS PGothic" panose="020B0600070205080204" pitchFamily="34" charset="-128"/>
                        </a:rPr>
                        <a:t>2ˉ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MS PGothic" panose="020B0600070205080204" pitchFamily="34" charset="-128"/>
                        </a:rPr>
                        <a:t>2ˉ²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MS PGothic" panose="020B0600070205080204" pitchFamily="34" charset="-128"/>
                        </a:rPr>
                        <a:t>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0519758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Sistema Binário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676275"/>
          </a:xfrm>
        </p:spPr>
        <p:txBody>
          <a:bodyPr/>
          <a:lstStyle/>
          <a:p>
            <a:pPr eaLnBrk="1" hangingPunct="1">
              <a:buFont typeface="Wingdings" charset="0"/>
              <a:buChar char="p"/>
              <a:defRPr/>
            </a:pPr>
            <a:r>
              <a:rPr lang="pt-BR" smtClean="0">
                <a:ea typeface="+mn-ea"/>
              </a:rPr>
              <a:t>Ex:</a:t>
            </a:r>
          </a:p>
        </p:txBody>
      </p:sp>
      <p:grpSp>
        <p:nvGrpSpPr>
          <p:cNvPr id="12291" name="Group 34"/>
          <p:cNvGrpSpPr>
            <a:grpSpLocks/>
          </p:cNvGrpSpPr>
          <p:nvPr/>
        </p:nvGrpSpPr>
        <p:grpSpPr bwMode="auto">
          <a:xfrm>
            <a:off x="1619250" y="2278063"/>
            <a:ext cx="5832475" cy="3095625"/>
            <a:chOff x="657" y="1389"/>
            <a:chExt cx="3720" cy="1950"/>
          </a:xfrm>
        </p:grpSpPr>
        <p:sp>
          <p:nvSpPr>
            <p:cNvPr id="12292" name="Text Box 5"/>
            <p:cNvSpPr txBox="1">
              <a:spLocks noChangeArrowheads="1"/>
            </p:cNvSpPr>
            <p:nvPr/>
          </p:nvSpPr>
          <p:spPr bwMode="auto">
            <a:xfrm>
              <a:off x="2608" y="2452"/>
              <a:ext cx="771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>
                  <a:latin typeface="Times New Roman" panose="02020603050405020304" pitchFamily="18" charset="0"/>
                </a:rPr>
                <a:t>(peso </a:t>
              </a:r>
              <a:r>
                <a:rPr lang="pt-BR" altLang="pt-BR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pt-BR" altLang="pt-BR">
                  <a:latin typeface="Times New Roman" panose="02020603050405020304" pitchFamily="18" charset="0"/>
                </a:rPr>
                <a:t>)</a:t>
              </a:r>
              <a:endParaRPr lang="pt-BR" altLang="pt-BR"/>
            </a:p>
          </p:txBody>
        </p:sp>
        <p:sp>
          <p:nvSpPr>
            <p:cNvPr id="12293" name="Text Box 7"/>
            <p:cNvSpPr txBox="1">
              <a:spLocks noChangeArrowheads="1"/>
            </p:cNvSpPr>
            <p:nvPr/>
          </p:nvSpPr>
          <p:spPr bwMode="auto">
            <a:xfrm>
              <a:off x="2468" y="1389"/>
              <a:ext cx="1885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>
                  <a:latin typeface="Times New Roman" panose="02020603050405020304" pitchFamily="18" charset="0"/>
                </a:rPr>
                <a:t>  (peso </a:t>
              </a:r>
              <a:r>
                <a:rPr lang="pt-BR" altLang="pt-BR">
                  <a:solidFill>
                    <a:srgbClr val="FF0000"/>
                  </a:solidFill>
                  <a:latin typeface="Times New Roman" panose="02020603050405020304" pitchFamily="18" charset="0"/>
                </a:rPr>
                <a:t>128</a:t>
              </a:r>
              <a:r>
                <a:rPr lang="pt-BR" altLang="pt-BR">
                  <a:latin typeface="Times New Roman" panose="02020603050405020304" pitchFamily="18" charset="0"/>
                </a:rPr>
                <a:t>)</a:t>
              </a:r>
              <a:endParaRPr lang="pt-BR" altLang="pt-BR"/>
            </a:p>
          </p:txBody>
        </p:sp>
        <p:sp>
          <p:nvSpPr>
            <p:cNvPr id="12294" name="Text Box 8"/>
            <p:cNvSpPr txBox="1">
              <a:spLocks noChangeArrowheads="1"/>
            </p:cNvSpPr>
            <p:nvPr/>
          </p:nvSpPr>
          <p:spPr bwMode="auto">
            <a:xfrm>
              <a:off x="657" y="2901"/>
              <a:ext cx="1905" cy="4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r" eaLnBrk="1" hangingPunct="1"/>
              <a:r>
                <a:rPr lang="pt-BR" altLang="pt-BR">
                  <a:latin typeface="Times New Roman" panose="02020603050405020304" pitchFamily="18" charset="0"/>
                </a:rPr>
                <a:t>1 0  0  1 1 0 1  1 </a:t>
              </a:r>
              <a:r>
                <a:rPr lang="pt-BR" altLang="pt-BR" baseline="-25000">
                  <a:latin typeface="Times New Roman" panose="02020603050405020304" pitchFamily="18" charset="0"/>
                </a:rPr>
                <a:t>(2)</a:t>
              </a:r>
              <a:r>
                <a:rPr lang="pt-BR" altLang="pt-BR">
                  <a:latin typeface="Times New Roman" panose="02020603050405020304" pitchFamily="18" charset="0"/>
                </a:rPr>
                <a:t> </a:t>
              </a:r>
              <a:endParaRPr lang="pt-BR" altLang="pt-BR"/>
            </a:p>
          </p:txBody>
        </p:sp>
        <p:sp>
          <p:nvSpPr>
            <p:cNvPr id="12295" name="Line 9"/>
            <p:cNvSpPr>
              <a:spLocks noChangeShapeType="1"/>
            </p:cNvSpPr>
            <p:nvPr/>
          </p:nvSpPr>
          <p:spPr bwMode="auto">
            <a:xfrm flipH="1" flipV="1">
              <a:off x="2255" y="2815"/>
              <a:ext cx="2" cy="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6" name="Line 10"/>
            <p:cNvSpPr>
              <a:spLocks noChangeShapeType="1"/>
            </p:cNvSpPr>
            <p:nvPr/>
          </p:nvSpPr>
          <p:spPr bwMode="auto">
            <a:xfrm flipV="1">
              <a:off x="2255" y="2803"/>
              <a:ext cx="360" cy="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7" name="Line 11"/>
            <p:cNvSpPr>
              <a:spLocks noChangeShapeType="1"/>
            </p:cNvSpPr>
            <p:nvPr/>
          </p:nvSpPr>
          <p:spPr bwMode="auto">
            <a:xfrm flipV="1">
              <a:off x="2082" y="2679"/>
              <a:ext cx="0" cy="2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8" name="Line 12"/>
            <p:cNvSpPr>
              <a:spLocks noChangeShapeType="1"/>
            </p:cNvSpPr>
            <p:nvPr/>
          </p:nvSpPr>
          <p:spPr bwMode="auto">
            <a:xfrm flipV="1">
              <a:off x="2082" y="2641"/>
              <a:ext cx="533" cy="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299" name="Line 13"/>
            <p:cNvSpPr>
              <a:spLocks noChangeShapeType="1"/>
            </p:cNvSpPr>
            <p:nvPr/>
          </p:nvSpPr>
          <p:spPr bwMode="auto">
            <a:xfrm flipH="1" flipV="1">
              <a:off x="1896" y="2492"/>
              <a:ext cx="11" cy="4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0" name="Line 14"/>
            <p:cNvSpPr>
              <a:spLocks noChangeShapeType="1"/>
            </p:cNvSpPr>
            <p:nvPr/>
          </p:nvSpPr>
          <p:spPr bwMode="auto">
            <a:xfrm>
              <a:off x="1897" y="2479"/>
              <a:ext cx="693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1" name="Line 15"/>
            <p:cNvSpPr>
              <a:spLocks noChangeShapeType="1"/>
            </p:cNvSpPr>
            <p:nvPr/>
          </p:nvSpPr>
          <p:spPr bwMode="auto">
            <a:xfrm flipV="1">
              <a:off x="1772" y="2330"/>
              <a:ext cx="0" cy="6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2" name="Line 16"/>
            <p:cNvSpPr>
              <a:spLocks noChangeShapeType="1"/>
            </p:cNvSpPr>
            <p:nvPr/>
          </p:nvSpPr>
          <p:spPr bwMode="auto">
            <a:xfrm>
              <a:off x="1759" y="2308"/>
              <a:ext cx="832" cy="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3" name="Text Box 17"/>
            <p:cNvSpPr txBox="1">
              <a:spLocks noChangeArrowheads="1"/>
            </p:cNvSpPr>
            <p:nvPr/>
          </p:nvSpPr>
          <p:spPr bwMode="auto">
            <a:xfrm>
              <a:off x="2503" y="2622"/>
              <a:ext cx="1624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>
                  <a:latin typeface="Times New Roman" panose="02020603050405020304" pitchFamily="18" charset="0"/>
                </a:rPr>
                <a:t>  (peso </a:t>
              </a:r>
              <a:r>
                <a:rPr lang="pt-BR" altLang="pt-BR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pt-BR" altLang="pt-BR">
                  <a:latin typeface="Times New Roman" panose="02020603050405020304" pitchFamily="18" charset="0"/>
                </a:rPr>
                <a:t>)</a:t>
              </a:r>
              <a:endParaRPr lang="pt-BR" altLang="pt-BR"/>
            </a:p>
          </p:txBody>
        </p:sp>
        <p:sp>
          <p:nvSpPr>
            <p:cNvPr id="12304" name="Text Box 18"/>
            <p:cNvSpPr txBox="1">
              <a:spLocks noChangeArrowheads="1"/>
            </p:cNvSpPr>
            <p:nvPr/>
          </p:nvSpPr>
          <p:spPr bwMode="auto">
            <a:xfrm>
              <a:off x="2492" y="2275"/>
              <a:ext cx="1749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>
                  <a:latin typeface="Times New Roman" panose="02020603050405020304" pitchFamily="18" charset="0"/>
                </a:rPr>
                <a:t>  (peso </a:t>
              </a:r>
              <a:r>
                <a:rPr lang="pt-BR" altLang="pt-BR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pt-BR" altLang="pt-BR">
                  <a:latin typeface="Times New Roman" panose="02020603050405020304" pitchFamily="18" charset="0"/>
                </a:rPr>
                <a:t>)</a:t>
              </a:r>
              <a:endParaRPr lang="pt-BR" altLang="pt-BR"/>
            </a:p>
          </p:txBody>
        </p:sp>
        <p:sp>
          <p:nvSpPr>
            <p:cNvPr id="12305" name="Text Box 19"/>
            <p:cNvSpPr txBox="1">
              <a:spLocks noChangeArrowheads="1"/>
            </p:cNvSpPr>
            <p:nvPr/>
          </p:nvSpPr>
          <p:spPr bwMode="auto">
            <a:xfrm>
              <a:off x="2492" y="2126"/>
              <a:ext cx="1885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>
                  <a:latin typeface="Times New Roman" panose="02020603050405020304" pitchFamily="18" charset="0"/>
                </a:rPr>
                <a:t>  (peso </a:t>
              </a:r>
              <a:r>
                <a:rPr lang="pt-BR" altLang="pt-BR">
                  <a:solidFill>
                    <a:srgbClr val="FF0000"/>
                  </a:solidFill>
                  <a:latin typeface="Times New Roman" panose="02020603050405020304" pitchFamily="18" charset="0"/>
                </a:rPr>
                <a:t>8</a:t>
              </a:r>
              <a:r>
                <a:rPr lang="pt-BR" altLang="pt-BR">
                  <a:latin typeface="Times New Roman" panose="02020603050405020304" pitchFamily="18" charset="0"/>
                </a:rPr>
                <a:t>)</a:t>
              </a:r>
              <a:endParaRPr lang="pt-BR" altLang="pt-BR"/>
            </a:p>
          </p:txBody>
        </p:sp>
        <p:sp>
          <p:nvSpPr>
            <p:cNvPr id="12306" name="Line 20"/>
            <p:cNvSpPr>
              <a:spLocks noChangeShapeType="1"/>
            </p:cNvSpPr>
            <p:nvPr/>
          </p:nvSpPr>
          <p:spPr bwMode="auto">
            <a:xfrm flipV="1">
              <a:off x="1614" y="2132"/>
              <a:ext cx="0" cy="7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7" name="Line 21"/>
            <p:cNvSpPr>
              <a:spLocks noChangeShapeType="1"/>
            </p:cNvSpPr>
            <p:nvPr/>
          </p:nvSpPr>
          <p:spPr bwMode="auto">
            <a:xfrm>
              <a:off x="1624" y="2120"/>
              <a:ext cx="9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8" name="Line 22"/>
            <p:cNvSpPr>
              <a:spLocks noChangeShapeType="1"/>
            </p:cNvSpPr>
            <p:nvPr/>
          </p:nvSpPr>
          <p:spPr bwMode="auto">
            <a:xfrm flipV="1">
              <a:off x="1446" y="1902"/>
              <a:ext cx="0" cy="9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9" name="Line 23"/>
            <p:cNvSpPr>
              <a:spLocks noChangeShapeType="1"/>
            </p:cNvSpPr>
            <p:nvPr/>
          </p:nvSpPr>
          <p:spPr bwMode="auto">
            <a:xfrm>
              <a:off x="1446" y="1912"/>
              <a:ext cx="115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0" name="Line 24"/>
            <p:cNvSpPr>
              <a:spLocks noChangeShapeType="1"/>
            </p:cNvSpPr>
            <p:nvPr/>
          </p:nvSpPr>
          <p:spPr bwMode="auto">
            <a:xfrm flipV="1">
              <a:off x="1277" y="1752"/>
              <a:ext cx="0" cy="11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1" name="Line 25"/>
            <p:cNvSpPr>
              <a:spLocks noChangeShapeType="1"/>
            </p:cNvSpPr>
            <p:nvPr/>
          </p:nvSpPr>
          <p:spPr bwMode="auto">
            <a:xfrm>
              <a:off x="1274" y="1742"/>
              <a:ext cx="13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2" name="Line 26"/>
            <p:cNvSpPr>
              <a:spLocks noChangeShapeType="1"/>
            </p:cNvSpPr>
            <p:nvPr/>
          </p:nvSpPr>
          <p:spPr bwMode="auto">
            <a:xfrm flipV="1">
              <a:off x="1109" y="1593"/>
              <a:ext cx="0" cy="1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3" name="Line 27"/>
            <p:cNvSpPr>
              <a:spLocks noChangeShapeType="1"/>
            </p:cNvSpPr>
            <p:nvPr/>
          </p:nvSpPr>
          <p:spPr bwMode="auto">
            <a:xfrm>
              <a:off x="1109" y="1593"/>
              <a:ext cx="14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14" name="Text Box 28"/>
            <p:cNvSpPr txBox="1">
              <a:spLocks noChangeArrowheads="1"/>
            </p:cNvSpPr>
            <p:nvPr/>
          </p:nvSpPr>
          <p:spPr bwMode="auto">
            <a:xfrm>
              <a:off x="2472" y="1921"/>
              <a:ext cx="1885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pt-BR"/>
            </a:p>
          </p:txBody>
        </p:sp>
        <p:sp>
          <p:nvSpPr>
            <p:cNvPr id="12315" name="Text Box 29"/>
            <p:cNvSpPr txBox="1">
              <a:spLocks noChangeArrowheads="1"/>
            </p:cNvSpPr>
            <p:nvPr/>
          </p:nvSpPr>
          <p:spPr bwMode="auto">
            <a:xfrm>
              <a:off x="2472" y="1722"/>
              <a:ext cx="1885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pt-BR" sz="1800"/>
            </a:p>
          </p:txBody>
        </p:sp>
        <p:sp>
          <p:nvSpPr>
            <p:cNvPr id="12316" name="Text Box 30"/>
            <p:cNvSpPr txBox="1">
              <a:spLocks noChangeArrowheads="1"/>
            </p:cNvSpPr>
            <p:nvPr/>
          </p:nvSpPr>
          <p:spPr bwMode="auto">
            <a:xfrm>
              <a:off x="2452" y="1543"/>
              <a:ext cx="1885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pt-BR" sz="1800"/>
            </a:p>
          </p:txBody>
        </p:sp>
        <p:sp>
          <p:nvSpPr>
            <p:cNvPr id="12317" name="Text Box 31"/>
            <p:cNvSpPr txBox="1">
              <a:spLocks noChangeArrowheads="1"/>
            </p:cNvSpPr>
            <p:nvPr/>
          </p:nvSpPr>
          <p:spPr bwMode="auto">
            <a:xfrm>
              <a:off x="2466" y="1946"/>
              <a:ext cx="1885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>
                  <a:latin typeface="Times New Roman" panose="02020603050405020304" pitchFamily="18" charset="0"/>
                </a:rPr>
                <a:t>  (peso </a:t>
              </a:r>
              <a:r>
                <a:rPr lang="pt-BR" altLang="pt-BR">
                  <a:solidFill>
                    <a:srgbClr val="FF0000"/>
                  </a:solidFill>
                  <a:latin typeface="Times New Roman" panose="02020603050405020304" pitchFamily="18" charset="0"/>
                </a:rPr>
                <a:t>16</a:t>
              </a:r>
              <a:r>
                <a:rPr lang="pt-BR" altLang="pt-BR">
                  <a:latin typeface="Times New Roman" panose="02020603050405020304" pitchFamily="18" charset="0"/>
                </a:rPr>
                <a:t>)</a:t>
              </a:r>
              <a:endParaRPr lang="pt-BR" altLang="pt-BR"/>
            </a:p>
          </p:txBody>
        </p:sp>
        <p:sp>
          <p:nvSpPr>
            <p:cNvPr id="12318" name="Text Box 32"/>
            <p:cNvSpPr txBox="1">
              <a:spLocks noChangeArrowheads="1"/>
            </p:cNvSpPr>
            <p:nvPr/>
          </p:nvSpPr>
          <p:spPr bwMode="auto">
            <a:xfrm>
              <a:off x="2476" y="1747"/>
              <a:ext cx="1885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>
                  <a:latin typeface="Times New Roman" panose="02020603050405020304" pitchFamily="18" charset="0"/>
                </a:rPr>
                <a:t>  (peso </a:t>
              </a:r>
              <a:r>
                <a:rPr lang="pt-BR" altLang="pt-BR">
                  <a:solidFill>
                    <a:srgbClr val="FF0000"/>
                  </a:solidFill>
                  <a:latin typeface="Times New Roman" panose="02020603050405020304" pitchFamily="18" charset="0"/>
                </a:rPr>
                <a:t>32</a:t>
              </a:r>
              <a:r>
                <a:rPr lang="pt-BR" altLang="pt-BR">
                  <a:latin typeface="Times New Roman" panose="02020603050405020304" pitchFamily="18" charset="0"/>
                </a:rPr>
                <a:t>)</a:t>
              </a:r>
              <a:endParaRPr lang="pt-BR" altLang="pt-BR"/>
            </a:p>
          </p:txBody>
        </p:sp>
        <p:sp>
          <p:nvSpPr>
            <p:cNvPr id="12319" name="Text Box 33"/>
            <p:cNvSpPr txBox="1">
              <a:spLocks noChangeArrowheads="1"/>
            </p:cNvSpPr>
            <p:nvPr/>
          </p:nvSpPr>
          <p:spPr bwMode="auto">
            <a:xfrm>
              <a:off x="2466" y="1558"/>
              <a:ext cx="1885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pt-BR" altLang="pt-BR">
                  <a:latin typeface="Times New Roman" panose="02020603050405020304" pitchFamily="18" charset="0"/>
                </a:rPr>
                <a:t>  (peso </a:t>
              </a:r>
              <a:r>
                <a:rPr lang="pt-BR" altLang="pt-BR">
                  <a:solidFill>
                    <a:srgbClr val="FF0000"/>
                  </a:solidFill>
                  <a:latin typeface="Times New Roman" panose="02020603050405020304" pitchFamily="18" charset="0"/>
                </a:rPr>
                <a:t>64</a:t>
              </a:r>
              <a:r>
                <a:rPr lang="pt-BR" altLang="pt-BR">
                  <a:latin typeface="Times New Roman" panose="02020603050405020304" pitchFamily="18" charset="0"/>
                </a:rPr>
                <a:t>)</a:t>
              </a:r>
              <a:endParaRPr lang="pt-BR" altLang="pt-B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>
                <a:ea typeface="+mj-ea"/>
              </a:rPr>
              <a:t>Sistema Hexadecimal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975" cy="4924425"/>
          </a:xfrm>
        </p:spPr>
        <p:txBody>
          <a:bodyPr/>
          <a:lstStyle/>
          <a:p>
            <a:pPr eaLnBrk="1" hangingPunct="1"/>
            <a:r>
              <a:rPr lang="pt-BR" altLang="pt-BR" smtClean="0"/>
              <a:t>No sistema hexadecimal, cada casa vale </a:t>
            </a:r>
            <a:r>
              <a:rPr lang="pt-BR" altLang="pt-BR" smtClean="0">
                <a:solidFill>
                  <a:schemeClr val="tx2"/>
                </a:solidFill>
              </a:rPr>
              <a:t>16 vezes</a:t>
            </a:r>
            <a:r>
              <a:rPr lang="pt-BR" altLang="pt-BR" smtClean="0"/>
              <a:t> a que está a sua direita, e os símbolos utilizados são: </a:t>
            </a:r>
          </a:p>
          <a:p>
            <a:pPr lvl="1" eaLnBrk="1" hangingPunct="1"/>
            <a:r>
              <a:rPr lang="pt-BR" altLang="pt-BR" b="1" smtClean="0"/>
              <a:t>0, 1, 2, 3, 4, 5, 6, 7, 8, 9, A, B, C, D, E e F</a:t>
            </a:r>
            <a:r>
              <a:rPr lang="pt-BR" altLang="pt-BR" smtClean="0"/>
              <a:t>. </a:t>
            </a:r>
          </a:p>
          <a:p>
            <a:pPr lvl="1" eaLnBrk="1" hangingPunct="1"/>
            <a:r>
              <a:rPr lang="pt-BR" altLang="pt-BR" smtClean="0"/>
              <a:t>O símbolo </a:t>
            </a:r>
            <a:r>
              <a:rPr lang="pt-BR" altLang="pt-BR" smtClean="0">
                <a:solidFill>
                  <a:schemeClr val="tx2"/>
                </a:solidFill>
              </a:rPr>
              <a:t>A equivale a dez</a:t>
            </a:r>
            <a:r>
              <a:rPr lang="pt-BR" altLang="pt-BR" smtClean="0"/>
              <a:t>, o </a:t>
            </a:r>
            <a:r>
              <a:rPr lang="pt-BR" altLang="pt-BR" smtClean="0">
                <a:solidFill>
                  <a:schemeClr val="tx2"/>
                </a:solidFill>
              </a:rPr>
              <a:t>B equivale a onze</a:t>
            </a:r>
            <a:r>
              <a:rPr lang="pt-BR" altLang="pt-BR" smtClean="0"/>
              <a:t> e assim consecutivamente até </a:t>
            </a:r>
            <a:r>
              <a:rPr lang="pt-BR" altLang="pt-BR" smtClean="0">
                <a:solidFill>
                  <a:schemeClr val="tx2"/>
                </a:solidFill>
              </a:rPr>
              <a:t>F que equivale a quinze</a:t>
            </a:r>
            <a:r>
              <a:rPr lang="pt-BR" altLang="pt-BR" smtClean="0"/>
              <a:t>, no sistema decimal;</a:t>
            </a:r>
          </a:p>
          <a:p>
            <a:pPr eaLnBrk="1" hangingPunct="1"/>
            <a:r>
              <a:rPr lang="pt-BR" altLang="pt-BR" smtClean="0"/>
              <a:t>Exemplo o número hexadecimal A17,B9 representa a quantidade:</a:t>
            </a:r>
          </a:p>
          <a:p>
            <a:pPr lvl="1" eaLnBrk="1" hangingPunct="1"/>
            <a:r>
              <a:rPr lang="pt-BR" altLang="pt-BR" smtClean="0"/>
              <a:t>10.16² + 1.16 + 7.16º + 11.16ˉ + 9.16ˉ² = 2560 + 16 + 7 + (11/16) + (9/256) = 2583,73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>
                <a:ea typeface="+mj-ea"/>
              </a:rPr>
              <a:t>Sistema Hexadecimal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mtClean="0"/>
              <a:t>Representação dos 16 algarismos em 4 bits:</a:t>
            </a:r>
          </a:p>
          <a:p>
            <a:pPr eaLnBrk="1" hangingPunct="1">
              <a:lnSpc>
                <a:spcPct val="90000"/>
              </a:lnSpc>
            </a:pPr>
            <a:endParaRPr lang="pt-BR" altLang="pt-BR" smtClean="0"/>
          </a:p>
          <a:p>
            <a:pPr eaLnBrk="1" hangingPunct="1">
              <a:lnSpc>
                <a:spcPct val="90000"/>
              </a:lnSpc>
            </a:pPr>
            <a:endParaRPr lang="pt-BR" altLang="pt-BR" smtClean="0"/>
          </a:p>
          <a:p>
            <a:pPr eaLnBrk="1" hangingPunct="1">
              <a:lnSpc>
                <a:spcPct val="90000"/>
              </a:lnSpc>
            </a:pPr>
            <a:endParaRPr lang="pt-BR" altLang="pt-BR" smtClean="0"/>
          </a:p>
          <a:p>
            <a:pPr eaLnBrk="1" hangingPunct="1">
              <a:lnSpc>
                <a:spcPct val="90000"/>
              </a:lnSpc>
            </a:pPr>
            <a:endParaRPr lang="pt-BR" altLang="pt-BR" smtClean="0"/>
          </a:p>
          <a:p>
            <a:pPr eaLnBrk="1" hangingPunct="1">
              <a:lnSpc>
                <a:spcPct val="90000"/>
              </a:lnSpc>
            </a:pPr>
            <a:endParaRPr lang="pt-BR" altLang="pt-BR" smtClean="0"/>
          </a:p>
          <a:p>
            <a:pPr eaLnBrk="1" hangingPunct="1">
              <a:lnSpc>
                <a:spcPct val="90000"/>
              </a:lnSpc>
            </a:pPr>
            <a:r>
              <a:rPr lang="pt-BR" altLang="pt-BR" smtClean="0"/>
              <a:t>Desta forma, o nosso número A17,B9 ficaria em binário: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101000010111,10111001</a:t>
            </a:r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1008063" y="2349500"/>
            <a:ext cx="4572000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pt-BR" altLang="pt-BR" sz="1800"/>
              <a:t>(0000)…………………………0</a:t>
            </a:r>
          </a:p>
          <a:p>
            <a:pPr eaLnBrk="1" hangingPunct="1"/>
            <a:r>
              <a:rPr lang="pt-BR" altLang="pt-BR" sz="1800"/>
              <a:t>(0001)…………………………1</a:t>
            </a:r>
          </a:p>
          <a:p>
            <a:pPr eaLnBrk="1" hangingPunct="1"/>
            <a:r>
              <a:rPr lang="pt-BR" altLang="pt-BR" sz="1800"/>
              <a:t>(0010)…………………………2</a:t>
            </a:r>
          </a:p>
          <a:p>
            <a:pPr eaLnBrk="1" hangingPunct="1"/>
            <a:r>
              <a:rPr lang="pt-BR" altLang="pt-BR" sz="1800"/>
              <a:t>(0011)…………………………3</a:t>
            </a:r>
          </a:p>
          <a:p>
            <a:pPr eaLnBrk="1" hangingPunct="1"/>
            <a:r>
              <a:rPr lang="pt-BR" altLang="pt-BR" sz="1800"/>
              <a:t>(0100)…………………………4</a:t>
            </a:r>
          </a:p>
          <a:p>
            <a:pPr eaLnBrk="1" hangingPunct="1"/>
            <a:r>
              <a:rPr lang="pt-BR" altLang="pt-BR" sz="1800"/>
              <a:t>(0101)…………………………5</a:t>
            </a:r>
          </a:p>
          <a:p>
            <a:pPr eaLnBrk="1" hangingPunct="1"/>
            <a:r>
              <a:rPr lang="pt-BR" altLang="pt-BR" sz="1800"/>
              <a:t>(0110)…………………………6</a:t>
            </a:r>
          </a:p>
          <a:p>
            <a:pPr eaLnBrk="1" hangingPunct="1"/>
            <a:r>
              <a:rPr lang="pt-BR" altLang="pt-BR" sz="1800"/>
              <a:t>(0111)…………………………7</a:t>
            </a:r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4464050" y="2365375"/>
            <a:ext cx="4572000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pt-BR" altLang="pt-BR" sz="1800"/>
              <a:t>(1000)…………………………8</a:t>
            </a:r>
          </a:p>
          <a:p>
            <a:pPr eaLnBrk="1" hangingPunct="1"/>
            <a:r>
              <a:rPr lang="pt-BR" altLang="pt-BR" sz="1800"/>
              <a:t>(1001)…………………………9</a:t>
            </a:r>
          </a:p>
          <a:p>
            <a:pPr eaLnBrk="1" hangingPunct="1"/>
            <a:r>
              <a:rPr lang="pt-BR" altLang="pt-BR" sz="1800"/>
              <a:t>(1010)…………………………A</a:t>
            </a:r>
          </a:p>
          <a:p>
            <a:pPr eaLnBrk="1" hangingPunct="1"/>
            <a:r>
              <a:rPr lang="pt-BR" altLang="pt-BR" sz="1800"/>
              <a:t>(1011)…………………………B</a:t>
            </a:r>
          </a:p>
          <a:p>
            <a:pPr eaLnBrk="1" hangingPunct="1"/>
            <a:r>
              <a:rPr lang="pt-BR" altLang="pt-BR" sz="1800"/>
              <a:t>(1100)…………………………C</a:t>
            </a:r>
          </a:p>
          <a:p>
            <a:pPr eaLnBrk="1" hangingPunct="1"/>
            <a:r>
              <a:rPr lang="pt-BR" altLang="pt-BR" sz="1800"/>
              <a:t>(1101)…………………………D</a:t>
            </a:r>
          </a:p>
          <a:p>
            <a:pPr eaLnBrk="1" hangingPunct="1"/>
            <a:r>
              <a:rPr lang="pt-BR" altLang="pt-BR" sz="1800"/>
              <a:t>(1110)…………………………E</a:t>
            </a:r>
          </a:p>
          <a:p>
            <a:pPr eaLnBrk="1" hangingPunct="1"/>
            <a:r>
              <a:rPr lang="pt-BR" altLang="pt-BR" sz="1800"/>
              <a:t>(1111)…………………………F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Sistema de Numeração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Decimal, Binário e Hexadecimal</a:t>
            </a:r>
          </a:p>
        </p:txBody>
      </p:sp>
      <p:pic>
        <p:nvPicPr>
          <p:cNvPr id="1013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205038"/>
            <a:ext cx="5256212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Sistemas de Numeração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Sistema Decimal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- usa dez </a:t>
            </a:r>
            <a:r>
              <a:rPr 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dígitos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0, 1, 2, 3, 4, 5, 6, 7, 8, 9 e a </a:t>
            </a:r>
            <a:r>
              <a:rPr 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ou </a:t>
            </a:r>
            <a:r>
              <a:rPr 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raiz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é 10(dez). </a:t>
            </a:r>
          </a:p>
          <a:p>
            <a:pPr marL="0" indent="0">
              <a:buNone/>
            </a:pPr>
            <a:endParaRPr lang="pt-BR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Um número maior que 9 é representado usando uma convenção que atribui significado à posição ou lugar ocupado por um dígito no arranjo. </a:t>
            </a:r>
            <a:b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Exemplo </a:t>
            </a:r>
          </a:p>
          <a:p>
            <a:pPr marL="0" indent="0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6903 = 6X10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+ 9X10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+ 0X10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+ 3X10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CA67-16D9-4A1F-B936-A3DF6F1BFE1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0163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1" baseline="30000" dirty="0"/>
              <a:t>Sistema Binário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Sistema Binário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 - sistema numérico de </a:t>
            </a:r>
            <a:r>
              <a:rPr lang="pt-BR" sz="24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(ou </a:t>
            </a:r>
            <a:r>
              <a:rPr lang="pt-BR" sz="24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raiz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t-BR" sz="2400" b="1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, que usa somente dois dígitos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numéricos </a:t>
            </a:r>
            <a:r>
              <a:rPr lang="pt-BR" sz="2400" b="1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400" b="1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indent="0">
              <a:buNone/>
            </a:pP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Vantagem - correspondência biunívoca entre os dois </a:t>
            </a:r>
            <a:r>
              <a:rPr lang="pt-BR" sz="24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dígitos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24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números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t-BR" sz="2400" b="1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2400" b="1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 e os dois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valores lógicos 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4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não numéricos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) de variáveis lógicas </a:t>
            </a:r>
            <a:r>
              <a:rPr lang="pt-BR" sz="2400" b="1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400" b="1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Exemplo.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10011</a:t>
            </a:r>
            <a:r>
              <a:rPr lang="pt-B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= 1X2</a:t>
            </a:r>
            <a:r>
              <a:rPr lang="pt-BR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+ 0X2</a:t>
            </a:r>
            <a:r>
              <a:rPr lang="pt-BR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+ 0X2</a:t>
            </a:r>
            <a:r>
              <a:rPr lang="pt-BR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+1 X2</a:t>
            </a:r>
            <a:r>
              <a:rPr lang="pt-BR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+ 1X2</a:t>
            </a:r>
            <a:r>
              <a:rPr lang="pt-BR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= 19</a:t>
            </a:r>
            <a:r>
              <a:rPr lang="pt-B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1,1101</a:t>
            </a:r>
            <a:r>
              <a:rPr lang="pt-B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= 1X2</a:t>
            </a:r>
            <a:r>
              <a:rPr lang="pt-BR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+ 1X2</a:t>
            </a:r>
            <a:r>
              <a:rPr lang="pt-BR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-1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+ 1X2</a:t>
            </a:r>
            <a:r>
              <a:rPr lang="pt-BR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-2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+ 0X2</a:t>
            </a:r>
            <a:r>
              <a:rPr lang="pt-BR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-3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+ 1X2</a:t>
            </a:r>
            <a:r>
              <a:rPr lang="pt-BR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-4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= 2,35</a:t>
            </a:r>
            <a:r>
              <a:rPr lang="pt-BR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Dígitos à direita da vírgula binária são coeficientes de </a:t>
            </a:r>
            <a:r>
              <a:rPr 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sz="2400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-n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 onde </a:t>
            </a:r>
            <a:r>
              <a:rPr 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é a distância do dígito da vírgula binária. </a:t>
            </a:r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CA67-16D9-4A1F-B936-A3DF6F1BFE17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2608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1" dirty="0"/>
              <a:t>Sistema Octal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Base: 8 </a:t>
            </a:r>
            <a:br>
              <a:rPr lang="pt-BR" dirty="0"/>
            </a:br>
            <a:r>
              <a:rPr lang="pt-BR" dirty="0"/>
              <a:t>Dígitos Numéricos:0, 1, 2, 3, 4, 5, 6, 7 </a:t>
            </a:r>
            <a:br>
              <a:rPr lang="pt-BR" dirty="0"/>
            </a:br>
            <a:r>
              <a:rPr lang="pt-BR" dirty="0"/>
              <a:t>                                     </a:t>
            </a:r>
            <a:br>
              <a:rPr lang="pt-BR" dirty="0"/>
            </a:br>
            <a:r>
              <a:rPr lang="pt-BR" dirty="0"/>
              <a:t>Três dígitos binários podem representar exatamente oito(2</a:t>
            </a:r>
            <a:r>
              <a:rPr lang="pt-BR" baseline="30000" dirty="0"/>
              <a:t>3</a:t>
            </a:r>
            <a:r>
              <a:rPr lang="pt-BR" dirty="0"/>
              <a:t>) números diferentes. </a:t>
            </a:r>
            <a:br>
              <a:rPr lang="pt-BR" dirty="0"/>
            </a:br>
            <a:r>
              <a:rPr lang="pt-BR" dirty="0"/>
              <a:t>  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CA67-16D9-4A1F-B936-A3DF6F1BFE17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0067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1" dirty="0"/>
              <a:t>Sistema Hexadecimal 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Base: 16 </a:t>
            </a:r>
            <a:br>
              <a:rPr lang="pt-BR" dirty="0"/>
            </a:br>
            <a:r>
              <a:rPr lang="pt-BR" dirty="0"/>
              <a:t>Dígitos Numéricos: 0, 1, 2, 3, 4, 5, 6, 7, 8, 9, A, B, C, D, E, F </a:t>
            </a:r>
          </a:p>
          <a:p>
            <a:pPr marL="0" indent="0">
              <a:buNone/>
            </a:pPr>
            <a:r>
              <a:rPr lang="pt-BR" dirty="0"/>
              <a:t> Quatro dígitos binários podem representar exatamente dezesseis(2</a:t>
            </a:r>
            <a:r>
              <a:rPr lang="pt-BR" baseline="30000" dirty="0"/>
              <a:t>4</a:t>
            </a:r>
            <a:r>
              <a:rPr lang="pt-BR" dirty="0"/>
              <a:t>) números diferentes. </a:t>
            </a:r>
            <a:br>
              <a:rPr lang="pt-BR" dirty="0"/>
            </a:br>
            <a:r>
              <a:rPr lang="pt-BR" dirty="0"/>
              <a:t>  </a:t>
            </a:r>
            <a:br>
              <a:rPr lang="pt-BR" dirty="0"/>
            </a:br>
            <a:r>
              <a:rPr lang="pt-BR" dirty="0"/>
              <a:t>A Tabela da Fig.1 mostra números equivalentes com bases decimal, octal e hexadecimal. 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CA67-16D9-4A1F-B936-A3DF6F1BFE17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601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b="1" i="1" dirty="0"/>
              <a:t>Números equivalentes com bases decimal, octal e hexadecimal</a:t>
            </a: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92"/>
          <a:stretch/>
        </p:blipFill>
        <p:spPr>
          <a:xfrm>
            <a:off x="2339752" y="1772816"/>
            <a:ext cx="4210356" cy="4294328"/>
          </a:xfrm>
        </p:spPr>
      </p:pic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CA67-16D9-4A1F-B936-A3DF6F1BFE17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2860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Conversão de Bases de Sistemas Numéricos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i="1" dirty="0"/>
              <a:t>Conversão entre Números Binários e Decimais</a:t>
            </a:r>
            <a:r>
              <a:rPr lang="pt-BR" dirty="0"/>
              <a:t> </a:t>
            </a:r>
            <a:br>
              <a:rPr lang="pt-BR" dirty="0"/>
            </a:br>
            <a:endParaRPr lang="pt-BR" dirty="0"/>
          </a:p>
          <a:p>
            <a:pPr marL="0" indent="0">
              <a:buNone/>
            </a:pPr>
            <a:r>
              <a:rPr lang="pt-BR" dirty="0"/>
              <a:t>Converte-se a parte inteira e a parte fracionária independentemente e se justapõe os resultados.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Exemplo: Converter 19,69</a:t>
            </a:r>
            <a:r>
              <a:rPr lang="pt-BR" baseline="-25000" dirty="0"/>
              <a:t>10</a:t>
            </a:r>
            <a:r>
              <a:rPr lang="pt-BR" dirty="0"/>
              <a:t> para a base 2. </a:t>
            </a:r>
          </a:p>
          <a:p>
            <a:pPr marL="0" indent="0">
              <a:buNone/>
            </a:pPr>
            <a:r>
              <a:rPr lang="pt-BR" dirty="0"/>
              <a:t> 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CA67-16D9-4A1F-B936-A3DF6F1BFE17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8244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1" dirty="0"/>
              <a:t>Conversão entre Números Binários e Decimais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 parte inteira é obtida fazendo divisões sucessivas por 2.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19 / 2 = 9, resto </a:t>
            </a:r>
            <a:r>
              <a:rPr lang="pt-BR" dirty="0">
                <a:solidFill>
                  <a:srgbClr val="FF0000"/>
                </a:solidFill>
              </a:rPr>
              <a:t>1</a:t>
            </a:r>
          </a:p>
          <a:p>
            <a:pPr marL="0" indent="0">
              <a:buNone/>
            </a:pPr>
            <a:r>
              <a:rPr lang="pt-BR" dirty="0"/>
              <a:t>9 / 2 = 4, resto </a:t>
            </a:r>
            <a:r>
              <a:rPr lang="pt-BR" dirty="0">
                <a:solidFill>
                  <a:srgbClr val="FF0000"/>
                </a:solidFill>
              </a:rPr>
              <a:t>1</a:t>
            </a:r>
          </a:p>
          <a:p>
            <a:pPr marL="0" indent="0">
              <a:buNone/>
            </a:pPr>
            <a:r>
              <a:rPr lang="pt-BR" dirty="0"/>
              <a:t>4 / 2 = 2, resto </a:t>
            </a:r>
            <a:r>
              <a:rPr lang="pt-BR" dirty="0">
                <a:solidFill>
                  <a:srgbClr val="FF0000"/>
                </a:solidFill>
              </a:rPr>
              <a:t>0                             </a:t>
            </a:r>
            <a:r>
              <a:rPr lang="pt-BR" dirty="0"/>
              <a:t>19</a:t>
            </a:r>
            <a:r>
              <a:rPr lang="pt-BR" sz="1800" dirty="0"/>
              <a:t>10</a:t>
            </a:r>
            <a:r>
              <a:rPr lang="pt-BR" dirty="0"/>
              <a:t> = 10011</a:t>
            </a:r>
            <a:r>
              <a:rPr lang="pt-BR" sz="2000" dirty="0"/>
              <a:t>2</a:t>
            </a:r>
            <a:endParaRPr lang="pt-B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/>
              <a:t>2 / 2 = </a:t>
            </a:r>
            <a:r>
              <a:rPr lang="pt-BR" dirty="0">
                <a:solidFill>
                  <a:srgbClr val="FF0000"/>
                </a:solidFill>
              </a:rPr>
              <a:t>1</a:t>
            </a:r>
            <a:r>
              <a:rPr lang="pt-BR" dirty="0"/>
              <a:t>, resto</a:t>
            </a:r>
            <a:r>
              <a:rPr lang="pt-BR" dirty="0">
                <a:solidFill>
                  <a:srgbClr val="FF0000"/>
                </a:solidFill>
              </a:rPr>
              <a:t> 0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CA67-16D9-4A1F-B936-A3DF6F1BFE17}" type="slidenum">
              <a:rPr lang="pt-BR" smtClean="0"/>
              <a:t>19</a:t>
            </a:fld>
            <a:endParaRPr lang="pt-BR"/>
          </a:p>
        </p:txBody>
      </p:sp>
      <p:cxnSp>
        <p:nvCxnSpPr>
          <p:cNvPr id="7" name="Conector em curva 6"/>
          <p:cNvCxnSpPr/>
          <p:nvPr/>
        </p:nvCxnSpPr>
        <p:spPr>
          <a:xfrm rot="5400000" flipH="1" flipV="1">
            <a:off x="1691680" y="3573016"/>
            <a:ext cx="2232248" cy="1944216"/>
          </a:xfrm>
          <a:prstGeom prst="curvedConnector3">
            <a:avLst>
              <a:gd name="adj1" fmla="val -399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>
          <a:xfrm>
            <a:off x="5652120" y="4005064"/>
            <a:ext cx="2592288" cy="13681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0536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1" dirty="0"/>
              <a:t>Conversão entre Números Binários e Decimais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A parte fracionária é convertida fazendo-se multiplicação sucessivas por 2 e pegando as partes inteiras. </a:t>
            </a:r>
            <a:br>
              <a:rPr lang="pt-BR" dirty="0"/>
            </a:br>
            <a:r>
              <a:rPr lang="pt-BR" dirty="0"/>
              <a:t> </a:t>
            </a:r>
          </a:p>
          <a:p>
            <a:pPr marL="0" indent="0">
              <a:buNone/>
            </a:pPr>
            <a:r>
              <a:rPr lang="pt-BR" dirty="0"/>
              <a:t>0,69 x 2 = 1,38    </a:t>
            </a:r>
            <a:r>
              <a:rPr lang="pt-BR" b="1" dirty="0"/>
              <a:t>1 </a:t>
            </a:r>
            <a:r>
              <a:rPr lang="pt-BR" dirty="0"/>
              <a:t>   MSB </a:t>
            </a:r>
            <a:br>
              <a:rPr lang="pt-BR" dirty="0"/>
            </a:br>
            <a:r>
              <a:rPr lang="pt-BR" dirty="0"/>
              <a:t>0,38 x 2 = 0,76    </a:t>
            </a:r>
            <a:r>
              <a:rPr lang="pt-BR" b="1" dirty="0"/>
              <a:t>0</a:t>
            </a:r>
            <a:r>
              <a:rPr lang="pt-BR" dirty="0"/>
              <a:t>                        </a:t>
            </a:r>
            <a:r>
              <a:rPr lang="pt-BR" dirty="0" smtClean="0"/>
              <a:t>         0,69</a:t>
            </a:r>
            <a:r>
              <a:rPr lang="pt-BR" baseline="-25000" dirty="0" smtClean="0"/>
              <a:t>10</a:t>
            </a:r>
            <a:r>
              <a:rPr lang="pt-BR" dirty="0" smtClean="0"/>
              <a:t> </a:t>
            </a:r>
            <a:r>
              <a:rPr lang="pt-BR" dirty="0"/>
              <a:t>= 0,1011</a:t>
            </a:r>
            <a:r>
              <a:rPr lang="pt-BR" baseline="-25000" dirty="0"/>
              <a:t>2</a:t>
            </a: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/>
              <a:t>0,76 x 2 = 1,52    </a:t>
            </a:r>
            <a:r>
              <a:rPr lang="pt-BR" b="1" dirty="0"/>
              <a:t>1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0,52 x 2 = 1,04    </a:t>
            </a:r>
            <a:r>
              <a:rPr lang="pt-BR" b="1" dirty="0"/>
              <a:t>1</a:t>
            </a:r>
            <a:r>
              <a:rPr lang="pt-BR" dirty="0"/>
              <a:t>    LSB </a:t>
            </a:r>
            <a:br>
              <a:rPr lang="pt-BR" dirty="0"/>
            </a:br>
            <a:endParaRPr lang="pt-BR" dirty="0"/>
          </a:p>
          <a:p>
            <a:pPr marL="0" indent="0">
              <a:buNone/>
            </a:pPr>
            <a:r>
              <a:rPr lang="pt-BR" dirty="0"/>
              <a:t> </a:t>
            </a:r>
          </a:p>
          <a:p>
            <a:pPr marL="0" indent="0">
              <a:buNone/>
            </a:pPr>
            <a:r>
              <a:rPr lang="pt-BR" dirty="0"/>
              <a:t>                               19,69</a:t>
            </a:r>
            <a:r>
              <a:rPr lang="pt-BR" baseline="-25000" dirty="0"/>
              <a:t>10</a:t>
            </a:r>
            <a:r>
              <a:rPr lang="pt-BR" dirty="0"/>
              <a:t> = 10011,1011</a:t>
            </a:r>
            <a:r>
              <a:rPr lang="pt-BR" baseline="-25000" dirty="0"/>
              <a:t>2</a:t>
            </a:r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CA67-16D9-4A1F-B936-A3DF6F1BFE17}" type="slidenum">
              <a:rPr lang="pt-BR" smtClean="0"/>
              <a:t>20</a:t>
            </a:fld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4075584" y="5109543"/>
            <a:ext cx="4168824" cy="1080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537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Transformação numérica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91513" cy="49974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mtClean="0"/>
              <a:t>Decimal para Binário: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Feita mediante </a:t>
            </a:r>
            <a:r>
              <a:rPr lang="pt-BR" altLang="pt-BR" smtClean="0">
                <a:solidFill>
                  <a:schemeClr val="tx2"/>
                </a:solidFill>
              </a:rPr>
              <a:t>divisões inteiras sucessivas por 2</a:t>
            </a:r>
            <a:r>
              <a:rPr lang="pt-BR" altLang="pt-BR" smtClean="0"/>
              <a:t>, tomando-se os </a:t>
            </a:r>
            <a:r>
              <a:rPr lang="pt-BR" altLang="pt-BR" smtClean="0">
                <a:solidFill>
                  <a:schemeClr val="tx2"/>
                </a:solidFill>
              </a:rPr>
              <a:t>restos das divisões no sentido ascendente</a:t>
            </a:r>
            <a:r>
              <a:rPr lang="pt-BR" altLang="pt-BR" smtClean="0"/>
              <a:t>;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Ex: 12 (base 10) para binário (base 2);</a:t>
            </a:r>
          </a:p>
          <a:p>
            <a:pPr lvl="1" eaLnBrk="1" hangingPunct="1">
              <a:lnSpc>
                <a:spcPct val="90000"/>
              </a:lnSpc>
            </a:pPr>
            <a:endParaRPr lang="pt-BR" altLang="pt-BR" smtClean="0"/>
          </a:p>
          <a:p>
            <a:pPr lvl="1" eaLnBrk="1" hangingPunct="1">
              <a:lnSpc>
                <a:spcPct val="90000"/>
              </a:lnSpc>
            </a:pPr>
            <a:endParaRPr lang="pt-BR" altLang="pt-BR" smtClean="0"/>
          </a:p>
          <a:p>
            <a:pPr lvl="1" eaLnBrk="1" hangingPunct="1">
              <a:lnSpc>
                <a:spcPct val="90000"/>
              </a:lnSpc>
            </a:pPr>
            <a:endParaRPr lang="pt-BR" altLang="pt-BR" smtClean="0"/>
          </a:p>
          <a:p>
            <a:pPr lvl="1" eaLnBrk="1" hangingPunct="1">
              <a:lnSpc>
                <a:spcPct val="90000"/>
              </a:lnSpc>
            </a:pPr>
            <a:endParaRPr lang="pt-BR" altLang="pt-BR" smtClean="0"/>
          </a:p>
          <a:p>
            <a:pPr lvl="1" eaLnBrk="1" hangingPunct="1">
              <a:lnSpc>
                <a:spcPct val="90000"/>
              </a:lnSpc>
            </a:pPr>
            <a:endParaRPr lang="pt-BR" altLang="pt-BR" smtClean="0"/>
          </a:p>
          <a:p>
            <a:pPr lvl="1" eaLnBrk="1" hangingPunct="1">
              <a:lnSpc>
                <a:spcPct val="90000"/>
              </a:lnSpc>
            </a:pPr>
            <a:endParaRPr lang="pt-BR" altLang="pt-BR" smtClean="0"/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12(base 10) = </a:t>
            </a:r>
            <a:r>
              <a:rPr lang="pt-BR" altLang="pt-BR" b="1" smtClean="0">
                <a:solidFill>
                  <a:schemeClr val="tx2"/>
                </a:solidFill>
              </a:rPr>
              <a:t>1100</a:t>
            </a:r>
            <a:r>
              <a:rPr lang="pt-BR" altLang="pt-BR" smtClean="0"/>
              <a:t> (base 2);</a:t>
            </a:r>
          </a:p>
          <a:p>
            <a:pPr lvl="1" eaLnBrk="1" hangingPunct="1">
              <a:lnSpc>
                <a:spcPct val="90000"/>
              </a:lnSpc>
            </a:pPr>
            <a:endParaRPr lang="pt-BR" altLang="pt-BR" smtClean="0"/>
          </a:p>
        </p:txBody>
      </p:sp>
      <p:pic>
        <p:nvPicPr>
          <p:cNvPr id="983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3443288"/>
            <a:ext cx="6624638" cy="25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Transformação numérica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Decimal para Binário:</a:t>
            </a:r>
          </a:p>
          <a:p>
            <a:pPr lvl="1" eaLnBrk="1" hangingPunct="1"/>
            <a:r>
              <a:rPr lang="pt-BR" altLang="pt-BR" smtClean="0"/>
              <a:t>Exercício: </a:t>
            </a:r>
          </a:p>
          <a:p>
            <a:pPr lvl="2" eaLnBrk="1" hangingPunct="1"/>
            <a:r>
              <a:rPr lang="pt-BR" altLang="pt-BR" smtClean="0"/>
              <a:t>135 (base 10) para binário (base 2); </a:t>
            </a:r>
          </a:p>
          <a:p>
            <a:pPr lvl="2" eaLnBrk="1" hangingPunct="1"/>
            <a:r>
              <a:rPr lang="pt-BR" altLang="pt-BR" smtClean="0"/>
              <a:t>520 (base 10) para binário (base 2);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pt-BR" alt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Transformação numérica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975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Char char="p"/>
              <a:defRPr/>
            </a:pPr>
            <a:r>
              <a:rPr lang="pt-BR" smtClean="0">
                <a:ea typeface="+mn-ea"/>
              </a:rPr>
              <a:t>Decimal para hexadecimal: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n"/>
              <a:defRPr/>
            </a:pPr>
            <a:r>
              <a:rPr lang="pt-BR" smtClean="0">
                <a:ea typeface="+mn-ea"/>
              </a:rPr>
              <a:t>Feita mediante </a:t>
            </a:r>
            <a:r>
              <a:rPr lang="pt-BR" smtClean="0">
                <a:solidFill>
                  <a:schemeClr val="tx2"/>
                </a:solidFill>
                <a:ea typeface="+mn-ea"/>
              </a:rPr>
              <a:t>divisões inteiras sucessivas por 16</a:t>
            </a:r>
            <a:r>
              <a:rPr lang="pt-BR" smtClean="0">
                <a:ea typeface="+mn-ea"/>
              </a:rPr>
              <a:t>, tomando-se os </a:t>
            </a:r>
            <a:r>
              <a:rPr lang="pt-BR" smtClean="0">
                <a:solidFill>
                  <a:schemeClr val="tx2"/>
                </a:solidFill>
                <a:ea typeface="+mn-ea"/>
              </a:rPr>
              <a:t>restos das divisões no sentido ascendente</a:t>
            </a:r>
            <a:r>
              <a:rPr lang="pt-BR" smtClean="0">
                <a:ea typeface="+mn-ea"/>
              </a:rPr>
              <a:t>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n"/>
              <a:defRPr/>
            </a:pPr>
            <a:r>
              <a:rPr lang="pt-BR" smtClean="0">
                <a:ea typeface="+mn-ea"/>
              </a:rPr>
              <a:t>Ex: 428 (base 10) para hexadecimal (base 16);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n"/>
              <a:defRPr/>
            </a:pPr>
            <a:endParaRPr lang="pt-BR" smtClean="0">
              <a:ea typeface="+mn-ea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Char char="n"/>
              <a:defRPr/>
            </a:pPr>
            <a:endParaRPr lang="pt-BR" smtClean="0">
              <a:ea typeface="+mn-ea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Char char="n"/>
              <a:defRPr/>
            </a:pPr>
            <a:endParaRPr lang="pt-BR" smtClean="0">
              <a:ea typeface="+mn-ea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Char char="n"/>
              <a:defRPr/>
            </a:pPr>
            <a:endParaRPr lang="pt-BR" smtClean="0">
              <a:ea typeface="+mn-ea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Char char="n"/>
              <a:defRPr/>
            </a:pPr>
            <a:endParaRPr lang="pt-BR" smtClean="0">
              <a:ea typeface="+mn-ea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Char char="n"/>
              <a:defRPr/>
            </a:pPr>
            <a:r>
              <a:rPr lang="pt-BR" b="1" smtClean="0">
                <a:solidFill>
                  <a:schemeClr val="tx2"/>
                </a:solidFill>
                <a:ea typeface="+mn-ea"/>
              </a:rPr>
              <a:t>1AC</a:t>
            </a:r>
            <a:r>
              <a:rPr lang="pt-BR" smtClean="0">
                <a:ea typeface="+mn-ea"/>
              </a:rPr>
              <a:t> (base 16);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n"/>
              <a:defRPr/>
            </a:pPr>
            <a:endParaRPr lang="pt-BR" smtClean="0">
              <a:ea typeface="+mn-ea"/>
            </a:endParaRPr>
          </a:p>
        </p:txBody>
      </p:sp>
      <p:pic>
        <p:nvPicPr>
          <p:cNvPr id="1003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3500438"/>
            <a:ext cx="5400675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Transformação numérica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Decimal para hexadecimal:</a:t>
            </a:r>
          </a:p>
          <a:p>
            <a:pPr lvl="1" eaLnBrk="1" hangingPunct="1"/>
            <a:r>
              <a:rPr lang="pt-BR" altLang="pt-BR" smtClean="0"/>
              <a:t>Exercício:</a:t>
            </a:r>
          </a:p>
          <a:p>
            <a:pPr lvl="2" eaLnBrk="1" hangingPunct="1"/>
            <a:r>
              <a:rPr lang="pt-BR" altLang="pt-BR" smtClean="0"/>
              <a:t>58 (base 10) para hexadecimal (base 16);</a:t>
            </a:r>
          </a:p>
          <a:p>
            <a:pPr lvl="2" eaLnBrk="1" hangingPunct="1"/>
            <a:r>
              <a:rPr lang="pt-BR" altLang="pt-BR" smtClean="0"/>
              <a:t>191(base 10) para hexadecimal (base 16);</a:t>
            </a:r>
          </a:p>
          <a:p>
            <a:pPr lvl="2" eaLnBrk="1" hangingPunct="1"/>
            <a:r>
              <a:rPr lang="pt-BR" altLang="pt-BR" smtClean="0"/>
              <a:t>2736 (base 10) para hexadecimal (base 16);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Transformação Numérica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Binário para decimal:</a:t>
            </a:r>
          </a:p>
          <a:p>
            <a:pPr lvl="1" eaLnBrk="1" hangingPunct="1"/>
            <a:r>
              <a:rPr lang="pt-BR" altLang="pt-BR" smtClean="0"/>
              <a:t>A conversão de binário em decimal corresponde a </a:t>
            </a:r>
            <a:r>
              <a:rPr lang="pt-BR" altLang="pt-BR" smtClean="0">
                <a:solidFill>
                  <a:schemeClr val="tx2"/>
                </a:solidFill>
              </a:rPr>
              <a:t>utilizar a idéia de valores a cada posição (casa) do número a partir da base 2, de forma que cada posição mais à esquerda vale duas vezes o mais que a anterior</a:t>
            </a:r>
            <a:r>
              <a:rPr lang="pt-BR" altLang="pt-BR" smtClean="0"/>
              <a:t>. O valor de cada posição é multiplicado pelo valor do bit da posição;</a:t>
            </a:r>
          </a:p>
          <a:p>
            <a:pPr lvl="1" eaLnBrk="1" hangingPunct="1"/>
            <a:r>
              <a:rPr lang="pt-BR" altLang="pt-BR" smtClean="0"/>
              <a:t>Ex 11001 (base 2) para decimal (base 10);</a:t>
            </a:r>
          </a:p>
          <a:p>
            <a:pPr lvl="2" eaLnBrk="1" hangingPunct="1"/>
            <a:r>
              <a:rPr lang="pt-BR" altLang="pt-BR" smtClean="0"/>
              <a:t>1X2 + 1x2³ + 0x2² + 0x2¹ + 1x2º = 16 + 8 +0 + 0 +1 = </a:t>
            </a:r>
            <a:r>
              <a:rPr lang="pt-BR" altLang="pt-BR" b="1" smtClean="0">
                <a:solidFill>
                  <a:schemeClr val="tx2"/>
                </a:solidFill>
              </a:rPr>
              <a:t>25</a:t>
            </a:r>
            <a:r>
              <a:rPr lang="pt-BR" altLang="pt-BR" smtClean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Transformação Numérica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Binário para decimal:</a:t>
            </a:r>
          </a:p>
          <a:p>
            <a:pPr lvl="1" eaLnBrk="1" hangingPunct="1"/>
            <a:r>
              <a:rPr lang="pt-BR" altLang="pt-BR" smtClean="0"/>
              <a:t>Exercício:</a:t>
            </a:r>
          </a:p>
          <a:p>
            <a:pPr lvl="2" eaLnBrk="1" hangingPunct="1"/>
            <a:r>
              <a:rPr lang="pt-BR" altLang="pt-BR" smtClean="0"/>
              <a:t>110101 (base 2) para decimal (base 10);</a:t>
            </a:r>
          </a:p>
          <a:p>
            <a:pPr lvl="2" eaLnBrk="1" hangingPunct="1"/>
            <a:r>
              <a:rPr lang="pt-BR" altLang="pt-BR" smtClean="0"/>
              <a:t>1011101 (base 2) para decimal (base 10);</a:t>
            </a:r>
          </a:p>
          <a:p>
            <a:pPr lvl="2" eaLnBrk="1" hangingPunct="1"/>
            <a:r>
              <a:rPr lang="pt-BR" altLang="pt-BR" smtClean="0"/>
              <a:t>10011011 (base 2) para decimal (base 10);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Transformação Numérica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07413" cy="4781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mtClean="0"/>
              <a:t>Binário para hexadecimal: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>
                <a:solidFill>
                  <a:schemeClr val="tx2"/>
                </a:solidFill>
              </a:rPr>
              <a:t>Divide-se o número em grupos de quatro bits</a:t>
            </a:r>
            <a:r>
              <a:rPr lang="pt-BR" altLang="pt-BR" smtClean="0"/>
              <a:t>, da direita para a esquerda, substituindo-se tais grupos pelos símbolos hexadecimais correspondentes;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Ex: 11110001(base 2) para hexadecimal (base 16):</a:t>
            </a:r>
          </a:p>
          <a:p>
            <a:pPr lvl="2" eaLnBrk="1" hangingPunct="1">
              <a:lnSpc>
                <a:spcPct val="90000"/>
              </a:lnSpc>
            </a:pPr>
            <a:r>
              <a:rPr lang="pt-BR" altLang="pt-BR" smtClean="0"/>
              <a:t>1111 / 0001</a:t>
            </a:r>
          </a:p>
          <a:p>
            <a:pPr lvl="2" eaLnBrk="1" hangingPunct="1">
              <a:lnSpc>
                <a:spcPct val="90000"/>
              </a:lnSpc>
            </a:pPr>
            <a:r>
              <a:rPr lang="pt-BR" altLang="pt-BR" smtClean="0"/>
              <a:t>15 / 1</a:t>
            </a:r>
          </a:p>
          <a:p>
            <a:pPr lvl="2" eaLnBrk="1" hangingPunct="1">
              <a:lnSpc>
                <a:spcPct val="90000"/>
              </a:lnSpc>
            </a:pPr>
            <a:r>
              <a:rPr lang="pt-BR" altLang="pt-BR" b="1" smtClean="0">
                <a:solidFill>
                  <a:schemeClr val="tx2"/>
                </a:solidFill>
              </a:rPr>
              <a:t>F1</a:t>
            </a:r>
            <a:r>
              <a:rPr lang="pt-BR" altLang="pt-BR" smtClean="0"/>
              <a:t> (base 16);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mtClean="0"/>
              <a:t>Se não decorar os grupos de 4 bits:</a:t>
            </a:r>
          </a:p>
          <a:p>
            <a:pPr lvl="2" eaLnBrk="1" hangingPunct="1">
              <a:lnSpc>
                <a:spcPct val="90000"/>
              </a:lnSpc>
            </a:pPr>
            <a:r>
              <a:rPr lang="pt-BR" altLang="pt-BR" smtClean="0"/>
              <a:t>1x2³ + 1x2² + 1x2¹ + 1x2º  / 0x2³ + 0x2² + 0x2¹ + 1x2º = 8+4+2+1 / 0+0+0+1 = 15 / 1 = </a:t>
            </a:r>
            <a:r>
              <a:rPr lang="pt-BR" altLang="pt-BR" b="1" smtClean="0">
                <a:solidFill>
                  <a:schemeClr val="tx2"/>
                </a:solidFill>
              </a:rPr>
              <a:t>F1</a:t>
            </a:r>
            <a:r>
              <a:rPr lang="pt-BR" altLang="pt-BR" smtClean="0"/>
              <a:t> (base 16)  </a:t>
            </a:r>
          </a:p>
          <a:p>
            <a:pPr lvl="2" eaLnBrk="1" hangingPunct="1">
              <a:lnSpc>
                <a:spcPct val="90000"/>
              </a:lnSpc>
            </a:pPr>
            <a:endParaRPr lang="pt-BR" altLang="pt-BR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Transformação Numérica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Binário para hexadecimal:</a:t>
            </a:r>
          </a:p>
          <a:p>
            <a:pPr lvl="1" eaLnBrk="1" hangingPunct="1"/>
            <a:r>
              <a:rPr lang="pt-BR" altLang="pt-BR" smtClean="0"/>
              <a:t>Quando o número for fracionário, deve-se começar a divisão em grupos de quatro, a partir da vírgula, em ambas as direções;</a:t>
            </a:r>
          </a:p>
          <a:p>
            <a:pPr lvl="2" eaLnBrk="1" hangingPunct="1"/>
            <a:r>
              <a:rPr lang="pt-BR" altLang="pt-BR" smtClean="0"/>
              <a:t>Ex: 01011100,11001011</a:t>
            </a:r>
          </a:p>
          <a:p>
            <a:pPr lvl="3" eaLnBrk="1" hangingPunct="1"/>
            <a:r>
              <a:rPr lang="pt-BR" altLang="pt-BR" smtClean="0"/>
              <a:t>0101 / 1100, 1100 / 1011</a:t>
            </a:r>
          </a:p>
          <a:p>
            <a:pPr lvl="1" eaLnBrk="1" hangingPunct="1"/>
            <a:r>
              <a:rPr lang="pt-BR" altLang="pt-BR" smtClean="0"/>
              <a:t>Se a divisão em grupos de quatro deixar o grupo extremo com menos de quatro dígitos, completá-lo com zeros;</a:t>
            </a:r>
          </a:p>
          <a:p>
            <a:pPr lvl="2" eaLnBrk="1" hangingPunct="1"/>
            <a:r>
              <a:rPr lang="pt-BR" altLang="pt-BR" smtClean="0"/>
              <a:t>Ex:101011</a:t>
            </a:r>
          </a:p>
          <a:p>
            <a:pPr lvl="3" eaLnBrk="1" hangingPunct="1"/>
            <a:r>
              <a:rPr lang="pt-BR" altLang="pt-BR" smtClean="0"/>
              <a:t>10 / 1011 -&gt; 0010 / 1011 = </a:t>
            </a:r>
            <a:r>
              <a:rPr lang="pt-BR" altLang="pt-BR" b="1" smtClean="0">
                <a:solidFill>
                  <a:schemeClr val="tx2"/>
                </a:solidFill>
              </a:rPr>
              <a:t>2B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Transformação Numérica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Binário para hexadecimal:</a:t>
            </a:r>
          </a:p>
          <a:p>
            <a:pPr lvl="1" eaLnBrk="1" hangingPunct="1"/>
            <a:r>
              <a:rPr lang="pt-BR" altLang="pt-BR" smtClean="0"/>
              <a:t>Exercício</a:t>
            </a:r>
          </a:p>
          <a:p>
            <a:pPr lvl="2" eaLnBrk="1" hangingPunct="1"/>
            <a:r>
              <a:rPr lang="pt-BR" altLang="pt-BR" smtClean="0"/>
              <a:t>10100110 (base 2) para hexadecimal (base 16);</a:t>
            </a:r>
          </a:p>
          <a:p>
            <a:pPr lvl="2" eaLnBrk="1" hangingPunct="1"/>
            <a:r>
              <a:rPr lang="pt-BR" altLang="pt-BR" smtClean="0"/>
              <a:t>110011 (base 2) para hexadecimal (base 16);</a:t>
            </a:r>
          </a:p>
          <a:p>
            <a:pPr lvl="2" eaLnBrk="1" hangingPunct="1"/>
            <a:r>
              <a:rPr lang="pt-BR" altLang="pt-BR" smtClean="0"/>
              <a:t>110100110,010 (base 2) para hexadecimal (base 16);</a:t>
            </a:r>
          </a:p>
          <a:p>
            <a:pPr lvl="2" eaLnBrk="1" hangingPunct="1"/>
            <a:endParaRPr lang="pt-BR" altLang="pt-BR" smtClean="0"/>
          </a:p>
          <a:p>
            <a:pPr lvl="1" eaLnBrk="1" hangingPunct="1"/>
            <a:endParaRPr lang="pt-BR" alt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Transformação Numérica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Hexadecimal para decimal:</a:t>
            </a:r>
          </a:p>
          <a:p>
            <a:pPr lvl="1" eaLnBrk="1" hangingPunct="1"/>
            <a:r>
              <a:rPr lang="pt-BR" altLang="pt-BR" smtClean="0"/>
              <a:t>Usa-se o </a:t>
            </a:r>
            <a:r>
              <a:rPr lang="pt-BR" altLang="pt-BR" smtClean="0">
                <a:solidFill>
                  <a:schemeClr val="tx2"/>
                </a:solidFill>
              </a:rPr>
              <a:t>mesmo sistema para transformar binário em decimal</a:t>
            </a:r>
            <a:r>
              <a:rPr lang="pt-BR" altLang="pt-BR" smtClean="0"/>
              <a:t>, com a diferença de se usar a </a:t>
            </a:r>
            <a:r>
              <a:rPr lang="pt-BR" altLang="pt-BR" smtClean="0">
                <a:solidFill>
                  <a:schemeClr val="tx2"/>
                </a:solidFill>
              </a:rPr>
              <a:t>base 16</a:t>
            </a:r>
            <a:r>
              <a:rPr lang="pt-BR" altLang="pt-BR" smtClean="0"/>
              <a:t>;</a:t>
            </a:r>
          </a:p>
          <a:p>
            <a:pPr lvl="1" eaLnBrk="1" hangingPunct="1"/>
            <a:r>
              <a:rPr lang="pt-BR" altLang="pt-BR" smtClean="0"/>
              <a:t>Ex: A6B (base 16) para decimal (base 10):</a:t>
            </a:r>
          </a:p>
          <a:p>
            <a:pPr lvl="2" eaLnBrk="1" hangingPunct="1"/>
            <a:r>
              <a:rPr lang="pt-BR" altLang="pt-BR" smtClean="0"/>
              <a:t>Ax16² + 6x16¹ + Bx16º = 10x16² + 6x16¹ 11x16º = 2560 + 96 + 11 = </a:t>
            </a:r>
            <a:r>
              <a:rPr lang="pt-BR" altLang="pt-BR" b="1" smtClean="0">
                <a:solidFill>
                  <a:schemeClr val="tx2"/>
                </a:solidFill>
              </a:rPr>
              <a:t>2667 </a:t>
            </a:r>
            <a:r>
              <a:rPr lang="pt-BR" altLang="pt-BR" smtClean="0"/>
              <a:t>(base 10)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pt-BR" altLang="pt-BR" smtClean="0"/>
              <a:t>  </a:t>
            </a:r>
          </a:p>
          <a:p>
            <a:pPr lvl="2" eaLnBrk="1" hangingPunct="1"/>
            <a:endParaRPr lang="pt-BR" altLang="pt-BR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Sistemas de Numeração</a:t>
            </a:r>
            <a:br>
              <a:rPr lang="pt-BR" altLang="pt-BR" sz="3400"/>
            </a:br>
            <a:r>
              <a:rPr lang="pt-BR" altLang="pt-BR" sz="3400"/>
              <a:t>Binário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343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pt-BR" altLang="pt-BR" sz="2800"/>
              <a:t>Sistema de Base 2</a:t>
            </a:r>
          </a:p>
          <a:p>
            <a:pPr lvl="1" eaLnBrk="1" hangingPunct="1"/>
            <a:r>
              <a:rPr lang="pt-BR" altLang="pt-BR" sz="2300"/>
              <a:t>0 e 1</a:t>
            </a:r>
          </a:p>
          <a:p>
            <a:pPr lvl="1" eaLnBrk="1" hangingPunct="1"/>
            <a:r>
              <a:rPr lang="pt-BR" altLang="pt-BR" sz="2300"/>
              <a:t>Sim e Não</a:t>
            </a:r>
          </a:p>
          <a:p>
            <a:pPr lvl="1" eaLnBrk="1" hangingPunct="1"/>
            <a:r>
              <a:rPr lang="pt-BR" altLang="pt-BR" sz="2300"/>
              <a:t>Ligado e Desligado</a:t>
            </a:r>
          </a:p>
          <a:p>
            <a:pPr lvl="1" eaLnBrk="1" hangingPunct="1"/>
            <a:r>
              <a:rPr lang="pt-BR" altLang="pt-BR" sz="2300"/>
              <a:t>Verdadeiro ou Falso</a:t>
            </a:r>
          </a:p>
          <a:p>
            <a:pPr eaLnBrk="1" hangingPunct="1"/>
            <a:endParaRPr lang="pt-BR" altLang="pt-BR" sz="2800"/>
          </a:p>
          <a:p>
            <a:pPr eaLnBrk="1" hangingPunct="1"/>
            <a:r>
              <a:rPr lang="pt-BR" altLang="pt-BR" sz="2800" i="1"/>
              <a:t>Bit</a:t>
            </a:r>
            <a:r>
              <a:rPr lang="pt-BR" altLang="pt-BR" sz="2800"/>
              <a:t> = </a:t>
            </a:r>
            <a:r>
              <a:rPr lang="pt-BR" altLang="pt-BR" sz="2800" i="1"/>
              <a:t>Binary Digit</a:t>
            </a:r>
          </a:p>
          <a:p>
            <a:pPr eaLnBrk="1" hangingPunct="1"/>
            <a:r>
              <a:rPr lang="pt-BR" altLang="pt-BR" sz="2800"/>
              <a:t>8 </a:t>
            </a:r>
            <a:r>
              <a:rPr lang="pt-BR" altLang="pt-BR" sz="2800" i="1"/>
              <a:t>Bits</a:t>
            </a:r>
            <a:r>
              <a:rPr lang="pt-BR" altLang="pt-BR" sz="2800"/>
              <a:t> = 1 Byte (</a:t>
            </a:r>
            <a:r>
              <a:rPr lang="pt-BR" altLang="pt-BR" sz="2800" i="1"/>
              <a:t>Bynary Term</a:t>
            </a:r>
            <a:r>
              <a:rPr lang="pt-BR" altLang="pt-BR" sz="2800"/>
              <a:t>)</a:t>
            </a:r>
          </a:p>
          <a:p>
            <a:pPr eaLnBrk="1" hangingPunct="1"/>
            <a:r>
              <a:rPr lang="pt-BR" altLang="pt-BR" sz="2800"/>
              <a:t>4 </a:t>
            </a:r>
            <a:r>
              <a:rPr lang="pt-BR" altLang="pt-BR" sz="2800" i="1"/>
              <a:t>Bits</a:t>
            </a:r>
            <a:r>
              <a:rPr lang="pt-BR" altLang="pt-BR" sz="2800"/>
              <a:t> = 1 </a:t>
            </a:r>
            <a:r>
              <a:rPr lang="pt-BR" altLang="pt-BR" sz="2800" i="1"/>
              <a:t>Nibble</a:t>
            </a:r>
          </a:p>
          <a:p>
            <a:pPr eaLnBrk="1" hangingPunct="1"/>
            <a:r>
              <a:rPr lang="en-US" altLang="pt-BR" sz="2800" i="1"/>
              <a:t>16 Bits = 1 Word</a:t>
            </a:r>
            <a:endParaRPr lang="pt-BR" altLang="pt-BR" sz="2800" i="1"/>
          </a:p>
          <a:p>
            <a:pPr lvl="1" eaLnBrk="1" hangingPunct="1"/>
            <a:endParaRPr lang="pt-BR" altLang="pt-BR" sz="1400" i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48415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Álgebra Booleana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343400"/>
          </a:xfrm>
        </p:spPr>
        <p:txBody>
          <a:bodyPr/>
          <a:lstStyle/>
          <a:p>
            <a:pPr eaLnBrk="1" hangingPunct="1"/>
            <a:r>
              <a:rPr lang="pt-BR" altLang="pt-BR"/>
              <a:t>Álgebra Booleana</a:t>
            </a:r>
          </a:p>
          <a:p>
            <a:pPr lvl="1" eaLnBrk="1" hangingPunct="1"/>
            <a:r>
              <a:rPr lang="pt-BR" altLang="pt-BR" i="1"/>
              <a:t>Capturam a essência" das operações lógicas E, OU e NÃO, bem como das operações da teoria de conjuntos soma, produto e complemento</a:t>
            </a:r>
          </a:p>
          <a:p>
            <a:pPr lvl="1" eaLnBrk="1" hangingPunct="1"/>
            <a:endParaRPr lang="pt-BR" altLang="pt-BR">
              <a:solidFill>
                <a:srgbClr val="FF3300"/>
              </a:solidFill>
            </a:endParaRPr>
          </a:p>
          <a:p>
            <a:pPr lvl="1" eaLnBrk="1" hangingPunct="1"/>
            <a:r>
              <a:rPr lang="pt-BR" altLang="pt-BR" b="1">
                <a:solidFill>
                  <a:srgbClr val="FF3300"/>
                </a:solidFill>
              </a:rPr>
              <a:t>Base de toda a tecnologia digital com nós a conhecemos!</a:t>
            </a:r>
          </a:p>
          <a:p>
            <a:pPr lvl="1" eaLnBrk="1" hangingPunct="1"/>
            <a:endParaRPr lang="pt-BR" altLang="pt-BR" sz="1600" b="1" i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383315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Sistemas de Numeração</a:t>
            </a:r>
            <a:br>
              <a:rPr lang="pt-BR" altLang="pt-BR" sz="3400"/>
            </a:br>
            <a:r>
              <a:rPr lang="pt-BR" altLang="pt-BR" sz="3400"/>
              <a:t>Binário</a:t>
            </a:r>
          </a:p>
        </p:txBody>
      </p:sp>
      <p:graphicFrame>
        <p:nvGraphicFramePr>
          <p:cNvPr id="105521" name="Group 49"/>
          <p:cNvGraphicFramePr>
            <a:graphicFrameLocks noGrp="1"/>
          </p:cNvGraphicFramePr>
          <p:nvPr>
            <p:ph idx="1"/>
          </p:nvPr>
        </p:nvGraphicFramePr>
        <p:xfrm>
          <a:off x="2514600" y="1905000"/>
          <a:ext cx="3505200" cy="4664079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Decimal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Binário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28188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Conversão</a:t>
            </a:r>
            <a:br>
              <a:rPr lang="pt-BR" altLang="pt-BR" sz="3400"/>
            </a:br>
            <a:r>
              <a:rPr lang="pt-BR" altLang="pt-BR" sz="3400"/>
              <a:t>Binário &gt; Decimal</a:t>
            </a:r>
          </a:p>
        </p:txBody>
      </p:sp>
      <p:graphicFrame>
        <p:nvGraphicFramePr>
          <p:cNvPr id="107604" name="Group 84"/>
          <p:cNvGraphicFramePr>
            <a:graphicFrameLocks noGrp="1"/>
          </p:cNvGraphicFramePr>
          <p:nvPr>
            <p:ph idx="1"/>
          </p:nvPr>
        </p:nvGraphicFramePr>
        <p:xfrm>
          <a:off x="457200" y="2514600"/>
          <a:ext cx="8229600" cy="2909889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257" name="Text Box 67"/>
          <p:cNvSpPr txBox="1">
            <a:spLocks noChangeArrowheads="1"/>
          </p:cNvSpPr>
          <p:nvPr/>
        </p:nvSpPr>
        <p:spPr bwMode="auto">
          <a:xfrm>
            <a:off x="381000" y="1828800"/>
            <a:ext cx="46418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1000 (Binário) para Decimal?</a:t>
            </a:r>
            <a:endParaRPr lang="en-US" altLang="pt-BR" sz="270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142107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Conversão</a:t>
            </a:r>
            <a:br>
              <a:rPr lang="pt-BR" altLang="pt-BR" sz="3400"/>
            </a:br>
            <a:r>
              <a:rPr lang="pt-BR" altLang="pt-BR" sz="3400"/>
              <a:t>Binário &gt; Decimal</a:t>
            </a:r>
          </a:p>
        </p:txBody>
      </p:sp>
      <p:graphicFrame>
        <p:nvGraphicFramePr>
          <p:cNvPr id="108594" name="Group 50"/>
          <p:cNvGraphicFramePr>
            <a:graphicFrameLocks noGrp="1"/>
          </p:cNvGraphicFramePr>
          <p:nvPr>
            <p:ph idx="1"/>
          </p:nvPr>
        </p:nvGraphicFramePr>
        <p:xfrm>
          <a:off x="457200" y="2514600"/>
          <a:ext cx="8229600" cy="2909889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281" name="Text Box 32"/>
          <p:cNvSpPr txBox="1">
            <a:spLocks noChangeArrowheads="1"/>
          </p:cNvSpPr>
          <p:nvPr/>
        </p:nvSpPr>
        <p:spPr bwMode="auto">
          <a:xfrm>
            <a:off x="381000" y="1858963"/>
            <a:ext cx="46418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1000 (Binário) para Decimal?</a:t>
            </a:r>
            <a:endParaRPr lang="en-US" altLang="pt-BR" sz="2700">
              <a:solidFill>
                <a:srgbClr val="FF3300"/>
              </a:solidFill>
            </a:endParaRPr>
          </a:p>
        </p:txBody>
      </p:sp>
      <p:sp>
        <p:nvSpPr>
          <p:cNvPr id="10282" name="Text Box 51"/>
          <p:cNvSpPr txBox="1">
            <a:spLocks noChangeArrowheads="1"/>
          </p:cNvSpPr>
          <p:nvPr/>
        </p:nvSpPr>
        <p:spPr bwMode="auto">
          <a:xfrm>
            <a:off x="1676400" y="5867400"/>
            <a:ext cx="71215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/>
              <a:t>1 x 2</a:t>
            </a:r>
            <a:r>
              <a:rPr lang="pt-BR" altLang="pt-BR" sz="2700" baseline="30000"/>
              <a:t>3</a:t>
            </a:r>
            <a:r>
              <a:rPr lang="pt-BR" altLang="pt-BR" sz="2700"/>
              <a:t> + 0 x 2</a:t>
            </a:r>
            <a:r>
              <a:rPr lang="pt-BR" altLang="pt-BR" sz="2700" baseline="30000"/>
              <a:t>2</a:t>
            </a:r>
            <a:r>
              <a:rPr lang="pt-BR" altLang="pt-BR" sz="2700"/>
              <a:t> + 0 x 2</a:t>
            </a:r>
            <a:r>
              <a:rPr lang="pt-BR" altLang="pt-BR" sz="2700" baseline="30000"/>
              <a:t>1</a:t>
            </a:r>
            <a:r>
              <a:rPr lang="pt-BR" altLang="pt-BR" sz="2700"/>
              <a:t> + 0 x 2</a:t>
            </a:r>
            <a:r>
              <a:rPr lang="pt-BR" altLang="pt-BR" sz="2700" baseline="30000"/>
              <a:t>0</a:t>
            </a:r>
            <a:r>
              <a:rPr lang="pt-BR" altLang="pt-BR" sz="2700">
                <a:solidFill>
                  <a:srgbClr val="FF3300"/>
                </a:solidFill>
              </a:rPr>
              <a:t> = 8 (Decimal)</a:t>
            </a:r>
            <a:endParaRPr lang="en-US" altLang="pt-BR" sz="270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91072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Conversão</a:t>
            </a:r>
            <a:br>
              <a:rPr lang="pt-BR" altLang="pt-BR" sz="3400"/>
            </a:br>
            <a:r>
              <a:rPr lang="pt-BR" altLang="pt-BR" sz="3400"/>
              <a:t>Decimal &gt; Binário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819400"/>
            <a:ext cx="8229600" cy="3505200"/>
          </a:xfrm>
        </p:spPr>
        <p:txBody>
          <a:bodyPr/>
          <a:lstStyle/>
          <a:p>
            <a:pPr eaLnBrk="1" hangingPunct="1"/>
            <a:r>
              <a:rPr lang="pt-BR" altLang="pt-BR"/>
              <a:t>Divide-se sucessivamente por 2 anotando o resto da divisão inteira</a:t>
            </a:r>
          </a:p>
          <a:p>
            <a:pPr lvl="1" eaLnBrk="1" hangingPunct="1"/>
            <a:endParaRPr lang="pt-BR" altLang="pt-BR" sz="1600" i="1">
              <a:solidFill>
                <a:srgbClr val="FF3300"/>
              </a:solidFill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381000" y="1858963"/>
            <a:ext cx="42608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47 (Decimal) para Binário?</a:t>
            </a:r>
            <a:endParaRPr lang="en-US" altLang="pt-BR" sz="270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77110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Conversão</a:t>
            </a:r>
            <a:br>
              <a:rPr lang="pt-BR" altLang="pt-BR" sz="3400"/>
            </a:br>
            <a:r>
              <a:rPr lang="pt-BR" altLang="pt-BR" sz="3400"/>
              <a:t>Decimal &gt; Binário</a:t>
            </a: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381000" y="1858963"/>
            <a:ext cx="42608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47 (Decimal) para Binário?</a:t>
            </a:r>
            <a:endParaRPr lang="en-US" altLang="pt-BR" sz="2700">
              <a:solidFill>
                <a:srgbClr val="FF3300"/>
              </a:solidFill>
            </a:endParaRPr>
          </a:p>
        </p:txBody>
      </p:sp>
      <p:sp>
        <p:nvSpPr>
          <p:cNvPr id="13316" name="Text Box 5"/>
          <p:cNvSpPr txBox="1">
            <a:spLocks noChangeArrowheads="1"/>
          </p:cNvSpPr>
          <p:nvPr/>
        </p:nvSpPr>
        <p:spPr bwMode="auto">
          <a:xfrm>
            <a:off x="6400800" y="6172200"/>
            <a:ext cx="2479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47</a:t>
            </a:r>
            <a:r>
              <a:rPr lang="pt-BR" altLang="pt-BR" sz="2700" baseline="-25000">
                <a:solidFill>
                  <a:srgbClr val="FF3300"/>
                </a:solidFill>
              </a:rPr>
              <a:t>10</a:t>
            </a:r>
            <a:r>
              <a:rPr lang="pt-BR" altLang="pt-BR" sz="2700">
                <a:solidFill>
                  <a:srgbClr val="FF3300"/>
                </a:solidFill>
              </a:rPr>
              <a:t> = 101111</a:t>
            </a:r>
            <a:r>
              <a:rPr lang="pt-BR" altLang="pt-BR" sz="2700" baseline="-25000">
                <a:solidFill>
                  <a:srgbClr val="FF3300"/>
                </a:solidFill>
              </a:rPr>
              <a:t>2</a:t>
            </a:r>
            <a:endParaRPr lang="en-US" altLang="pt-BR" sz="2700" baseline="-25000">
              <a:solidFill>
                <a:srgbClr val="FF3300"/>
              </a:solidFill>
            </a:endParaRPr>
          </a:p>
        </p:txBody>
      </p:sp>
      <p:pic>
        <p:nvPicPr>
          <p:cNvPr id="13317" name="Picture 8" descr="Digitalizar00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632075"/>
            <a:ext cx="5562600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Line 9"/>
          <p:cNvSpPr>
            <a:spLocks noChangeShapeType="1"/>
          </p:cNvSpPr>
          <p:nvPr/>
        </p:nvSpPr>
        <p:spPr bwMode="auto">
          <a:xfrm flipH="1">
            <a:off x="5181600" y="5105400"/>
            <a:ext cx="9906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19" name="Line 10"/>
          <p:cNvSpPr>
            <a:spLocks noChangeShapeType="1"/>
          </p:cNvSpPr>
          <p:nvPr/>
        </p:nvSpPr>
        <p:spPr bwMode="auto">
          <a:xfrm flipH="1" flipV="1">
            <a:off x="3505200" y="3429000"/>
            <a:ext cx="1676400" cy="1676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92550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Conversão</a:t>
            </a:r>
            <a:br>
              <a:rPr lang="pt-BR" altLang="pt-BR" sz="3400"/>
            </a:br>
            <a:r>
              <a:rPr lang="pt-BR" altLang="pt-BR" sz="3400"/>
              <a:t>Decimal &gt; Binário</a:t>
            </a:r>
          </a:p>
        </p:txBody>
      </p:sp>
      <p:graphicFrame>
        <p:nvGraphicFramePr>
          <p:cNvPr id="110635" name="Group 43"/>
          <p:cNvGraphicFramePr>
            <a:graphicFrameLocks noGrp="1"/>
          </p:cNvGraphicFramePr>
          <p:nvPr>
            <p:ph idx="1"/>
          </p:nvPr>
        </p:nvGraphicFramePr>
        <p:xfrm>
          <a:off x="457200" y="2514600"/>
          <a:ext cx="8229600" cy="1939926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4368" name="Text Box 41"/>
          <p:cNvSpPr txBox="1">
            <a:spLocks noChangeArrowheads="1"/>
          </p:cNvSpPr>
          <p:nvPr/>
        </p:nvSpPr>
        <p:spPr bwMode="auto">
          <a:xfrm>
            <a:off x="381000" y="1828800"/>
            <a:ext cx="42608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47 (Decimal) para Binário?</a:t>
            </a:r>
            <a:endParaRPr lang="en-US" altLang="pt-BR" sz="270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88355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Conversão</a:t>
            </a:r>
            <a:br>
              <a:rPr lang="pt-BR" altLang="pt-BR" sz="3400"/>
            </a:br>
            <a:r>
              <a:rPr lang="pt-BR" altLang="pt-BR" sz="3400"/>
              <a:t>Decimal &gt; Binário</a:t>
            </a:r>
          </a:p>
        </p:txBody>
      </p:sp>
      <p:graphicFrame>
        <p:nvGraphicFramePr>
          <p:cNvPr id="113667" name="Group 3"/>
          <p:cNvGraphicFramePr>
            <a:graphicFrameLocks noGrp="1"/>
          </p:cNvGraphicFramePr>
          <p:nvPr>
            <p:ph idx="1"/>
          </p:nvPr>
        </p:nvGraphicFramePr>
        <p:xfrm>
          <a:off x="457200" y="2514600"/>
          <a:ext cx="8229600" cy="1939926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5392" name="Text Box 32"/>
          <p:cNvSpPr txBox="1">
            <a:spLocks noChangeArrowheads="1"/>
          </p:cNvSpPr>
          <p:nvPr/>
        </p:nvSpPr>
        <p:spPr bwMode="auto">
          <a:xfrm>
            <a:off x="381000" y="1828800"/>
            <a:ext cx="42608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47 (Decimal) para Binário?</a:t>
            </a:r>
            <a:endParaRPr lang="en-US" altLang="pt-BR" sz="2700">
              <a:solidFill>
                <a:srgbClr val="FF3300"/>
              </a:solidFill>
            </a:endParaRPr>
          </a:p>
        </p:txBody>
      </p:sp>
      <p:sp>
        <p:nvSpPr>
          <p:cNvPr id="15393" name="Text Box 34"/>
          <p:cNvSpPr txBox="1">
            <a:spLocks noChangeArrowheads="1"/>
          </p:cNvSpPr>
          <p:nvPr/>
        </p:nvSpPr>
        <p:spPr bwMode="auto">
          <a:xfrm>
            <a:off x="7772400" y="4495800"/>
            <a:ext cx="8318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LSB</a:t>
            </a:r>
            <a:endParaRPr lang="en-US" altLang="pt-BR" sz="2700">
              <a:solidFill>
                <a:srgbClr val="FF3300"/>
              </a:solidFill>
            </a:endParaRPr>
          </a:p>
        </p:txBody>
      </p:sp>
      <p:sp>
        <p:nvSpPr>
          <p:cNvPr id="15394" name="Text Box 35"/>
          <p:cNvSpPr txBox="1">
            <a:spLocks noChangeArrowheads="1"/>
          </p:cNvSpPr>
          <p:nvPr/>
        </p:nvSpPr>
        <p:spPr bwMode="auto">
          <a:xfrm>
            <a:off x="2590800" y="4495800"/>
            <a:ext cx="9271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MSB</a:t>
            </a:r>
            <a:endParaRPr lang="en-US" altLang="pt-BR" sz="2700">
              <a:solidFill>
                <a:srgbClr val="FF3300"/>
              </a:solidFill>
            </a:endParaRPr>
          </a:p>
        </p:txBody>
      </p:sp>
      <p:sp>
        <p:nvSpPr>
          <p:cNvPr id="15395" name="Text Box 36"/>
          <p:cNvSpPr txBox="1">
            <a:spLocks noChangeArrowheads="1"/>
          </p:cNvSpPr>
          <p:nvPr/>
        </p:nvSpPr>
        <p:spPr bwMode="auto">
          <a:xfrm>
            <a:off x="2362200" y="5638800"/>
            <a:ext cx="42322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/>
              <a:t>MSB = </a:t>
            </a:r>
            <a:r>
              <a:rPr lang="pt-BR" altLang="pt-BR" sz="2700" i="1"/>
              <a:t>Most Significant Bit</a:t>
            </a:r>
          </a:p>
          <a:p>
            <a:pPr algn="l" eaLnBrk="1" hangingPunct="1"/>
            <a:r>
              <a:rPr lang="pt-BR" altLang="pt-BR" sz="2700"/>
              <a:t>LSB = </a:t>
            </a:r>
            <a:r>
              <a:rPr lang="pt-BR" altLang="pt-BR" sz="2700" i="1"/>
              <a:t>Least Significant Bit</a:t>
            </a:r>
            <a:endParaRPr lang="en-US" altLang="pt-BR" sz="2700" i="1"/>
          </a:p>
        </p:txBody>
      </p:sp>
    </p:spTree>
    <p:extLst>
      <p:ext uri="{BB962C8B-B14F-4D97-AF65-F5344CB8AC3E}">
        <p14:creationId xmlns:p14="http://schemas.microsoft.com/office/powerpoint/2010/main" val="2210403339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Sistemas de Numeração</a:t>
            </a:r>
            <a:br>
              <a:rPr lang="pt-BR" altLang="pt-BR" sz="3400"/>
            </a:br>
            <a:r>
              <a:rPr lang="pt-BR" altLang="pt-BR" sz="3400"/>
              <a:t>Octal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343400"/>
          </a:xfrm>
        </p:spPr>
        <p:txBody>
          <a:bodyPr/>
          <a:lstStyle/>
          <a:p>
            <a:pPr eaLnBrk="1" hangingPunct="1"/>
            <a:r>
              <a:rPr lang="pt-BR" altLang="pt-BR"/>
              <a:t>Sistema de base 8</a:t>
            </a:r>
          </a:p>
          <a:p>
            <a:pPr lvl="1" eaLnBrk="1" hangingPunct="1"/>
            <a:r>
              <a:rPr lang="pt-BR" altLang="pt-BR"/>
              <a:t>0,1,2,3,4,5,6 e 7</a:t>
            </a:r>
          </a:p>
          <a:p>
            <a:pPr eaLnBrk="1" hangingPunct="1"/>
            <a:r>
              <a:rPr lang="pt-BR" altLang="pt-BR"/>
              <a:t>Sistema pouco utilizado</a:t>
            </a:r>
          </a:p>
          <a:p>
            <a:pPr eaLnBrk="1" hangingPunct="1"/>
            <a:endParaRPr lang="pt-BR" altLang="pt-BR"/>
          </a:p>
          <a:p>
            <a:pPr lvl="1" eaLnBrk="1" hangingPunct="1"/>
            <a:endParaRPr lang="pt-BR" altLang="pt-BR" sz="1600" i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652602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Sistemas de Numeração</a:t>
            </a:r>
            <a:br>
              <a:rPr lang="pt-BR" altLang="pt-BR" sz="3400"/>
            </a:br>
            <a:r>
              <a:rPr lang="pt-BR" altLang="pt-BR" sz="3400"/>
              <a:t>Octal</a:t>
            </a:r>
          </a:p>
        </p:txBody>
      </p:sp>
      <p:graphicFrame>
        <p:nvGraphicFramePr>
          <p:cNvPr id="93298" name="Group 114"/>
          <p:cNvGraphicFramePr>
            <a:graphicFrameLocks noGrp="1"/>
          </p:cNvGraphicFramePr>
          <p:nvPr>
            <p:ph sz="half" idx="1"/>
          </p:nvPr>
        </p:nvGraphicFramePr>
        <p:xfrm>
          <a:off x="990600" y="2057400"/>
          <a:ext cx="2895600" cy="396240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30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Decimal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Octal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30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0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30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30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aphicFrame>
        <p:nvGraphicFramePr>
          <p:cNvPr id="93299" name="Group 115"/>
          <p:cNvGraphicFramePr>
            <a:graphicFrameLocks noGrp="1"/>
          </p:cNvGraphicFramePr>
          <p:nvPr>
            <p:ph sz="half" idx="2"/>
          </p:nvPr>
        </p:nvGraphicFramePr>
        <p:xfrm>
          <a:off x="5257800" y="2057400"/>
          <a:ext cx="2819400" cy="396240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Decimal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Octal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2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22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...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...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118438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Conversão</a:t>
            </a:r>
            <a:br>
              <a:rPr lang="pt-BR" altLang="pt-BR" sz="3400"/>
            </a:br>
            <a:r>
              <a:rPr lang="pt-BR" altLang="pt-BR" sz="3400"/>
              <a:t>Octal &gt; Decimal</a:t>
            </a:r>
          </a:p>
        </p:txBody>
      </p:sp>
      <p:graphicFrame>
        <p:nvGraphicFramePr>
          <p:cNvPr id="128003" name="Group 3"/>
          <p:cNvGraphicFramePr>
            <a:graphicFrameLocks noGrp="1"/>
          </p:cNvGraphicFramePr>
          <p:nvPr>
            <p:ph idx="1"/>
          </p:nvPr>
        </p:nvGraphicFramePr>
        <p:xfrm>
          <a:off x="457200" y="2514600"/>
          <a:ext cx="8229600" cy="1939926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0512" name="Text Box 32"/>
          <p:cNvSpPr txBox="1">
            <a:spLocks noChangeArrowheads="1"/>
          </p:cNvSpPr>
          <p:nvPr/>
        </p:nvSpPr>
        <p:spPr bwMode="auto">
          <a:xfrm>
            <a:off x="381000" y="1858963"/>
            <a:ext cx="41846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144 (Octal) para Decimal?</a:t>
            </a:r>
            <a:endParaRPr lang="en-US" altLang="pt-BR" sz="270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108369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Conversão</a:t>
            </a:r>
            <a:br>
              <a:rPr lang="pt-BR" altLang="pt-BR" sz="3400"/>
            </a:br>
            <a:r>
              <a:rPr lang="pt-BR" altLang="pt-BR" sz="3400"/>
              <a:t>Octal &gt; Decimal</a:t>
            </a:r>
          </a:p>
        </p:txBody>
      </p:sp>
      <p:graphicFrame>
        <p:nvGraphicFramePr>
          <p:cNvPr id="117803" name="Group 43"/>
          <p:cNvGraphicFramePr>
            <a:graphicFrameLocks noGrp="1"/>
          </p:cNvGraphicFramePr>
          <p:nvPr>
            <p:ph idx="1"/>
          </p:nvPr>
        </p:nvGraphicFramePr>
        <p:xfrm>
          <a:off x="457200" y="2514600"/>
          <a:ext cx="8229600" cy="1939926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1536" name="Text Box 41"/>
          <p:cNvSpPr txBox="1">
            <a:spLocks noChangeArrowheads="1"/>
          </p:cNvSpPr>
          <p:nvPr/>
        </p:nvSpPr>
        <p:spPr bwMode="auto">
          <a:xfrm>
            <a:off x="381000" y="1858963"/>
            <a:ext cx="41846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144 (Octal) para Decimal?</a:t>
            </a:r>
            <a:endParaRPr lang="en-US" altLang="pt-BR" sz="2700">
              <a:solidFill>
                <a:srgbClr val="FF3300"/>
              </a:solidFill>
            </a:endParaRPr>
          </a:p>
        </p:txBody>
      </p:sp>
      <p:sp>
        <p:nvSpPr>
          <p:cNvPr id="21537" name="Text Box 42"/>
          <p:cNvSpPr txBox="1">
            <a:spLocks noChangeArrowheads="1"/>
          </p:cNvSpPr>
          <p:nvPr/>
        </p:nvSpPr>
        <p:spPr bwMode="auto">
          <a:xfrm>
            <a:off x="2590800" y="5867400"/>
            <a:ext cx="62484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/>
              <a:t>1 x 8</a:t>
            </a:r>
            <a:r>
              <a:rPr lang="pt-BR" altLang="pt-BR" sz="2700" baseline="30000"/>
              <a:t>2</a:t>
            </a:r>
            <a:r>
              <a:rPr lang="pt-BR" altLang="pt-BR" sz="2700"/>
              <a:t> + 4 x 8</a:t>
            </a:r>
            <a:r>
              <a:rPr lang="pt-BR" altLang="pt-BR" sz="2700" baseline="30000"/>
              <a:t>1</a:t>
            </a:r>
            <a:r>
              <a:rPr lang="pt-BR" altLang="pt-BR" sz="2700"/>
              <a:t> + 4 x 8</a:t>
            </a:r>
            <a:r>
              <a:rPr lang="pt-BR" altLang="pt-BR" sz="2700" baseline="30000"/>
              <a:t>0</a:t>
            </a:r>
            <a:r>
              <a:rPr lang="pt-BR" altLang="pt-BR" sz="2700">
                <a:solidFill>
                  <a:srgbClr val="FF3300"/>
                </a:solidFill>
              </a:rPr>
              <a:t> = 100 (Decimal)</a:t>
            </a:r>
            <a:endParaRPr lang="en-US" altLang="pt-BR" sz="270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349770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9" descr="Digitalizar00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667000"/>
            <a:ext cx="6172200" cy="289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Conversão</a:t>
            </a:r>
            <a:br>
              <a:rPr lang="pt-BR" altLang="pt-BR" sz="3400"/>
            </a:br>
            <a:r>
              <a:rPr lang="pt-BR" altLang="pt-BR" sz="3400"/>
              <a:t>Decimal &gt; Octal</a:t>
            </a:r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381000" y="1858963"/>
            <a:ext cx="39941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92 (Decimal) para Octal?</a:t>
            </a:r>
            <a:endParaRPr lang="en-US" altLang="pt-BR" sz="2700">
              <a:solidFill>
                <a:srgbClr val="FF3300"/>
              </a:solidFill>
            </a:endParaRPr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6400800" y="6172200"/>
            <a:ext cx="19081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92</a:t>
            </a:r>
            <a:r>
              <a:rPr lang="pt-BR" altLang="pt-BR" sz="2700" baseline="-25000">
                <a:solidFill>
                  <a:srgbClr val="FF3300"/>
                </a:solidFill>
              </a:rPr>
              <a:t>10</a:t>
            </a:r>
            <a:r>
              <a:rPr lang="pt-BR" altLang="pt-BR" sz="2700">
                <a:solidFill>
                  <a:srgbClr val="FF3300"/>
                </a:solidFill>
              </a:rPr>
              <a:t> = 134</a:t>
            </a:r>
            <a:r>
              <a:rPr lang="pt-BR" altLang="pt-BR" sz="2700" baseline="-25000">
                <a:solidFill>
                  <a:srgbClr val="FF3300"/>
                </a:solidFill>
              </a:rPr>
              <a:t>8</a:t>
            </a:r>
            <a:endParaRPr lang="en-US" altLang="pt-BR" sz="2700" baseline="-25000">
              <a:solidFill>
                <a:srgbClr val="FF3300"/>
              </a:solidFill>
            </a:endParaRPr>
          </a:p>
        </p:txBody>
      </p:sp>
      <p:sp>
        <p:nvSpPr>
          <p:cNvPr id="22534" name="Line 6"/>
          <p:cNvSpPr>
            <a:spLocks noChangeShapeType="1"/>
          </p:cNvSpPr>
          <p:nvPr/>
        </p:nvSpPr>
        <p:spPr bwMode="auto">
          <a:xfrm flipH="1">
            <a:off x="6324600" y="5105400"/>
            <a:ext cx="9906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 flipH="1" flipV="1">
            <a:off x="4648200" y="3429000"/>
            <a:ext cx="1676400" cy="1676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46041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Sistemas de Numeração</a:t>
            </a:r>
            <a:br>
              <a:rPr lang="pt-BR" altLang="pt-BR" sz="3400"/>
            </a:br>
            <a:r>
              <a:rPr lang="pt-BR" altLang="pt-BR" sz="3400"/>
              <a:t>Hexadecimal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343400"/>
          </a:xfrm>
        </p:spPr>
        <p:txBody>
          <a:bodyPr/>
          <a:lstStyle/>
          <a:p>
            <a:pPr eaLnBrk="1" hangingPunct="1"/>
            <a:r>
              <a:rPr lang="pt-BR" altLang="pt-BR"/>
              <a:t>Sistema de base 16</a:t>
            </a:r>
          </a:p>
          <a:p>
            <a:pPr lvl="1" eaLnBrk="1" hangingPunct="1"/>
            <a:r>
              <a:rPr lang="pt-BR" altLang="pt-BR"/>
              <a:t>0,1,2,3,4,5,6,7,8,9,A,B,C,D,E e F</a:t>
            </a:r>
          </a:p>
          <a:p>
            <a:pPr eaLnBrk="1" hangingPunct="1"/>
            <a:endParaRPr lang="pt-BR" altLang="pt-BR"/>
          </a:p>
          <a:p>
            <a:pPr eaLnBrk="1" hangingPunct="1"/>
            <a:r>
              <a:rPr lang="pt-BR" altLang="pt-BR"/>
              <a:t>Muito utilizado na computação</a:t>
            </a:r>
          </a:p>
          <a:p>
            <a:pPr lvl="1" eaLnBrk="1" hangingPunct="1"/>
            <a:r>
              <a:rPr lang="pt-BR" altLang="pt-BR"/>
              <a:t>Computadores operam com múltiplos de 8</a:t>
            </a:r>
          </a:p>
          <a:p>
            <a:pPr lvl="2" eaLnBrk="1" hangingPunct="1"/>
            <a:r>
              <a:rPr lang="pt-BR" altLang="pt-BR"/>
              <a:t>8, 16, 32 e 64 </a:t>
            </a:r>
            <a:r>
              <a:rPr lang="pt-BR" altLang="pt-BR" i="1"/>
              <a:t>Bits</a:t>
            </a:r>
          </a:p>
          <a:p>
            <a:pPr lvl="1" eaLnBrk="1" hangingPunct="1"/>
            <a:endParaRPr lang="pt-BR" altLang="pt-BR" sz="1600" i="1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98125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Sistemas de Numeração</a:t>
            </a:r>
            <a:br>
              <a:rPr lang="pt-BR" altLang="pt-BR" sz="3400"/>
            </a:br>
            <a:r>
              <a:rPr lang="pt-BR" altLang="pt-BR" sz="3400"/>
              <a:t>Hexadecimal</a:t>
            </a:r>
          </a:p>
        </p:txBody>
      </p:sp>
      <p:graphicFrame>
        <p:nvGraphicFramePr>
          <p:cNvPr id="119885" name="Group 77"/>
          <p:cNvGraphicFramePr>
            <a:graphicFrameLocks noGrp="1"/>
          </p:cNvGraphicFramePr>
          <p:nvPr>
            <p:ph sz="half" idx="1"/>
          </p:nvPr>
        </p:nvGraphicFramePr>
        <p:xfrm>
          <a:off x="990600" y="2057400"/>
          <a:ext cx="2895600" cy="4359278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Decimal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Hexa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graphicFrame>
        <p:nvGraphicFramePr>
          <p:cNvPr id="119890" name="Group 82"/>
          <p:cNvGraphicFramePr>
            <a:graphicFrameLocks noGrp="1"/>
          </p:cNvGraphicFramePr>
          <p:nvPr>
            <p:ph sz="half" idx="2"/>
          </p:nvPr>
        </p:nvGraphicFramePr>
        <p:xfrm>
          <a:off x="5257800" y="2057400"/>
          <a:ext cx="2819400" cy="4359278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Decimal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Hexa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...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...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713064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Conversão</a:t>
            </a:r>
            <a:br>
              <a:rPr lang="pt-BR" altLang="pt-BR" sz="3400"/>
            </a:br>
            <a:r>
              <a:rPr lang="pt-BR" altLang="pt-BR" sz="3400"/>
              <a:t>Hexadecimal &gt; Decimal</a:t>
            </a:r>
          </a:p>
        </p:txBody>
      </p:sp>
      <p:graphicFrame>
        <p:nvGraphicFramePr>
          <p:cNvPr id="153603" name="Group 3"/>
          <p:cNvGraphicFramePr>
            <a:graphicFrameLocks noGrp="1"/>
          </p:cNvGraphicFramePr>
          <p:nvPr>
            <p:ph idx="1"/>
          </p:nvPr>
        </p:nvGraphicFramePr>
        <p:xfrm>
          <a:off x="457200" y="2514600"/>
          <a:ext cx="8229600" cy="1939926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5632" name="Text Box 32"/>
          <p:cNvSpPr txBox="1">
            <a:spLocks noChangeArrowheads="1"/>
          </p:cNvSpPr>
          <p:nvPr/>
        </p:nvSpPr>
        <p:spPr bwMode="auto">
          <a:xfrm>
            <a:off x="381000" y="1858963"/>
            <a:ext cx="54229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1C3 (Hexadecimal) para Decimal?</a:t>
            </a:r>
            <a:endParaRPr lang="en-US" altLang="pt-BR" sz="270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344678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Conversão</a:t>
            </a:r>
            <a:br>
              <a:rPr lang="pt-BR" altLang="pt-BR" sz="3400"/>
            </a:br>
            <a:r>
              <a:rPr lang="pt-BR" altLang="pt-BR" sz="3400"/>
              <a:t>Hexadecimal &gt; Decimal</a:t>
            </a:r>
          </a:p>
        </p:txBody>
      </p:sp>
      <p:graphicFrame>
        <p:nvGraphicFramePr>
          <p:cNvPr id="120835" name="Group 3"/>
          <p:cNvGraphicFramePr>
            <a:graphicFrameLocks noGrp="1"/>
          </p:cNvGraphicFramePr>
          <p:nvPr>
            <p:ph idx="1"/>
          </p:nvPr>
        </p:nvGraphicFramePr>
        <p:xfrm>
          <a:off x="457200" y="2514600"/>
          <a:ext cx="8229600" cy="1939926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  <a:r>
                        <a:rPr kumimoji="0" lang="pt-BR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US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69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C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6656" name="Text Box 32"/>
          <p:cNvSpPr txBox="1">
            <a:spLocks noChangeArrowheads="1"/>
          </p:cNvSpPr>
          <p:nvPr/>
        </p:nvSpPr>
        <p:spPr bwMode="auto">
          <a:xfrm>
            <a:off x="381000" y="1858963"/>
            <a:ext cx="54229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1C3 (Hexadecimal) para Decimal?</a:t>
            </a:r>
            <a:endParaRPr lang="en-US" altLang="pt-BR" sz="2700">
              <a:solidFill>
                <a:srgbClr val="FF3300"/>
              </a:solidFill>
            </a:endParaRPr>
          </a:p>
        </p:txBody>
      </p:sp>
      <p:sp>
        <p:nvSpPr>
          <p:cNvPr id="26657" name="Text Box 33"/>
          <p:cNvSpPr txBox="1">
            <a:spLocks noChangeArrowheads="1"/>
          </p:cNvSpPr>
          <p:nvPr/>
        </p:nvSpPr>
        <p:spPr bwMode="auto">
          <a:xfrm>
            <a:off x="1828800" y="5105400"/>
            <a:ext cx="7086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/>
              <a:t>1 x 16</a:t>
            </a:r>
            <a:r>
              <a:rPr lang="pt-BR" altLang="pt-BR" sz="2700" baseline="30000"/>
              <a:t>2</a:t>
            </a:r>
            <a:r>
              <a:rPr lang="pt-BR" altLang="pt-BR" sz="2700"/>
              <a:t> + C x 16</a:t>
            </a:r>
            <a:r>
              <a:rPr lang="pt-BR" altLang="pt-BR" sz="2700" baseline="30000"/>
              <a:t>1</a:t>
            </a:r>
            <a:r>
              <a:rPr lang="pt-BR" altLang="pt-BR" sz="2700"/>
              <a:t> + 3 x 16</a:t>
            </a:r>
            <a:r>
              <a:rPr lang="pt-BR" altLang="pt-BR" sz="2700" baseline="30000"/>
              <a:t>0</a:t>
            </a:r>
          </a:p>
          <a:p>
            <a:pPr algn="l" eaLnBrk="1" hangingPunct="1"/>
            <a:r>
              <a:rPr lang="pt-BR" altLang="pt-BR" sz="2700"/>
              <a:t>1 x 16</a:t>
            </a:r>
            <a:r>
              <a:rPr lang="pt-BR" altLang="pt-BR" sz="2700" baseline="30000"/>
              <a:t>2</a:t>
            </a:r>
            <a:r>
              <a:rPr lang="pt-BR" altLang="pt-BR" sz="2700"/>
              <a:t> + 12 x 16</a:t>
            </a:r>
            <a:r>
              <a:rPr lang="pt-BR" altLang="pt-BR" sz="2700" baseline="30000"/>
              <a:t>1</a:t>
            </a:r>
            <a:r>
              <a:rPr lang="pt-BR" altLang="pt-BR" sz="2700"/>
              <a:t> + 3 x 16</a:t>
            </a:r>
            <a:r>
              <a:rPr lang="pt-BR" altLang="pt-BR" sz="2700" baseline="30000"/>
              <a:t>0</a:t>
            </a:r>
            <a:r>
              <a:rPr lang="pt-BR" altLang="pt-BR" sz="2700">
                <a:solidFill>
                  <a:srgbClr val="FF3300"/>
                </a:solidFill>
              </a:rPr>
              <a:t> = 451 (Decimal)</a:t>
            </a:r>
            <a:endParaRPr lang="en-US" altLang="pt-BR" sz="270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381195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7" descr="Digitalizar0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667000"/>
            <a:ext cx="5486400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400"/>
              <a:t>Conversão</a:t>
            </a:r>
            <a:br>
              <a:rPr lang="pt-BR" altLang="pt-BR" sz="3400"/>
            </a:br>
            <a:r>
              <a:rPr lang="pt-BR" altLang="pt-BR" sz="3400"/>
              <a:t>Decimal &gt; Hexadecimal</a:t>
            </a:r>
          </a:p>
        </p:txBody>
      </p:sp>
      <p:sp>
        <p:nvSpPr>
          <p:cNvPr id="27652" name="Text Box 3"/>
          <p:cNvSpPr txBox="1">
            <a:spLocks noChangeArrowheads="1"/>
          </p:cNvSpPr>
          <p:nvPr/>
        </p:nvSpPr>
        <p:spPr bwMode="auto">
          <a:xfrm>
            <a:off x="381000" y="1858963"/>
            <a:ext cx="55562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1000 (Decimal) para Hexadecimal?</a:t>
            </a:r>
            <a:endParaRPr lang="en-US" altLang="pt-BR" sz="2700">
              <a:solidFill>
                <a:srgbClr val="FF3300"/>
              </a:solidFill>
            </a:endParaRPr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6400800" y="6172200"/>
            <a:ext cx="24765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hangingPunct="1"/>
            <a:r>
              <a:rPr lang="pt-BR" altLang="pt-BR" sz="2700">
                <a:solidFill>
                  <a:srgbClr val="FF3300"/>
                </a:solidFill>
              </a:rPr>
              <a:t>1000</a:t>
            </a:r>
            <a:r>
              <a:rPr lang="pt-BR" altLang="pt-BR" sz="2700" baseline="-25000">
                <a:solidFill>
                  <a:srgbClr val="FF3300"/>
                </a:solidFill>
              </a:rPr>
              <a:t>10</a:t>
            </a:r>
            <a:r>
              <a:rPr lang="pt-BR" altLang="pt-BR" sz="2700">
                <a:solidFill>
                  <a:srgbClr val="FF3300"/>
                </a:solidFill>
              </a:rPr>
              <a:t> = 3E8</a:t>
            </a:r>
            <a:r>
              <a:rPr lang="pt-BR" altLang="pt-BR" sz="2700" baseline="-25000">
                <a:solidFill>
                  <a:srgbClr val="FF3300"/>
                </a:solidFill>
              </a:rPr>
              <a:t>16</a:t>
            </a:r>
            <a:endParaRPr lang="en-US" altLang="pt-BR" sz="2700" baseline="-25000">
              <a:solidFill>
                <a:srgbClr val="FF3300"/>
              </a:solidFill>
            </a:endParaRPr>
          </a:p>
        </p:txBody>
      </p:sp>
      <p:sp>
        <p:nvSpPr>
          <p:cNvPr id="27654" name="Line 5"/>
          <p:cNvSpPr>
            <a:spLocks noChangeShapeType="1"/>
          </p:cNvSpPr>
          <p:nvPr/>
        </p:nvSpPr>
        <p:spPr bwMode="auto">
          <a:xfrm flipH="1">
            <a:off x="6019800" y="4546600"/>
            <a:ext cx="9906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7655" name="Line 6"/>
          <p:cNvSpPr>
            <a:spLocks noChangeShapeType="1"/>
          </p:cNvSpPr>
          <p:nvPr/>
        </p:nvSpPr>
        <p:spPr bwMode="auto">
          <a:xfrm flipH="1" flipV="1">
            <a:off x="4343400" y="2870200"/>
            <a:ext cx="1676400" cy="1676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313331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ítulo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6868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altLang="pt-BR"/>
              <a:t>Sistemas Digitais e </a:t>
            </a:r>
            <a:br>
              <a:rPr lang="pt-BR" altLang="pt-BR"/>
            </a:br>
            <a:r>
              <a:rPr lang="pt-BR" altLang="pt-BR"/>
              <a:t>Arquitetura de Computadores</a:t>
            </a:r>
            <a:endParaRPr lang="en-US" altLang="pt-BR"/>
          </a:p>
        </p:txBody>
      </p:sp>
      <p:sp>
        <p:nvSpPr>
          <p:cNvPr id="31747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2133600"/>
            <a:ext cx="8534400" cy="3997325"/>
          </a:xfrm>
        </p:spPr>
        <p:txBody>
          <a:bodyPr/>
          <a:lstStyle/>
          <a:p>
            <a:pPr eaLnBrk="1" hangingPunct="1"/>
            <a:r>
              <a:rPr lang="pt-BR" altLang="pt-BR"/>
              <a:t>Little x Big Endian</a:t>
            </a:r>
          </a:p>
          <a:p>
            <a:pPr lvl="1" eaLnBrk="1" hangingPunct="1"/>
            <a:r>
              <a:rPr lang="pt-BR" altLang="pt-BR"/>
              <a:t>Processadores Intel (little endian)</a:t>
            </a:r>
          </a:p>
          <a:p>
            <a:pPr lvl="1" eaLnBrk="1" hangingPunct="1"/>
            <a:r>
              <a:rPr lang="pt-BR" altLang="pt-BR"/>
              <a:t>Processadores Motorola (Big endian)</a:t>
            </a:r>
            <a:endParaRPr lang="en-US" altLang="pt-BR"/>
          </a:p>
        </p:txBody>
      </p:sp>
      <p:pic>
        <p:nvPicPr>
          <p:cNvPr id="3174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114800"/>
            <a:ext cx="7542213" cy="245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54116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6868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altLang="pt-BR"/>
              <a:t>Sistemas Digitais e </a:t>
            </a:r>
            <a:br>
              <a:rPr lang="pt-BR" altLang="pt-BR"/>
            </a:br>
            <a:r>
              <a:rPr lang="pt-BR" altLang="pt-BR"/>
              <a:t>Arquitetura de Computadores</a:t>
            </a:r>
            <a:endParaRPr lang="en-US" altLang="pt-BR"/>
          </a:p>
        </p:txBody>
      </p:sp>
      <p:sp>
        <p:nvSpPr>
          <p:cNvPr id="32771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2133600"/>
            <a:ext cx="8686800" cy="3997325"/>
          </a:xfrm>
        </p:spPr>
        <p:txBody>
          <a:bodyPr/>
          <a:lstStyle/>
          <a:p>
            <a:pPr eaLnBrk="1" hangingPunct="1"/>
            <a:r>
              <a:rPr lang="pt-BR" altLang="pt-BR"/>
              <a:t>O termo big endian tem sua origem no livro </a:t>
            </a:r>
            <a:r>
              <a:rPr lang="pt-BR" altLang="pt-BR" i="1"/>
              <a:t>As Viagens de Gulliver</a:t>
            </a:r>
            <a:r>
              <a:rPr lang="pt-BR" altLang="pt-BR"/>
              <a:t>, de </a:t>
            </a:r>
            <a:r>
              <a:rPr lang="pt-BR" altLang="pt-BR" i="1"/>
              <a:t>Jonathan Swift</a:t>
            </a:r>
            <a:r>
              <a:rPr lang="pt-BR" altLang="pt-BR"/>
              <a:t>. </a:t>
            </a:r>
          </a:p>
          <a:p>
            <a:pPr eaLnBrk="1" hangingPunct="1"/>
            <a:r>
              <a:rPr lang="pt-BR" altLang="pt-BR"/>
              <a:t>No livro, os </a:t>
            </a:r>
            <a:r>
              <a:rPr lang="pt-BR" altLang="pt-BR" i="1"/>
              <a:t>Big-Endians </a:t>
            </a:r>
            <a:r>
              <a:rPr lang="pt-BR" altLang="pt-BR"/>
              <a:t>são um grupo de pessoas que faziam oposição ao decreto do imperador.</a:t>
            </a:r>
          </a:p>
          <a:p>
            <a:pPr eaLnBrk="1" hangingPunct="1"/>
            <a:r>
              <a:rPr lang="en-US" altLang="pt-BR"/>
              <a:t>Sugestão de leitura:</a:t>
            </a:r>
          </a:p>
          <a:p>
            <a:pPr lvl="1" eaLnBrk="1" hangingPunct="1"/>
            <a:r>
              <a:rPr lang="en-US" altLang="pt-BR">
                <a:hlinkClick r:id="rId2"/>
              </a:rPr>
              <a:t>http://www.cs.umass.edu/~Verts/cs32/endian.html</a:t>
            </a:r>
            <a:endParaRPr lang="en-US" altLang="pt-BR"/>
          </a:p>
          <a:p>
            <a:pPr lvl="1" eaLnBrk="1" hangingPunct="1"/>
            <a:endParaRPr lang="en-US" altLang="pt-BR"/>
          </a:p>
          <a:p>
            <a:pPr lvl="1" eaLnBrk="1" hangingPunct="1"/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561704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Transformação Numérica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Hexadecimal para decimal:</a:t>
            </a:r>
          </a:p>
          <a:p>
            <a:pPr lvl="1" eaLnBrk="1" hangingPunct="1"/>
            <a:r>
              <a:rPr lang="pt-BR" altLang="pt-BR" smtClean="0"/>
              <a:t>Exercício:</a:t>
            </a:r>
          </a:p>
          <a:p>
            <a:pPr lvl="2" eaLnBrk="1" hangingPunct="1"/>
            <a:r>
              <a:rPr lang="pt-BR" altLang="pt-BR" smtClean="0"/>
              <a:t>2A (base 16) para decimal (base 10);</a:t>
            </a:r>
          </a:p>
          <a:p>
            <a:pPr lvl="2" eaLnBrk="1" hangingPunct="1"/>
            <a:r>
              <a:rPr lang="pt-BR" altLang="pt-BR" smtClean="0"/>
              <a:t>5B6F (base 16) para decimal (base 10);</a:t>
            </a:r>
          </a:p>
          <a:p>
            <a:pPr lvl="2" eaLnBrk="1" hangingPunct="1"/>
            <a:r>
              <a:rPr lang="pt-BR" altLang="pt-BR" smtClean="0"/>
              <a:t>1A2C (base 16) para decimal (base 10);</a:t>
            </a:r>
          </a:p>
          <a:p>
            <a:pPr lvl="1" eaLnBrk="1" hangingPunct="1"/>
            <a:endParaRPr lang="pt-BR" alt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Transformação Numérica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Hexadecimal para binário:</a:t>
            </a:r>
          </a:p>
          <a:p>
            <a:pPr lvl="1" eaLnBrk="1" hangingPunct="1"/>
            <a:r>
              <a:rPr lang="pt-BR" altLang="pt-BR" smtClean="0">
                <a:solidFill>
                  <a:schemeClr val="tx2"/>
                </a:solidFill>
              </a:rPr>
              <a:t>Separa se os algarismos</a:t>
            </a:r>
            <a:r>
              <a:rPr lang="pt-BR" altLang="pt-BR" smtClean="0"/>
              <a:t> do número hexadecimal e </a:t>
            </a:r>
            <a:r>
              <a:rPr lang="pt-BR" altLang="pt-BR" smtClean="0">
                <a:solidFill>
                  <a:schemeClr val="tx2"/>
                </a:solidFill>
              </a:rPr>
              <a:t>atribui o conjunto de quatro dígitos binários</a:t>
            </a:r>
            <a:r>
              <a:rPr lang="pt-BR" altLang="pt-BR" smtClean="0"/>
              <a:t> correspondentes;</a:t>
            </a:r>
          </a:p>
          <a:p>
            <a:pPr lvl="1" eaLnBrk="1" hangingPunct="1"/>
            <a:r>
              <a:rPr lang="pt-BR" altLang="pt-BR" smtClean="0"/>
              <a:t>EX:A56B (base 16) para binário (base 2):</a:t>
            </a:r>
          </a:p>
          <a:p>
            <a:pPr lvl="2" eaLnBrk="1" hangingPunct="1"/>
            <a:r>
              <a:rPr lang="pt-BR" altLang="pt-BR" smtClean="0"/>
              <a:t>  A        5       6       B</a:t>
            </a:r>
          </a:p>
          <a:p>
            <a:pPr lvl="2" eaLnBrk="1" hangingPunct="1"/>
            <a:r>
              <a:rPr lang="pt-BR" altLang="pt-BR" smtClean="0"/>
              <a:t>1010  0101  0110  1011</a:t>
            </a:r>
          </a:p>
          <a:p>
            <a:pPr lvl="2" eaLnBrk="1" hangingPunct="1"/>
            <a:r>
              <a:rPr lang="pt-BR" altLang="pt-BR" smtClean="0"/>
              <a:t>= </a:t>
            </a:r>
            <a:r>
              <a:rPr lang="pt-BR" altLang="pt-BR" b="1" smtClean="0">
                <a:solidFill>
                  <a:schemeClr val="tx2"/>
                </a:solidFill>
              </a:rPr>
              <a:t>1010010101101011</a:t>
            </a:r>
            <a:r>
              <a:rPr lang="pt-BR" altLang="pt-BR" smtClean="0"/>
              <a:t> (base 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Transformação Numérica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mtClean="0"/>
              <a:t>Hexadecimal para binário:</a:t>
            </a:r>
          </a:p>
          <a:p>
            <a:pPr lvl="1" eaLnBrk="1" hangingPunct="1"/>
            <a:r>
              <a:rPr lang="pt-BR" altLang="pt-BR" smtClean="0"/>
              <a:t>Exercício:</a:t>
            </a:r>
          </a:p>
          <a:p>
            <a:pPr lvl="2" eaLnBrk="1" hangingPunct="1"/>
            <a:r>
              <a:rPr lang="pt-BR" altLang="pt-BR" smtClean="0"/>
              <a:t>A2F7 (base 16) para binário (base 2);</a:t>
            </a:r>
          </a:p>
          <a:p>
            <a:pPr lvl="2" eaLnBrk="1" hangingPunct="1"/>
            <a:r>
              <a:rPr lang="pt-BR" altLang="pt-BR" smtClean="0"/>
              <a:t>851B (base 16) para binário (base 2);</a:t>
            </a:r>
          </a:p>
          <a:p>
            <a:pPr lvl="2" eaLnBrk="1" hangingPunct="1"/>
            <a:r>
              <a:rPr lang="pt-BR" altLang="pt-BR" smtClean="0"/>
              <a:t>10D (base 16) para binário (base 2);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pt-BR" altLang="pt-BR" smtClean="0"/>
          </a:p>
          <a:p>
            <a:pPr lvl="2" eaLnBrk="1" hangingPunct="1"/>
            <a:endParaRPr lang="pt-BR" altLang="pt-BR" smtClean="0"/>
          </a:p>
          <a:p>
            <a:pPr lvl="2" eaLnBrk="1" hangingPunct="1"/>
            <a:endParaRPr lang="pt-BR" alt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ível">
  <a:themeElements>
    <a:clrScheme name="Ní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Nível">
      <a:majorFont>
        <a:latin typeface="Garamond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Ní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í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í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í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í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í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í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í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1960</TotalTime>
  <Words>2237</Words>
  <Application>Microsoft Office PowerPoint</Application>
  <PresentationFormat>Apresentação na tela (4:3)</PresentationFormat>
  <Paragraphs>524</Paragraphs>
  <Slides>54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55" baseType="lpstr">
      <vt:lpstr>Nível</vt:lpstr>
      <vt:lpstr>Introdução a Tecnologia da Informação</vt:lpstr>
      <vt:lpstr>Sistema de Numeração</vt:lpstr>
      <vt:lpstr>Sistema de Numeração</vt:lpstr>
      <vt:lpstr>Sistema Decimal</vt:lpstr>
      <vt:lpstr>Sistema Decimal</vt:lpstr>
      <vt:lpstr>Sistema Decimal</vt:lpstr>
      <vt:lpstr>Sistema Decimal</vt:lpstr>
      <vt:lpstr>Sistema Binário</vt:lpstr>
      <vt:lpstr>Sistema Binário</vt:lpstr>
      <vt:lpstr>Sistema Hexadecimal</vt:lpstr>
      <vt:lpstr>Sistema Hexadecimal</vt:lpstr>
      <vt:lpstr>Sistema de Numeração</vt:lpstr>
      <vt:lpstr>Sistemas de Numeração </vt:lpstr>
      <vt:lpstr>Sistema Binário</vt:lpstr>
      <vt:lpstr>Sistema Octal</vt:lpstr>
      <vt:lpstr>Sistema Hexadecimal </vt:lpstr>
      <vt:lpstr>Números equivalentes com bases decimal, octal e hexadecimal</vt:lpstr>
      <vt:lpstr>Conversão de Bases de Sistemas Numéricos</vt:lpstr>
      <vt:lpstr>Conversão entre Números Binários e Decimais</vt:lpstr>
      <vt:lpstr>Conversão entre Números Binários e Decimais</vt:lpstr>
      <vt:lpstr>Transformação numérica</vt:lpstr>
      <vt:lpstr>Transformação numérica</vt:lpstr>
      <vt:lpstr>Transformação numérica</vt:lpstr>
      <vt:lpstr>Transformação numérica</vt:lpstr>
      <vt:lpstr>Transformação Numérica</vt:lpstr>
      <vt:lpstr>Transformação Numérica</vt:lpstr>
      <vt:lpstr>Transformação Numérica</vt:lpstr>
      <vt:lpstr>Transformação Numérica</vt:lpstr>
      <vt:lpstr>Transformação Numérica</vt:lpstr>
      <vt:lpstr>Transformação Numérica</vt:lpstr>
      <vt:lpstr>Sistemas de Numeração Binário</vt:lpstr>
      <vt:lpstr>Álgebra Booleana</vt:lpstr>
      <vt:lpstr>Sistemas de Numeração Binário</vt:lpstr>
      <vt:lpstr>Conversão Binário &gt; Decimal</vt:lpstr>
      <vt:lpstr>Conversão Binário &gt; Decimal</vt:lpstr>
      <vt:lpstr>Conversão Decimal &gt; Binário</vt:lpstr>
      <vt:lpstr>Conversão Decimal &gt; Binário</vt:lpstr>
      <vt:lpstr>Conversão Decimal &gt; Binário</vt:lpstr>
      <vt:lpstr>Conversão Decimal &gt; Binário</vt:lpstr>
      <vt:lpstr>Sistemas de Numeração Octal</vt:lpstr>
      <vt:lpstr>Sistemas de Numeração Octal</vt:lpstr>
      <vt:lpstr>Conversão Octal &gt; Decimal</vt:lpstr>
      <vt:lpstr>Conversão Octal &gt; Decimal</vt:lpstr>
      <vt:lpstr>Conversão Decimal &gt; Octal</vt:lpstr>
      <vt:lpstr>Sistemas de Numeração Hexadecimal</vt:lpstr>
      <vt:lpstr>Sistemas de Numeração Hexadecimal</vt:lpstr>
      <vt:lpstr>Conversão Hexadecimal &gt; Decimal</vt:lpstr>
      <vt:lpstr>Conversão Hexadecimal &gt; Decimal</vt:lpstr>
      <vt:lpstr>Conversão Decimal &gt; Hexadecimal</vt:lpstr>
      <vt:lpstr>Sistemas Digitais e  Arquitetura de Computadores</vt:lpstr>
      <vt:lpstr>Sistemas Digitais e  Arquitetura de Computadores</vt:lpstr>
      <vt:lpstr>Transformação Numérica</vt:lpstr>
      <vt:lpstr>Transformação Numérica</vt:lpstr>
      <vt:lpstr>Transformação Numérica</vt:lpstr>
    </vt:vector>
  </TitlesOfParts>
  <Company>CASA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Tecnologia da Informação</dc:title>
  <dc:creator>Jeime</dc:creator>
  <cp:lastModifiedBy>Ranieri Marinho de Souza</cp:lastModifiedBy>
  <cp:revision>160</cp:revision>
  <dcterms:created xsi:type="dcterms:W3CDTF">2011-03-30T13:24:29Z</dcterms:created>
  <dcterms:modified xsi:type="dcterms:W3CDTF">2023-09-13T12:27:19Z</dcterms:modified>
</cp:coreProperties>
</file>