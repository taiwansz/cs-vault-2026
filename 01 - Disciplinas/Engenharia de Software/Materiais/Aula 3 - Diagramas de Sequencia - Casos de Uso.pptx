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67"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3" r:id="rId36"/>
    <p:sldId id="294" r:id="rId37"/>
    <p:sldId id="295" r:id="rId38"/>
    <p:sldId id="296" r:id="rId39"/>
    <p:sldId id="297" r:id="rId40"/>
    <p:sldId id="298" r:id="rId41"/>
    <p:sldId id="299" r:id="rId42"/>
    <p:sldId id="300" r:id="rId43"/>
    <p:sldId id="301" r:id="rId44"/>
    <p:sldId id="303" r:id="rId45"/>
    <p:sldId id="302" r:id="rId4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405E1B-BF80-4D8A-9352-6089AA72FBEB}" type="datetimeFigureOut">
              <a:rPr lang="pt-BR" smtClean="0"/>
              <a:t>06/05/2024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8924F0-B47A-46C4-BE63-61F9716B2766}" type="slidenum">
              <a:rPr lang="pt-BR" smtClean="0"/>
              <a:t>‹nº›</a:t>
            </a:fld>
            <a:endParaRPr lang="pt-BR"/>
          </a:p>
        </p:txBody>
      </p:sp>
    </p:spTree>
    <p:extLst>
      <p:ext uri="{BB962C8B-B14F-4D97-AF65-F5344CB8AC3E}">
        <p14:creationId xmlns:p14="http://schemas.microsoft.com/office/powerpoint/2010/main" val="3484232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52ACF0-7B70-2DE3-2C77-A11AA7DEB0BC}"/>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61F606E8-68C4-C497-BCB1-62C4868F74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A66DFDFC-B097-C90E-B920-E71F453502C7}"/>
              </a:ext>
            </a:extLst>
          </p:cNvPr>
          <p:cNvSpPr>
            <a:spLocks noGrp="1"/>
          </p:cNvSpPr>
          <p:nvPr>
            <p:ph type="dt" sz="half" idx="10"/>
          </p:nvPr>
        </p:nvSpPr>
        <p:spPr/>
        <p:txBody>
          <a:bodyPr/>
          <a:lstStyle/>
          <a:p>
            <a:fld id="{DB7DB930-3F5C-45E8-A92A-879A1DE675AB}" type="datetime1">
              <a:rPr lang="pt-BR" smtClean="0"/>
              <a:t>06/05/2024</a:t>
            </a:fld>
            <a:endParaRPr lang="pt-BR"/>
          </a:p>
        </p:txBody>
      </p:sp>
      <p:sp>
        <p:nvSpPr>
          <p:cNvPr id="5" name="Espaço Reservado para Rodapé 4">
            <a:extLst>
              <a:ext uri="{FF2B5EF4-FFF2-40B4-BE49-F238E27FC236}">
                <a16:creationId xmlns:a16="http://schemas.microsoft.com/office/drawing/2014/main" id="{A231DAF5-CAEF-A780-1430-0B302362933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DC13FFC-B5E4-341C-65A5-D30AEABF7D74}"/>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2068287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714936-690C-213F-E717-95B304A888E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141DFBF2-28A7-BB3B-21D7-C7E0F0852C52}"/>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D86419E-A1DE-B2B5-B13A-D809B8AE1D12}"/>
              </a:ext>
            </a:extLst>
          </p:cNvPr>
          <p:cNvSpPr>
            <a:spLocks noGrp="1"/>
          </p:cNvSpPr>
          <p:nvPr>
            <p:ph type="dt" sz="half" idx="10"/>
          </p:nvPr>
        </p:nvSpPr>
        <p:spPr/>
        <p:txBody>
          <a:bodyPr/>
          <a:lstStyle/>
          <a:p>
            <a:fld id="{4202BF66-2CCF-49C4-BDA8-F3FD77CF9ED8}" type="datetime1">
              <a:rPr lang="pt-BR" smtClean="0"/>
              <a:t>06/05/2024</a:t>
            </a:fld>
            <a:endParaRPr lang="pt-BR"/>
          </a:p>
        </p:txBody>
      </p:sp>
      <p:sp>
        <p:nvSpPr>
          <p:cNvPr id="5" name="Espaço Reservado para Rodapé 4">
            <a:extLst>
              <a:ext uri="{FF2B5EF4-FFF2-40B4-BE49-F238E27FC236}">
                <a16:creationId xmlns:a16="http://schemas.microsoft.com/office/drawing/2014/main" id="{8E160612-8611-6BEB-6144-AAD69B70609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0167AEF-659A-0270-D181-BB49DA093E02}"/>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351204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C82D20-245D-46C9-768D-A33384D3925D}"/>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92EB4C4D-E424-2177-958F-D456BD7128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9EFA0576-679C-B149-9F7C-40AB2AC0F30B}"/>
              </a:ext>
            </a:extLst>
          </p:cNvPr>
          <p:cNvSpPr>
            <a:spLocks noGrp="1"/>
          </p:cNvSpPr>
          <p:nvPr>
            <p:ph type="dt" sz="half" idx="10"/>
          </p:nvPr>
        </p:nvSpPr>
        <p:spPr/>
        <p:txBody>
          <a:bodyPr/>
          <a:lstStyle/>
          <a:p>
            <a:fld id="{CEED41E1-F45E-49A2-A405-2B6FFFB577FC}" type="datetime1">
              <a:rPr lang="pt-BR" smtClean="0"/>
              <a:t>06/05/2024</a:t>
            </a:fld>
            <a:endParaRPr lang="pt-BR"/>
          </a:p>
        </p:txBody>
      </p:sp>
      <p:sp>
        <p:nvSpPr>
          <p:cNvPr id="5" name="Espaço Reservado para Rodapé 4">
            <a:extLst>
              <a:ext uri="{FF2B5EF4-FFF2-40B4-BE49-F238E27FC236}">
                <a16:creationId xmlns:a16="http://schemas.microsoft.com/office/drawing/2014/main" id="{E2BD1C26-1245-5B93-5A3C-E17F7833D1D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5578FC1-3708-7EEA-D10A-2EAB01DAC5F8}"/>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3250250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8975DB-444C-0C1C-59B6-F9C9BD53A20D}"/>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FC3C8D44-5D70-6DF1-3463-2003DE0D1DAE}"/>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CAF587BF-F3AE-160C-AA27-B1844B7BC409}"/>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DF09846B-F0E6-7085-D839-7BA197C1ADA4}"/>
              </a:ext>
            </a:extLst>
          </p:cNvPr>
          <p:cNvSpPr>
            <a:spLocks noGrp="1"/>
          </p:cNvSpPr>
          <p:nvPr>
            <p:ph type="dt" sz="half" idx="10"/>
          </p:nvPr>
        </p:nvSpPr>
        <p:spPr/>
        <p:txBody>
          <a:bodyPr/>
          <a:lstStyle/>
          <a:p>
            <a:fld id="{A12CBEF9-704C-4771-9461-305FC162FD44}" type="datetime1">
              <a:rPr lang="pt-BR" smtClean="0"/>
              <a:t>06/05/2024</a:t>
            </a:fld>
            <a:endParaRPr lang="pt-BR"/>
          </a:p>
        </p:txBody>
      </p:sp>
      <p:sp>
        <p:nvSpPr>
          <p:cNvPr id="6" name="Espaço Reservado para Rodapé 5">
            <a:extLst>
              <a:ext uri="{FF2B5EF4-FFF2-40B4-BE49-F238E27FC236}">
                <a16:creationId xmlns:a16="http://schemas.microsoft.com/office/drawing/2014/main" id="{0F7D97D8-2C72-4140-52C4-42BCD173665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1B6F7245-AC17-B13F-196F-CB0E128FCB18}"/>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1434780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036543-EA62-ABB6-89EE-917EBD99921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02E4046-68F5-4F4E-FE8C-16777734C8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7938F0C0-5383-400C-1E81-63F8D07F1C42}"/>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E7DA4EB8-BBB3-A894-25DE-758D64FAD5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8DC2FBDE-8890-BCD0-49DD-0903737FE3AF}"/>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9C2E9164-9694-B0E5-3E69-FB7CE17A385D}"/>
              </a:ext>
            </a:extLst>
          </p:cNvPr>
          <p:cNvSpPr>
            <a:spLocks noGrp="1"/>
          </p:cNvSpPr>
          <p:nvPr>
            <p:ph type="dt" sz="half" idx="10"/>
          </p:nvPr>
        </p:nvSpPr>
        <p:spPr/>
        <p:txBody>
          <a:bodyPr/>
          <a:lstStyle/>
          <a:p>
            <a:fld id="{ABD15308-59DF-4413-8D2F-D07CE36BDA1D}" type="datetime1">
              <a:rPr lang="pt-BR" smtClean="0"/>
              <a:t>06/05/2024</a:t>
            </a:fld>
            <a:endParaRPr lang="pt-BR"/>
          </a:p>
        </p:txBody>
      </p:sp>
      <p:sp>
        <p:nvSpPr>
          <p:cNvPr id="8" name="Espaço Reservado para Rodapé 7">
            <a:extLst>
              <a:ext uri="{FF2B5EF4-FFF2-40B4-BE49-F238E27FC236}">
                <a16:creationId xmlns:a16="http://schemas.microsoft.com/office/drawing/2014/main" id="{E1323F18-4E81-9F73-3833-404CB9B3B948}"/>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24E6D119-B484-1989-597B-098EE99CAC27}"/>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4032431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71690D-AF82-3825-B05A-179783E747B8}"/>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0E8F984-44E1-2A7F-6F8A-D18033B9BC0A}"/>
              </a:ext>
            </a:extLst>
          </p:cNvPr>
          <p:cNvSpPr>
            <a:spLocks noGrp="1"/>
          </p:cNvSpPr>
          <p:nvPr>
            <p:ph type="dt" sz="half" idx="10"/>
          </p:nvPr>
        </p:nvSpPr>
        <p:spPr/>
        <p:txBody>
          <a:bodyPr/>
          <a:lstStyle/>
          <a:p>
            <a:fld id="{73089796-D8E1-4C62-8DEB-2AFE7DC329F4}" type="datetime1">
              <a:rPr lang="pt-BR" smtClean="0"/>
              <a:t>06/05/2024</a:t>
            </a:fld>
            <a:endParaRPr lang="pt-BR"/>
          </a:p>
        </p:txBody>
      </p:sp>
      <p:sp>
        <p:nvSpPr>
          <p:cNvPr id="4" name="Espaço Reservado para Rodapé 3">
            <a:extLst>
              <a:ext uri="{FF2B5EF4-FFF2-40B4-BE49-F238E27FC236}">
                <a16:creationId xmlns:a16="http://schemas.microsoft.com/office/drawing/2014/main" id="{5BF60D23-1148-E94D-D7CF-65C1E4D8AA44}"/>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D97B951A-2854-6CE7-92D0-173C056FBC63}"/>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3465443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B3CE6908-CFCC-2AB9-3D11-4FCC52D4CD9D}"/>
              </a:ext>
            </a:extLst>
          </p:cNvPr>
          <p:cNvSpPr>
            <a:spLocks noGrp="1"/>
          </p:cNvSpPr>
          <p:nvPr>
            <p:ph type="dt" sz="half" idx="10"/>
          </p:nvPr>
        </p:nvSpPr>
        <p:spPr/>
        <p:txBody>
          <a:bodyPr/>
          <a:lstStyle/>
          <a:p>
            <a:fld id="{9516C578-D459-405D-B991-E1EA2A641F58}" type="datetime1">
              <a:rPr lang="pt-BR" smtClean="0"/>
              <a:t>06/05/2024</a:t>
            </a:fld>
            <a:endParaRPr lang="pt-BR"/>
          </a:p>
        </p:txBody>
      </p:sp>
      <p:sp>
        <p:nvSpPr>
          <p:cNvPr id="3" name="Espaço Reservado para Rodapé 2">
            <a:extLst>
              <a:ext uri="{FF2B5EF4-FFF2-40B4-BE49-F238E27FC236}">
                <a16:creationId xmlns:a16="http://schemas.microsoft.com/office/drawing/2014/main" id="{792B19B2-FB3C-A372-1058-D6E2C61D0087}"/>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ED07F95A-ECAC-EB5C-7AD5-8CF569692494}"/>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3358298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8FDD2E-F436-ECD1-44F2-E254EB34EAD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2224E040-C682-9E55-1BA5-D22254B74C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29769E9D-F85A-F17B-C047-3E15AE61D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674FB300-1F14-BD69-1A1B-349F79261C45}"/>
              </a:ext>
            </a:extLst>
          </p:cNvPr>
          <p:cNvSpPr>
            <a:spLocks noGrp="1"/>
          </p:cNvSpPr>
          <p:nvPr>
            <p:ph type="dt" sz="half" idx="10"/>
          </p:nvPr>
        </p:nvSpPr>
        <p:spPr/>
        <p:txBody>
          <a:bodyPr/>
          <a:lstStyle/>
          <a:p>
            <a:fld id="{B179024F-42FE-48DF-BCD4-41C251C1E62C}" type="datetime1">
              <a:rPr lang="pt-BR" smtClean="0"/>
              <a:t>06/05/2024</a:t>
            </a:fld>
            <a:endParaRPr lang="pt-BR"/>
          </a:p>
        </p:txBody>
      </p:sp>
      <p:sp>
        <p:nvSpPr>
          <p:cNvPr id="6" name="Espaço Reservado para Rodapé 5">
            <a:extLst>
              <a:ext uri="{FF2B5EF4-FFF2-40B4-BE49-F238E27FC236}">
                <a16:creationId xmlns:a16="http://schemas.microsoft.com/office/drawing/2014/main" id="{6958DA6A-2030-55ED-95DE-7B171516E6B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63DB6A7-0DBA-B3AB-5DE9-79007717978B}"/>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2976485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AE1ED8-E06D-A9A5-8DC1-B97180B1CD5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9F145C7-2208-DDB1-C941-A43108336C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DB698FE1-A992-768E-6834-F9F26C9AB2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8630C7E-2743-B0CC-D62B-1803D6DF558A}"/>
              </a:ext>
            </a:extLst>
          </p:cNvPr>
          <p:cNvSpPr>
            <a:spLocks noGrp="1"/>
          </p:cNvSpPr>
          <p:nvPr>
            <p:ph type="dt" sz="half" idx="10"/>
          </p:nvPr>
        </p:nvSpPr>
        <p:spPr/>
        <p:txBody>
          <a:bodyPr/>
          <a:lstStyle/>
          <a:p>
            <a:fld id="{7271E1B4-B019-4555-B63C-E94B6B198E90}" type="datetime1">
              <a:rPr lang="pt-BR" smtClean="0"/>
              <a:t>06/05/2024</a:t>
            </a:fld>
            <a:endParaRPr lang="pt-BR"/>
          </a:p>
        </p:txBody>
      </p:sp>
      <p:sp>
        <p:nvSpPr>
          <p:cNvPr id="6" name="Espaço Reservado para Rodapé 5">
            <a:extLst>
              <a:ext uri="{FF2B5EF4-FFF2-40B4-BE49-F238E27FC236}">
                <a16:creationId xmlns:a16="http://schemas.microsoft.com/office/drawing/2014/main" id="{CB74F5D2-83F8-A00A-48CF-B76F85B0351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F3027AD-99D1-5BC7-3178-A7E8E64CA9A2}"/>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29861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2AB691-3025-78C7-65E4-5ABBF25CEDAB}"/>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E69CB7E7-44B4-897E-E30B-1E130AEF6C46}"/>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7C349FC-F836-2B38-C58B-2604724076D8}"/>
              </a:ext>
            </a:extLst>
          </p:cNvPr>
          <p:cNvSpPr>
            <a:spLocks noGrp="1"/>
          </p:cNvSpPr>
          <p:nvPr>
            <p:ph type="dt" sz="half" idx="10"/>
          </p:nvPr>
        </p:nvSpPr>
        <p:spPr/>
        <p:txBody>
          <a:bodyPr/>
          <a:lstStyle/>
          <a:p>
            <a:fld id="{5A164D34-4253-46C1-8557-AA176824F88E}" type="datetime1">
              <a:rPr lang="pt-BR" smtClean="0"/>
              <a:t>06/05/2024</a:t>
            </a:fld>
            <a:endParaRPr lang="pt-BR"/>
          </a:p>
        </p:txBody>
      </p:sp>
      <p:sp>
        <p:nvSpPr>
          <p:cNvPr id="5" name="Espaço Reservado para Rodapé 4">
            <a:extLst>
              <a:ext uri="{FF2B5EF4-FFF2-40B4-BE49-F238E27FC236}">
                <a16:creationId xmlns:a16="http://schemas.microsoft.com/office/drawing/2014/main" id="{53C11E21-2DC8-985B-99B4-99AFE45E247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18A2A37-067D-9C81-A105-3C386D405202}"/>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1266188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2CA0215-41D6-BB31-29B3-D6BE8A95E227}"/>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5A4C518-0F73-6E0F-1A4C-1EABD6F772F0}"/>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5736B95-562D-CD0F-7F15-287FAB861677}"/>
              </a:ext>
            </a:extLst>
          </p:cNvPr>
          <p:cNvSpPr>
            <a:spLocks noGrp="1"/>
          </p:cNvSpPr>
          <p:nvPr>
            <p:ph type="dt" sz="half" idx="10"/>
          </p:nvPr>
        </p:nvSpPr>
        <p:spPr/>
        <p:txBody>
          <a:bodyPr/>
          <a:lstStyle/>
          <a:p>
            <a:fld id="{61FEA547-C9AD-4127-AD06-A509E1137891}" type="datetime1">
              <a:rPr lang="pt-BR" smtClean="0"/>
              <a:t>06/05/2024</a:t>
            </a:fld>
            <a:endParaRPr lang="pt-BR"/>
          </a:p>
        </p:txBody>
      </p:sp>
      <p:sp>
        <p:nvSpPr>
          <p:cNvPr id="5" name="Espaço Reservado para Rodapé 4">
            <a:extLst>
              <a:ext uri="{FF2B5EF4-FFF2-40B4-BE49-F238E27FC236}">
                <a16:creationId xmlns:a16="http://schemas.microsoft.com/office/drawing/2014/main" id="{94066120-9E53-5419-7050-BCE147AA758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4A3D599-3F00-938A-2362-48E2C8E1C663}"/>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976854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8833A8B8-C95D-521B-E62E-A0528B491A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B99B603E-CD82-6D5E-D15D-72F5F6EB00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369FB21-86E0-A96F-C63C-85B91637D4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5E9E22-D7ED-4457-B365-A8E6B20C1B3A}" type="datetime1">
              <a:rPr lang="pt-BR" smtClean="0"/>
              <a:t>06/05/2024</a:t>
            </a:fld>
            <a:endParaRPr lang="pt-BR"/>
          </a:p>
        </p:txBody>
      </p:sp>
      <p:sp>
        <p:nvSpPr>
          <p:cNvPr id="5" name="Espaço Reservado para Rodapé 4">
            <a:extLst>
              <a:ext uri="{FF2B5EF4-FFF2-40B4-BE49-F238E27FC236}">
                <a16:creationId xmlns:a16="http://schemas.microsoft.com/office/drawing/2014/main" id="{7FA5E439-A79F-CAAC-6921-ED652FEF8D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DB8D3C04-492A-CEB8-A9C0-167769B333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410D99-79D9-4AD1-9C9B-7AF9D3218DEC}" type="slidenum">
              <a:rPr lang="pt-BR" smtClean="0"/>
              <a:t>‹nº›</a:t>
            </a:fld>
            <a:endParaRPr lang="pt-BR"/>
          </a:p>
        </p:txBody>
      </p:sp>
    </p:spTree>
    <p:extLst>
      <p:ext uri="{BB962C8B-B14F-4D97-AF65-F5344CB8AC3E}">
        <p14:creationId xmlns:p14="http://schemas.microsoft.com/office/powerpoint/2010/main" val="20768098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ibm.com/docs/pt-br/rsm/7.5.0?topic=uml-sequence-diagrams" TargetMode="External"/><Relationship Id="rId2" Type="http://schemas.openxmlformats.org/officeDocument/2006/relationships/hyperlink" Target="https://www.uml.org/"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Rectangle 44">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7" name="Rectangle 46">
            <a:extLst>
              <a:ext uri="{FF2B5EF4-FFF2-40B4-BE49-F238E27FC236}">
                <a16:creationId xmlns:a16="http://schemas.microsoft.com/office/drawing/2014/main" id="{541CEA24-8518-4C08-A11E-B7E64FB31F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6A3BCA9-029F-B5AE-C429-A1B649166343}"/>
              </a:ext>
            </a:extLst>
          </p:cNvPr>
          <p:cNvSpPr>
            <a:spLocks noGrp="1"/>
          </p:cNvSpPr>
          <p:nvPr>
            <p:ph type="ctrTitle"/>
          </p:nvPr>
        </p:nvSpPr>
        <p:spPr>
          <a:xfrm>
            <a:off x="4918515" y="1416581"/>
            <a:ext cx="6092786" cy="2127287"/>
          </a:xfrm>
        </p:spPr>
        <p:txBody>
          <a:bodyPr anchor="b">
            <a:normAutofit/>
          </a:bodyPr>
          <a:lstStyle/>
          <a:p>
            <a:pPr algn="l"/>
            <a:r>
              <a:rPr lang="pt-BR" sz="4800" b="1" dirty="0"/>
              <a:t>Diagramas de Sequência</a:t>
            </a:r>
          </a:p>
        </p:txBody>
      </p:sp>
      <p:sp>
        <p:nvSpPr>
          <p:cNvPr id="3" name="Subtítulo 2">
            <a:extLst>
              <a:ext uri="{FF2B5EF4-FFF2-40B4-BE49-F238E27FC236}">
                <a16:creationId xmlns:a16="http://schemas.microsoft.com/office/drawing/2014/main" id="{D0A866C6-1C3A-DAB5-6EFA-91BEF921018E}"/>
              </a:ext>
            </a:extLst>
          </p:cNvPr>
          <p:cNvSpPr>
            <a:spLocks noGrp="1"/>
          </p:cNvSpPr>
          <p:nvPr>
            <p:ph type="subTitle" idx="1"/>
          </p:nvPr>
        </p:nvSpPr>
        <p:spPr>
          <a:xfrm>
            <a:off x="4918515" y="3764975"/>
            <a:ext cx="6092786" cy="2192683"/>
          </a:xfrm>
        </p:spPr>
        <p:txBody>
          <a:bodyPr>
            <a:normAutofit/>
          </a:bodyPr>
          <a:lstStyle/>
          <a:p>
            <a:pPr algn="l"/>
            <a:r>
              <a:rPr lang="pt-BR"/>
              <a:t>Prof. Wellington</a:t>
            </a:r>
          </a:p>
        </p:txBody>
      </p:sp>
      <p:cxnSp>
        <p:nvCxnSpPr>
          <p:cNvPr id="49" name="Straight Connector 48">
            <a:extLst>
              <a:ext uri="{FF2B5EF4-FFF2-40B4-BE49-F238E27FC236}">
                <a16:creationId xmlns:a16="http://schemas.microsoft.com/office/drawing/2014/main" id="{5D28AB17-F6FA-4C53-B3E3-D0A39D4A33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EFADC67-92A1-44FB-8691-D8CD71A21E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4AA74EAB-FD76-4F40-A962-CEADC3054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425172"/>
            <a:ext cx="1469410" cy="4695345"/>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7" name="Graphic 6" descr="Network Diagram">
            <a:extLst>
              <a:ext uri="{FF2B5EF4-FFF2-40B4-BE49-F238E27FC236}">
                <a16:creationId xmlns:a16="http://schemas.microsoft.com/office/drawing/2014/main" id="{89F2814E-6D85-C25D-D34F-C9F89D5E9D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2899" y="2355650"/>
            <a:ext cx="3756276" cy="3756276"/>
          </a:xfrm>
          <a:prstGeom prst="rect">
            <a:avLst/>
          </a:prstGeom>
        </p:spPr>
      </p:pic>
      <p:sp>
        <p:nvSpPr>
          <p:cNvPr id="4" name="Espaço Reservado para Número de Slide 3">
            <a:extLst>
              <a:ext uri="{FF2B5EF4-FFF2-40B4-BE49-F238E27FC236}">
                <a16:creationId xmlns:a16="http://schemas.microsoft.com/office/drawing/2014/main" id="{3219933F-5048-F2D7-4853-B1A0E4A023D1}"/>
              </a:ext>
            </a:extLst>
          </p:cNvPr>
          <p:cNvSpPr>
            <a:spLocks noGrp="1"/>
          </p:cNvSpPr>
          <p:nvPr>
            <p:ph type="sldNum" sz="quarter" idx="12"/>
          </p:nvPr>
        </p:nvSpPr>
        <p:spPr/>
        <p:txBody>
          <a:bodyPr/>
          <a:lstStyle/>
          <a:p>
            <a:fld id="{57410D99-79D9-4AD1-9C9B-7AF9D3218DEC}" type="slidenum">
              <a:rPr lang="pt-BR" smtClean="0"/>
              <a:t>1</a:t>
            </a:fld>
            <a:endParaRPr lang="pt-BR"/>
          </a:p>
        </p:txBody>
      </p:sp>
    </p:spTree>
    <p:extLst>
      <p:ext uri="{BB962C8B-B14F-4D97-AF65-F5344CB8AC3E}">
        <p14:creationId xmlns:p14="http://schemas.microsoft.com/office/powerpoint/2010/main" val="390214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A199B-6F00-CDFB-A104-14854D59AC43}"/>
              </a:ext>
            </a:extLst>
          </p:cNvPr>
          <p:cNvSpPr>
            <a:spLocks noGrp="1"/>
          </p:cNvSpPr>
          <p:nvPr>
            <p:ph type="title"/>
          </p:nvPr>
        </p:nvSpPr>
        <p:spPr/>
        <p:txBody>
          <a:bodyPr/>
          <a:lstStyle/>
          <a:p>
            <a:r>
              <a:rPr lang="pt-BR"/>
              <a:t>Definição</a:t>
            </a:r>
            <a:endParaRPr lang="pt-BR" dirty="0"/>
          </a:p>
        </p:txBody>
      </p:sp>
      <p:sp>
        <p:nvSpPr>
          <p:cNvPr id="3" name="Espaço Reservado para Conteúdo 2">
            <a:extLst>
              <a:ext uri="{FF2B5EF4-FFF2-40B4-BE49-F238E27FC236}">
                <a16:creationId xmlns:a16="http://schemas.microsoft.com/office/drawing/2014/main" id="{A96AF997-C997-624C-60BE-50502C5F02FD}"/>
              </a:ext>
            </a:extLst>
          </p:cNvPr>
          <p:cNvSpPr>
            <a:spLocks noGrp="1"/>
          </p:cNvSpPr>
          <p:nvPr>
            <p:ph idx="1"/>
          </p:nvPr>
        </p:nvSpPr>
        <p:spPr/>
        <p:txBody>
          <a:bodyPr/>
          <a:lstStyle/>
          <a:p>
            <a:r>
              <a:rPr lang="pt-BR" dirty="0"/>
              <a:t>Um </a:t>
            </a:r>
            <a:r>
              <a:rPr lang="pt-BR" b="1" dirty="0"/>
              <a:t>diagrama de sequência </a:t>
            </a:r>
            <a:r>
              <a:rPr lang="pt-BR" dirty="0"/>
              <a:t>é uma ferramenta de modelagem visual que descreve a interação entre objetos em um sistema ao longo do tempo, mostrando a ordem das mensagens trocadas entre eles. </a:t>
            </a:r>
          </a:p>
          <a:p>
            <a:r>
              <a:rPr lang="pt-BR" dirty="0"/>
              <a:t>Ele é frequentemente usado em engenharia de software para visualizar o comportamento dinâmico de um sistema, especialmente em sistemas </a:t>
            </a:r>
            <a:r>
              <a:rPr lang="pt-BR" b="1" dirty="0"/>
              <a:t>orientados a objetos</a:t>
            </a:r>
            <a:r>
              <a:rPr lang="pt-BR" dirty="0"/>
              <a:t>.</a:t>
            </a:r>
          </a:p>
        </p:txBody>
      </p:sp>
      <p:sp>
        <p:nvSpPr>
          <p:cNvPr id="4" name="Espaço Reservado para Número de Slide 3">
            <a:extLst>
              <a:ext uri="{FF2B5EF4-FFF2-40B4-BE49-F238E27FC236}">
                <a16:creationId xmlns:a16="http://schemas.microsoft.com/office/drawing/2014/main" id="{772957E6-7520-3573-1F34-29B0A616A93F}"/>
              </a:ext>
            </a:extLst>
          </p:cNvPr>
          <p:cNvSpPr>
            <a:spLocks noGrp="1"/>
          </p:cNvSpPr>
          <p:nvPr>
            <p:ph type="sldNum" sz="quarter" idx="12"/>
          </p:nvPr>
        </p:nvSpPr>
        <p:spPr/>
        <p:txBody>
          <a:bodyPr/>
          <a:lstStyle/>
          <a:p>
            <a:fld id="{57410D99-79D9-4AD1-9C9B-7AF9D3218DEC}" type="slidenum">
              <a:rPr lang="pt-BR" smtClean="0"/>
              <a:t>2</a:t>
            </a:fld>
            <a:endParaRPr lang="pt-BR"/>
          </a:p>
        </p:txBody>
      </p:sp>
    </p:spTree>
    <p:extLst>
      <p:ext uri="{BB962C8B-B14F-4D97-AF65-F5344CB8AC3E}">
        <p14:creationId xmlns:p14="http://schemas.microsoft.com/office/powerpoint/2010/main" val="2554308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23BFB7-EAF4-F4FC-25BE-63D7B2D30748}"/>
              </a:ext>
            </a:extLst>
          </p:cNvPr>
          <p:cNvSpPr>
            <a:spLocks noGrp="1"/>
          </p:cNvSpPr>
          <p:nvPr>
            <p:ph type="title"/>
          </p:nvPr>
        </p:nvSpPr>
        <p:spPr/>
        <p:txBody>
          <a:bodyPr/>
          <a:lstStyle/>
          <a:p>
            <a:r>
              <a:rPr lang="pt-BR"/>
              <a:t>Definição</a:t>
            </a:r>
            <a:endParaRPr lang="pt-BR" dirty="0"/>
          </a:p>
        </p:txBody>
      </p:sp>
      <p:sp>
        <p:nvSpPr>
          <p:cNvPr id="3" name="Espaço Reservado para Conteúdo 2">
            <a:extLst>
              <a:ext uri="{FF2B5EF4-FFF2-40B4-BE49-F238E27FC236}">
                <a16:creationId xmlns:a16="http://schemas.microsoft.com/office/drawing/2014/main" id="{8C0D6148-940F-40E6-A4CE-79DB756A6203}"/>
              </a:ext>
            </a:extLst>
          </p:cNvPr>
          <p:cNvSpPr>
            <a:spLocks noGrp="1"/>
          </p:cNvSpPr>
          <p:nvPr>
            <p:ph idx="1"/>
          </p:nvPr>
        </p:nvSpPr>
        <p:spPr/>
        <p:txBody>
          <a:bodyPr/>
          <a:lstStyle/>
          <a:p>
            <a:r>
              <a:rPr lang="pt-BR" b="0" i="0" dirty="0">
                <a:solidFill>
                  <a:srgbClr val="0D0D0D"/>
                </a:solidFill>
                <a:effectLst/>
                <a:highlight>
                  <a:srgbClr val="FFFFFF"/>
                </a:highlight>
                <a:latin typeface="Söhne"/>
              </a:rPr>
              <a:t>No diagrama, os </a:t>
            </a:r>
            <a:r>
              <a:rPr lang="pt-BR" b="1" i="0" dirty="0">
                <a:solidFill>
                  <a:srgbClr val="0D0D0D"/>
                </a:solidFill>
                <a:effectLst/>
                <a:highlight>
                  <a:srgbClr val="FFFFFF"/>
                </a:highlight>
                <a:latin typeface="Söhne"/>
              </a:rPr>
              <a:t>objetos</a:t>
            </a:r>
            <a:r>
              <a:rPr lang="pt-BR" b="0" i="0" dirty="0">
                <a:solidFill>
                  <a:srgbClr val="0D0D0D"/>
                </a:solidFill>
                <a:effectLst/>
                <a:highlight>
                  <a:srgbClr val="FFFFFF"/>
                </a:highlight>
                <a:latin typeface="Söhne"/>
              </a:rPr>
              <a:t> são representados por caixas verticais, e as mensagens entre eles são representadas por setas horizontais, mostrando a troca de mensagens e a ordem em que ocorrem. </a:t>
            </a:r>
          </a:p>
          <a:p>
            <a:r>
              <a:rPr lang="pt-BR" b="0" i="0" dirty="0">
                <a:solidFill>
                  <a:srgbClr val="0D0D0D"/>
                </a:solidFill>
                <a:effectLst/>
                <a:highlight>
                  <a:srgbClr val="FFFFFF"/>
                </a:highlight>
                <a:latin typeface="Söhne"/>
              </a:rPr>
              <a:t>Os diagramas de sequência são úteis para entender o fluxo de controle dentro de um sistema e para identificar como os diferentes objetos colaboram para realizar uma funcionalidade específica.</a:t>
            </a:r>
          </a:p>
          <a:p>
            <a:r>
              <a:rPr lang="pt-BR" b="1" dirty="0">
                <a:solidFill>
                  <a:srgbClr val="0D0D0D"/>
                </a:solidFill>
                <a:highlight>
                  <a:srgbClr val="FFFFFF"/>
                </a:highlight>
                <a:latin typeface="Söhne"/>
              </a:rPr>
              <a:t>Os Casos de Uso são refinados em um ou mais Diagramas de Sequência.</a:t>
            </a:r>
            <a:endParaRPr lang="pt-BR" b="1" dirty="0"/>
          </a:p>
        </p:txBody>
      </p:sp>
      <p:sp>
        <p:nvSpPr>
          <p:cNvPr id="4" name="Espaço Reservado para Número de Slide 3">
            <a:extLst>
              <a:ext uri="{FF2B5EF4-FFF2-40B4-BE49-F238E27FC236}">
                <a16:creationId xmlns:a16="http://schemas.microsoft.com/office/drawing/2014/main" id="{A1FF5C07-1D2C-E2F3-F488-FD96E852466C}"/>
              </a:ext>
            </a:extLst>
          </p:cNvPr>
          <p:cNvSpPr>
            <a:spLocks noGrp="1"/>
          </p:cNvSpPr>
          <p:nvPr>
            <p:ph type="sldNum" sz="quarter" idx="12"/>
          </p:nvPr>
        </p:nvSpPr>
        <p:spPr/>
        <p:txBody>
          <a:bodyPr/>
          <a:lstStyle/>
          <a:p>
            <a:fld id="{57410D99-79D9-4AD1-9C9B-7AF9D3218DEC}" type="slidenum">
              <a:rPr lang="pt-BR" smtClean="0"/>
              <a:t>3</a:t>
            </a:fld>
            <a:endParaRPr lang="pt-BR"/>
          </a:p>
        </p:txBody>
      </p:sp>
    </p:spTree>
    <p:extLst>
      <p:ext uri="{BB962C8B-B14F-4D97-AF65-F5344CB8AC3E}">
        <p14:creationId xmlns:p14="http://schemas.microsoft.com/office/powerpoint/2010/main" val="4042107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EB1442-EE5A-43AD-A989-E93CA7BCAB50}"/>
              </a:ext>
            </a:extLst>
          </p:cNvPr>
          <p:cNvSpPr>
            <a:spLocks noGrp="1"/>
          </p:cNvSpPr>
          <p:nvPr>
            <p:ph type="title"/>
          </p:nvPr>
        </p:nvSpPr>
        <p:spPr/>
        <p:txBody>
          <a:bodyPr/>
          <a:lstStyle/>
          <a:p>
            <a:r>
              <a:rPr lang="pt-BR" dirty="0"/>
              <a:t>Aplicações</a:t>
            </a:r>
          </a:p>
        </p:txBody>
      </p:sp>
      <p:sp>
        <p:nvSpPr>
          <p:cNvPr id="3" name="Espaço Reservado para Conteúdo 2">
            <a:extLst>
              <a:ext uri="{FF2B5EF4-FFF2-40B4-BE49-F238E27FC236}">
                <a16:creationId xmlns:a16="http://schemas.microsoft.com/office/drawing/2014/main" id="{C34ED30E-8F5C-F8A2-6016-ECB48EFA902A}"/>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1 - Modelagem de Comportamento de Software</a:t>
            </a:r>
            <a:endParaRPr lang="pt-BR" dirty="0">
              <a:solidFill>
                <a:srgbClr val="0D0D0D"/>
              </a:solidFill>
              <a:highlight>
                <a:srgbClr val="FFFFFF"/>
              </a:highlight>
              <a:latin typeface="Söhne"/>
            </a:endParaRPr>
          </a:p>
          <a:p>
            <a:r>
              <a:rPr lang="pt-BR" b="0" i="0" dirty="0">
                <a:solidFill>
                  <a:srgbClr val="0D0D0D"/>
                </a:solidFill>
                <a:effectLst/>
                <a:highlight>
                  <a:srgbClr val="FFFFFF"/>
                </a:highlight>
                <a:latin typeface="Söhne"/>
              </a:rPr>
              <a:t>Os diagramas de sequência são amplamente utilizados para modelar o comportamento dinâmico de sistemas de software, especialmente em sistemas orientados a objetos. </a:t>
            </a:r>
          </a:p>
          <a:p>
            <a:r>
              <a:rPr lang="pt-BR" b="0" i="0" dirty="0">
                <a:solidFill>
                  <a:srgbClr val="0D0D0D"/>
                </a:solidFill>
                <a:effectLst/>
                <a:highlight>
                  <a:srgbClr val="FFFFFF"/>
                </a:highlight>
                <a:latin typeface="Söhne"/>
              </a:rPr>
              <a:t>Eles ajudam a visualizar como os diferentes objetos interagem e colaboram para realizar uma funcionalidade específica.</a:t>
            </a:r>
          </a:p>
          <a:p>
            <a:endParaRPr lang="pt-BR" dirty="0"/>
          </a:p>
        </p:txBody>
      </p:sp>
      <p:sp>
        <p:nvSpPr>
          <p:cNvPr id="4" name="Espaço Reservado para Número de Slide 3">
            <a:extLst>
              <a:ext uri="{FF2B5EF4-FFF2-40B4-BE49-F238E27FC236}">
                <a16:creationId xmlns:a16="http://schemas.microsoft.com/office/drawing/2014/main" id="{4F7EF315-C488-43D6-DDC3-8D77218BAA9D}"/>
              </a:ext>
            </a:extLst>
          </p:cNvPr>
          <p:cNvSpPr>
            <a:spLocks noGrp="1"/>
          </p:cNvSpPr>
          <p:nvPr>
            <p:ph type="sldNum" sz="quarter" idx="12"/>
          </p:nvPr>
        </p:nvSpPr>
        <p:spPr/>
        <p:txBody>
          <a:bodyPr/>
          <a:lstStyle/>
          <a:p>
            <a:fld id="{57410D99-79D9-4AD1-9C9B-7AF9D3218DEC}" type="slidenum">
              <a:rPr lang="pt-BR" smtClean="0"/>
              <a:t>4</a:t>
            </a:fld>
            <a:endParaRPr lang="pt-BR"/>
          </a:p>
        </p:txBody>
      </p:sp>
    </p:spTree>
    <p:extLst>
      <p:ext uri="{BB962C8B-B14F-4D97-AF65-F5344CB8AC3E}">
        <p14:creationId xmlns:p14="http://schemas.microsoft.com/office/powerpoint/2010/main" val="3069391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B02CBB-D7FB-C34E-ED27-D711D31FB717}"/>
              </a:ext>
            </a:extLst>
          </p:cNvPr>
          <p:cNvSpPr>
            <a:spLocks noGrp="1"/>
          </p:cNvSpPr>
          <p:nvPr>
            <p:ph type="title"/>
          </p:nvPr>
        </p:nvSpPr>
        <p:spPr/>
        <p:txBody>
          <a:bodyPr/>
          <a:lstStyle/>
          <a:p>
            <a:r>
              <a:rPr lang="pt-BR" dirty="0"/>
              <a:t>Aplicações</a:t>
            </a:r>
          </a:p>
        </p:txBody>
      </p:sp>
      <p:sp>
        <p:nvSpPr>
          <p:cNvPr id="3" name="Espaço Reservado para Conteúdo 2">
            <a:extLst>
              <a:ext uri="{FF2B5EF4-FFF2-40B4-BE49-F238E27FC236}">
                <a16:creationId xmlns:a16="http://schemas.microsoft.com/office/drawing/2014/main" id="{352DD3D5-0A84-6C42-4F3E-2BB7C21BDB97}"/>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2 - Design de Sistemas</a:t>
            </a:r>
          </a:p>
          <a:p>
            <a:r>
              <a:rPr lang="pt-BR" b="0" i="0" dirty="0">
                <a:solidFill>
                  <a:srgbClr val="0D0D0D"/>
                </a:solidFill>
                <a:effectLst/>
                <a:highlight>
                  <a:srgbClr val="FFFFFF"/>
                </a:highlight>
                <a:latin typeface="Söhne"/>
              </a:rPr>
              <a:t>Durante a fase de “</a:t>
            </a:r>
            <a:r>
              <a:rPr lang="pt-BR" b="1" i="0" dirty="0">
                <a:solidFill>
                  <a:srgbClr val="0D0D0D"/>
                </a:solidFill>
                <a:effectLst/>
                <a:highlight>
                  <a:srgbClr val="FFFFFF"/>
                </a:highlight>
                <a:latin typeface="Söhne"/>
              </a:rPr>
              <a:t>design de software</a:t>
            </a:r>
            <a:r>
              <a:rPr lang="pt-BR" b="0" i="0" dirty="0">
                <a:solidFill>
                  <a:srgbClr val="0D0D0D"/>
                </a:solidFill>
                <a:effectLst/>
                <a:highlight>
                  <a:srgbClr val="FFFFFF"/>
                </a:highlight>
                <a:latin typeface="Söhne"/>
              </a:rPr>
              <a:t>”, os diagramas de sequência são úteis para definir e refinar a arquitetura do sistema, ajudando os desenvolvedores a entender como os componentes do sistema se comunicam entre si.</a:t>
            </a:r>
          </a:p>
          <a:p>
            <a:endParaRPr lang="pt-BR" dirty="0"/>
          </a:p>
        </p:txBody>
      </p:sp>
      <p:sp>
        <p:nvSpPr>
          <p:cNvPr id="4" name="Espaço Reservado para Número de Slide 3">
            <a:extLst>
              <a:ext uri="{FF2B5EF4-FFF2-40B4-BE49-F238E27FC236}">
                <a16:creationId xmlns:a16="http://schemas.microsoft.com/office/drawing/2014/main" id="{4FA3B33A-3B4D-558A-52C9-B0B17BA123C7}"/>
              </a:ext>
            </a:extLst>
          </p:cNvPr>
          <p:cNvSpPr>
            <a:spLocks noGrp="1"/>
          </p:cNvSpPr>
          <p:nvPr>
            <p:ph type="sldNum" sz="quarter" idx="12"/>
          </p:nvPr>
        </p:nvSpPr>
        <p:spPr/>
        <p:txBody>
          <a:bodyPr/>
          <a:lstStyle/>
          <a:p>
            <a:fld id="{57410D99-79D9-4AD1-9C9B-7AF9D3218DEC}" type="slidenum">
              <a:rPr lang="pt-BR" smtClean="0"/>
              <a:t>5</a:t>
            </a:fld>
            <a:endParaRPr lang="pt-BR"/>
          </a:p>
        </p:txBody>
      </p:sp>
    </p:spTree>
    <p:extLst>
      <p:ext uri="{BB962C8B-B14F-4D97-AF65-F5344CB8AC3E}">
        <p14:creationId xmlns:p14="http://schemas.microsoft.com/office/powerpoint/2010/main" val="1698085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0E09CB-3E02-A971-E87B-0EE08C025409}"/>
              </a:ext>
            </a:extLst>
          </p:cNvPr>
          <p:cNvSpPr>
            <a:spLocks noGrp="1"/>
          </p:cNvSpPr>
          <p:nvPr>
            <p:ph type="title"/>
          </p:nvPr>
        </p:nvSpPr>
        <p:spPr/>
        <p:txBody>
          <a:bodyPr/>
          <a:lstStyle/>
          <a:p>
            <a:r>
              <a:rPr lang="pt-BR" dirty="0"/>
              <a:t>Aplicações</a:t>
            </a:r>
          </a:p>
        </p:txBody>
      </p:sp>
      <p:sp>
        <p:nvSpPr>
          <p:cNvPr id="3" name="Espaço Reservado para Conteúdo 2">
            <a:extLst>
              <a:ext uri="{FF2B5EF4-FFF2-40B4-BE49-F238E27FC236}">
                <a16:creationId xmlns:a16="http://schemas.microsoft.com/office/drawing/2014/main" id="{E10354B3-F115-9192-B76D-1F6467799DD5}"/>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3 - Documentação de Sistemas</a:t>
            </a:r>
            <a:endParaRPr lang="pt-BR" dirty="0">
              <a:solidFill>
                <a:srgbClr val="0D0D0D"/>
              </a:solidFill>
              <a:highlight>
                <a:srgbClr val="FFFFFF"/>
              </a:highlight>
              <a:latin typeface="Söhne"/>
            </a:endParaRPr>
          </a:p>
          <a:p>
            <a:r>
              <a:rPr lang="pt-BR" b="0" i="0" dirty="0">
                <a:solidFill>
                  <a:srgbClr val="0D0D0D"/>
                </a:solidFill>
                <a:effectLst/>
                <a:highlight>
                  <a:srgbClr val="FFFFFF"/>
                </a:highlight>
                <a:latin typeface="Söhne"/>
              </a:rPr>
              <a:t>Os diagramas de sequência são uma forma eficaz de documentar o comportamento de um sistema de software. </a:t>
            </a:r>
          </a:p>
          <a:p>
            <a:r>
              <a:rPr lang="pt-BR" b="0" i="0" dirty="0">
                <a:solidFill>
                  <a:srgbClr val="0D0D0D"/>
                </a:solidFill>
                <a:effectLst/>
                <a:highlight>
                  <a:srgbClr val="FFFFFF"/>
                </a:highlight>
                <a:latin typeface="Söhne"/>
              </a:rPr>
              <a:t>Eles podem ser incluídos em documentações técnicas, manuais de usuário e outros artefatos de documentação para fornecer uma visão clara do fluxo de interação entre os diferentes componentes do sistema.</a:t>
            </a:r>
          </a:p>
          <a:p>
            <a:endParaRPr lang="pt-BR" dirty="0"/>
          </a:p>
        </p:txBody>
      </p:sp>
      <p:sp>
        <p:nvSpPr>
          <p:cNvPr id="4" name="Espaço Reservado para Número de Slide 3">
            <a:extLst>
              <a:ext uri="{FF2B5EF4-FFF2-40B4-BE49-F238E27FC236}">
                <a16:creationId xmlns:a16="http://schemas.microsoft.com/office/drawing/2014/main" id="{6E93E75F-F191-7689-B403-1BAE9545019D}"/>
              </a:ext>
            </a:extLst>
          </p:cNvPr>
          <p:cNvSpPr>
            <a:spLocks noGrp="1"/>
          </p:cNvSpPr>
          <p:nvPr>
            <p:ph type="sldNum" sz="quarter" idx="12"/>
          </p:nvPr>
        </p:nvSpPr>
        <p:spPr/>
        <p:txBody>
          <a:bodyPr/>
          <a:lstStyle/>
          <a:p>
            <a:fld id="{57410D99-79D9-4AD1-9C9B-7AF9D3218DEC}" type="slidenum">
              <a:rPr lang="pt-BR" smtClean="0"/>
              <a:t>6</a:t>
            </a:fld>
            <a:endParaRPr lang="pt-BR"/>
          </a:p>
        </p:txBody>
      </p:sp>
    </p:spTree>
    <p:extLst>
      <p:ext uri="{BB962C8B-B14F-4D97-AF65-F5344CB8AC3E}">
        <p14:creationId xmlns:p14="http://schemas.microsoft.com/office/powerpoint/2010/main" val="3390656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E697AE-FDB6-A148-60ED-7B1993B5D9B4}"/>
              </a:ext>
            </a:extLst>
          </p:cNvPr>
          <p:cNvSpPr>
            <a:spLocks noGrp="1"/>
          </p:cNvSpPr>
          <p:nvPr>
            <p:ph type="title"/>
          </p:nvPr>
        </p:nvSpPr>
        <p:spPr/>
        <p:txBody>
          <a:bodyPr/>
          <a:lstStyle/>
          <a:p>
            <a:r>
              <a:rPr lang="pt-BR" dirty="0"/>
              <a:t>Aplicações</a:t>
            </a:r>
          </a:p>
        </p:txBody>
      </p:sp>
      <p:sp>
        <p:nvSpPr>
          <p:cNvPr id="3" name="Espaço Reservado para Conteúdo 2">
            <a:extLst>
              <a:ext uri="{FF2B5EF4-FFF2-40B4-BE49-F238E27FC236}">
                <a16:creationId xmlns:a16="http://schemas.microsoft.com/office/drawing/2014/main" id="{3DBC5231-260D-F0BA-A58E-B00F869F080A}"/>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4 - Teste de Software</a:t>
            </a:r>
            <a:r>
              <a:rPr lang="pt-BR" b="0" i="0" dirty="0">
                <a:solidFill>
                  <a:srgbClr val="0D0D0D"/>
                </a:solidFill>
                <a:effectLst/>
                <a:highlight>
                  <a:srgbClr val="FFFFFF"/>
                </a:highlight>
                <a:latin typeface="Söhne"/>
              </a:rPr>
              <a:t>: Os diagramas de sequência podem ser usados para identificar e projetar casos de teste para validar o comportamento de um sistema de software. </a:t>
            </a:r>
          </a:p>
          <a:p>
            <a:r>
              <a:rPr lang="pt-BR" b="0" i="0" dirty="0">
                <a:solidFill>
                  <a:srgbClr val="0D0D0D"/>
                </a:solidFill>
                <a:effectLst/>
                <a:highlight>
                  <a:srgbClr val="FFFFFF"/>
                </a:highlight>
                <a:latin typeface="Söhne"/>
              </a:rPr>
              <a:t>Eles ajudam os testadores a entender as interações entre os diferentes componentes do sistema e a identificar cenários de teste relevantes.</a:t>
            </a:r>
          </a:p>
          <a:p>
            <a:endParaRPr lang="pt-BR" dirty="0"/>
          </a:p>
        </p:txBody>
      </p:sp>
      <p:sp>
        <p:nvSpPr>
          <p:cNvPr id="4" name="Espaço Reservado para Número de Slide 3">
            <a:extLst>
              <a:ext uri="{FF2B5EF4-FFF2-40B4-BE49-F238E27FC236}">
                <a16:creationId xmlns:a16="http://schemas.microsoft.com/office/drawing/2014/main" id="{07E0D2DE-486F-1193-1227-7ABB087BD728}"/>
              </a:ext>
            </a:extLst>
          </p:cNvPr>
          <p:cNvSpPr>
            <a:spLocks noGrp="1"/>
          </p:cNvSpPr>
          <p:nvPr>
            <p:ph type="sldNum" sz="quarter" idx="12"/>
          </p:nvPr>
        </p:nvSpPr>
        <p:spPr/>
        <p:txBody>
          <a:bodyPr/>
          <a:lstStyle/>
          <a:p>
            <a:fld id="{57410D99-79D9-4AD1-9C9B-7AF9D3218DEC}" type="slidenum">
              <a:rPr lang="pt-BR" smtClean="0"/>
              <a:t>7</a:t>
            </a:fld>
            <a:endParaRPr lang="pt-BR"/>
          </a:p>
        </p:txBody>
      </p:sp>
    </p:spTree>
    <p:extLst>
      <p:ext uri="{BB962C8B-B14F-4D97-AF65-F5344CB8AC3E}">
        <p14:creationId xmlns:p14="http://schemas.microsoft.com/office/powerpoint/2010/main" val="2413288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EA5B60-1BA0-0D73-78BD-567C8C32C316}"/>
              </a:ext>
            </a:extLst>
          </p:cNvPr>
          <p:cNvSpPr>
            <a:spLocks noGrp="1"/>
          </p:cNvSpPr>
          <p:nvPr>
            <p:ph type="title"/>
          </p:nvPr>
        </p:nvSpPr>
        <p:spPr/>
        <p:txBody>
          <a:bodyPr/>
          <a:lstStyle/>
          <a:p>
            <a:r>
              <a:rPr lang="pt-BR" dirty="0"/>
              <a:t>Aplicações</a:t>
            </a:r>
          </a:p>
        </p:txBody>
      </p:sp>
      <p:sp>
        <p:nvSpPr>
          <p:cNvPr id="3" name="Espaço Reservado para Conteúdo 2">
            <a:extLst>
              <a:ext uri="{FF2B5EF4-FFF2-40B4-BE49-F238E27FC236}">
                <a16:creationId xmlns:a16="http://schemas.microsoft.com/office/drawing/2014/main" id="{AE61FC2A-9D3C-4346-4DEB-1F46934AE96B}"/>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5 - Análise de Processos de Negócio</a:t>
            </a:r>
            <a:endParaRPr lang="pt-BR" dirty="0">
              <a:solidFill>
                <a:srgbClr val="0D0D0D"/>
              </a:solidFill>
              <a:highlight>
                <a:srgbClr val="FFFFFF"/>
              </a:highlight>
              <a:latin typeface="Söhne"/>
            </a:endParaRPr>
          </a:p>
          <a:p>
            <a:r>
              <a:rPr lang="pt-BR" b="0" i="0" dirty="0">
                <a:solidFill>
                  <a:srgbClr val="0D0D0D"/>
                </a:solidFill>
                <a:effectLst/>
                <a:highlight>
                  <a:srgbClr val="FFFFFF"/>
                </a:highlight>
                <a:latin typeface="Söhne"/>
              </a:rPr>
              <a:t>Além de sua aplicação em engenharia de software, os diagramas de sequência também podem ser usados para modelar e analisar processos de negócio em áreas como gestão empresarial e engenharia de sistemas.</a:t>
            </a:r>
          </a:p>
          <a:p>
            <a:endParaRPr lang="pt-BR" dirty="0">
              <a:solidFill>
                <a:srgbClr val="0D0D0D"/>
              </a:solidFill>
              <a:highlight>
                <a:srgbClr val="FFFFFF"/>
              </a:highlight>
              <a:latin typeface="Söhne"/>
            </a:endParaRPr>
          </a:p>
          <a:p>
            <a:pPr marL="0" indent="0">
              <a:buNone/>
            </a:pPr>
            <a:r>
              <a:rPr lang="pt-BR" b="1" i="0" dirty="0">
                <a:solidFill>
                  <a:srgbClr val="0D0D0D"/>
                </a:solidFill>
                <a:effectLst/>
                <a:highlight>
                  <a:srgbClr val="FFFFFF"/>
                </a:highlight>
                <a:latin typeface="Söhne"/>
              </a:rPr>
              <a:t>6 – Mostrar detalhes em diagramas de Caso de Uso</a:t>
            </a:r>
          </a:p>
          <a:p>
            <a:r>
              <a:rPr lang="pt-BR" b="1" i="0" dirty="0">
                <a:solidFill>
                  <a:srgbClr val="0D0D0D"/>
                </a:solidFill>
                <a:effectLst/>
                <a:highlight>
                  <a:srgbClr val="FFFFFF"/>
                </a:highlight>
                <a:latin typeface="Söhne"/>
              </a:rPr>
              <a:t> </a:t>
            </a:r>
            <a:r>
              <a:rPr lang="pt-BR" dirty="0">
                <a:solidFill>
                  <a:srgbClr val="0D0D0D"/>
                </a:solidFill>
                <a:highlight>
                  <a:srgbClr val="FFFFFF"/>
                </a:highlight>
                <a:latin typeface="Söhne"/>
              </a:rPr>
              <a:t>A</a:t>
            </a:r>
            <a:r>
              <a:rPr lang="pt-BR" i="0" dirty="0">
                <a:solidFill>
                  <a:srgbClr val="0D0D0D"/>
                </a:solidFill>
                <a:effectLst/>
                <a:highlight>
                  <a:srgbClr val="FFFFFF"/>
                </a:highlight>
                <a:latin typeface="Söhne"/>
              </a:rPr>
              <a:t>juda o programador a elucidar o comportamento dos </a:t>
            </a:r>
            <a:r>
              <a:rPr lang="pt-BR" dirty="0">
                <a:solidFill>
                  <a:srgbClr val="0D0D0D"/>
                </a:solidFill>
                <a:highlight>
                  <a:srgbClr val="FFFFFF"/>
                </a:highlight>
                <a:latin typeface="Söhne"/>
              </a:rPr>
              <a:t>C</a:t>
            </a:r>
            <a:r>
              <a:rPr lang="pt-BR" i="0" dirty="0">
                <a:solidFill>
                  <a:srgbClr val="0D0D0D"/>
                </a:solidFill>
                <a:effectLst/>
                <a:highlight>
                  <a:srgbClr val="FFFFFF"/>
                </a:highlight>
                <a:latin typeface="Söhne"/>
              </a:rPr>
              <a:t>asos de </a:t>
            </a:r>
            <a:r>
              <a:rPr lang="pt-BR" dirty="0">
                <a:solidFill>
                  <a:srgbClr val="0D0D0D"/>
                </a:solidFill>
                <a:highlight>
                  <a:srgbClr val="FFFFFF"/>
                </a:highlight>
                <a:latin typeface="Söhne"/>
              </a:rPr>
              <a:t>U</a:t>
            </a:r>
            <a:r>
              <a:rPr lang="pt-BR" i="0" dirty="0">
                <a:solidFill>
                  <a:srgbClr val="0D0D0D"/>
                </a:solidFill>
                <a:effectLst/>
                <a:highlight>
                  <a:srgbClr val="FFFFFF"/>
                </a:highlight>
                <a:latin typeface="Söhne"/>
              </a:rPr>
              <a:t>so interagindo com os atores.</a:t>
            </a:r>
            <a:endParaRPr lang="pt-BR" b="1" i="0" dirty="0">
              <a:solidFill>
                <a:srgbClr val="0D0D0D"/>
              </a:solidFill>
              <a:effectLst/>
              <a:highlight>
                <a:srgbClr val="FFFFFF"/>
              </a:highlight>
              <a:latin typeface="Söhne"/>
            </a:endParaRPr>
          </a:p>
        </p:txBody>
      </p:sp>
      <p:sp>
        <p:nvSpPr>
          <p:cNvPr id="4" name="Espaço Reservado para Número de Slide 3">
            <a:extLst>
              <a:ext uri="{FF2B5EF4-FFF2-40B4-BE49-F238E27FC236}">
                <a16:creationId xmlns:a16="http://schemas.microsoft.com/office/drawing/2014/main" id="{9824703D-849F-7BBE-6F3D-0738D97A4B8E}"/>
              </a:ext>
            </a:extLst>
          </p:cNvPr>
          <p:cNvSpPr>
            <a:spLocks noGrp="1"/>
          </p:cNvSpPr>
          <p:nvPr>
            <p:ph type="sldNum" sz="quarter" idx="12"/>
          </p:nvPr>
        </p:nvSpPr>
        <p:spPr/>
        <p:txBody>
          <a:bodyPr/>
          <a:lstStyle/>
          <a:p>
            <a:fld id="{57410D99-79D9-4AD1-9C9B-7AF9D3218DEC}" type="slidenum">
              <a:rPr lang="pt-BR" smtClean="0"/>
              <a:t>8</a:t>
            </a:fld>
            <a:endParaRPr lang="pt-BR"/>
          </a:p>
        </p:txBody>
      </p:sp>
    </p:spTree>
    <p:extLst>
      <p:ext uri="{BB962C8B-B14F-4D97-AF65-F5344CB8AC3E}">
        <p14:creationId xmlns:p14="http://schemas.microsoft.com/office/powerpoint/2010/main" val="334831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6E898C-1284-704D-31D3-E7588CB6620A}"/>
              </a:ext>
            </a:extLst>
          </p:cNvPr>
          <p:cNvSpPr>
            <a:spLocks noGrp="1"/>
          </p:cNvSpPr>
          <p:nvPr>
            <p:ph type="title"/>
          </p:nvPr>
        </p:nvSpPr>
        <p:spPr/>
        <p:txBody>
          <a:bodyPr/>
          <a:lstStyle/>
          <a:p>
            <a:r>
              <a:rPr lang="pt-BR" dirty="0"/>
              <a:t>Componentes</a:t>
            </a:r>
          </a:p>
        </p:txBody>
      </p:sp>
      <p:sp>
        <p:nvSpPr>
          <p:cNvPr id="3" name="Espaço Reservado para Conteúdo 2">
            <a:extLst>
              <a:ext uri="{FF2B5EF4-FFF2-40B4-BE49-F238E27FC236}">
                <a16:creationId xmlns:a16="http://schemas.microsoft.com/office/drawing/2014/main" id="{3C0964B3-8CF3-B92C-B558-F2B6B14757E4}"/>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1 - Ator (</a:t>
            </a:r>
            <a:r>
              <a:rPr lang="pt-BR" b="1" i="0" dirty="0" err="1">
                <a:solidFill>
                  <a:srgbClr val="0D0D0D"/>
                </a:solidFill>
                <a:effectLst/>
                <a:highlight>
                  <a:srgbClr val="FFFFFF"/>
                </a:highlight>
                <a:latin typeface="Söhne"/>
              </a:rPr>
              <a:t>Actor</a:t>
            </a:r>
            <a:r>
              <a:rPr lang="pt-BR" b="1" i="0" dirty="0">
                <a:solidFill>
                  <a:srgbClr val="0D0D0D"/>
                </a:solidFill>
                <a:effectLst/>
                <a:highlight>
                  <a:srgbClr val="FFFFFF"/>
                </a:highlight>
                <a:latin typeface="Söhne"/>
              </a:rPr>
              <a:t>)</a:t>
            </a:r>
            <a:r>
              <a:rPr lang="pt-BR" b="0" i="0" dirty="0">
                <a:solidFill>
                  <a:srgbClr val="0D0D0D"/>
                </a:solidFill>
                <a:effectLst/>
                <a:highlight>
                  <a:srgbClr val="FFFFFF"/>
                </a:highlight>
                <a:latin typeface="Söhne"/>
              </a:rPr>
              <a:t>: Representa um papel externo que interage com o sistema, como um usuário humano, outro sistema ou componente externo.</a:t>
            </a:r>
          </a:p>
          <a:p>
            <a:pPr marL="0" indent="0">
              <a:buNone/>
            </a:pPr>
            <a:r>
              <a:rPr lang="pt-BR" b="1" dirty="0">
                <a:solidFill>
                  <a:srgbClr val="0D0D0D"/>
                </a:solidFill>
                <a:highlight>
                  <a:srgbClr val="FFFFFF"/>
                </a:highlight>
                <a:latin typeface="Söhne"/>
              </a:rPr>
              <a:t>2 - O</a:t>
            </a:r>
            <a:r>
              <a:rPr lang="pt-BR" b="1" i="0" dirty="0">
                <a:solidFill>
                  <a:srgbClr val="0D0D0D"/>
                </a:solidFill>
                <a:effectLst/>
                <a:highlight>
                  <a:srgbClr val="FFFFFF"/>
                </a:highlight>
                <a:latin typeface="Söhne"/>
              </a:rPr>
              <a:t>bjeto (</a:t>
            </a:r>
            <a:r>
              <a:rPr lang="pt-BR" b="1" i="0" dirty="0" err="1">
                <a:solidFill>
                  <a:srgbClr val="0D0D0D"/>
                </a:solidFill>
                <a:effectLst/>
                <a:highlight>
                  <a:srgbClr val="FFFFFF"/>
                </a:highlight>
                <a:latin typeface="Söhne"/>
              </a:rPr>
              <a:t>Object</a:t>
            </a:r>
            <a:r>
              <a:rPr lang="pt-BR" b="1" i="0" dirty="0">
                <a:solidFill>
                  <a:srgbClr val="0D0D0D"/>
                </a:solidFill>
                <a:effectLst/>
                <a:highlight>
                  <a:srgbClr val="FFFFFF"/>
                </a:highlight>
                <a:latin typeface="Söhne"/>
              </a:rPr>
              <a:t>)</a:t>
            </a:r>
            <a:r>
              <a:rPr lang="pt-BR" b="0" i="0" dirty="0">
                <a:solidFill>
                  <a:srgbClr val="0D0D0D"/>
                </a:solidFill>
                <a:effectLst/>
                <a:highlight>
                  <a:srgbClr val="FFFFFF"/>
                </a:highlight>
                <a:latin typeface="Söhne"/>
              </a:rPr>
              <a:t>: Representa uma instância de uma classe dentro do sistema. Os objetos são representados por caixas verticais no diagrama.</a:t>
            </a:r>
          </a:p>
          <a:p>
            <a:pPr marL="0" indent="0">
              <a:buNone/>
            </a:pPr>
            <a:r>
              <a:rPr lang="pt-BR" b="1" i="0" dirty="0">
                <a:solidFill>
                  <a:srgbClr val="0D0D0D"/>
                </a:solidFill>
                <a:effectLst/>
                <a:highlight>
                  <a:srgbClr val="FFFFFF"/>
                </a:highlight>
                <a:latin typeface="Söhne"/>
              </a:rPr>
              <a:t>3 - Linha de Vida (</a:t>
            </a:r>
            <a:r>
              <a:rPr lang="pt-BR" b="1" i="0" dirty="0" err="1">
                <a:solidFill>
                  <a:srgbClr val="0D0D0D"/>
                </a:solidFill>
                <a:effectLst/>
                <a:highlight>
                  <a:srgbClr val="FFFFFF"/>
                </a:highlight>
                <a:latin typeface="Söhne"/>
              </a:rPr>
              <a:t>Lifeline</a:t>
            </a:r>
            <a:r>
              <a:rPr lang="pt-BR" b="1" i="0" dirty="0">
                <a:solidFill>
                  <a:srgbClr val="0D0D0D"/>
                </a:solidFill>
                <a:effectLst/>
                <a:highlight>
                  <a:srgbClr val="FFFFFF"/>
                </a:highlight>
                <a:latin typeface="Söhne"/>
              </a:rPr>
              <a:t>)</a:t>
            </a:r>
            <a:r>
              <a:rPr lang="pt-BR" b="0" i="0" dirty="0">
                <a:solidFill>
                  <a:srgbClr val="0D0D0D"/>
                </a:solidFill>
                <a:effectLst/>
                <a:highlight>
                  <a:srgbClr val="FFFFFF"/>
                </a:highlight>
                <a:latin typeface="Söhne"/>
              </a:rPr>
              <a:t>: Uma linha vertical que representa a existência temporal de um objeto durante a execução do sistema. A linha de vida está associada a um objeto e é desenhada perpendicularmente ao eixo do tempo.</a:t>
            </a:r>
          </a:p>
          <a:p>
            <a:endParaRPr lang="pt-BR" dirty="0"/>
          </a:p>
          <a:p>
            <a:endParaRPr lang="pt-BR" dirty="0"/>
          </a:p>
        </p:txBody>
      </p:sp>
      <p:sp>
        <p:nvSpPr>
          <p:cNvPr id="4" name="Espaço Reservado para Número de Slide 3">
            <a:extLst>
              <a:ext uri="{FF2B5EF4-FFF2-40B4-BE49-F238E27FC236}">
                <a16:creationId xmlns:a16="http://schemas.microsoft.com/office/drawing/2014/main" id="{0588F591-80E3-5D84-FB3D-7A99B84FAF7A}"/>
              </a:ext>
            </a:extLst>
          </p:cNvPr>
          <p:cNvSpPr>
            <a:spLocks noGrp="1"/>
          </p:cNvSpPr>
          <p:nvPr>
            <p:ph type="sldNum" sz="quarter" idx="12"/>
          </p:nvPr>
        </p:nvSpPr>
        <p:spPr/>
        <p:txBody>
          <a:bodyPr/>
          <a:lstStyle/>
          <a:p>
            <a:fld id="{57410D99-79D9-4AD1-9C9B-7AF9D3218DEC}" type="slidenum">
              <a:rPr lang="pt-BR" smtClean="0"/>
              <a:t>9</a:t>
            </a:fld>
            <a:endParaRPr lang="pt-BR"/>
          </a:p>
        </p:txBody>
      </p:sp>
    </p:spTree>
    <p:extLst>
      <p:ext uri="{BB962C8B-B14F-4D97-AF65-F5344CB8AC3E}">
        <p14:creationId xmlns:p14="http://schemas.microsoft.com/office/powerpoint/2010/main" val="694590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31FE5-C60B-9303-1930-EA956C12B1F0}"/>
              </a:ext>
            </a:extLst>
          </p:cNvPr>
          <p:cNvSpPr>
            <a:spLocks noGrp="1"/>
          </p:cNvSpPr>
          <p:nvPr>
            <p:ph type="title"/>
          </p:nvPr>
        </p:nvSpPr>
        <p:spPr/>
        <p:txBody>
          <a:bodyPr/>
          <a:lstStyle/>
          <a:p>
            <a:r>
              <a:rPr lang="pt-BR" dirty="0"/>
              <a:t>Componentes</a:t>
            </a:r>
          </a:p>
        </p:txBody>
      </p:sp>
      <p:sp>
        <p:nvSpPr>
          <p:cNvPr id="3" name="Espaço Reservado para Conteúdo 2">
            <a:extLst>
              <a:ext uri="{FF2B5EF4-FFF2-40B4-BE49-F238E27FC236}">
                <a16:creationId xmlns:a16="http://schemas.microsoft.com/office/drawing/2014/main" id="{91A29773-2C72-2990-59E8-065F7AEA3D15}"/>
              </a:ext>
            </a:extLst>
          </p:cNvPr>
          <p:cNvSpPr>
            <a:spLocks noGrp="1"/>
          </p:cNvSpPr>
          <p:nvPr>
            <p:ph idx="1"/>
          </p:nvPr>
        </p:nvSpPr>
        <p:spPr/>
        <p:txBody>
          <a:bodyPr/>
          <a:lstStyle/>
          <a:p>
            <a:r>
              <a:rPr lang="pt-BR" b="1" dirty="0"/>
              <a:t>4 - Mensagens (</a:t>
            </a:r>
            <a:r>
              <a:rPr lang="pt-BR" b="1" dirty="0" err="1"/>
              <a:t>Messages</a:t>
            </a:r>
            <a:r>
              <a:rPr lang="pt-BR" b="1" dirty="0"/>
              <a:t>): </a:t>
            </a:r>
            <a:r>
              <a:rPr lang="pt-BR" dirty="0"/>
              <a:t>Representam as interações entre os objetos no sistema. Existem diferentes tipos de mensagens, incluindo mensagens síncronas, assíncronas, de retorno, entre outras. As mensagens são representadas por setas horizontais que conectam as linhas de vida dos objetos.</a:t>
            </a:r>
          </a:p>
          <a:p>
            <a:r>
              <a:rPr lang="pt-BR" b="1" dirty="0"/>
              <a:t>5 - Ativação (</a:t>
            </a:r>
            <a:r>
              <a:rPr lang="pt-BR" b="1" dirty="0" err="1"/>
              <a:t>Activation</a:t>
            </a:r>
            <a:r>
              <a:rPr lang="pt-BR" b="1" dirty="0"/>
              <a:t>): </a:t>
            </a:r>
            <a:r>
              <a:rPr lang="pt-BR" dirty="0"/>
              <a:t>Uma barra vertical estendida em uma linha de vida que indica o período de tempo durante o qual um objeto está realizando uma operação específica em resposta a uma mensagem.</a:t>
            </a:r>
          </a:p>
        </p:txBody>
      </p:sp>
      <p:sp>
        <p:nvSpPr>
          <p:cNvPr id="4" name="Espaço Reservado para Número de Slide 3">
            <a:extLst>
              <a:ext uri="{FF2B5EF4-FFF2-40B4-BE49-F238E27FC236}">
                <a16:creationId xmlns:a16="http://schemas.microsoft.com/office/drawing/2014/main" id="{C7F2B55F-520E-9C48-BAFD-F5418C3C7469}"/>
              </a:ext>
            </a:extLst>
          </p:cNvPr>
          <p:cNvSpPr>
            <a:spLocks noGrp="1"/>
          </p:cNvSpPr>
          <p:nvPr>
            <p:ph type="sldNum" sz="quarter" idx="12"/>
          </p:nvPr>
        </p:nvSpPr>
        <p:spPr/>
        <p:txBody>
          <a:bodyPr/>
          <a:lstStyle/>
          <a:p>
            <a:fld id="{57410D99-79D9-4AD1-9C9B-7AF9D3218DEC}" type="slidenum">
              <a:rPr lang="pt-BR" smtClean="0"/>
              <a:t>10</a:t>
            </a:fld>
            <a:endParaRPr lang="pt-BR"/>
          </a:p>
        </p:txBody>
      </p:sp>
    </p:spTree>
    <p:extLst>
      <p:ext uri="{BB962C8B-B14F-4D97-AF65-F5344CB8AC3E}">
        <p14:creationId xmlns:p14="http://schemas.microsoft.com/office/powerpoint/2010/main" val="4242974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806900-79FE-9D19-BEB8-1A2F540C43B2}"/>
              </a:ext>
            </a:extLst>
          </p:cNvPr>
          <p:cNvSpPr>
            <a:spLocks noGrp="1"/>
          </p:cNvSpPr>
          <p:nvPr>
            <p:ph type="title"/>
          </p:nvPr>
        </p:nvSpPr>
        <p:spPr/>
        <p:txBody>
          <a:bodyPr/>
          <a:lstStyle/>
          <a:p>
            <a:r>
              <a:rPr lang="pt-BR" dirty="0"/>
              <a:t>Componentes</a:t>
            </a:r>
          </a:p>
        </p:txBody>
      </p:sp>
      <p:sp>
        <p:nvSpPr>
          <p:cNvPr id="3" name="Espaço Reservado para Conteúdo 2">
            <a:extLst>
              <a:ext uri="{FF2B5EF4-FFF2-40B4-BE49-F238E27FC236}">
                <a16:creationId xmlns:a16="http://schemas.microsoft.com/office/drawing/2014/main" id="{2D0EA750-F562-CC51-5907-D2398E0B3873}"/>
              </a:ext>
            </a:extLst>
          </p:cNvPr>
          <p:cNvSpPr>
            <a:spLocks noGrp="1"/>
          </p:cNvSpPr>
          <p:nvPr>
            <p:ph idx="1"/>
          </p:nvPr>
        </p:nvSpPr>
        <p:spPr/>
        <p:txBody>
          <a:bodyPr/>
          <a:lstStyle/>
          <a:p>
            <a:r>
              <a:rPr lang="pt-BR" b="1" dirty="0"/>
              <a:t>6 - Fragmentos de Interação (</a:t>
            </a:r>
            <a:r>
              <a:rPr lang="pt-BR" b="1" dirty="0" err="1"/>
              <a:t>Interaction</a:t>
            </a:r>
            <a:r>
              <a:rPr lang="pt-BR" b="1" dirty="0"/>
              <a:t> </a:t>
            </a:r>
            <a:r>
              <a:rPr lang="pt-BR" b="1" dirty="0" err="1"/>
              <a:t>Fragments</a:t>
            </a:r>
            <a:r>
              <a:rPr lang="pt-BR" b="1" dirty="0"/>
              <a:t>): </a:t>
            </a:r>
            <a:r>
              <a:rPr lang="pt-BR" dirty="0"/>
              <a:t>Permitem representar estruturas de controle de fluxo, como loops, alternativas (</a:t>
            </a:r>
            <a:r>
              <a:rPr lang="pt-BR" dirty="0" err="1"/>
              <a:t>if-else</a:t>
            </a:r>
            <a:r>
              <a:rPr lang="pt-BR" dirty="0"/>
              <a:t>), paralelismo, entre outros. Os fragmentos de interação incluem fragmentos combinados, opções, loops e paralelos.</a:t>
            </a:r>
          </a:p>
          <a:p>
            <a:r>
              <a:rPr lang="pt-BR" b="1" dirty="0"/>
              <a:t>7 - Notas (Notes): </a:t>
            </a:r>
            <a:r>
              <a:rPr lang="pt-BR" dirty="0"/>
              <a:t>Permitem adicionar informações adicionais ao diagrama, como explicações, restrições ou comentários. As notas são representadas por uma caixa retangular conectada ao elemento relevante por uma linha pontilhada.</a:t>
            </a:r>
          </a:p>
        </p:txBody>
      </p:sp>
      <p:sp>
        <p:nvSpPr>
          <p:cNvPr id="4" name="Espaço Reservado para Número de Slide 3">
            <a:extLst>
              <a:ext uri="{FF2B5EF4-FFF2-40B4-BE49-F238E27FC236}">
                <a16:creationId xmlns:a16="http://schemas.microsoft.com/office/drawing/2014/main" id="{988BC6C0-BA9A-77B7-7532-891FC980B29B}"/>
              </a:ext>
            </a:extLst>
          </p:cNvPr>
          <p:cNvSpPr>
            <a:spLocks noGrp="1"/>
          </p:cNvSpPr>
          <p:nvPr>
            <p:ph type="sldNum" sz="quarter" idx="12"/>
          </p:nvPr>
        </p:nvSpPr>
        <p:spPr/>
        <p:txBody>
          <a:bodyPr/>
          <a:lstStyle/>
          <a:p>
            <a:fld id="{57410D99-79D9-4AD1-9C9B-7AF9D3218DEC}" type="slidenum">
              <a:rPr lang="pt-BR" smtClean="0"/>
              <a:t>11</a:t>
            </a:fld>
            <a:endParaRPr lang="pt-BR"/>
          </a:p>
        </p:txBody>
      </p:sp>
    </p:spTree>
    <p:extLst>
      <p:ext uri="{BB962C8B-B14F-4D97-AF65-F5344CB8AC3E}">
        <p14:creationId xmlns:p14="http://schemas.microsoft.com/office/powerpoint/2010/main" val="732014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0760D3-02AF-C54D-EA50-8FB8FC59D465}"/>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E6B972C9-04C6-5E6E-8E65-E946085F97B7}"/>
              </a:ext>
            </a:extLst>
          </p:cNvPr>
          <p:cNvSpPr>
            <a:spLocks noGrp="1"/>
          </p:cNvSpPr>
          <p:nvPr>
            <p:ph idx="1"/>
          </p:nvPr>
        </p:nvSpPr>
        <p:spPr/>
        <p:txBody>
          <a:bodyPr/>
          <a:lstStyle/>
          <a:p>
            <a:r>
              <a:rPr lang="pt-BR" dirty="0"/>
              <a:t>Os atores desempenham um papel fundamental nos diagramas de sequência, pois representam entidades externas que interagem com o sistema sendo modelado.</a:t>
            </a:r>
          </a:p>
          <a:p>
            <a:endParaRPr lang="pt-BR" dirty="0"/>
          </a:p>
          <a:p>
            <a:r>
              <a:rPr lang="pt-BR" b="0" i="0" dirty="0">
                <a:solidFill>
                  <a:srgbClr val="0D0D0D"/>
                </a:solidFill>
                <a:effectLst/>
                <a:highlight>
                  <a:srgbClr val="FFFFFF"/>
                </a:highlight>
                <a:latin typeface="Söhne"/>
              </a:rPr>
              <a:t>Segue uma explicação mais detalhada do papel dos atores.</a:t>
            </a:r>
            <a:endParaRPr lang="pt-BR" dirty="0"/>
          </a:p>
        </p:txBody>
      </p:sp>
      <p:sp>
        <p:nvSpPr>
          <p:cNvPr id="4" name="Espaço Reservado para Número de Slide 3">
            <a:extLst>
              <a:ext uri="{FF2B5EF4-FFF2-40B4-BE49-F238E27FC236}">
                <a16:creationId xmlns:a16="http://schemas.microsoft.com/office/drawing/2014/main" id="{3667F38D-AC6E-0F60-7A80-8522B7F54751}"/>
              </a:ext>
            </a:extLst>
          </p:cNvPr>
          <p:cNvSpPr>
            <a:spLocks noGrp="1"/>
          </p:cNvSpPr>
          <p:nvPr>
            <p:ph type="sldNum" sz="quarter" idx="12"/>
          </p:nvPr>
        </p:nvSpPr>
        <p:spPr/>
        <p:txBody>
          <a:bodyPr/>
          <a:lstStyle/>
          <a:p>
            <a:fld id="{57410D99-79D9-4AD1-9C9B-7AF9D3218DEC}" type="slidenum">
              <a:rPr lang="pt-BR" smtClean="0"/>
              <a:t>12</a:t>
            </a:fld>
            <a:endParaRPr lang="pt-BR"/>
          </a:p>
        </p:txBody>
      </p:sp>
    </p:spTree>
    <p:extLst>
      <p:ext uri="{BB962C8B-B14F-4D97-AF65-F5344CB8AC3E}">
        <p14:creationId xmlns:p14="http://schemas.microsoft.com/office/powerpoint/2010/main" val="3937104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FEBEA-F787-D3AE-9597-190C1A621983}"/>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1846268F-762C-D1E3-A17D-376EAD73D8DF}"/>
              </a:ext>
            </a:extLst>
          </p:cNvPr>
          <p:cNvSpPr>
            <a:spLocks noGrp="1"/>
          </p:cNvSpPr>
          <p:nvPr>
            <p:ph idx="1"/>
          </p:nvPr>
        </p:nvSpPr>
        <p:spPr/>
        <p:txBody>
          <a:bodyPr/>
          <a:lstStyle/>
          <a:p>
            <a:r>
              <a:rPr lang="pt-BR" b="1" i="0" dirty="0">
                <a:solidFill>
                  <a:srgbClr val="0D0D0D"/>
                </a:solidFill>
                <a:effectLst/>
                <a:highlight>
                  <a:srgbClr val="FFFFFF"/>
                </a:highlight>
                <a:latin typeface="Söhne"/>
              </a:rPr>
              <a:t>1 - Representação de Entidades Externas</a:t>
            </a:r>
            <a:r>
              <a:rPr lang="pt-BR" b="0" i="0" dirty="0">
                <a:solidFill>
                  <a:srgbClr val="0D0D0D"/>
                </a:solidFill>
                <a:effectLst/>
                <a:highlight>
                  <a:srgbClr val="FFFFFF"/>
                </a:highlight>
                <a:latin typeface="Söhne"/>
              </a:rPr>
              <a:t>: Os atores representam usuários, sistemas externos, dispositivos físicos ou qualquer outra entidade externa que interaja com o sistema em questão. </a:t>
            </a:r>
          </a:p>
          <a:p>
            <a:r>
              <a:rPr lang="pt-BR" b="0" i="0" dirty="0">
                <a:solidFill>
                  <a:srgbClr val="0D0D0D"/>
                </a:solidFill>
                <a:effectLst/>
                <a:highlight>
                  <a:srgbClr val="FFFFFF"/>
                </a:highlight>
                <a:latin typeface="Söhne"/>
              </a:rPr>
              <a:t>Eles não fazem parte do sistema em si, mas têm algum tipo de interação com ele.</a:t>
            </a:r>
          </a:p>
          <a:p>
            <a:endParaRPr lang="pt-BR" dirty="0"/>
          </a:p>
        </p:txBody>
      </p:sp>
      <p:sp>
        <p:nvSpPr>
          <p:cNvPr id="4" name="Espaço Reservado para Número de Slide 3">
            <a:extLst>
              <a:ext uri="{FF2B5EF4-FFF2-40B4-BE49-F238E27FC236}">
                <a16:creationId xmlns:a16="http://schemas.microsoft.com/office/drawing/2014/main" id="{0D622347-1DD7-E4FA-AB89-29CF3C8AA0BE}"/>
              </a:ext>
            </a:extLst>
          </p:cNvPr>
          <p:cNvSpPr>
            <a:spLocks noGrp="1"/>
          </p:cNvSpPr>
          <p:nvPr>
            <p:ph type="sldNum" sz="quarter" idx="12"/>
          </p:nvPr>
        </p:nvSpPr>
        <p:spPr/>
        <p:txBody>
          <a:bodyPr/>
          <a:lstStyle/>
          <a:p>
            <a:fld id="{57410D99-79D9-4AD1-9C9B-7AF9D3218DEC}" type="slidenum">
              <a:rPr lang="pt-BR" smtClean="0"/>
              <a:t>13</a:t>
            </a:fld>
            <a:endParaRPr lang="pt-BR"/>
          </a:p>
        </p:txBody>
      </p:sp>
    </p:spTree>
    <p:extLst>
      <p:ext uri="{BB962C8B-B14F-4D97-AF65-F5344CB8AC3E}">
        <p14:creationId xmlns:p14="http://schemas.microsoft.com/office/powerpoint/2010/main" val="1361823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3BCE95-6A0C-151E-F888-DB89EEE2355F}"/>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DB6EAF48-AA2C-793E-3DF6-1307B4E03C14}"/>
              </a:ext>
            </a:extLst>
          </p:cNvPr>
          <p:cNvSpPr>
            <a:spLocks noGrp="1"/>
          </p:cNvSpPr>
          <p:nvPr>
            <p:ph idx="1"/>
          </p:nvPr>
        </p:nvSpPr>
        <p:spPr/>
        <p:txBody>
          <a:bodyPr/>
          <a:lstStyle/>
          <a:p>
            <a:r>
              <a:rPr lang="pt-BR" b="1" i="0" dirty="0">
                <a:solidFill>
                  <a:srgbClr val="0D0D0D"/>
                </a:solidFill>
                <a:effectLst/>
                <a:highlight>
                  <a:srgbClr val="FFFFFF"/>
                </a:highlight>
                <a:latin typeface="Söhne"/>
              </a:rPr>
              <a:t>2 - Iniciadores de Interação</a:t>
            </a:r>
            <a:r>
              <a:rPr lang="pt-BR" b="0" i="0" dirty="0">
                <a:solidFill>
                  <a:srgbClr val="0D0D0D"/>
                </a:solidFill>
                <a:effectLst/>
                <a:highlight>
                  <a:srgbClr val="FFFFFF"/>
                </a:highlight>
                <a:latin typeface="Söhne"/>
              </a:rPr>
              <a:t>: Os atores iniciam a interação com o sistema, enviando mensagens para os objetos dentro do sistema. </a:t>
            </a:r>
          </a:p>
          <a:p>
            <a:r>
              <a:rPr lang="pt-BR" b="0" i="0" dirty="0">
                <a:solidFill>
                  <a:srgbClr val="0D0D0D"/>
                </a:solidFill>
                <a:effectLst/>
                <a:highlight>
                  <a:srgbClr val="FFFFFF"/>
                </a:highlight>
                <a:latin typeface="Söhne"/>
              </a:rPr>
              <a:t>Isso pode incluir solicitações de informações, comandos para executar determinadas ações ou qualquer outra forma de interação.</a:t>
            </a:r>
          </a:p>
          <a:p>
            <a:endParaRPr lang="pt-BR" dirty="0"/>
          </a:p>
        </p:txBody>
      </p:sp>
      <p:sp>
        <p:nvSpPr>
          <p:cNvPr id="4" name="Espaço Reservado para Número de Slide 3">
            <a:extLst>
              <a:ext uri="{FF2B5EF4-FFF2-40B4-BE49-F238E27FC236}">
                <a16:creationId xmlns:a16="http://schemas.microsoft.com/office/drawing/2014/main" id="{1C52182D-04B0-B262-E52E-052A633D0772}"/>
              </a:ext>
            </a:extLst>
          </p:cNvPr>
          <p:cNvSpPr>
            <a:spLocks noGrp="1"/>
          </p:cNvSpPr>
          <p:nvPr>
            <p:ph type="sldNum" sz="quarter" idx="12"/>
          </p:nvPr>
        </p:nvSpPr>
        <p:spPr/>
        <p:txBody>
          <a:bodyPr/>
          <a:lstStyle/>
          <a:p>
            <a:fld id="{57410D99-79D9-4AD1-9C9B-7AF9D3218DEC}" type="slidenum">
              <a:rPr lang="pt-BR" smtClean="0"/>
              <a:t>14</a:t>
            </a:fld>
            <a:endParaRPr lang="pt-BR"/>
          </a:p>
        </p:txBody>
      </p:sp>
    </p:spTree>
    <p:extLst>
      <p:ext uri="{BB962C8B-B14F-4D97-AF65-F5344CB8AC3E}">
        <p14:creationId xmlns:p14="http://schemas.microsoft.com/office/powerpoint/2010/main" val="1634062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42C4C1-3B8B-BD5A-E53B-295BBFFCA1CA}"/>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22875205-9085-2472-511D-8DD4BF0142BD}"/>
              </a:ext>
            </a:extLst>
          </p:cNvPr>
          <p:cNvSpPr>
            <a:spLocks noGrp="1"/>
          </p:cNvSpPr>
          <p:nvPr>
            <p:ph idx="1"/>
          </p:nvPr>
        </p:nvSpPr>
        <p:spPr/>
        <p:txBody>
          <a:bodyPr/>
          <a:lstStyle/>
          <a:p>
            <a:r>
              <a:rPr lang="pt-BR" b="1" i="0" dirty="0">
                <a:solidFill>
                  <a:srgbClr val="0D0D0D"/>
                </a:solidFill>
                <a:effectLst/>
                <a:highlight>
                  <a:srgbClr val="FFFFFF"/>
                </a:highlight>
                <a:latin typeface="Söhne"/>
              </a:rPr>
              <a:t>3 - Foco na Interface do Sistema</a:t>
            </a:r>
            <a:r>
              <a:rPr lang="pt-BR" b="0" i="0" dirty="0">
                <a:solidFill>
                  <a:srgbClr val="0D0D0D"/>
                </a:solidFill>
                <a:effectLst/>
                <a:highlight>
                  <a:srgbClr val="FFFFFF"/>
                </a:highlight>
                <a:latin typeface="Söhne"/>
              </a:rPr>
              <a:t>: Os atores enfatizam a interface entre o sistema e o ambiente externo. </a:t>
            </a:r>
          </a:p>
          <a:p>
            <a:r>
              <a:rPr lang="pt-BR" b="0" i="0" dirty="0">
                <a:solidFill>
                  <a:srgbClr val="0D0D0D"/>
                </a:solidFill>
                <a:effectLst/>
                <a:highlight>
                  <a:srgbClr val="FFFFFF"/>
                </a:highlight>
                <a:latin typeface="Söhne"/>
              </a:rPr>
              <a:t>Eles ajudam a visualizar como o sistema responde às solicitações e interações provenientes de entidades externas.</a:t>
            </a:r>
          </a:p>
          <a:p>
            <a:endParaRPr lang="pt-BR" dirty="0"/>
          </a:p>
        </p:txBody>
      </p:sp>
      <p:sp>
        <p:nvSpPr>
          <p:cNvPr id="4" name="Espaço Reservado para Número de Slide 3">
            <a:extLst>
              <a:ext uri="{FF2B5EF4-FFF2-40B4-BE49-F238E27FC236}">
                <a16:creationId xmlns:a16="http://schemas.microsoft.com/office/drawing/2014/main" id="{34822F8F-520F-DCE6-5787-D8AA67E63A93}"/>
              </a:ext>
            </a:extLst>
          </p:cNvPr>
          <p:cNvSpPr>
            <a:spLocks noGrp="1"/>
          </p:cNvSpPr>
          <p:nvPr>
            <p:ph type="sldNum" sz="quarter" idx="12"/>
          </p:nvPr>
        </p:nvSpPr>
        <p:spPr/>
        <p:txBody>
          <a:bodyPr/>
          <a:lstStyle/>
          <a:p>
            <a:fld id="{57410D99-79D9-4AD1-9C9B-7AF9D3218DEC}" type="slidenum">
              <a:rPr lang="pt-BR" smtClean="0"/>
              <a:t>15</a:t>
            </a:fld>
            <a:endParaRPr lang="pt-BR"/>
          </a:p>
        </p:txBody>
      </p:sp>
    </p:spTree>
    <p:extLst>
      <p:ext uri="{BB962C8B-B14F-4D97-AF65-F5344CB8AC3E}">
        <p14:creationId xmlns:p14="http://schemas.microsoft.com/office/powerpoint/2010/main" val="2141177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967E58-FB22-93D5-00D0-5F0611591B3E}"/>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F0F33D8B-0671-5D19-7E24-C9BAF56E8EBA}"/>
              </a:ext>
            </a:extLst>
          </p:cNvPr>
          <p:cNvSpPr>
            <a:spLocks noGrp="1"/>
          </p:cNvSpPr>
          <p:nvPr>
            <p:ph idx="1"/>
          </p:nvPr>
        </p:nvSpPr>
        <p:spPr/>
        <p:txBody>
          <a:bodyPr/>
          <a:lstStyle/>
          <a:p>
            <a:r>
              <a:rPr lang="pt-BR" b="1" i="0" dirty="0">
                <a:solidFill>
                  <a:srgbClr val="0D0D0D"/>
                </a:solidFill>
                <a:effectLst/>
                <a:highlight>
                  <a:srgbClr val="FFFFFF"/>
                </a:highlight>
                <a:latin typeface="Söhne"/>
              </a:rPr>
              <a:t>4 - Definição de Requisitos Funcionais</a:t>
            </a:r>
            <a:r>
              <a:rPr lang="pt-BR" b="0" i="0" dirty="0">
                <a:solidFill>
                  <a:srgbClr val="0D0D0D"/>
                </a:solidFill>
                <a:effectLst/>
                <a:highlight>
                  <a:srgbClr val="FFFFFF"/>
                </a:highlight>
                <a:latin typeface="Söhne"/>
              </a:rPr>
              <a:t>: A identificação dos atores em um diagrama de sequência pode ajudar a definir os requisitos funcionais do sistema, destacando as diferentes entidades que interagem com ele e as operações que são necessárias para satisfazer suas necessidades.</a:t>
            </a:r>
          </a:p>
          <a:p>
            <a:endParaRPr lang="pt-BR" dirty="0"/>
          </a:p>
        </p:txBody>
      </p:sp>
      <p:sp>
        <p:nvSpPr>
          <p:cNvPr id="4" name="Espaço Reservado para Número de Slide 3">
            <a:extLst>
              <a:ext uri="{FF2B5EF4-FFF2-40B4-BE49-F238E27FC236}">
                <a16:creationId xmlns:a16="http://schemas.microsoft.com/office/drawing/2014/main" id="{11233613-77BD-F5B3-1610-E7563BD4433E}"/>
              </a:ext>
            </a:extLst>
          </p:cNvPr>
          <p:cNvSpPr>
            <a:spLocks noGrp="1"/>
          </p:cNvSpPr>
          <p:nvPr>
            <p:ph type="sldNum" sz="quarter" idx="12"/>
          </p:nvPr>
        </p:nvSpPr>
        <p:spPr/>
        <p:txBody>
          <a:bodyPr/>
          <a:lstStyle/>
          <a:p>
            <a:fld id="{57410D99-79D9-4AD1-9C9B-7AF9D3218DEC}" type="slidenum">
              <a:rPr lang="pt-BR" smtClean="0"/>
              <a:t>16</a:t>
            </a:fld>
            <a:endParaRPr lang="pt-BR"/>
          </a:p>
        </p:txBody>
      </p:sp>
    </p:spTree>
    <p:extLst>
      <p:ext uri="{BB962C8B-B14F-4D97-AF65-F5344CB8AC3E}">
        <p14:creationId xmlns:p14="http://schemas.microsoft.com/office/powerpoint/2010/main" val="3729709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9F8CA1-E02C-42DA-9C0D-2467C90B268F}"/>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3BCEB512-7986-4609-85D5-F3BE96E69AAC}"/>
              </a:ext>
            </a:extLst>
          </p:cNvPr>
          <p:cNvSpPr>
            <a:spLocks noGrp="1"/>
          </p:cNvSpPr>
          <p:nvPr>
            <p:ph idx="1"/>
          </p:nvPr>
        </p:nvSpPr>
        <p:spPr/>
        <p:txBody>
          <a:bodyPr/>
          <a:lstStyle/>
          <a:p>
            <a:r>
              <a:rPr lang="pt-BR" b="1" i="0" dirty="0">
                <a:solidFill>
                  <a:srgbClr val="0D0D0D"/>
                </a:solidFill>
                <a:effectLst/>
                <a:highlight>
                  <a:srgbClr val="FFFFFF"/>
                </a:highlight>
                <a:latin typeface="Söhne"/>
              </a:rPr>
              <a:t>5 - Compreensão do Contexto do Sistema</a:t>
            </a:r>
            <a:r>
              <a:rPr lang="pt-BR" b="0" i="0" dirty="0">
                <a:solidFill>
                  <a:srgbClr val="0D0D0D"/>
                </a:solidFill>
                <a:effectLst/>
                <a:highlight>
                  <a:srgbClr val="FFFFFF"/>
                </a:highlight>
                <a:latin typeface="Söhne"/>
              </a:rPr>
              <a:t>: Os atores fornecem contexto ao sistema, ajudando a identificar as partes interessadas e entender como elas interagem com o sistema em diferentes cenários de uso.</a:t>
            </a:r>
          </a:p>
          <a:p>
            <a:endParaRPr lang="pt-BR" dirty="0"/>
          </a:p>
        </p:txBody>
      </p:sp>
      <p:sp>
        <p:nvSpPr>
          <p:cNvPr id="4" name="Espaço Reservado para Número de Slide 3">
            <a:extLst>
              <a:ext uri="{FF2B5EF4-FFF2-40B4-BE49-F238E27FC236}">
                <a16:creationId xmlns:a16="http://schemas.microsoft.com/office/drawing/2014/main" id="{CE1FAFB7-5FE0-F2F3-D6F9-251F307D31D6}"/>
              </a:ext>
            </a:extLst>
          </p:cNvPr>
          <p:cNvSpPr>
            <a:spLocks noGrp="1"/>
          </p:cNvSpPr>
          <p:nvPr>
            <p:ph type="sldNum" sz="quarter" idx="12"/>
          </p:nvPr>
        </p:nvSpPr>
        <p:spPr/>
        <p:txBody>
          <a:bodyPr/>
          <a:lstStyle/>
          <a:p>
            <a:fld id="{57410D99-79D9-4AD1-9C9B-7AF9D3218DEC}" type="slidenum">
              <a:rPr lang="pt-BR" smtClean="0"/>
              <a:t>17</a:t>
            </a:fld>
            <a:endParaRPr lang="pt-BR"/>
          </a:p>
        </p:txBody>
      </p:sp>
    </p:spTree>
    <p:extLst>
      <p:ext uri="{BB962C8B-B14F-4D97-AF65-F5344CB8AC3E}">
        <p14:creationId xmlns:p14="http://schemas.microsoft.com/office/powerpoint/2010/main" val="1464620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4F2022-7056-B94E-0033-56ED7DB2AA3C}"/>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796C7402-9236-3CC2-2C5F-3C47D9BAC533}"/>
              </a:ext>
            </a:extLst>
          </p:cNvPr>
          <p:cNvSpPr>
            <a:spLocks noGrp="1"/>
          </p:cNvSpPr>
          <p:nvPr>
            <p:ph idx="1"/>
          </p:nvPr>
        </p:nvSpPr>
        <p:spPr/>
        <p:txBody>
          <a:bodyPr/>
          <a:lstStyle/>
          <a:p>
            <a:r>
              <a:rPr lang="pt-BR" dirty="0"/>
              <a:t>Os objetos desempenham um papel central nos diagramas de sequência, pois representam as </a:t>
            </a:r>
            <a:r>
              <a:rPr lang="pt-BR" b="1" dirty="0"/>
              <a:t>instâncias das classes </a:t>
            </a:r>
            <a:r>
              <a:rPr lang="pt-BR" dirty="0"/>
              <a:t>que compõem o sistema em questão. </a:t>
            </a:r>
          </a:p>
          <a:p>
            <a:endParaRPr lang="pt-BR" dirty="0"/>
          </a:p>
          <a:p>
            <a:r>
              <a:rPr lang="pt-BR" dirty="0"/>
              <a:t>Segue uma explicação mais detalhada da função dos objetos.</a:t>
            </a:r>
          </a:p>
        </p:txBody>
      </p:sp>
      <p:sp>
        <p:nvSpPr>
          <p:cNvPr id="4" name="Espaço Reservado para Número de Slide 3">
            <a:extLst>
              <a:ext uri="{FF2B5EF4-FFF2-40B4-BE49-F238E27FC236}">
                <a16:creationId xmlns:a16="http://schemas.microsoft.com/office/drawing/2014/main" id="{589EE1B7-53D5-6403-FAA5-DE8E159DE118}"/>
              </a:ext>
            </a:extLst>
          </p:cNvPr>
          <p:cNvSpPr>
            <a:spLocks noGrp="1"/>
          </p:cNvSpPr>
          <p:nvPr>
            <p:ph type="sldNum" sz="quarter" idx="12"/>
          </p:nvPr>
        </p:nvSpPr>
        <p:spPr/>
        <p:txBody>
          <a:bodyPr/>
          <a:lstStyle/>
          <a:p>
            <a:fld id="{57410D99-79D9-4AD1-9C9B-7AF9D3218DEC}" type="slidenum">
              <a:rPr lang="pt-BR" smtClean="0"/>
              <a:t>18</a:t>
            </a:fld>
            <a:endParaRPr lang="pt-BR"/>
          </a:p>
        </p:txBody>
      </p:sp>
    </p:spTree>
    <p:extLst>
      <p:ext uri="{BB962C8B-B14F-4D97-AF65-F5344CB8AC3E}">
        <p14:creationId xmlns:p14="http://schemas.microsoft.com/office/powerpoint/2010/main" val="1985979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13036B-1A45-2B40-907E-77740D112AC6}"/>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CC4BF34F-95CB-C592-9DEC-798B6E0AE79D}"/>
              </a:ext>
            </a:extLst>
          </p:cNvPr>
          <p:cNvSpPr>
            <a:spLocks noGrp="1"/>
          </p:cNvSpPr>
          <p:nvPr>
            <p:ph idx="1"/>
          </p:nvPr>
        </p:nvSpPr>
        <p:spPr/>
        <p:txBody>
          <a:bodyPr/>
          <a:lstStyle/>
          <a:p>
            <a:r>
              <a:rPr lang="pt-BR" b="1" i="0" dirty="0">
                <a:solidFill>
                  <a:srgbClr val="0D0D0D"/>
                </a:solidFill>
                <a:effectLst/>
                <a:highlight>
                  <a:srgbClr val="FFFFFF"/>
                </a:highlight>
                <a:latin typeface="Söhne"/>
              </a:rPr>
              <a:t>1 - Modelagem de Estrutura do Sistema</a:t>
            </a:r>
            <a:r>
              <a:rPr lang="pt-BR" b="0" i="0" dirty="0">
                <a:solidFill>
                  <a:srgbClr val="0D0D0D"/>
                </a:solidFill>
                <a:effectLst/>
                <a:highlight>
                  <a:srgbClr val="FFFFFF"/>
                </a:highlight>
                <a:latin typeface="Söhne"/>
              </a:rPr>
              <a:t>: Os objetos representam instâncias específicas das classes que compõem o sistema. Eles ajudam a modelar a estrutura do sistema, mostrando como as diferentes classes são instanciadas e interagem entre si durante a execução do sistema.</a:t>
            </a:r>
          </a:p>
          <a:p>
            <a:endParaRPr lang="pt-BR" dirty="0"/>
          </a:p>
        </p:txBody>
      </p:sp>
      <p:sp>
        <p:nvSpPr>
          <p:cNvPr id="4" name="Espaço Reservado para Número de Slide 3">
            <a:extLst>
              <a:ext uri="{FF2B5EF4-FFF2-40B4-BE49-F238E27FC236}">
                <a16:creationId xmlns:a16="http://schemas.microsoft.com/office/drawing/2014/main" id="{AF85825C-7381-EFF5-9AF7-39EDE764CA80}"/>
              </a:ext>
            </a:extLst>
          </p:cNvPr>
          <p:cNvSpPr>
            <a:spLocks noGrp="1"/>
          </p:cNvSpPr>
          <p:nvPr>
            <p:ph type="sldNum" sz="quarter" idx="12"/>
          </p:nvPr>
        </p:nvSpPr>
        <p:spPr/>
        <p:txBody>
          <a:bodyPr/>
          <a:lstStyle/>
          <a:p>
            <a:fld id="{57410D99-79D9-4AD1-9C9B-7AF9D3218DEC}" type="slidenum">
              <a:rPr lang="pt-BR" smtClean="0"/>
              <a:t>19</a:t>
            </a:fld>
            <a:endParaRPr lang="pt-BR"/>
          </a:p>
        </p:txBody>
      </p:sp>
    </p:spTree>
    <p:extLst>
      <p:ext uri="{BB962C8B-B14F-4D97-AF65-F5344CB8AC3E}">
        <p14:creationId xmlns:p14="http://schemas.microsoft.com/office/powerpoint/2010/main" val="855530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3C08D9-36E5-6C95-F43E-6DA4099BF7C5}"/>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DBED766A-1334-BFC6-65DD-DD685CE7979E}"/>
              </a:ext>
            </a:extLst>
          </p:cNvPr>
          <p:cNvSpPr>
            <a:spLocks noGrp="1"/>
          </p:cNvSpPr>
          <p:nvPr>
            <p:ph idx="1"/>
          </p:nvPr>
        </p:nvSpPr>
        <p:spPr/>
        <p:txBody>
          <a:bodyPr/>
          <a:lstStyle/>
          <a:p>
            <a:r>
              <a:rPr lang="pt-BR" b="1" i="0" dirty="0">
                <a:solidFill>
                  <a:srgbClr val="0D0D0D"/>
                </a:solidFill>
                <a:effectLst/>
                <a:highlight>
                  <a:srgbClr val="FFFFFF"/>
                </a:highlight>
                <a:latin typeface="Söhne"/>
              </a:rPr>
              <a:t>2 - Participação em Interações</a:t>
            </a:r>
            <a:r>
              <a:rPr lang="pt-BR" b="0" i="0" dirty="0">
                <a:solidFill>
                  <a:srgbClr val="0D0D0D"/>
                </a:solidFill>
                <a:effectLst/>
                <a:highlight>
                  <a:srgbClr val="FFFFFF"/>
                </a:highlight>
                <a:latin typeface="Söhne"/>
              </a:rPr>
              <a:t>: Os objetos são os participantes ativos nas interações representadas no diagrama de sequência. Eles trocam mensagens entre si para realizar operações e colaborar na execução de funcionalidades específicas do sistema.</a:t>
            </a:r>
          </a:p>
          <a:p>
            <a:endParaRPr lang="pt-BR" dirty="0"/>
          </a:p>
        </p:txBody>
      </p:sp>
      <p:sp>
        <p:nvSpPr>
          <p:cNvPr id="4" name="Espaço Reservado para Número de Slide 3">
            <a:extLst>
              <a:ext uri="{FF2B5EF4-FFF2-40B4-BE49-F238E27FC236}">
                <a16:creationId xmlns:a16="http://schemas.microsoft.com/office/drawing/2014/main" id="{3371BCC5-1C46-99E1-0355-7E7293E6C7C2}"/>
              </a:ext>
            </a:extLst>
          </p:cNvPr>
          <p:cNvSpPr>
            <a:spLocks noGrp="1"/>
          </p:cNvSpPr>
          <p:nvPr>
            <p:ph type="sldNum" sz="quarter" idx="12"/>
          </p:nvPr>
        </p:nvSpPr>
        <p:spPr/>
        <p:txBody>
          <a:bodyPr/>
          <a:lstStyle/>
          <a:p>
            <a:fld id="{57410D99-79D9-4AD1-9C9B-7AF9D3218DEC}" type="slidenum">
              <a:rPr lang="pt-BR" smtClean="0"/>
              <a:t>20</a:t>
            </a:fld>
            <a:endParaRPr lang="pt-BR"/>
          </a:p>
        </p:txBody>
      </p:sp>
    </p:spTree>
    <p:extLst>
      <p:ext uri="{BB962C8B-B14F-4D97-AF65-F5344CB8AC3E}">
        <p14:creationId xmlns:p14="http://schemas.microsoft.com/office/powerpoint/2010/main" val="3275123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FA904B-1926-E92C-24B5-A1FABC390C35}"/>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ED7AD154-216C-D801-7F5C-1F99F80A3C3F}"/>
              </a:ext>
            </a:extLst>
          </p:cNvPr>
          <p:cNvSpPr>
            <a:spLocks noGrp="1"/>
          </p:cNvSpPr>
          <p:nvPr>
            <p:ph idx="1"/>
          </p:nvPr>
        </p:nvSpPr>
        <p:spPr/>
        <p:txBody>
          <a:bodyPr/>
          <a:lstStyle/>
          <a:p>
            <a:r>
              <a:rPr lang="pt-BR" b="1" i="0" dirty="0">
                <a:solidFill>
                  <a:srgbClr val="0D0D0D"/>
                </a:solidFill>
                <a:effectLst/>
                <a:highlight>
                  <a:srgbClr val="FFFFFF"/>
                </a:highlight>
                <a:latin typeface="Söhne"/>
              </a:rPr>
              <a:t>3 - Estado e Comportamento</a:t>
            </a:r>
            <a:r>
              <a:rPr lang="pt-BR" b="0" i="0" dirty="0">
                <a:solidFill>
                  <a:srgbClr val="0D0D0D"/>
                </a:solidFill>
                <a:effectLst/>
                <a:highlight>
                  <a:srgbClr val="FFFFFF"/>
                </a:highlight>
                <a:latin typeface="Söhne"/>
              </a:rPr>
              <a:t>: Cada objeto tem seu próprio estado e comportamento, que são determinados pela classe da qual ele é uma instância. O estado do objeto é modificado conforme ele recebe e processa mensagens durante a execução do sistema.</a:t>
            </a:r>
          </a:p>
          <a:p>
            <a:endParaRPr lang="pt-BR" dirty="0"/>
          </a:p>
        </p:txBody>
      </p:sp>
      <p:sp>
        <p:nvSpPr>
          <p:cNvPr id="4" name="Espaço Reservado para Número de Slide 3">
            <a:extLst>
              <a:ext uri="{FF2B5EF4-FFF2-40B4-BE49-F238E27FC236}">
                <a16:creationId xmlns:a16="http://schemas.microsoft.com/office/drawing/2014/main" id="{3DB7CA9B-E27E-00EC-2D3C-A189DAABB639}"/>
              </a:ext>
            </a:extLst>
          </p:cNvPr>
          <p:cNvSpPr>
            <a:spLocks noGrp="1"/>
          </p:cNvSpPr>
          <p:nvPr>
            <p:ph type="sldNum" sz="quarter" idx="12"/>
          </p:nvPr>
        </p:nvSpPr>
        <p:spPr/>
        <p:txBody>
          <a:bodyPr/>
          <a:lstStyle/>
          <a:p>
            <a:fld id="{57410D99-79D9-4AD1-9C9B-7AF9D3218DEC}" type="slidenum">
              <a:rPr lang="pt-BR" smtClean="0"/>
              <a:t>21</a:t>
            </a:fld>
            <a:endParaRPr lang="pt-BR"/>
          </a:p>
        </p:txBody>
      </p:sp>
    </p:spTree>
    <p:extLst>
      <p:ext uri="{BB962C8B-B14F-4D97-AF65-F5344CB8AC3E}">
        <p14:creationId xmlns:p14="http://schemas.microsoft.com/office/powerpoint/2010/main" val="914824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5E377-BC5A-CC08-1167-3041BF13B274}"/>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5A70B26C-CF13-992E-A4D4-E74D88ADE7F5}"/>
              </a:ext>
            </a:extLst>
          </p:cNvPr>
          <p:cNvSpPr>
            <a:spLocks noGrp="1"/>
          </p:cNvSpPr>
          <p:nvPr>
            <p:ph idx="1"/>
          </p:nvPr>
        </p:nvSpPr>
        <p:spPr/>
        <p:txBody>
          <a:bodyPr/>
          <a:lstStyle/>
          <a:p>
            <a:r>
              <a:rPr lang="pt-BR" b="1" i="0" dirty="0">
                <a:solidFill>
                  <a:srgbClr val="0D0D0D"/>
                </a:solidFill>
                <a:effectLst/>
                <a:highlight>
                  <a:srgbClr val="FFFFFF"/>
                </a:highlight>
                <a:latin typeface="Söhne"/>
              </a:rPr>
              <a:t>4 - Comunicação entre Objetos</a:t>
            </a:r>
            <a:r>
              <a:rPr lang="pt-BR" b="0" i="0" dirty="0">
                <a:solidFill>
                  <a:srgbClr val="0D0D0D"/>
                </a:solidFill>
                <a:effectLst/>
                <a:highlight>
                  <a:srgbClr val="FFFFFF"/>
                </a:highlight>
                <a:latin typeface="Söhne"/>
              </a:rPr>
              <a:t>: Os objetos trocam mensagens entre si para comunicar e coordenar suas atividades. Essas mensagens podem representar solicitações de informações, comandos para realizar ações ou qualquer outra forma de interação entre os objetos.</a:t>
            </a:r>
          </a:p>
          <a:p>
            <a:endParaRPr lang="pt-BR" dirty="0"/>
          </a:p>
        </p:txBody>
      </p:sp>
      <p:sp>
        <p:nvSpPr>
          <p:cNvPr id="4" name="Espaço Reservado para Número de Slide 3">
            <a:extLst>
              <a:ext uri="{FF2B5EF4-FFF2-40B4-BE49-F238E27FC236}">
                <a16:creationId xmlns:a16="http://schemas.microsoft.com/office/drawing/2014/main" id="{13EE0682-957B-6232-97ED-77342984C5B4}"/>
              </a:ext>
            </a:extLst>
          </p:cNvPr>
          <p:cNvSpPr>
            <a:spLocks noGrp="1"/>
          </p:cNvSpPr>
          <p:nvPr>
            <p:ph type="sldNum" sz="quarter" idx="12"/>
          </p:nvPr>
        </p:nvSpPr>
        <p:spPr/>
        <p:txBody>
          <a:bodyPr/>
          <a:lstStyle/>
          <a:p>
            <a:fld id="{57410D99-79D9-4AD1-9C9B-7AF9D3218DEC}" type="slidenum">
              <a:rPr lang="pt-BR" smtClean="0"/>
              <a:t>22</a:t>
            </a:fld>
            <a:endParaRPr lang="pt-BR"/>
          </a:p>
        </p:txBody>
      </p:sp>
    </p:spTree>
    <p:extLst>
      <p:ext uri="{BB962C8B-B14F-4D97-AF65-F5344CB8AC3E}">
        <p14:creationId xmlns:p14="http://schemas.microsoft.com/office/powerpoint/2010/main" val="1893847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426A3F-E49D-D4A5-7A83-1A3708F608B1}"/>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1973F1FC-BCA5-B4B3-90C2-2F3FCCC7227B}"/>
              </a:ext>
            </a:extLst>
          </p:cNvPr>
          <p:cNvSpPr>
            <a:spLocks noGrp="1"/>
          </p:cNvSpPr>
          <p:nvPr>
            <p:ph idx="1"/>
          </p:nvPr>
        </p:nvSpPr>
        <p:spPr/>
        <p:txBody>
          <a:bodyPr/>
          <a:lstStyle/>
          <a:p>
            <a:r>
              <a:rPr lang="pt-BR" b="1" i="0" dirty="0">
                <a:solidFill>
                  <a:srgbClr val="0D0D0D"/>
                </a:solidFill>
                <a:effectLst/>
                <a:highlight>
                  <a:srgbClr val="FFFFFF"/>
                </a:highlight>
                <a:latin typeface="Söhne"/>
              </a:rPr>
              <a:t>5 - Colaboração e Interdependência</a:t>
            </a:r>
            <a:r>
              <a:rPr lang="pt-BR" b="0" i="0" dirty="0">
                <a:solidFill>
                  <a:srgbClr val="0D0D0D"/>
                </a:solidFill>
                <a:effectLst/>
                <a:highlight>
                  <a:srgbClr val="FFFFFF"/>
                </a:highlight>
                <a:latin typeface="Söhne"/>
              </a:rPr>
              <a:t>: Os objetos colaboram entre si para realizar tarefas e alcançar os objetivos do sistema. Suas interações são baseadas na interdependência entre os diferentes objetos e nas relações definidas pelas classes do sistema.</a:t>
            </a:r>
          </a:p>
          <a:p>
            <a:endParaRPr lang="pt-BR" dirty="0"/>
          </a:p>
        </p:txBody>
      </p:sp>
      <p:sp>
        <p:nvSpPr>
          <p:cNvPr id="4" name="Espaço Reservado para Número de Slide 3">
            <a:extLst>
              <a:ext uri="{FF2B5EF4-FFF2-40B4-BE49-F238E27FC236}">
                <a16:creationId xmlns:a16="http://schemas.microsoft.com/office/drawing/2014/main" id="{2DE028FA-8FEF-5923-4CE6-4C90BF11A06D}"/>
              </a:ext>
            </a:extLst>
          </p:cNvPr>
          <p:cNvSpPr>
            <a:spLocks noGrp="1"/>
          </p:cNvSpPr>
          <p:nvPr>
            <p:ph type="sldNum" sz="quarter" idx="12"/>
          </p:nvPr>
        </p:nvSpPr>
        <p:spPr/>
        <p:txBody>
          <a:bodyPr/>
          <a:lstStyle/>
          <a:p>
            <a:fld id="{57410D99-79D9-4AD1-9C9B-7AF9D3218DEC}" type="slidenum">
              <a:rPr lang="pt-BR" smtClean="0"/>
              <a:t>23</a:t>
            </a:fld>
            <a:endParaRPr lang="pt-BR"/>
          </a:p>
        </p:txBody>
      </p:sp>
    </p:spTree>
    <p:extLst>
      <p:ext uri="{BB962C8B-B14F-4D97-AF65-F5344CB8AC3E}">
        <p14:creationId xmlns:p14="http://schemas.microsoft.com/office/powerpoint/2010/main" val="1083602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4A3C6A-697E-39C0-9F1D-B9E0A5A6EBEB}"/>
              </a:ext>
            </a:extLst>
          </p:cNvPr>
          <p:cNvSpPr>
            <a:spLocks noGrp="1"/>
          </p:cNvSpPr>
          <p:nvPr>
            <p:ph type="title"/>
          </p:nvPr>
        </p:nvSpPr>
        <p:spPr/>
        <p:txBody>
          <a:bodyPr/>
          <a:lstStyle/>
          <a:p>
            <a:r>
              <a:rPr lang="pt-BR" dirty="0"/>
              <a:t>Objeto</a:t>
            </a:r>
          </a:p>
        </p:txBody>
      </p:sp>
      <p:sp>
        <p:nvSpPr>
          <p:cNvPr id="3" name="Espaço Reservado para Conteúdo 2">
            <a:extLst>
              <a:ext uri="{FF2B5EF4-FFF2-40B4-BE49-F238E27FC236}">
                <a16:creationId xmlns:a16="http://schemas.microsoft.com/office/drawing/2014/main" id="{E65C4DFA-E6F4-F7C3-88F2-24237AD797AF}"/>
              </a:ext>
            </a:extLst>
          </p:cNvPr>
          <p:cNvSpPr>
            <a:spLocks noGrp="1"/>
          </p:cNvSpPr>
          <p:nvPr>
            <p:ph idx="1"/>
          </p:nvPr>
        </p:nvSpPr>
        <p:spPr/>
        <p:txBody>
          <a:bodyPr/>
          <a:lstStyle/>
          <a:p>
            <a:r>
              <a:rPr lang="pt-BR" dirty="0"/>
              <a:t>Um objeto é representado por um retângulo com seu nome</a:t>
            </a:r>
          </a:p>
        </p:txBody>
      </p:sp>
      <p:sp>
        <p:nvSpPr>
          <p:cNvPr id="5" name="Espaço Reservado para Número de Slide 4">
            <a:extLst>
              <a:ext uri="{FF2B5EF4-FFF2-40B4-BE49-F238E27FC236}">
                <a16:creationId xmlns:a16="http://schemas.microsoft.com/office/drawing/2014/main" id="{B57715C9-9176-E2FD-08F2-2AEB2128858D}"/>
              </a:ext>
            </a:extLst>
          </p:cNvPr>
          <p:cNvSpPr>
            <a:spLocks noGrp="1"/>
          </p:cNvSpPr>
          <p:nvPr>
            <p:ph type="sldNum" sz="quarter" idx="12"/>
          </p:nvPr>
        </p:nvSpPr>
        <p:spPr/>
        <p:txBody>
          <a:bodyPr/>
          <a:lstStyle/>
          <a:p>
            <a:fld id="{57410D99-79D9-4AD1-9C9B-7AF9D3218DEC}" type="slidenum">
              <a:rPr lang="pt-BR" smtClean="0"/>
              <a:t>24</a:t>
            </a:fld>
            <a:endParaRPr lang="pt-BR"/>
          </a:p>
        </p:txBody>
      </p:sp>
      <p:pic>
        <p:nvPicPr>
          <p:cNvPr id="7" name="Imagem 6">
            <a:extLst>
              <a:ext uri="{FF2B5EF4-FFF2-40B4-BE49-F238E27FC236}">
                <a16:creationId xmlns:a16="http://schemas.microsoft.com/office/drawing/2014/main" id="{CDE530DE-70D3-87B9-4AB8-D62D6B9D6DBA}"/>
              </a:ext>
            </a:extLst>
          </p:cNvPr>
          <p:cNvPicPr>
            <a:picLocks noChangeAspect="1"/>
          </p:cNvPicPr>
          <p:nvPr/>
        </p:nvPicPr>
        <p:blipFill>
          <a:blip r:embed="rId2"/>
          <a:stretch>
            <a:fillRect/>
          </a:stretch>
        </p:blipFill>
        <p:spPr>
          <a:xfrm>
            <a:off x="4239023" y="3098736"/>
            <a:ext cx="3497042" cy="1257364"/>
          </a:xfrm>
          <a:prstGeom prst="rect">
            <a:avLst/>
          </a:prstGeom>
        </p:spPr>
      </p:pic>
    </p:spTree>
    <p:extLst>
      <p:ext uri="{BB962C8B-B14F-4D97-AF65-F5344CB8AC3E}">
        <p14:creationId xmlns:p14="http://schemas.microsoft.com/office/powerpoint/2010/main" val="2281092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6B9B9-5E46-511D-1C5D-F390EFCA7E49}"/>
              </a:ext>
            </a:extLst>
          </p:cNvPr>
          <p:cNvSpPr>
            <a:spLocks noGrp="1"/>
          </p:cNvSpPr>
          <p:nvPr>
            <p:ph type="title"/>
          </p:nvPr>
        </p:nvSpPr>
        <p:spPr/>
        <p:txBody>
          <a:bodyPr/>
          <a:lstStyle/>
          <a:p>
            <a:r>
              <a:rPr lang="pt-BR" dirty="0"/>
              <a:t>Linha de vida</a:t>
            </a:r>
          </a:p>
        </p:txBody>
      </p:sp>
      <p:sp>
        <p:nvSpPr>
          <p:cNvPr id="3" name="Espaço Reservado para Conteúdo 2">
            <a:extLst>
              <a:ext uri="{FF2B5EF4-FFF2-40B4-BE49-F238E27FC236}">
                <a16:creationId xmlns:a16="http://schemas.microsoft.com/office/drawing/2014/main" id="{6732837C-0BA6-804B-F40B-7D2772266309}"/>
              </a:ext>
            </a:extLst>
          </p:cNvPr>
          <p:cNvSpPr>
            <a:spLocks noGrp="1"/>
          </p:cNvSpPr>
          <p:nvPr>
            <p:ph idx="1"/>
          </p:nvPr>
        </p:nvSpPr>
        <p:spPr/>
        <p:txBody>
          <a:bodyPr/>
          <a:lstStyle/>
          <a:p>
            <a:r>
              <a:rPr lang="pt-BR" dirty="0"/>
              <a:t>Elemento nomeado que representa um participante interno individual na interação</a:t>
            </a:r>
          </a:p>
          <a:p>
            <a:r>
              <a:rPr lang="pt-BR" dirty="0"/>
              <a:t>A Linha de Vida de um objeto é uma linha tracejada vertical que representa o período de tempo no qual um objeto existe.</a:t>
            </a:r>
          </a:p>
          <a:p>
            <a:endParaRPr lang="pt-BR" dirty="0"/>
          </a:p>
        </p:txBody>
      </p:sp>
      <p:pic>
        <p:nvPicPr>
          <p:cNvPr id="6" name="Imagem 5">
            <a:extLst>
              <a:ext uri="{FF2B5EF4-FFF2-40B4-BE49-F238E27FC236}">
                <a16:creationId xmlns:a16="http://schemas.microsoft.com/office/drawing/2014/main" id="{97AA21FE-38F1-4499-1F27-F5A8DEAC9299}"/>
              </a:ext>
            </a:extLst>
          </p:cNvPr>
          <p:cNvPicPr>
            <a:picLocks noChangeAspect="1"/>
          </p:cNvPicPr>
          <p:nvPr/>
        </p:nvPicPr>
        <p:blipFill>
          <a:blip r:embed="rId2"/>
          <a:stretch>
            <a:fillRect/>
          </a:stretch>
        </p:blipFill>
        <p:spPr>
          <a:xfrm>
            <a:off x="1906621" y="3688173"/>
            <a:ext cx="8181303" cy="1783291"/>
          </a:xfrm>
          <a:prstGeom prst="rect">
            <a:avLst/>
          </a:prstGeom>
        </p:spPr>
      </p:pic>
      <p:sp>
        <p:nvSpPr>
          <p:cNvPr id="7" name="Espaço Reservado para Número de Slide 6">
            <a:extLst>
              <a:ext uri="{FF2B5EF4-FFF2-40B4-BE49-F238E27FC236}">
                <a16:creationId xmlns:a16="http://schemas.microsoft.com/office/drawing/2014/main" id="{CC0DDEB7-DD7C-8E82-42CC-D2A2429C3EDD}"/>
              </a:ext>
            </a:extLst>
          </p:cNvPr>
          <p:cNvSpPr>
            <a:spLocks noGrp="1"/>
          </p:cNvSpPr>
          <p:nvPr>
            <p:ph type="sldNum" sz="quarter" idx="12"/>
          </p:nvPr>
        </p:nvSpPr>
        <p:spPr/>
        <p:txBody>
          <a:bodyPr/>
          <a:lstStyle/>
          <a:p>
            <a:fld id="{57410D99-79D9-4AD1-9C9B-7AF9D3218DEC}" type="slidenum">
              <a:rPr lang="pt-BR" smtClean="0"/>
              <a:t>25</a:t>
            </a:fld>
            <a:endParaRPr lang="pt-BR"/>
          </a:p>
        </p:txBody>
      </p:sp>
    </p:spTree>
    <p:extLst>
      <p:ext uri="{BB962C8B-B14F-4D97-AF65-F5344CB8AC3E}">
        <p14:creationId xmlns:p14="http://schemas.microsoft.com/office/powerpoint/2010/main" val="1733546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E98A2C-3F14-BE72-B889-230465F7A15E}"/>
              </a:ext>
            </a:extLst>
          </p:cNvPr>
          <p:cNvSpPr>
            <a:spLocks noGrp="1"/>
          </p:cNvSpPr>
          <p:nvPr>
            <p:ph type="title"/>
          </p:nvPr>
        </p:nvSpPr>
        <p:spPr/>
        <p:txBody>
          <a:bodyPr/>
          <a:lstStyle/>
          <a:p>
            <a:r>
              <a:rPr lang="pt-BR" dirty="0"/>
              <a:t>Foco no Controle</a:t>
            </a:r>
          </a:p>
        </p:txBody>
      </p:sp>
      <p:sp>
        <p:nvSpPr>
          <p:cNvPr id="3" name="Espaço Reservado para Conteúdo 2">
            <a:extLst>
              <a:ext uri="{FF2B5EF4-FFF2-40B4-BE49-F238E27FC236}">
                <a16:creationId xmlns:a16="http://schemas.microsoft.com/office/drawing/2014/main" id="{443CE8F9-2285-3CB1-DAED-F0343B628665}"/>
              </a:ext>
            </a:extLst>
          </p:cNvPr>
          <p:cNvSpPr>
            <a:spLocks noGrp="1"/>
          </p:cNvSpPr>
          <p:nvPr>
            <p:ph idx="1"/>
          </p:nvPr>
        </p:nvSpPr>
        <p:spPr/>
        <p:txBody>
          <a:bodyPr/>
          <a:lstStyle/>
          <a:p>
            <a:r>
              <a:rPr lang="pt-BR" dirty="0"/>
              <a:t>Período no qual um objeto está participando ativamente de um processo, ou seja, o tempo necessário para que um objeto complete uma tarefa, também chamado de </a:t>
            </a:r>
            <a:r>
              <a:rPr lang="pt-BR" b="1" dirty="0"/>
              <a:t>Caixa de Ativação.</a:t>
            </a:r>
          </a:p>
          <a:p>
            <a:r>
              <a:rPr lang="pt-BR" dirty="0"/>
              <a:t>Representado dentro da linha de vida de um objeto, como retângulo na vertical.</a:t>
            </a:r>
          </a:p>
        </p:txBody>
      </p:sp>
      <p:pic>
        <p:nvPicPr>
          <p:cNvPr id="6" name="Imagem 5">
            <a:extLst>
              <a:ext uri="{FF2B5EF4-FFF2-40B4-BE49-F238E27FC236}">
                <a16:creationId xmlns:a16="http://schemas.microsoft.com/office/drawing/2014/main" id="{D74D7393-24BA-BD75-CC6B-288C7DB3C7B1}"/>
              </a:ext>
            </a:extLst>
          </p:cNvPr>
          <p:cNvPicPr>
            <a:picLocks noChangeAspect="1"/>
          </p:cNvPicPr>
          <p:nvPr/>
        </p:nvPicPr>
        <p:blipFill>
          <a:blip r:embed="rId2"/>
          <a:stretch>
            <a:fillRect/>
          </a:stretch>
        </p:blipFill>
        <p:spPr>
          <a:xfrm>
            <a:off x="4895290" y="3553324"/>
            <a:ext cx="5125165" cy="3019846"/>
          </a:xfrm>
          <a:prstGeom prst="rect">
            <a:avLst/>
          </a:prstGeom>
        </p:spPr>
      </p:pic>
      <p:sp>
        <p:nvSpPr>
          <p:cNvPr id="7" name="Espaço Reservado para Número de Slide 6">
            <a:extLst>
              <a:ext uri="{FF2B5EF4-FFF2-40B4-BE49-F238E27FC236}">
                <a16:creationId xmlns:a16="http://schemas.microsoft.com/office/drawing/2014/main" id="{DAD14AED-ED8A-FF4A-C6D3-6720E03C02FE}"/>
              </a:ext>
            </a:extLst>
          </p:cNvPr>
          <p:cNvSpPr>
            <a:spLocks noGrp="1"/>
          </p:cNvSpPr>
          <p:nvPr>
            <p:ph type="sldNum" sz="quarter" idx="12"/>
          </p:nvPr>
        </p:nvSpPr>
        <p:spPr/>
        <p:txBody>
          <a:bodyPr/>
          <a:lstStyle/>
          <a:p>
            <a:fld id="{57410D99-79D9-4AD1-9C9B-7AF9D3218DEC}" type="slidenum">
              <a:rPr lang="pt-BR" smtClean="0"/>
              <a:t>26</a:t>
            </a:fld>
            <a:endParaRPr lang="pt-BR"/>
          </a:p>
        </p:txBody>
      </p:sp>
    </p:spTree>
    <p:extLst>
      <p:ext uri="{BB962C8B-B14F-4D97-AF65-F5344CB8AC3E}">
        <p14:creationId xmlns:p14="http://schemas.microsoft.com/office/powerpoint/2010/main" val="1037980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F6B6B8-9421-D2A3-A3CD-5C22B8132947}"/>
              </a:ext>
            </a:extLst>
          </p:cNvPr>
          <p:cNvSpPr>
            <a:spLocks noGrp="1"/>
          </p:cNvSpPr>
          <p:nvPr>
            <p:ph type="title"/>
          </p:nvPr>
        </p:nvSpPr>
        <p:spPr/>
        <p:txBody>
          <a:bodyPr/>
          <a:lstStyle/>
          <a:p>
            <a:r>
              <a:rPr lang="pt-BR" dirty="0"/>
              <a:t>Mensagens</a:t>
            </a:r>
          </a:p>
        </p:txBody>
      </p:sp>
      <p:sp>
        <p:nvSpPr>
          <p:cNvPr id="3" name="Espaço Reservado para Conteúdo 2">
            <a:extLst>
              <a:ext uri="{FF2B5EF4-FFF2-40B4-BE49-F238E27FC236}">
                <a16:creationId xmlns:a16="http://schemas.microsoft.com/office/drawing/2014/main" id="{9DB4681D-6CED-4CE8-0A46-980E8FD67D4D}"/>
              </a:ext>
            </a:extLst>
          </p:cNvPr>
          <p:cNvSpPr>
            <a:spLocks noGrp="1"/>
          </p:cNvSpPr>
          <p:nvPr>
            <p:ph idx="1"/>
          </p:nvPr>
        </p:nvSpPr>
        <p:spPr/>
        <p:txBody>
          <a:bodyPr/>
          <a:lstStyle/>
          <a:p>
            <a:r>
              <a:rPr lang="pt-BR" dirty="0"/>
              <a:t>Demonstram a ocorrência de eventos (</a:t>
            </a:r>
            <a:r>
              <a:rPr lang="pt-BR" b="1" dirty="0"/>
              <a:t>chamadas de métodos</a:t>
            </a:r>
            <a:r>
              <a:rPr lang="pt-BR" dirty="0"/>
              <a:t>) ou comunicação entre objetos, sem chamar métodos.</a:t>
            </a:r>
          </a:p>
          <a:p>
            <a:r>
              <a:rPr lang="pt-BR" dirty="0"/>
              <a:t>Mostram as informações que são enviadas entre os objetos</a:t>
            </a:r>
          </a:p>
          <a:p>
            <a:r>
              <a:rPr lang="pt-BR" dirty="0"/>
              <a:t>As mensagens são representadas por uma seta horizontal que vai de uma linha de vida a outra, apontando para o destinatário da mensagem.</a:t>
            </a:r>
          </a:p>
        </p:txBody>
      </p:sp>
      <p:sp>
        <p:nvSpPr>
          <p:cNvPr id="4" name="Espaço Reservado para Número de Slide 3">
            <a:extLst>
              <a:ext uri="{FF2B5EF4-FFF2-40B4-BE49-F238E27FC236}">
                <a16:creationId xmlns:a16="http://schemas.microsoft.com/office/drawing/2014/main" id="{1312116D-FDDF-4A85-8A0F-039F6EB470D8}"/>
              </a:ext>
            </a:extLst>
          </p:cNvPr>
          <p:cNvSpPr>
            <a:spLocks noGrp="1"/>
          </p:cNvSpPr>
          <p:nvPr>
            <p:ph type="sldNum" sz="quarter" idx="12"/>
          </p:nvPr>
        </p:nvSpPr>
        <p:spPr/>
        <p:txBody>
          <a:bodyPr/>
          <a:lstStyle/>
          <a:p>
            <a:fld id="{57410D99-79D9-4AD1-9C9B-7AF9D3218DEC}" type="slidenum">
              <a:rPr lang="pt-BR" smtClean="0"/>
              <a:t>27</a:t>
            </a:fld>
            <a:endParaRPr lang="pt-BR"/>
          </a:p>
        </p:txBody>
      </p:sp>
    </p:spTree>
    <p:extLst>
      <p:ext uri="{BB962C8B-B14F-4D97-AF65-F5344CB8AC3E}">
        <p14:creationId xmlns:p14="http://schemas.microsoft.com/office/powerpoint/2010/main" val="1579094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4D6CF-7A11-0E0C-1F0D-D27129F5C7E2}"/>
              </a:ext>
            </a:extLst>
          </p:cNvPr>
          <p:cNvSpPr>
            <a:spLocks noGrp="1"/>
          </p:cNvSpPr>
          <p:nvPr>
            <p:ph type="title"/>
          </p:nvPr>
        </p:nvSpPr>
        <p:spPr/>
        <p:txBody>
          <a:bodyPr/>
          <a:lstStyle/>
          <a:p>
            <a:r>
              <a:rPr lang="pt-BR" dirty="0"/>
              <a:t>Tipos de Mensagens</a:t>
            </a:r>
          </a:p>
        </p:txBody>
      </p:sp>
      <p:sp>
        <p:nvSpPr>
          <p:cNvPr id="3" name="Espaço Reservado para Conteúdo 2">
            <a:extLst>
              <a:ext uri="{FF2B5EF4-FFF2-40B4-BE49-F238E27FC236}">
                <a16:creationId xmlns:a16="http://schemas.microsoft.com/office/drawing/2014/main" id="{1C5138C2-259C-C3C0-ED1C-94AD9E65123B}"/>
              </a:ext>
            </a:extLst>
          </p:cNvPr>
          <p:cNvSpPr>
            <a:spLocks noGrp="1"/>
          </p:cNvSpPr>
          <p:nvPr>
            <p:ph idx="1"/>
          </p:nvPr>
        </p:nvSpPr>
        <p:spPr/>
        <p:txBody>
          <a:bodyPr/>
          <a:lstStyle/>
          <a:p>
            <a:r>
              <a:rPr lang="pt-BR" dirty="0"/>
              <a:t>Mensagem Síncrona</a:t>
            </a:r>
          </a:p>
          <a:p>
            <a:r>
              <a:rPr lang="pt-BR" dirty="0"/>
              <a:t>Mensagem Assíncrona</a:t>
            </a:r>
          </a:p>
          <a:p>
            <a:r>
              <a:rPr lang="pt-BR" dirty="0" err="1"/>
              <a:t>Auto-mensagem</a:t>
            </a:r>
            <a:endParaRPr lang="pt-BR" dirty="0"/>
          </a:p>
          <a:p>
            <a:r>
              <a:rPr lang="pt-BR" dirty="0"/>
              <a:t>Mensagem de Resposta</a:t>
            </a:r>
          </a:p>
          <a:p>
            <a:r>
              <a:rPr lang="pt-BR" dirty="0"/>
              <a:t>Mensagem de Criação de Participante</a:t>
            </a:r>
          </a:p>
          <a:p>
            <a:r>
              <a:rPr lang="pt-BR" dirty="0"/>
              <a:t>Mensagem de Exclusão de Participante</a:t>
            </a:r>
          </a:p>
        </p:txBody>
      </p:sp>
      <p:sp>
        <p:nvSpPr>
          <p:cNvPr id="4" name="Espaço Reservado para Número de Slide 3">
            <a:extLst>
              <a:ext uri="{FF2B5EF4-FFF2-40B4-BE49-F238E27FC236}">
                <a16:creationId xmlns:a16="http://schemas.microsoft.com/office/drawing/2014/main" id="{64239C53-5E1B-CF8F-5600-35F071244F49}"/>
              </a:ext>
            </a:extLst>
          </p:cNvPr>
          <p:cNvSpPr>
            <a:spLocks noGrp="1"/>
          </p:cNvSpPr>
          <p:nvPr>
            <p:ph type="sldNum" sz="quarter" idx="12"/>
          </p:nvPr>
        </p:nvSpPr>
        <p:spPr/>
        <p:txBody>
          <a:bodyPr/>
          <a:lstStyle/>
          <a:p>
            <a:fld id="{57410D99-79D9-4AD1-9C9B-7AF9D3218DEC}" type="slidenum">
              <a:rPr lang="pt-BR" smtClean="0"/>
              <a:t>28</a:t>
            </a:fld>
            <a:endParaRPr lang="pt-BR"/>
          </a:p>
        </p:txBody>
      </p:sp>
    </p:spTree>
    <p:extLst>
      <p:ext uri="{BB962C8B-B14F-4D97-AF65-F5344CB8AC3E}">
        <p14:creationId xmlns:p14="http://schemas.microsoft.com/office/powerpoint/2010/main" val="12361828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7290AA-C2FE-9BE8-E807-04CB28DAC1CE}"/>
              </a:ext>
            </a:extLst>
          </p:cNvPr>
          <p:cNvSpPr>
            <a:spLocks noGrp="1"/>
          </p:cNvSpPr>
          <p:nvPr>
            <p:ph type="title"/>
          </p:nvPr>
        </p:nvSpPr>
        <p:spPr/>
        <p:txBody>
          <a:bodyPr/>
          <a:lstStyle/>
          <a:p>
            <a:r>
              <a:rPr lang="pt-BR" dirty="0"/>
              <a:t>Mensagem Síncrona</a:t>
            </a:r>
          </a:p>
        </p:txBody>
      </p:sp>
      <p:sp>
        <p:nvSpPr>
          <p:cNvPr id="3" name="Espaço Reservado para Conteúdo 2">
            <a:extLst>
              <a:ext uri="{FF2B5EF4-FFF2-40B4-BE49-F238E27FC236}">
                <a16:creationId xmlns:a16="http://schemas.microsoft.com/office/drawing/2014/main" id="{5B0A489E-4295-4EE6-97AB-F4E3C18E7254}"/>
              </a:ext>
            </a:extLst>
          </p:cNvPr>
          <p:cNvSpPr>
            <a:spLocks noGrp="1"/>
          </p:cNvSpPr>
          <p:nvPr>
            <p:ph idx="1"/>
          </p:nvPr>
        </p:nvSpPr>
        <p:spPr/>
        <p:txBody>
          <a:bodyPr/>
          <a:lstStyle/>
          <a:p>
            <a:r>
              <a:rPr lang="pt-BR" dirty="0"/>
              <a:t>Mensagem que espera por uma resposta antes que a interação possa prosseguir. Remetente espera até que o receptor tenha terminado o processamento da mensagem.</a:t>
            </a:r>
          </a:p>
        </p:txBody>
      </p:sp>
      <p:pic>
        <p:nvPicPr>
          <p:cNvPr id="8" name="Imagem 7">
            <a:extLst>
              <a:ext uri="{FF2B5EF4-FFF2-40B4-BE49-F238E27FC236}">
                <a16:creationId xmlns:a16="http://schemas.microsoft.com/office/drawing/2014/main" id="{349C81ED-EADE-AC93-B1D0-216C52953CA2}"/>
              </a:ext>
            </a:extLst>
          </p:cNvPr>
          <p:cNvPicPr>
            <a:picLocks noChangeAspect="1"/>
          </p:cNvPicPr>
          <p:nvPr/>
        </p:nvPicPr>
        <p:blipFill>
          <a:blip r:embed="rId2"/>
          <a:stretch>
            <a:fillRect/>
          </a:stretch>
        </p:blipFill>
        <p:spPr>
          <a:xfrm>
            <a:off x="3089323" y="3054485"/>
            <a:ext cx="5505452" cy="3369008"/>
          </a:xfrm>
          <a:prstGeom prst="rect">
            <a:avLst/>
          </a:prstGeom>
        </p:spPr>
      </p:pic>
      <p:sp>
        <p:nvSpPr>
          <p:cNvPr id="9" name="Espaço Reservado para Número de Slide 8">
            <a:extLst>
              <a:ext uri="{FF2B5EF4-FFF2-40B4-BE49-F238E27FC236}">
                <a16:creationId xmlns:a16="http://schemas.microsoft.com/office/drawing/2014/main" id="{66A04D7C-07DB-A10D-2D98-D191E504294D}"/>
              </a:ext>
            </a:extLst>
          </p:cNvPr>
          <p:cNvSpPr>
            <a:spLocks noGrp="1"/>
          </p:cNvSpPr>
          <p:nvPr>
            <p:ph type="sldNum" sz="quarter" idx="12"/>
          </p:nvPr>
        </p:nvSpPr>
        <p:spPr/>
        <p:txBody>
          <a:bodyPr/>
          <a:lstStyle/>
          <a:p>
            <a:fld id="{57410D99-79D9-4AD1-9C9B-7AF9D3218DEC}" type="slidenum">
              <a:rPr lang="pt-BR" smtClean="0"/>
              <a:t>29</a:t>
            </a:fld>
            <a:endParaRPr lang="pt-BR"/>
          </a:p>
        </p:txBody>
      </p:sp>
    </p:spTree>
    <p:extLst>
      <p:ext uri="{BB962C8B-B14F-4D97-AF65-F5344CB8AC3E}">
        <p14:creationId xmlns:p14="http://schemas.microsoft.com/office/powerpoint/2010/main" val="2487222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3F5B7C-58F1-06DB-3F60-A64CEE688869}"/>
              </a:ext>
            </a:extLst>
          </p:cNvPr>
          <p:cNvSpPr>
            <a:spLocks noGrp="1"/>
          </p:cNvSpPr>
          <p:nvPr>
            <p:ph type="title"/>
          </p:nvPr>
        </p:nvSpPr>
        <p:spPr/>
        <p:txBody>
          <a:bodyPr/>
          <a:lstStyle/>
          <a:p>
            <a:r>
              <a:rPr lang="pt-BR" dirty="0"/>
              <a:t>Mensagem Assíncrona</a:t>
            </a:r>
          </a:p>
        </p:txBody>
      </p:sp>
      <p:sp>
        <p:nvSpPr>
          <p:cNvPr id="3" name="Espaço Reservado para Conteúdo 2">
            <a:extLst>
              <a:ext uri="{FF2B5EF4-FFF2-40B4-BE49-F238E27FC236}">
                <a16:creationId xmlns:a16="http://schemas.microsoft.com/office/drawing/2014/main" id="{57F0E36A-8F07-4C39-E02C-1E1592B4A75F}"/>
              </a:ext>
            </a:extLst>
          </p:cNvPr>
          <p:cNvSpPr>
            <a:spLocks noGrp="1"/>
          </p:cNvSpPr>
          <p:nvPr>
            <p:ph idx="1"/>
          </p:nvPr>
        </p:nvSpPr>
        <p:spPr/>
        <p:txBody>
          <a:bodyPr/>
          <a:lstStyle/>
          <a:p>
            <a:r>
              <a:rPr lang="pt-BR" dirty="0"/>
              <a:t>Mensagem que não espera por uma resposta do destinatário antes que a interação possa prosseguir. A interação prossegue independente do destinatário processar a mensagem ou não.</a:t>
            </a:r>
          </a:p>
          <a:p>
            <a:r>
              <a:rPr lang="pt-BR" dirty="0"/>
              <a:t>Usamos uma senta de ponta linear para representar a mensagem síncrona.</a:t>
            </a:r>
          </a:p>
        </p:txBody>
      </p:sp>
      <p:pic>
        <p:nvPicPr>
          <p:cNvPr id="6" name="Imagem 5">
            <a:extLst>
              <a:ext uri="{FF2B5EF4-FFF2-40B4-BE49-F238E27FC236}">
                <a16:creationId xmlns:a16="http://schemas.microsoft.com/office/drawing/2014/main" id="{30F41FE7-A959-D1F0-37AA-3EC4242C58F2}"/>
              </a:ext>
            </a:extLst>
          </p:cNvPr>
          <p:cNvPicPr>
            <a:picLocks noChangeAspect="1"/>
          </p:cNvPicPr>
          <p:nvPr/>
        </p:nvPicPr>
        <p:blipFill>
          <a:blip r:embed="rId2"/>
          <a:stretch>
            <a:fillRect/>
          </a:stretch>
        </p:blipFill>
        <p:spPr>
          <a:xfrm>
            <a:off x="3391265" y="3584995"/>
            <a:ext cx="5409470" cy="2726905"/>
          </a:xfrm>
          <a:prstGeom prst="rect">
            <a:avLst/>
          </a:prstGeom>
        </p:spPr>
      </p:pic>
      <p:sp>
        <p:nvSpPr>
          <p:cNvPr id="7" name="Espaço Reservado para Número de Slide 6">
            <a:extLst>
              <a:ext uri="{FF2B5EF4-FFF2-40B4-BE49-F238E27FC236}">
                <a16:creationId xmlns:a16="http://schemas.microsoft.com/office/drawing/2014/main" id="{6E38307B-D80C-85BD-3B30-267FC8A6D907}"/>
              </a:ext>
            </a:extLst>
          </p:cNvPr>
          <p:cNvSpPr>
            <a:spLocks noGrp="1"/>
          </p:cNvSpPr>
          <p:nvPr>
            <p:ph type="sldNum" sz="quarter" idx="12"/>
          </p:nvPr>
        </p:nvSpPr>
        <p:spPr/>
        <p:txBody>
          <a:bodyPr/>
          <a:lstStyle/>
          <a:p>
            <a:fld id="{57410D99-79D9-4AD1-9C9B-7AF9D3218DEC}" type="slidenum">
              <a:rPr lang="pt-BR" smtClean="0"/>
              <a:t>30</a:t>
            </a:fld>
            <a:endParaRPr lang="pt-BR"/>
          </a:p>
        </p:txBody>
      </p:sp>
    </p:spTree>
    <p:extLst>
      <p:ext uri="{BB962C8B-B14F-4D97-AF65-F5344CB8AC3E}">
        <p14:creationId xmlns:p14="http://schemas.microsoft.com/office/powerpoint/2010/main" val="22830066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4C336-B314-0D35-05DF-267D6D505E76}"/>
              </a:ext>
            </a:extLst>
          </p:cNvPr>
          <p:cNvSpPr>
            <a:spLocks noGrp="1"/>
          </p:cNvSpPr>
          <p:nvPr>
            <p:ph type="title"/>
          </p:nvPr>
        </p:nvSpPr>
        <p:spPr/>
        <p:txBody>
          <a:bodyPr/>
          <a:lstStyle/>
          <a:p>
            <a:r>
              <a:rPr lang="pt-BR" dirty="0"/>
              <a:t>Mensagem de Criação de Participante</a:t>
            </a:r>
          </a:p>
        </p:txBody>
      </p:sp>
      <p:sp>
        <p:nvSpPr>
          <p:cNvPr id="3" name="Espaço Reservado para Conteúdo 2">
            <a:extLst>
              <a:ext uri="{FF2B5EF4-FFF2-40B4-BE49-F238E27FC236}">
                <a16:creationId xmlns:a16="http://schemas.microsoft.com/office/drawing/2014/main" id="{B8C3E744-0E98-D345-CB7C-A680DA420559}"/>
              </a:ext>
            </a:extLst>
          </p:cNvPr>
          <p:cNvSpPr>
            <a:spLocks noGrp="1"/>
          </p:cNvSpPr>
          <p:nvPr>
            <p:ph idx="1"/>
          </p:nvPr>
        </p:nvSpPr>
        <p:spPr/>
        <p:txBody>
          <a:bodyPr/>
          <a:lstStyle/>
          <a:p>
            <a:r>
              <a:rPr lang="pt-BR" dirty="0"/>
              <a:t>Uma mensagem de criação permite instanciar um novo objeto no diagrama. Às vezes, é necessário que uma mensagem crie um novo objeto.</a:t>
            </a:r>
          </a:p>
          <a:p>
            <a:r>
              <a:rPr lang="pt-BR" dirty="0"/>
              <a:t>Representado por uma seta tracejada com rótulo </a:t>
            </a:r>
            <a:r>
              <a:rPr lang="pt-BR" b="1" dirty="0"/>
              <a:t>&lt;&lt;</a:t>
            </a:r>
            <a:r>
              <a:rPr lang="pt-BR" b="1" dirty="0" err="1"/>
              <a:t>create</a:t>
            </a:r>
            <a:r>
              <a:rPr lang="pt-BR" b="1" dirty="0"/>
              <a:t>&gt;&gt; </a:t>
            </a:r>
            <a:r>
              <a:rPr lang="pt-BR" dirty="0"/>
              <a:t>em uma </a:t>
            </a:r>
            <a:r>
              <a:rPr lang="pt-BR" dirty="0" err="1"/>
              <a:t>tag</a:t>
            </a:r>
            <a:r>
              <a:rPr lang="pt-BR" dirty="0"/>
              <a:t>.</a:t>
            </a:r>
          </a:p>
        </p:txBody>
      </p:sp>
      <p:pic>
        <p:nvPicPr>
          <p:cNvPr id="6" name="Imagem 5">
            <a:extLst>
              <a:ext uri="{FF2B5EF4-FFF2-40B4-BE49-F238E27FC236}">
                <a16:creationId xmlns:a16="http://schemas.microsoft.com/office/drawing/2014/main" id="{A480DEBE-AB4C-FEEA-4F4C-08B77B1E3B62}"/>
              </a:ext>
            </a:extLst>
          </p:cNvPr>
          <p:cNvPicPr>
            <a:picLocks noChangeAspect="1"/>
          </p:cNvPicPr>
          <p:nvPr/>
        </p:nvPicPr>
        <p:blipFill>
          <a:blip r:embed="rId2"/>
          <a:stretch>
            <a:fillRect/>
          </a:stretch>
        </p:blipFill>
        <p:spPr>
          <a:xfrm>
            <a:off x="4221804" y="3801821"/>
            <a:ext cx="4601810" cy="2510079"/>
          </a:xfrm>
          <a:prstGeom prst="rect">
            <a:avLst/>
          </a:prstGeom>
        </p:spPr>
      </p:pic>
      <p:sp>
        <p:nvSpPr>
          <p:cNvPr id="7" name="Espaço Reservado para Número de Slide 6">
            <a:extLst>
              <a:ext uri="{FF2B5EF4-FFF2-40B4-BE49-F238E27FC236}">
                <a16:creationId xmlns:a16="http://schemas.microsoft.com/office/drawing/2014/main" id="{269E07BF-0B81-E7D0-F4E1-191B7AC83480}"/>
              </a:ext>
            </a:extLst>
          </p:cNvPr>
          <p:cNvSpPr>
            <a:spLocks noGrp="1"/>
          </p:cNvSpPr>
          <p:nvPr>
            <p:ph type="sldNum" sz="quarter" idx="12"/>
          </p:nvPr>
        </p:nvSpPr>
        <p:spPr/>
        <p:txBody>
          <a:bodyPr/>
          <a:lstStyle/>
          <a:p>
            <a:fld id="{57410D99-79D9-4AD1-9C9B-7AF9D3218DEC}" type="slidenum">
              <a:rPr lang="pt-BR" smtClean="0"/>
              <a:t>31</a:t>
            </a:fld>
            <a:endParaRPr lang="pt-BR"/>
          </a:p>
        </p:txBody>
      </p:sp>
    </p:spTree>
    <p:extLst>
      <p:ext uri="{BB962C8B-B14F-4D97-AF65-F5344CB8AC3E}">
        <p14:creationId xmlns:p14="http://schemas.microsoft.com/office/powerpoint/2010/main" val="756534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EA4A32-DA6D-4050-EC36-3AA2322E8820}"/>
              </a:ext>
            </a:extLst>
          </p:cNvPr>
          <p:cNvSpPr>
            <a:spLocks noGrp="1"/>
          </p:cNvSpPr>
          <p:nvPr>
            <p:ph type="title"/>
          </p:nvPr>
        </p:nvSpPr>
        <p:spPr/>
        <p:txBody>
          <a:bodyPr/>
          <a:lstStyle/>
          <a:p>
            <a:r>
              <a:rPr lang="pt-BR" dirty="0"/>
              <a:t>Mensagem de Exclusão de Participante</a:t>
            </a:r>
          </a:p>
        </p:txBody>
      </p:sp>
      <p:sp>
        <p:nvSpPr>
          <p:cNvPr id="3" name="Espaço Reservado para Conteúdo 2">
            <a:extLst>
              <a:ext uri="{FF2B5EF4-FFF2-40B4-BE49-F238E27FC236}">
                <a16:creationId xmlns:a16="http://schemas.microsoft.com/office/drawing/2014/main" id="{4AD4F4AF-244F-5A99-1C3B-8925D0511E6E}"/>
              </a:ext>
            </a:extLst>
          </p:cNvPr>
          <p:cNvSpPr>
            <a:spLocks noGrp="1"/>
          </p:cNvSpPr>
          <p:nvPr>
            <p:ph idx="1"/>
          </p:nvPr>
        </p:nvSpPr>
        <p:spPr/>
        <p:txBody>
          <a:bodyPr/>
          <a:lstStyle/>
          <a:p>
            <a:r>
              <a:rPr lang="pt-BR" dirty="0"/>
              <a:t>A mensagem de exclusão é empregada para eliminar um objeto. Assim, a memória é desalocada pelo destruição da ocorrência do objeto no sistema.</a:t>
            </a:r>
          </a:p>
          <a:p>
            <a:r>
              <a:rPr lang="pt-BR" dirty="0"/>
              <a:t>Representada por uma seta que termina com X.</a:t>
            </a:r>
          </a:p>
        </p:txBody>
      </p:sp>
      <p:pic>
        <p:nvPicPr>
          <p:cNvPr id="6" name="Imagem 5">
            <a:extLst>
              <a:ext uri="{FF2B5EF4-FFF2-40B4-BE49-F238E27FC236}">
                <a16:creationId xmlns:a16="http://schemas.microsoft.com/office/drawing/2014/main" id="{459B8A85-CD02-1B78-EEEE-2314D51C4A23}"/>
              </a:ext>
            </a:extLst>
          </p:cNvPr>
          <p:cNvPicPr>
            <a:picLocks noChangeAspect="1"/>
          </p:cNvPicPr>
          <p:nvPr/>
        </p:nvPicPr>
        <p:blipFill>
          <a:blip r:embed="rId2"/>
          <a:stretch>
            <a:fillRect/>
          </a:stretch>
        </p:blipFill>
        <p:spPr>
          <a:xfrm>
            <a:off x="2545090" y="3806450"/>
            <a:ext cx="5953956" cy="2686425"/>
          </a:xfrm>
          <a:prstGeom prst="rect">
            <a:avLst/>
          </a:prstGeom>
        </p:spPr>
      </p:pic>
      <p:sp>
        <p:nvSpPr>
          <p:cNvPr id="7" name="Espaço Reservado para Número de Slide 6">
            <a:extLst>
              <a:ext uri="{FF2B5EF4-FFF2-40B4-BE49-F238E27FC236}">
                <a16:creationId xmlns:a16="http://schemas.microsoft.com/office/drawing/2014/main" id="{354A66EF-9052-CC11-6E07-67EBCA293FFB}"/>
              </a:ext>
            </a:extLst>
          </p:cNvPr>
          <p:cNvSpPr>
            <a:spLocks noGrp="1"/>
          </p:cNvSpPr>
          <p:nvPr>
            <p:ph type="sldNum" sz="quarter" idx="12"/>
          </p:nvPr>
        </p:nvSpPr>
        <p:spPr/>
        <p:txBody>
          <a:bodyPr/>
          <a:lstStyle/>
          <a:p>
            <a:fld id="{57410D99-79D9-4AD1-9C9B-7AF9D3218DEC}" type="slidenum">
              <a:rPr lang="pt-BR" smtClean="0"/>
              <a:t>32</a:t>
            </a:fld>
            <a:endParaRPr lang="pt-BR"/>
          </a:p>
        </p:txBody>
      </p:sp>
    </p:spTree>
    <p:extLst>
      <p:ext uri="{BB962C8B-B14F-4D97-AF65-F5344CB8AC3E}">
        <p14:creationId xmlns:p14="http://schemas.microsoft.com/office/powerpoint/2010/main" val="12137517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610F41-649B-3366-A6BC-DE7EB07DC1AD}"/>
              </a:ext>
            </a:extLst>
          </p:cNvPr>
          <p:cNvSpPr>
            <a:spLocks noGrp="1"/>
          </p:cNvSpPr>
          <p:nvPr>
            <p:ph type="title"/>
          </p:nvPr>
        </p:nvSpPr>
        <p:spPr/>
        <p:txBody>
          <a:bodyPr/>
          <a:lstStyle/>
          <a:p>
            <a:r>
              <a:rPr lang="pt-BR" dirty="0" err="1"/>
              <a:t>Auto-Mensagem</a:t>
            </a:r>
            <a:endParaRPr lang="pt-BR" dirty="0"/>
          </a:p>
        </p:txBody>
      </p:sp>
      <p:sp>
        <p:nvSpPr>
          <p:cNvPr id="3" name="Espaço Reservado para Conteúdo 2">
            <a:extLst>
              <a:ext uri="{FF2B5EF4-FFF2-40B4-BE49-F238E27FC236}">
                <a16:creationId xmlns:a16="http://schemas.microsoft.com/office/drawing/2014/main" id="{7A27C05C-336B-B752-04A3-91E735AB42ED}"/>
              </a:ext>
            </a:extLst>
          </p:cNvPr>
          <p:cNvSpPr>
            <a:spLocks noGrp="1"/>
          </p:cNvSpPr>
          <p:nvPr>
            <p:ph idx="1"/>
          </p:nvPr>
        </p:nvSpPr>
        <p:spPr/>
        <p:txBody>
          <a:bodyPr/>
          <a:lstStyle/>
          <a:p>
            <a:r>
              <a:rPr lang="pt-BR" dirty="0"/>
              <a:t>Uma </a:t>
            </a:r>
            <a:r>
              <a:rPr lang="pt-BR" dirty="0" err="1"/>
              <a:t>auto-mensagem</a:t>
            </a:r>
            <a:r>
              <a:rPr lang="pt-BR" dirty="0"/>
              <a:t> é empregada quando um objeto necessita realizar uma chamada a si mesmo.</a:t>
            </a:r>
          </a:p>
          <a:p>
            <a:r>
              <a:rPr lang="pt-BR" dirty="0"/>
              <a:t>Representada com uma seta que sai e volta ao mesmo objeto.</a:t>
            </a:r>
          </a:p>
          <a:p>
            <a:r>
              <a:rPr lang="pt-BR" dirty="0"/>
              <a:t>Pode ser síncrona ou assíncrona.</a:t>
            </a:r>
          </a:p>
        </p:txBody>
      </p:sp>
      <p:pic>
        <p:nvPicPr>
          <p:cNvPr id="6" name="Imagem 5">
            <a:extLst>
              <a:ext uri="{FF2B5EF4-FFF2-40B4-BE49-F238E27FC236}">
                <a16:creationId xmlns:a16="http://schemas.microsoft.com/office/drawing/2014/main" id="{A55DD82C-EFA0-27CD-EF5F-165FC58D2338}"/>
              </a:ext>
            </a:extLst>
          </p:cNvPr>
          <p:cNvPicPr>
            <a:picLocks noChangeAspect="1"/>
          </p:cNvPicPr>
          <p:nvPr/>
        </p:nvPicPr>
        <p:blipFill>
          <a:blip r:embed="rId2"/>
          <a:stretch>
            <a:fillRect/>
          </a:stretch>
        </p:blipFill>
        <p:spPr>
          <a:xfrm>
            <a:off x="6422458" y="3220973"/>
            <a:ext cx="3277057" cy="2867425"/>
          </a:xfrm>
          <a:prstGeom prst="rect">
            <a:avLst/>
          </a:prstGeom>
        </p:spPr>
      </p:pic>
      <p:sp>
        <p:nvSpPr>
          <p:cNvPr id="7" name="Espaço Reservado para Número de Slide 6">
            <a:extLst>
              <a:ext uri="{FF2B5EF4-FFF2-40B4-BE49-F238E27FC236}">
                <a16:creationId xmlns:a16="http://schemas.microsoft.com/office/drawing/2014/main" id="{EC802694-940F-333B-00DB-08FE765C50D1}"/>
              </a:ext>
            </a:extLst>
          </p:cNvPr>
          <p:cNvSpPr>
            <a:spLocks noGrp="1"/>
          </p:cNvSpPr>
          <p:nvPr>
            <p:ph type="sldNum" sz="quarter" idx="12"/>
          </p:nvPr>
        </p:nvSpPr>
        <p:spPr/>
        <p:txBody>
          <a:bodyPr/>
          <a:lstStyle/>
          <a:p>
            <a:fld id="{57410D99-79D9-4AD1-9C9B-7AF9D3218DEC}" type="slidenum">
              <a:rPr lang="pt-BR" smtClean="0"/>
              <a:t>33</a:t>
            </a:fld>
            <a:endParaRPr lang="pt-BR"/>
          </a:p>
        </p:txBody>
      </p:sp>
    </p:spTree>
    <p:extLst>
      <p:ext uri="{BB962C8B-B14F-4D97-AF65-F5344CB8AC3E}">
        <p14:creationId xmlns:p14="http://schemas.microsoft.com/office/powerpoint/2010/main" val="11270323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E0B94D-7DC6-5A73-3296-ED2463A56DAA}"/>
              </a:ext>
            </a:extLst>
          </p:cNvPr>
          <p:cNvSpPr>
            <a:spLocks noGrp="1"/>
          </p:cNvSpPr>
          <p:nvPr>
            <p:ph type="title"/>
          </p:nvPr>
        </p:nvSpPr>
        <p:spPr/>
        <p:txBody>
          <a:bodyPr/>
          <a:lstStyle/>
          <a:p>
            <a:r>
              <a:rPr lang="pt-BR" dirty="0"/>
              <a:t>Mensagem de Resposta</a:t>
            </a:r>
          </a:p>
        </p:txBody>
      </p:sp>
      <p:sp>
        <p:nvSpPr>
          <p:cNvPr id="3" name="Espaço Reservado para Conteúdo 2">
            <a:extLst>
              <a:ext uri="{FF2B5EF4-FFF2-40B4-BE49-F238E27FC236}">
                <a16:creationId xmlns:a16="http://schemas.microsoft.com/office/drawing/2014/main" id="{04A948D5-F7B1-4271-7CCC-BEF47E40669C}"/>
              </a:ext>
            </a:extLst>
          </p:cNvPr>
          <p:cNvSpPr>
            <a:spLocks noGrp="1"/>
          </p:cNvSpPr>
          <p:nvPr>
            <p:ph idx="1"/>
          </p:nvPr>
        </p:nvSpPr>
        <p:spPr/>
        <p:txBody>
          <a:bodyPr/>
          <a:lstStyle/>
          <a:p>
            <a:r>
              <a:rPr lang="pt-BR" dirty="0"/>
              <a:t>Uma mensagem de resposta (ou de retorno) identifica a resposta a uma mensagem enviada para o objeto.</a:t>
            </a:r>
          </a:p>
          <a:p>
            <a:r>
              <a:rPr lang="pt-BR" dirty="0"/>
              <a:t>Pode retornar informações específicas ou apenas uma mensagem de êxito ou falha na execução de um método.</a:t>
            </a:r>
          </a:p>
          <a:p>
            <a:r>
              <a:rPr lang="pt-BR" dirty="0"/>
              <a:t>Representada por uma linha fina tracejada que aponta para o objeto que recebe o resultado de retorno.</a:t>
            </a:r>
          </a:p>
        </p:txBody>
      </p:sp>
      <p:pic>
        <p:nvPicPr>
          <p:cNvPr id="6" name="Imagem 5">
            <a:extLst>
              <a:ext uri="{FF2B5EF4-FFF2-40B4-BE49-F238E27FC236}">
                <a16:creationId xmlns:a16="http://schemas.microsoft.com/office/drawing/2014/main" id="{70611CBC-B9A5-C3DC-EFE8-8182CB4F3F23}"/>
              </a:ext>
            </a:extLst>
          </p:cNvPr>
          <p:cNvPicPr>
            <a:picLocks noChangeAspect="1"/>
          </p:cNvPicPr>
          <p:nvPr/>
        </p:nvPicPr>
        <p:blipFill>
          <a:blip r:embed="rId2"/>
          <a:stretch>
            <a:fillRect/>
          </a:stretch>
        </p:blipFill>
        <p:spPr>
          <a:xfrm>
            <a:off x="3739377" y="4725039"/>
            <a:ext cx="4247032" cy="1767836"/>
          </a:xfrm>
          <a:prstGeom prst="rect">
            <a:avLst/>
          </a:prstGeom>
        </p:spPr>
      </p:pic>
      <p:sp>
        <p:nvSpPr>
          <p:cNvPr id="7" name="Espaço Reservado para Número de Slide 6">
            <a:extLst>
              <a:ext uri="{FF2B5EF4-FFF2-40B4-BE49-F238E27FC236}">
                <a16:creationId xmlns:a16="http://schemas.microsoft.com/office/drawing/2014/main" id="{603288FD-72D3-9BAB-2061-32534131263E}"/>
              </a:ext>
            </a:extLst>
          </p:cNvPr>
          <p:cNvSpPr>
            <a:spLocks noGrp="1"/>
          </p:cNvSpPr>
          <p:nvPr>
            <p:ph type="sldNum" sz="quarter" idx="12"/>
          </p:nvPr>
        </p:nvSpPr>
        <p:spPr/>
        <p:txBody>
          <a:bodyPr/>
          <a:lstStyle/>
          <a:p>
            <a:fld id="{57410D99-79D9-4AD1-9C9B-7AF9D3218DEC}" type="slidenum">
              <a:rPr lang="pt-BR" smtClean="0"/>
              <a:t>34</a:t>
            </a:fld>
            <a:endParaRPr lang="pt-BR"/>
          </a:p>
        </p:txBody>
      </p:sp>
    </p:spTree>
    <p:extLst>
      <p:ext uri="{BB962C8B-B14F-4D97-AF65-F5344CB8AC3E}">
        <p14:creationId xmlns:p14="http://schemas.microsoft.com/office/powerpoint/2010/main" val="10752284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7DEE8F-EE08-DBF1-2EF8-594A0D53C6C6}"/>
              </a:ext>
            </a:extLst>
          </p:cNvPr>
          <p:cNvSpPr>
            <a:spLocks noGrp="1"/>
          </p:cNvSpPr>
          <p:nvPr>
            <p:ph type="title"/>
          </p:nvPr>
        </p:nvSpPr>
        <p:spPr/>
        <p:txBody>
          <a:bodyPr/>
          <a:lstStyle/>
          <a:p>
            <a:r>
              <a:rPr lang="pt-BR" dirty="0"/>
              <a:t>Tempo de Vida de um Objeto</a:t>
            </a:r>
          </a:p>
        </p:txBody>
      </p:sp>
      <p:sp>
        <p:nvSpPr>
          <p:cNvPr id="3" name="Espaço Reservado para Conteúdo 2">
            <a:extLst>
              <a:ext uri="{FF2B5EF4-FFF2-40B4-BE49-F238E27FC236}">
                <a16:creationId xmlns:a16="http://schemas.microsoft.com/office/drawing/2014/main" id="{7395B9AD-957A-6241-FBD9-71B4D2E5DB57}"/>
              </a:ext>
            </a:extLst>
          </p:cNvPr>
          <p:cNvSpPr>
            <a:spLocks noGrp="1"/>
          </p:cNvSpPr>
          <p:nvPr>
            <p:ph idx="1"/>
          </p:nvPr>
        </p:nvSpPr>
        <p:spPr/>
        <p:txBody>
          <a:bodyPr/>
          <a:lstStyle/>
          <a:p>
            <a:r>
              <a:rPr lang="pt-BR" dirty="0"/>
              <a:t>Se refere ao tempo em que ele existe, independentemente de estar realizando algum processo ou não. Quando um objeto não é mais necessário no sistema, seu tempo de vida pode expirar, e o objeto pode ser removido com uma mensagem de exclusão - </a:t>
            </a:r>
            <a:r>
              <a:rPr lang="pt-BR" dirty="0" err="1"/>
              <a:t>Destroy</a:t>
            </a:r>
            <a:r>
              <a:rPr lang="pt-BR" dirty="0"/>
              <a:t>().</a:t>
            </a:r>
          </a:p>
        </p:txBody>
      </p:sp>
      <p:pic>
        <p:nvPicPr>
          <p:cNvPr id="6" name="Imagem 5">
            <a:extLst>
              <a:ext uri="{FF2B5EF4-FFF2-40B4-BE49-F238E27FC236}">
                <a16:creationId xmlns:a16="http://schemas.microsoft.com/office/drawing/2014/main" id="{5604D401-131D-D305-B2C1-0BBAAA8A4FDB}"/>
              </a:ext>
            </a:extLst>
          </p:cNvPr>
          <p:cNvPicPr>
            <a:picLocks noChangeAspect="1"/>
          </p:cNvPicPr>
          <p:nvPr/>
        </p:nvPicPr>
        <p:blipFill>
          <a:blip r:embed="rId2"/>
          <a:stretch>
            <a:fillRect/>
          </a:stretch>
        </p:blipFill>
        <p:spPr>
          <a:xfrm>
            <a:off x="3495179" y="3614380"/>
            <a:ext cx="5649113" cy="2562583"/>
          </a:xfrm>
          <a:prstGeom prst="rect">
            <a:avLst/>
          </a:prstGeom>
        </p:spPr>
      </p:pic>
      <p:sp>
        <p:nvSpPr>
          <p:cNvPr id="7" name="Espaço Reservado para Número de Slide 6">
            <a:extLst>
              <a:ext uri="{FF2B5EF4-FFF2-40B4-BE49-F238E27FC236}">
                <a16:creationId xmlns:a16="http://schemas.microsoft.com/office/drawing/2014/main" id="{29BAA9FA-8A77-DCC3-42B0-A0CE4F475330}"/>
              </a:ext>
            </a:extLst>
          </p:cNvPr>
          <p:cNvSpPr>
            <a:spLocks noGrp="1"/>
          </p:cNvSpPr>
          <p:nvPr>
            <p:ph type="sldNum" sz="quarter" idx="12"/>
          </p:nvPr>
        </p:nvSpPr>
        <p:spPr/>
        <p:txBody>
          <a:bodyPr/>
          <a:lstStyle/>
          <a:p>
            <a:fld id="{57410D99-79D9-4AD1-9C9B-7AF9D3218DEC}" type="slidenum">
              <a:rPr lang="pt-BR" smtClean="0"/>
              <a:t>35</a:t>
            </a:fld>
            <a:endParaRPr lang="pt-BR"/>
          </a:p>
        </p:txBody>
      </p:sp>
    </p:spTree>
    <p:extLst>
      <p:ext uri="{BB962C8B-B14F-4D97-AF65-F5344CB8AC3E}">
        <p14:creationId xmlns:p14="http://schemas.microsoft.com/office/powerpoint/2010/main" val="2674036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A6CD67-3BBE-4073-7723-C25319F9E670}"/>
              </a:ext>
            </a:extLst>
          </p:cNvPr>
          <p:cNvSpPr>
            <a:spLocks noGrp="1"/>
          </p:cNvSpPr>
          <p:nvPr>
            <p:ph type="title"/>
          </p:nvPr>
        </p:nvSpPr>
        <p:spPr>
          <a:xfrm>
            <a:off x="719847" y="365125"/>
            <a:ext cx="11108987" cy="1325563"/>
          </a:xfrm>
        </p:spPr>
        <p:txBody>
          <a:bodyPr/>
          <a:lstStyle/>
          <a:p>
            <a:r>
              <a:rPr lang="pt-BR" dirty="0"/>
              <a:t>Fragmentos Combinados e Controle Estruturado</a:t>
            </a:r>
          </a:p>
        </p:txBody>
      </p:sp>
      <p:sp>
        <p:nvSpPr>
          <p:cNvPr id="3" name="Espaço Reservado para Conteúdo 2">
            <a:extLst>
              <a:ext uri="{FF2B5EF4-FFF2-40B4-BE49-F238E27FC236}">
                <a16:creationId xmlns:a16="http://schemas.microsoft.com/office/drawing/2014/main" id="{4CA64561-8991-E90B-6485-70008EA03E31}"/>
              </a:ext>
            </a:extLst>
          </p:cNvPr>
          <p:cNvSpPr>
            <a:spLocks noGrp="1"/>
          </p:cNvSpPr>
          <p:nvPr>
            <p:ph idx="1"/>
          </p:nvPr>
        </p:nvSpPr>
        <p:spPr/>
        <p:txBody>
          <a:bodyPr/>
          <a:lstStyle/>
          <a:p>
            <a:r>
              <a:rPr lang="pt-BR" dirty="0"/>
              <a:t>Muitas vezes precisamos mostrar condicionais e loop, ou ainda a execução concorrente de várias sequencias.</a:t>
            </a:r>
          </a:p>
          <a:p>
            <a:r>
              <a:rPr lang="pt-BR" dirty="0"/>
              <a:t>Para isso usamos </a:t>
            </a:r>
            <a:r>
              <a:rPr lang="pt-BR" b="1" dirty="0"/>
              <a:t>Operadores de Controle Estruturado </a:t>
            </a:r>
            <a:r>
              <a:rPr lang="pt-BR" dirty="0"/>
              <a:t>ou </a:t>
            </a:r>
            <a:r>
              <a:rPr lang="pt-BR" b="1" dirty="0"/>
              <a:t>Operadores de Interação</a:t>
            </a:r>
            <a:r>
              <a:rPr lang="pt-BR" dirty="0"/>
              <a:t>.</a:t>
            </a:r>
          </a:p>
          <a:p>
            <a:r>
              <a:rPr lang="pt-BR" dirty="0"/>
              <a:t>Um fragmento combinado define uma combinação de fragmentos de interação, definido por um operador de interação e operandos de interação.</a:t>
            </a:r>
          </a:p>
          <a:p>
            <a:r>
              <a:rPr lang="pt-BR" dirty="0"/>
              <a:t>Uma região retangular no diagrama, com uma </a:t>
            </a:r>
            <a:r>
              <a:rPr lang="pt-BR" b="1" dirty="0" err="1"/>
              <a:t>tag</a:t>
            </a:r>
            <a:r>
              <a:rPr lang="pt-BR" dirty="0"/>
              <a:t> que informa o tipo de operador. Aplica-se às linhas da vida que atravessam seu corpo.</a:t>
            </a:r>
          </a:p>
        </p:txBody>
      </p:sp>
      <p:sp>
        <p:nvSpPr>
          <p:cNvPr id="4" name="Espaço Reservado para Número de Slide 3">
            <a:extLst>
              <a:ext uri="{FF2B5EF4-FFF2-40B4-BE49-F238E27FC236}">
                <a16:creationId xmlns:a16="http://schemas.microsoft.com/office/drawing/2014/main" id="{2F90258C-6CA9-26ED-3008-2886F2D44636}"/>
              </a:ext>
            </a:extLst>
          </p:cNvPr>
          <p:cNvSpPr>
            <a:spLocks noGrp="1"/>
          </p:cNvSpPr>
          <p:nvPr>
            <p:ph type="sldNum" sz="quarter" idx="12"/>
          </p:nvPr>
        </p:nvSpPr>
        <p:spPr/>
        <p:txBody>
          <a:bodyPr/>
          <a:lstStyle/>
          <a:p>
            <a:fld id="{57410D99-79D9-4AD1-9C9B-7AF9D3218DEC}" type="slidenum">
              <a:rPr lang="pt-BR" smtClean="0"/>
              <a:t>36</a:t>
            </a:fld>
            <a:endParaRPr lang="pt-BR"/>
          </a:p>
        </p:txBody>
      </p:sp>
    </p:spTree>
    <p:extLst>
      <p:ext uri="{BB962C8B-B14F-4D97-AF65-F5344CB8AC3E}">
        <p14:creationId xmlns:p14="http://schemas.microsoft.com/office/powerpoint/2010/main" val="13976207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713080-C06D-8519-34FD-411539DD2705}"/>
              </a:ext>
            </a:extLst>
          </p:cNvPr>
          <p:cNvSpPr>
            <a:spLocks noGrp="1"/>
          </p:cNvSpPr>
          <p:nvPr>
            <p:ph type="title"/>
          </p:nvPr>
        </p:nvSpPr>
        <p:spPr/>
        <p:txBody>
          <a:bodyPr/>
          <a:lstStyle/>
          <a:p>
            <a:r>
              <a:rPr lang="pt-BR" dirty="0"/>
              <a:t>Alguns tipos de Operadores de Interação</a:t>
            </a:r>
          </a:p>
        </p:txBody>
      </p:sp>
      <p:sp>
        <p:nvSpPr>
          <p:cNvPr id="3" name="Espaço Reservado para Conteúdo 2">
            <a:extLst>
              <a:ext uri="{FF2B5EF4-FFF2-40B4-BE49-F238E27FC236}">
                <a16:creationId xmlns:a16="http://schemas.microsoft.com/office/drawing/2014/main" id="{3D927B38-4C5B-89F6-1AE0-2C724AFBAC97}"/>
              </a:ext>
            </a:extLst>
          </p:cNvPr>
          <p:cNvSpPr>
            <a:spLocks noGrp="1"/>
          </p:cNvSpPr>
          <p:nvPr>
            <p:ph idx="1"/>
          </p:nvPr>
        </p:nvSpPr>
        <p:spPr>
          <a:xfrm>
            <a:off x="671209" y="1690688"/>
            <a:ext cx="10682591" cy="4719839"/>
          </a:xfrm>
        </p:spPr>
        <p:txBody>
          <a:bodyPr>
            <a:normAutofit/>
          </a:bodyPr>
          <a:lstStyle/>
          <a:p>
            <a:r>
              <a:rPr lang="pt-BR" dirty="0"/>
              <a:t>Execução opcional (um ou nada): </a:t>
            </a:r>
            <a:r>
              <a:rPr lang="pt-BR" b="1" dirty="0" err="1"/>
              <a:t>opt</a:t>
            </a:r>
            <a:endParaRPr lang="pt-BR" b="1" dirty="0"/>
          </a:p>
          <a:p>
            <a:r>
              <a:rPr lang="pt-BR" dirty="0"/>
              <a:t>Execução condicional (um ou outro): </a:t>
            </a:r>
            <a:r>
              <a:rPr lang="pt-BR" b="1" dirty="0" err="1"/>
              <a:t>alt</a:t>
            </a:r>
            <a:endParaRPr lang="pt-BR" b="1" dirty="0"/>
          </a:p>
          <a:p>
            <a:r>
              <a:rPr lang="pt-BR" dirty="0"/>
              <a:t>Execução paralela: </a:t>
            </a:r>
            <a:r>
              <a:rPr lang="pt-BR" b="1" dirty="0"/>
              <a:t>par</a:t>
            </a:r>
          </a:p>
          <a:p>
            <a:r>
              <a:rPr lang="pt-BR" dirty="0"/>
              <a:t>Execução de loop (iteração): </a:t>
            </a:r>
            <a:r>
              <a:rPr lang="pt-BR" b="1" dirty="0"/>
              <a:t>loop</a:t>
            </a:r>
          </a:p>
          <a:p>
            <a:r>
              <a:rPr lang="pt-BR" dirty="0"/>
              <a:t>Ordem Sequencial Estrita: </a:t>
            </a:r>
            <a:r>
              <a:rPr lang="pt-BR" b="1" dirty="0" err="1"/>
              <a:t>strict</a:t>
            </a:r>
            <a:endParaRPr lang="pt-BR" b="1" dirty="0"/>
          </a:p>
          <a:p>
            <a:r>
              <a:rPr lang="pt-BR" dirty="0"/>
              <a:t>Interação inválida: </a:t>
            </a:r>
            <a:r>
              <a:rPr lang="pt-BR" b="1" dirty="0" err="1"/>
              <a:t>neg</a:t>
            </a:r>
            <a:endParaRPr lang="pt-BR" b="1" dirty="0"/>
          </a:p>
          <a:p>
            <a:r>
              <a:rPr lang="pt-BR" dirty="0"/>
              <a:t>Interação com outro diagrama: </a:t>
            </a:r>
            <a:r>
              <a:rPr lang="pt-BR" b="1" dirty="0" err="1"/>
              <a:t>ref</a:t>
            </a:r>
            <a:endParaRPr lang="pt-BR" b="1" dirty="0"/>
          </a:p>
          <a:p>
            <a:r>
              <a:rPr lang="pt-BR" dirty="0"/>
              <a:t>Quebra de execução (exceção): </a:t>
            </a:r>
            <a:r>
              <a:rPr lang="pt-BR" b="1" dirty="0"/>
              <a:t>break</a:t>
            </a:r>
          </a:p>
          <a:p>
            <a:r>
              <a:rPr lang="pt-BR" dirty="0"/>
              <a:t>Negação: </a:t>
            </a:r>
            <a:r>
              <a:rPr lang="pt-BR" b="1" dirty="0" err="1"/>
              <a:t>neg</a:t>
            </a:r>
            <a:endParaRPr lang="pt-BR" b="1" dirty="0"/>
          </a:p>
        </p:txBody>
      </p:sp>
      <p:sp>
        <p:nvSpPr>
          <p:cNvPr id="4" name="Espaço Reservado para Número de Slide 3">
            <a:extLst>
              <a:ext uri="{FF2B5EF4-FFF2-40B4-BE49-F238E27FC236}">
                <a16:creationId xmlns:a16="http://schemas.microsoft.com/office/drawing/2014/main" id="{6895EDD1-DD03-D45E-551D-C52D2FC7C6AF}"/>
              </a:ext>
            </a:extLst>
          </p:cNvPr>
          <p:cNvSpPr>
            <a:spLocks noGrp="1"/>
          </p:cNvSpPr>
          <p:nvPr>
            <p:ph type="sldNum" sz="quarter" idx="12"/>
          </p:nvPr>
        </p:nvSpPr>
        <p:spPr/>
        <p:txBody>
          <a:bodyPr/>
          <a:lstStyle/>
          <a:p>
            <a:fld id="{57410D99-79D9-4AD1-9C9B-7AF9D3218DEC}" type="slidenum">
              <a:rPr lang="pt-BR" smtClean="0"/>
              <a:t>37</a:t>
            </a:fld>
            <a:endParaRPr lang="pt-BR"/>
          </a:p>
        </p:txBody>
      </p:sp>
    </p:spTree>
    <p:extLst>
      <p:ext uri="{BB962C8B-B14F-4D97-AF65-F5344CB8AC3E}">
        <p14:creationId xmlns:p14="http://schemas.microsoft.com/office/powerpoint/2010/main" val="12590947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92F693-EBD3-5C7E-6BFA-3DE2626392E2}"/>
              </a:ext>
            </a:extLst>
          </p:cNvPr>
          <p:cNvSpPr>
            <a:spLocks noGrp="1"/>
          </p:cNvSpPr>
          <p:nvPr>
            <p:ph type="title"/>
          </p:nvPr>
        </p:nvSpPr>
        <p:spPr/>
        <p:txBody>
          <a:bodyPr/>
          <a:lstStyle/>
          <a:p>
            <a:r>
              <a:rPr lang="pt-BR" dirty="0"/>
              <a:t>Operador: </a:t>
            </a:r>
            <a:r>
              <a:rPr lang="pt-BR" b="1" dirty="0" err="1"/>
              <a:t>alt</a:t>
            </a:r>
            <a:endParaRPr lang="pt-BR" b="1" dirty="0"/>
          </a:p>
        </p:txBody>
      </p:sp>
      <p:pic>
        <p:nvPicPr>
          <p:cNvPr id="5" name="Espaço Reservado para Conteúdo 4">
            <a:extLst>
              <a:ext uri="{FF2B5EF4-FFF2-40B4-BE49-F238E27FC236}">
                <a16:creationId xmlns:a16="http://schemas.microsoft.com/office/drawing/2014/main" id="{9ABF0454-6C5E-19D5-5DD8-4AA8ED915CF5}"/>
              </a:ext>
            </a:extLst>
          </p:cNvPr>
          <p:cNvPicPr>
            <a:picLocks noGrp="1" noChangeAspect="1"/>
          </p:cNvPicPr>
          <p:nvPr>
            <p:ph idx="1"/>
          </p:nvPr>
        </p:nvPicPr>
        <p:blipFill>
          <a:blip r:embed="rId2"/>
          <a:stretch>
            <a:fillRect/>
          </a:stretch>
        </p:blipFill>
        <p:spPr>
          <a:xfrm>
            <a:off x="2966937" y="1446072"/>
            <a:ext cx="5768501" cy="5114898"/>
          </a:xfrm>
        </p:spPr>
      </p:pic>
      <p:sp>
        <p:nvSpPr>
          <p:cNvPr id="3" name="Espaço Reservado para Número de Slide 2">
            <a:extLst>
              <a:ext uri="{FF2B5EF4-FFF2-40B4-BE49-F238E27FC236}">
                <a16:creationId xmlns:a16="http://schemas.microsoft.com/office/drawing/2014/main" id="{4044B5E5-329F-F196-7F13-D77FD40B6685}"/>
              </a:ext>
            </a:extLst>
          </p:cNvPr>
          <p:cNvSpPr>
            <a:spLocks noGrp="1"/>
          </p:cNvSpPr>
          <p:nvPr>
            <p:ph type="sldNum" sz="quarter" idx="12"/>
          </p:nvPr>
        </p:nvSpPr>
        <p:spPr/>
        <p:txBody>
          <a:bodyPr/>
          <a:lstStyle/>
          <a:p>
            <a:fld id="{57410D99-79D9-4AD1-9C9B-7AF9D3218DEC}" type="slidenum">
              <a:rPr lang="pt-BR" smtClean="0"/>
              <a:t>38</a:t>
            </a:fld>
            <a:endParaRPr lang="pt-BR"/>
          </a:p>
        </p:txBody>
      </p:sp>
    </p:spTree>
    <p:extLst>
      <p:ext uri="{BB962C8B-B14F-4D97-AF65-F5344CB8AC3E}">
        <p14:creationId xmlns:p14="http://schemas.microsoft.com/office/powerpoint/2010/main" val="324498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86675A-3C1B-534E-F69C-172A1A63F061}"/>
              </a:ext>
            </a:extLst>
          </p:cNvPr>
          <p:cNvSpPr>
            <a:spLocks noGrp="1"/>
          </p:cNvSpPr>
          <p:nvPr>
            <p:ph type="title"/>
          </p:nvPr>
        </p:nvSpPr>
        <p:spPr/>
        <p:txBody>
          <a:bodyPr/>
          <a:lstStyle/>
          <a:p>
            <a:r>
              <a:rPr lang="pt-BR" dirty="0"/>
              <a:t>Referências</a:t>
            </a:r>
          </a:p>
        </p:txBody>
      </p:sp>
      <p:sp>
        <p:nvSpPr>
          <p:cNvPr id="3" name="Espaço Reservado para Conteúdo 2">
            <a:extLst>
              <a:ext uri="{FF2B5EF4-FFF2-40B4-BE49-F238E27FC236}">
                <a16:creationId xmlns:a16="http://schemas.microsoft.com/office/drawing/2014/main" id="{4FF43B16-611B-8783-29CA-E6EFA5CD8182}"/>
              </a:ext>
            </a:extLst>
          </p:cNvPr>
          <p:cNvSpPr>
            <a:spLocks noGrp="1"/>
          </p:cNvSpPr>
          <p:nvPr>
            <p:ph idx="1"/>
          </p:nvPr>
        </p:nvSpPr>
        <p:spPr/>
        <p:txBody>
          <a:bodyPr/>
          <a:lstStyle/>
          <a:p>
            <a:r>
              <a:rPr lang="pt-BR" dirty="0"/>
              <a:t>UML: </a:t>
            </a:r>
            <a:r>
              <a:rPr lang="pt-BR" dirty="0">
                <a:hlinkClick r:id="rId2"/>
              </a:rPr>
              <a:t>https://www.uml.org/</a:t>
            </a:r>
            <a:endParaRPr lang="pt-BR" dirty="0"/>
          </a:p>
          <a:p>
            <a:r>
              <a:rPr lang="pt-BR" dirty="0"/>
              <a:t>IBM: </a:t>
            </a:r>
            <a:r>
              <a:rPr lang="pt-BR" dirty="0">
                <a:hlinkClick r:id="rId3"/>
              </a:rPr>
              <a:t>https://www.ibm.com/docs/pt-br/rsm/7.5.0?topic=uml-sequence-diagrams</a:t>
            </a:r>
            <a:endParaRPr lang="pt-BR" dirty="0"/>
          </a:p>
          <a:p>
            <a:r>
              <a:rPr lang="pt-BR" dirty="0"/>
              <a:t>BEZERRA, Eduardo. Princípios de análise e projeto de sistemas com UML. Editora Elsevier, 2007.</a:t>
            </a:r>
          </a:p>
        </p:txBody>
      </p:sp>
      <p:sp>
        <p:nvSpPr>
          <p:cNvPr id="4" name="Espaço Reservado para Número de Slide 3">
            <a:extLst>
              <a:ext uri="{FF2B5EF4-FFF2-40B4-BE49-F238E27FC236}">
                <a16:creationId xmlns:a16="http://schemas.microsoft.com/office/drawing/2014/main" id="{1566D72A-2699-C808-FAA0-914DE48EA90B}"/>
              </a:ext>
            </a:extLst>
          </p:cNvPr>
          <p:cNvSpPr>
            <a:spLocks noGrp="1"/>
          </p:cNvSpPr>
          <p:nvPr>
            <p:ph type="sldNum" sz="quarter" idx="12"/>
          </p:nvPr>
        </p:nvSpPr>
        <p:spPr/>
        <p:txBody>
          <a:bodyPr/>
          <a:lstStyle/>
          <a:p>
            <a:fld id="{57410D99-79D9-4AD1-9C9B-7AF9D3218DEC}" type="slidenum">
              <a:rPr lang="pt-BR" smtClean="0"/>
              <a:t>39</a:t>
            </a:fld>
            <a:endParaRPr lang="pt-BR"/>
          </a:p>
        </p:txBody>
      </p:sp>
    </p:spTree>
    <p:extLst>
      <p:ext uri="{BB962C8B-B14F-4D97-AF65-F5344CB8AC3E}">
        <p14:creationId xmlns:p14="http://schemas.microsoft.com/office/powerpoint/2010/main" val="20485245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CDAD9B-CE77-1EB3-DCEE-8164FB438EA6}"/>
              </a:ext>
            </a:extLst>
          </p:cNvPr>
          <p:cNvSpPr>
            <a:spLocks noGrp="1"/>
          </p:cNvSpPr>
          <p:nvPr>
            <p:ph type="title"/>
          </p:nvPr>
        </p:nvSpPr>
        <p:spPr/>
        <p:txBody>
          <a:bodyPr/>
          <a:lstStyle/>
          <a:p>
            <a:r>
              <a:rPr lang="pt-BR" dirty="0"/>
              <a:t>Como criar um Diagrama de Sequencia</a:t>
            </a:r>
          </a:p>
        </p:txBody>
      </p:sp>
      <p:sp>
        <p:nvSpPr>
          <p:cNvPr id="3" name="Espaço Reservado para Conteúdo 2">
            <a:extLst>
              <a:ext uri="{FF2B5EF4-FFF2-40B4-BE49-F238E27FC236}">
                <a16:creationId xmlns:a16="http://schemas.microsoft.com/office/drawing/2014/main" id="{496498E4-7789-E140-C368-28DCC692ECD1}"/>
              </a:ext>
            </a:extLst>
          </p:cNvPr>
          <p:cNvSpPr>
            <a:spLocks noGrp="1"/>
          </p:cNvSpPr>
          <p:nvPr>
            <p:ph idx="1"/>
          </p:nvPr>
        </p:nvSpPr>
        <p:spPr/>
        <p:txBody>
          <a:bodyPr/>
          <a:lstStyle/>
          <a:p>
            <a:pPr marL="514350" indent="-514350">
              <a:buFont typeface="+mj-lt"/>
              <a:buAutoNum type="arabicPeriod"/>
            </a:pPr>
            <a:r>
              <a:rPr lang="pt-BR" dirty="0"/>
              <a:t>Selecionar um </a:t>
            </a:r>
            <a:r>
              <a:rPr lang="pt-BR" b="1" dirty="0"/>
              <a:t>Caso de Uso</a:t>
            </a:r>
          </a:p>
          <a:p>
            <a:pPr marL="514350" indent="-514350">
              <a:buFont typeface="+mj-lt"/>
              <a:buAutoNum type="arabicPeriod"/>
            </a:pPr>
            <a:r>
              <a:rPr lang="pt-BR" dirty="0"/>
              <a:t>Escrever uma </a:t>
            </a:r>
            <a:r>
              <a:rPr lang="pt-BR" b="1" dirty="0"/>
              <a:t>descrição detalhada </a:t>
            </a:r>
            <a:r>
              <a:rPr lang="pt-BR" dirty="0"/>
              <a:t>do que o caso de uso faz (sua narrativa)</a:t>
            </a:r>
          </a:p>
          <a:p>
            <a:pPr marL="514350" indent="-514350">
              <a:buFont typeface="+mj-lt"/>
              <a:buAutoNum type="arabicPeriod"/>
            </a:pPr>
            <a:r>
              <a:rPr lang="pt-BR" dirty="0"/>
              <a:t>Identificar os </a:t>
            </a:r>
            <a:r>
              <a:rPr lang="pt-BR" b="1" dirty="0"/>
              <a:t>atores</a:t>
            </a:r>
            <a:r>
              <a:rPr lang="pt-BR" dirty="0"/>
              <a:t> e os </a:t>
            </a:r>
            <a:r>
              <a:rPr lang="pt-BR" b="1" dirty="0"/>
              <a:t>objetos</a:t>
            </a:r>
            <a:r>
              <a:rPr lang="pt-BR" dirty="0"/>
              <a:t> que interagem</a:t>
            </a:r>
          </a:p>
          <a:p>
            <a:pPr marL="514350" indent="-514350">
              <a:buFont typeface="+mj-lt"/>
              <a:buAutoNum type="arabicPeriod"/>
            </a:pPr>
            <a:r>
              <a:rPr lang="pt-BR" dirty="0"/>
              <a:t>Identificar as </a:t>
            </a:r>
            <a:r>
              <a:rPr lang="pt-BR" b="1" dirty="0"/>
              <a:t>mensagens</a:t>
            </a:r>
            <a:r>
              <a:rPr lang="pt-BR" dirty="0"/>
              <a:t> que os objetos trocam entre si</a:t>
            </a:r>
          </a:p>
          <a:p>
            <a:pPr marL="514350" indent="-514350">
              <a:buFont typeface="+mj-lt"/>
              <a:buAutoNum type="arabicPeriod"/>
            </a:pPr>
            <a:r>
              <a:rPr lang="pt-BR" dirty="0"/>
              <a:t>Determinar a </a:t>
            </a:r>
            <a:r>
              <a:rPr lang="pt-BR" b="1" dirty="0"/>
              <a:t>sequência</a:t>
            </a:r>
            <a:r>
              <a:rPr lang="pt-BR" dirty="0"/>
              <a:t> das mensagens</a:t>
            </a:r>
          </a:p>
          <a:p>
            <a:pPr marL="514350" indent="-514350">
              <a:buFont typeface="+mj-lt"/>
              <a:buAutoNum type="arabicPeriod"/>
            </a:pPr>
            <a:r>
              <a:rPr lang="pt-BR" dirty="0"/>
              <a:t>Determinar as </a:t>
            </a:r>
            <a:r>
              <a:rPr lang="pt-BR" b="1" dirty="0"/>
              <a:t>condições especiais </a:t>
            </a:r>
            <a:r>
              <a:rPr lang="pt-BR" dirty="0"/>
              <a:t>(loops, fluxos alternativos, etc..)</a:t>
            </a:r>
          </a:p>
          <a:p>
            <a:pPr marL="514350" indent="-514350">
              <a:buFont typeface="+mj-lt"/>
              <a:buAutoNum type="arabicPeriod"/>
            </a:pPr>
            <a:r>
              <a:rPr lang="pt-BR" dirty="0"/>
              <a:t>Desenhar o diagrama</a:t>
            </a:r>
          </a:p>
        </p:txBody>
      </p:sp>
      <p:sp>
        <p:nvSpPr>
          <p:cNvPr id="4" name="Espaço Reservado para Número de Slide 3">
            <a:extLst>
              <a:ext uri="{FF2B5EF4-FFF2-40B4-BE49-F238E27FC236}">
                <a16:creationId xmlns:a16="http://schemas.microsoft.com/office/drawing/2014/main" id="{96E4CB0F-6941-944E-77DB-AC7E568B5229}"/>
              </a:ext>
            </a:extLst>
          </p:cNvPr>
          <p:cNvSpPr>
            <a:spLocks noGrp="1"/>
          </p:cNvSpPr>
          <p:nvPr>
            <p:ph type="sldNum" sz="quarter" idx="12"/>
          </p:nvPr>
        </p:nvSpPr>
        <p:spPr/>
        <p:txBody>
          <a:bodyPr/>
          <a:lstStyle/>
          <a:p>
            <a:fld id="{57410D99-79D9-4AD1-9C9B-7AF9D3218DEC}" type="slidenum">
              <a:rPr lang="pt-BR" smtClean="0"/>
              <a:t>40</a:t>
            </a:fld>
            <a:endParaRPr lang="pt-BR"/>
          </a:p>
        </p:txBody>
      </p:sp>
    </p:spTree>
    <p:extLst>
      <p:ext uri="{BB962C8B-B14F-4D97-AF65-F5344CB8AC3E}">
        <p14:creationId xmlns:p14="http://schemas.microsoft.com/office/powerpoint/2010/main" val="28406596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CE2752-7DF5-944D-F50D-5BD250081D64}"/>
              </a:ext>
            </a:extLst>
          </p:cNvPr>
          <p:cNvSpPr>
            <a:spLocks noGrp="1"/>
          </p:cNvSpPr>
          <p:nvPr>
            <p:ph type="title"/>
          </p:nvPr>
        </p:nvSpPr>
        <p:spPr/>
        <p:txBody>
          <a:bodyPr/>
          <a:lstStyle/>
          <a:p>
            <a:r>
              <a:rPr lang="pt-BR" dirty="0"/>
              <a:t>Sistema de Biblioteca</a:t>
            </a:r>
          </a:p>
        </p:txBody>
      </p:sp>
      <p:sp>
        <p:nvSpPr>
          <p:cNvPr id="3" name="Espaço Reservado para Conteúdo 2">
            <a:extLst>
              <a:ext uri="{FF2B5EF4-FFF2-40B4-BE49-F238E27FC236}">
                <a16:creationId xmlns:a16="http://schemas.microsoft.com/office/drawing/2014/main" id="{B4DA8A36-443B-82DF-FF49-86B8A0337EB1}"/>
              </a:ext>
            </a:extLst>
          </p:cNvPr>
          <p:cNvSpPr>
            <a:spLocks noGrp="1"/>
          </p:cNvSpPr>
          <p:nvPr>
            <p:ph idx="1"/>
          </p:nvPr>
        </p:nvSpPr>
        <p:spPr/>
        <p:txBody>
          <a:bodyPr/>
          <a:lstStyle/>
          <a:p>
            <a:r>
              <a:rPr lang="pt-BR" dirty="0"/>
              <a:t>1 - Sistema permite cadastrar novos usuários (geral);</a:t>
            </a:r>
          </a:p>
          <a:p>
            <a:r>
              <a:rPr lang="pt-BR" dirty="0"/>
              <a:t>2 - Realizar empréstimo de livro;</a:t>
            </a:r>
          </a:p>
          <a:p>
            <a:r>
              <a:rPr lang="pt-BR" dirty="0"/>
              <a:t>3 - Calcula multa por atraso na devolução dos livros</a:t>
            </a:r>
          </a:p>
          <a:p>
            <a:r>
              <a:rPr lang="pt-BR" dirty="0"/>
              <a:t>4 - Permite cadastrar novos títulos no acervo</a:t>
            </a:r>
          </a:p>
        </p:txBody>
      </p:sp>
      <p:sp>
        <p:nvSpPr>
          <p:cNvPr id="4" name="Espaço Reservado para Número de Slide 3">
            <a:extLst>
              <a:ext uri="{FF2B5EF4-FFF2-40B4-BE49-F238E27FC236}">
                <a16:creationId xmlns:a16="http://schemas.microsoft.com/office/drawing/2014/main" id="{0419BDFA-D094-21AA-2BFA-3AE7CA5C1A37}"/>
              </a:ext>
            </a:extLst>
          </p:cNvPr>
          <p:cNvSpPr>
            <a:spLocks noGrp="1"/>
          </p:cNvSpPr>
          <p:nvPr>
            <p:ph type="sldNum" sz="quarter" idx="12"/>
          </p:nvPr>
        </p:nvSpPr>
        <p:spPr/>
        <p:txBody>
          <a:bodyPr/>
          <a:lstStyle/>
          <a:p>
            <a:fld id="{57410D99-79D9-4AD1-9C9B-7AF9D3218DEC}" type="slidenum">
              <a:rPr lang="pt-BR" smtClean="0"/>
              <a:t>41</a:t>
            </a:fld>
            <a:endParaRPr lang="pt-BR"/>
          </a:p>
        </p:txBody>
      </p:sp>
    </p:spTree>
    <p:extLst>
      <p:ext uri="{BB962C8B-B14F-4D97-AF65-F5344CB8AC3E}">
        <p14:creationId xmlns:p14="http://schemas.microsoft.com/office/powerpoint/2010/main" val="1690257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31CBB-B43F-5115-DDB1-FCB100C7866D}"/>
              </a:ext>
            </a:extLst>
          </p:cNvPr>
          <p:cNvSpPr>
            <a:spLocks noGrp="1"/>
          </p:cNvSpPr>
          <p:nvPr>
            <p:ph type="title"/>
          </p:nvPr>
        </p:nvSpPr>
        <p:spPr/>
        <p:txBody>
          <a:bodyPr/>
          <a:lstStyle/>
          <a:p>
            <a:r>
              <a:rPr lang="pt-BR" dirty="0"/>
              <a:t>Identificar objetos e atores envolvidos</a:t>
            </a:r>
          </a:p>
        </p:txBody>
      </p:sp>
      <p:sp>
        <p:nvSpPr>
          <p:cNvPr id="3" name="Espaço Reservado para Conteúdo 2">
            <a:extLst>
              <a:ext uri="{FF2B5EF4-FFF2-40B4-BE49-F238E27FC236}">
                <a16:creationId xmlns:a16="http://schemas.microsoft.com/office/drawing/2014/main" id="{7B90EC77-9D39-5327-3594-00044831B047}"/>
              </a:ext>
            </a:extLst>
          </p:cNvPr>
          <p:cNvSpPr>
            <a:spLocks noGrp="1"/>
          </p:cNvSpPr>
          <p:nvPr>
            <p:ph idx="1"/>
          </p:nvPr>
        </p:nvSpPr>
        <p:spPr/>
        <p:txBody>
          <a:bodyPr/>
          <a:lstStyle/>
          <a:p>
            <a:r>
              <a:rPr lang="pt-BR" dirty="0"/>
              <a:t>Operador do sistema (bibliotecário)</a:t>
            </a:r>
          </a:p>
          <a:p>
            <a:r>
              <a:rPr lang="pt-BR" dirty="0"/>
              <a:t>Sistema de Gerenciamento da Biblioteca</a:t>
            </a:r>
          </a:p>
          <a:p>
            <a:r>
              <a:rPr lang="pt-BR" dirty="0"/>
              <a:t>Banco de dados do sistema</a:t>
            </a:r>
          </a:p>
        </p:txBody>
      </p:sp>
      <p:sp>
        <p:nvSpPr>
          <p:cNvPr id="4" name="Espaço Reservado para Número de Slide 3">
            <a:extLst>
              <a:ext uri="{FF2B5EF4-FFF2-40B4-BE49-F238E27FC236}">
                <a16:creationId xmlns:a16="http://schemas.microsoft.com/office/drawing/2014/main" id="{B5B87F5F-93E9-7CF6-F9BA-31A1789D6B0E}"/>
              </a:ext>
            </a:extLst>
          </p:cNvPr>
          <p:cNvSpPr>
            <a:spLocks noGrp="1"/>
          </p:cNvSpPr>
          <p:nvPr>
            <p:ph type="sldNum" sz="quarter" idx="12"/>
          </p:nvPr>
        </p:nvSpPr>
        <p:spPr/>
        <p:txBody>
          <a:bodyPr/>
          <a:lstStyle/>
          <a:p>
            <a:fld id="{57410D99-79D9-4AD1-9C9B-7AF9D3218DEC}" type="slidenum">
              <a:rPr lang="pt-BR" smtClean="0"/>
              <a:t>42</a:t>
            </a:fld>
            <a:endParaRPr lang="pt-BR"/>
          </a:p>
        </p:txBody>
      </p:sp>
    </p:spTree>
    <p:extLst>
      <p:ext uri="{BB962C8B-B14F-4D97-AF65-F5344CB8AC3E}">
        <p14:creationId xmlns:p14="http://schemas.microsoft.com/office/powerpoint/2010/main" val="3089637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9AB7F2-33CE-BB79-A4E8-0CE390A0A222}"/>
              </a:ext>
            </a:extLst>
          </p:cNvPr>
          <p:cNvSpPr>
            <a:spLocks noGrp="1"/>
          </p:cNvSpPr>
          <p:nvPr>
            <p:ph type="title"/>
          </p:nvPr>
        </p:nvSpPr>
        <p:spPr/>
        <p:txBody>
          <a:bodyPr/>
          <a:lstStyle/>
          <a:p>
            <a:r>
              <a:rPr lang="pt-BR" dirty="0"/>
              <a:t>Descrição detalhada do caso de uso</a:t>
            </a:r>
          </a:p>
        </p:txBody>
      </p:sp>
      <p:sp>
        <p:nvSpPr>
          <p:cNvPr id="3" name="Espaço Reservado para Conteúdo 2">
            <a:extLst>
              <a:ext uri="{FF2B5EF4-FFF2-40B4-BE49-F238E27FC236}">
                <a16:creationId xmlns:a16="http://schemas.microsoft.com/office/drawing/2014/main" id="{30F37FE9-9634-7FCF-50B3-2AA42B0DA5CF}"/>
              </a:ext>
            </a:extLst>
          </p:cNvPr>
          <p:cNvSpPr>
            <a:spLocks noGrp="1"/>
          </p:cNvSpPr>
          <p:nvPr>
            <p:ph idx="1"/>
          </p:nvPr>
        </p:nvSpPr>
        <p:spPr/>
        <p:txBody>
          <a:bodyPr>
            <a:normAutofit/>
          </a:bodyPr>
          <a:lstStyle/>
          <a:p>
            <a:pPr marL="514350" indent="-514350">
              <a:buFont typeface="+mj-lt"/>
              <a:buAutoNum type="arabicPeriod"/>
            </a:pPr>
            <a:r>
              <a:rPr lang="pt-BR" sz="3600" dirty="0"/>
              <a:t>Sistema permite cadastrar novos usuários</a:t>
            </a:r>
          </a:p>
          <a:p>
            <a:pPr marL="971550" lvl="1" indent="-514350">
              <a:buFont typeface="+mj-lt"/>
              <a:buAutoNum type="arabicPeriod"/>
            </a:pPr>
            <a:r>
              <a:rPr lang="pt-BR" sz="3200" dirty="0"/>
              <a:t>Operador requisita ao sistema a criação de um novo usuário</a:t>
            </a:r>
          </a:p>
          <a:p>
            <a:pPr marL="971550" lvl="1" indent="-514350">
              <a:buFont typeface="+mj-lt"/>
              <a:buAutoNum type="arabicPeriod"/>
            </a:pPr>
            <a:r>
              <a:rPr lang="pt-BR" sz="3200" dirty="0"/>
              <a:t>Operador seleciona o tipo de conta de usuário</a:t>
            </a:r>
          </a:p>
          <a:p>
            <a:pPr marL="971550" lvl="1" indent="-514350">
              <a:buFont typeface="+mj-lt"/>
              <a:buAutoNum type="arabicPeriod"/>
            </a:pPr>
            <a:r>
              <a:rPr lang="pt-BR" sz="3200" dirty="0"/>
              <a:t>Operador fornece os dados do usuário</a:t>
            </a:r>
          </a:p>
          <a:p>
            <a:pPr marL="971550" lvl="1" indent="-514350">
              <a:buFont typeface="+mj-lt"/>
              <a:buAutoNum type="arabicPeriod"/>
            </a:pPr>
            <a:r>
              <a:rPr lang="pt-BR" sz="3200" dirty="0"/>
              <a:t>Sistema verifica os dados no banco de dados</a:t>
            </a:r>
          </a:p>
          <a:p>
            <a:pPr marL="971550" lvl="1" indent="-514350">
              <a:buFont typeface="+mj-lt"/>
              <a:buAutoNum type="arabicPeriod"/>
            </a:pPr>
            <a:r>
              <a:rPr lang="pt-BR" sz="3200" dirty="0"/>
              <a:t>Nova conta de usuário é criada e gravada no BD</a:t>
            </a:r>
          </a:p>
          <a:p>
            <a:pPr marL="971550" lvl="1" indent="-514350">
              <a:buFont typeface="+mj-lt"/>
              <a:buAutoNum type="arabicPeriod"/>
            </a:pPr>
            <a:r>
              <a:rPr lang="pt-BR" sz="3200" dirty="0"/>
              <a:t>Sistema confirma a criação da conta</a:t>
            </a:r>
          </a:p>
        </p:txBody>
      </p:sp>
      <p:sp>
        <p:nvSpPr>
          <p:cNvPr id="4" name="Espaço Reservado para Número de Slide 3">
            <a:extLst>
              <a:ext uri="{FF2B5EF4-FFF2-40B4-BE49-F238E27FC236}">
                <a16:creationId xmlns:a16="http://schemas.microsoft.com/office/drawing/2014/main" id="{4FD6EB93-A54F-CFE0-ED8F-BB66ADF7D6B0}"/>
              </a:ext>
            </a:extLst>
          </p:cNvPr>
          <p:cNvSpPr>
            <a:spLocks noGrp="1"/>
          </p:cNvSpPr>
          <p:nvPr>
            <p:ph type="sldNum" sz="quarter" idx="12"/>
          </p:nvPr>
        </p:nvSpPr>
        <p:spPr/>
        <p:txBody>
          <a:bodyPr/>
          <a:lstStyle/>
          <a:p>
            <a:fld id="{57410D99-79D9-4AD1-9C9B-7AF9D3218DEC}" type="slidenum">
              <a:rPr lang="pt-BR" smtClean="0"/>
              <a:t>43</a:t>
            </a:fld>
            <a:endParaRPr lang="pt-BR"/>
          </a:p>
        </p:txBody>
      </p:sp>
    </p:spTree>
    <p:extLst>
      <p:ext uri="{BB962C8B-B14F-4D97-AF65-F5344CB8AC3E}">
        <p14:creationId xmlns:p14="http://schemas.microsoft.com/office/powerpoint/2010/main" val="17058337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9AB7F2-33CE-BB79-A4E8-0CE390A0A222}"/>
              </a:ext>
            </a:extLst>
          </p:cNvPr>
          <p:cNvSpPr>
            <a:spLocks noGrp="1"/>
          </p:cNvSpPr>
          <p:nvPr>
            <p:ph type="title"/>
          </p:nvPr>
        </p:nvSpPr>
        <p:spPr/>
        <p:txBody>
          <a:bodyPr/>
          <a:lstStyle/>
          <a:p>
            <a:r>
              <a:rPr lang="pt-BR" dirty="0"/>
              <a:t>Descrição detalhada do caso de uso</a:t>
            </a:r>
          </a:p>
        </p:txBody>
      </p:sp>
      <p:sp>
        <p:nvSpPr>
          <p:cNvPr id="3" name="Espaço Reservado para Conteúdo 2">
            <a:extLst>
              <a:ext uri="{FF2B5EF4-FFF2-40B4-BE49-F238E27FC236}">
                <a16:creationId xmlns:a16="http://schemas.microsoft.com/office/drawing/2014/main" id="{30F37FE9-9634-7FCF-50B3-2AA42B0DA5CF}"/>
              </a:ext>
            </a:extLst>
          </p:cNvPr>
          <p:cNvSpPr>
            <a:spLocks noGrp="1"/>
          </p:cNvSpPr>
          <p:nvPr>
            <p:ph idx="1"/>
          </p:nvPr>
        </p:nvSpPr>
        <p:spPr/>
        <p:txBody>
          <a:bodyPr>
            <a:normAutofit lnSpcReduction="10000"/>
          </a:bodyPr>
          <a:lstStyle/>
          <a:p>
            <a:r>
              <a:rPr lang="pt-BR" sz="3600" dirty="0"/>
              <a:t>2 - Realizar empréstimo de livro;</a:t>
            </a:r>
          </a:p>
          <a:p>
            <a:pPr marL="971550" lvl="1" indent="-514350">
              <a:buFont typeface="+mj-lt"/>
              <a:buAutoNum type="arabicPeriod"/>
            </a:pPr>
            <a:r>
              <a:rPr lang="pt-BR" sz="3200" dirty="0"/>
              <a:t>Buscar o livro/autor</a:t>
            </a:r>
          </a:p>
          <a:p>
            <a:pPr marL="971550" lvl="1" indent="-514350">
              <a:buFont typeface="+mj-lt"/>
              <a:buAutoNum type="arabicPeriod"/>
            </a:pPr>
            <a:r>
              <a:rPr lang="pt-BR" sz="3200" dirty="0"/>
              <a:t>Sistema verifica os dados no banco de dados</a:t>
            </a:r>
          </a:p>
          <a:p>
            <a:pPr marL="971550" lvl="1" indent="-514350">
              <a:buFont typeface="+mj-lt"/>
              <a:buAutoNum type="arabicPeriod"/>
            </a:pPr>
            <a:r>
              <a:rPr lang="pt-BR" sz="3200" dirty="0"/>
              <a:t>Banco realiza a busca e retorna a informação para o sistema</a:t>
            </a:r>
          </a:p>
          <a:p>
            <a:pPr marL="971550" lvl="1" indent="-514350">
              <a:buFont typeface="+mj-lt"/>
              <a:buAutoNum type="arabicPeriod"/>
            </a:pPr>
            <a:r>
              <a:rPr lang="pt-BR" sz="3200" dirty="0"/>
              <a:t>Faz a reserva do livro no sistema</a:t>
            </a:r>
          </a:p>
          <a:p>
            <a:pPr marL="971550" lvl="1" indent="-514350">
              <a:buFont typeface="+mj-lt"/>
              <a:buAutoNum type="arabicPeriod"/>
            </a:pPr>
            <a:r>
              <a:rPr lang="pt-BR" sz="3200" dirty="0"/>
              <a:t>Sistema confirma a retirada no banco</a:t>
            </a:r>
          </a:p>
          <a:p>
            <a:pPr marL="971550" lvl="1" indent="-514350">
              <a:buFont typeface="+mj-lt"/>
              <a:buAutoNum type="arabicPeriod"/>
            </a:pPr>
            <a:r>
              <a:rPr lang="pt-BR" sz="3200" dirty="0"/>
              <a:t>Banco confirma a retirada para o sistema</a:t>
            </a:r>
          </a:p>
          <a:p>
            <a:pPr marL="971550" lvl="1" indent="-514350">
              <a:buFont typeface="+mj-lt"/>
              <a:buAutoNum type="arabicPeriod"/>
            </a:pPr>
            <a:r>
              <a:rPr lang="pt-BR" sz="3200" dirty="0"/>
              <a:t>Sistema confirma o empréstimo</a:t>
            </a:r>
          </a:p>
        </p:txBody>
      </p:sp>
      <p:sp>
        <p:nvSpPr>
          <p:cNvPr id="4" name="Espaço Reservado para Número de Slide 3">
            <a:extLst>
              <a:ext uri="{FF2B5EF4-FFF2-40B4-BE49-F238E27FC236}">
                <a16:creationId xmlns:a16="http://schemas.microsoft.com/office/drawing/2014/main" id="{4FD6EB93-A54F-CFE0-ED8F-BB66ADF7D6B0}"/>
              </a:ext>
            </a:extLst>
          </p:cNvPr>
          <p:cNvSpPr>
            <a:spLocks noGrp="1"/>
          </p:cNvSpPr>
          <p:nvPr>
            <p:ph type="sldNum" sz="quarter" idx="12"/>
          </p:nvPr>
        </p:nvSpPr>
        <p:spPr/>
        <p:txBody>
          <a:bodyPr/>
          <a:lstStyle/>
          <a:p>
            <a:fld id="{57410D99-79D9-4AD1-9C9B-7AF9D3218DEC}" type="slidenum">
              <a:rPr lang="pt-BR" smtClean="0"/>
              <a:t>44</a:t>
            </a:fld>
            <a:endParaRPr lang="pt-BR"/>
          </a:p>
        </p:txBody>
      </p:sp>
    </p:spTree>
    <p:extLst>
      <p:ext uri="{BB962C8B-B14F-4D97-AF65-F5344CB8AC3E}">
        <p14:creationId xmlns:p14="http://schemas.microsoft.com/office/powerpoint/2010/main" val="16204313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Espaço Reservado para Conteúdo 4" descr="Diagrama&#10;&#10;Descrição gerada automaticamente">
            <a:extLst>
              <a:ext uri="{FF2B5EF4-FFF2-40B4-BE49-F238E27FC236}">
                <a16:creationId xmlns:a16="http://schemas.microsoft.com/office/drawing/2014/main" id="{2D3431C4-67B0-DBA1-E822-E2B1652C74F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25511"/>
          <a:stretch/>
        </p:blipFill>
        <p:spPr>
          <a:xfrm>
            <a:off x="20" y="1282"/>
            <a:ext cx="12191980" cy="6856718"/>
          </a:xfrm>
          <a:prstGeom prst="rect">
            <a:avLst/>
          </a:prstGeom>
        </p:spPr>
      </p:pic>
      <p:sp>
        <p:nvSpPr>
          <p:cNvPr id="6" name="Espaço Reservado para Número de Slide 5">
            <a:extLst>
              <a:ext uri="{FF2B5EF4-FFF2-40B4-BE49-F238E27FC236}">
                <a16:creationId xmlns:a16="http://schemas.microsoft.com/office/drawing/2014/main" id="{49A76C91-F16E-2BBD-72AF-8B6E8CCE08F8}"/>
              </a:ext>
            </a:extLst>
          </p:cNvPr>
          <p:cNvSpPr>
            <a:spLocks noGrp="1"/>
          </p:cNvSpPr>
          <p:nvPr>
            <p:ph type="sldNum" sz="quarter" idx="12"/>
          </p:nvPr>
        </p:nvSpPr>
        <p:spPr/>
        <p:txBody>
          <a:bodyPr/>
          <a:lstStyle/>
          <a:p>
            <a:fld id="{57410D99-79D9-4AD1-9C9B-7AF9D3218DEC}" type="slidenum">
              <a:rPr lang="pt-BR" smtClean="0"/>
              <a:t>45</a:t>
            </a:fld>
            <a:endParaRPr lang="pt-BR"/>
          </a:p>
        </p:txBody>
      </p:sp>
    </p:spTree>
    <p:extLst>
      <p:ext uri="{BB962C8B-B14F-4D97-AF65-F5344CB8AC3E}">
        <p14:creationId xmlns:p14="http://schemas.microsoft.com/office/powerpoint/2010/main" val="413208151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3528</TotalTime>
  <Words>2135</Words>
  <Application>Microsoft Office PowerPoint</Application>
  <PresentationFormat>Widescreen</PresentationFormat>
  <Paragraphs>209</Paragraphs>
  <Slides>45</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45</vt:i4>
      </vt:variant>
    </vt:vector>
  </HeadingPairs>
  <TitlesOfParts>
    <vt:vector size="51" baseType="lpstr">
      <vt:lpstr>Aptos</vt:lpstr>
      <vt:lpstr>Aptos Display</vt:lpstr>
      <vt:lpstr>Arial</vt:lpstr>
      <vt:lpstr>Helvetica Neue Medium</vt:lpstr>
      <vt:lpstr>Söhne</vt:lpstr>
      <vt:lpstr>Tema do Office</vt:lpstr>
      <vt:lpstr>Diagramas de Sequência</vt:lpstr>
      <vt:lpstr>Definição</vt:lpstr>
      <vt:lpstr>Definição</vt:lpstr>
      <vt:lpstr>Aplicações</vt:lpstr>
      <vt:lpstr>Aplicações</vt:lpstr>
      <vt:lpstr>Aplicações</vt:lpstr>
      <vt:lpstr>Aplicações</vt:lpstr>
      <vt:lpstr>Aplicações</vt:lpstr>
      <vt:lpstr>Componentes</vt:lpstr>
      <vt:lpstr>Componentes</vt:lpstr>
      <vt:lpstr>Componentes</vt:lpstr>
      <vt:lpstr>Atores</vt:lpstr>
      <vt:lpstr>Atores</vt:lpstr>
      <vt:lpstr>Atores</vt:lpstr>
      <vt:lpstr>Atores</vt:lpstr>
      <vt:lpstr>Atores</vt:lpstr>
      <vt:lpstr>Atores</vt:lpstr>
      <vt:lpstr>Objetos</vt:lpstr>
      <vt:lpstr>Objetos</vt:lpstr>
      <vt:lpstr>Objetos</vt:lpstr>
      <vt:lpstr>Objetos</vt:lpstr>
      <vt:lpstr>Objetos</vt:lpstr>
      <vt:lpstr>Objetos</vt:lpstr>
      <vt:lpstr>Objeto</vt:lpstr>
      <vt:lpstr>Linha de vida</vt:lpstr>
      <vt:lpstr>Foco no Controle</vt:lpstr>
      <vt:lpstr>Mensagens</vt:lpstr>
      <vt:lpstr>Tipos de Mensagens</vt:lpstr>
      <vt:lpstr>Mensagem Síncrona</vt:lpstr>
      <vt:lpstr>Mensagem Assíncrona</vt:lpstr>
      <vt:lpstr>Mensagem de Criação de Participante</vt:lpstr>
      <vt:lpstr>Mensagem de Exclusão de Participante</vt:lpstr>
      <vt:lpstr>Auto-Mensagem</vt:lpstr>
      <vt:lpstr>Mensagem de Resposta</vt:lpstr>
      <vt:lpstr>Tempo de Vida de um Objeto</vt:lpstr>
      <vt:lpstr>Fragmentos Combinados e Controle Estruturado</vt:lpstr>
      <vt:lpstr>Alguns tipos de Operadores de Interação</vt:lpstr>
      <vt:lpstr>Operador: alt</vt:lpstr>
      <vt:lpstr>Referências</vt:lpstr>
      <vt:lpstr>Como criar um Diagrama de Sequencia</vt:lpstr>
      <vt:lpstr>Sistema de Biblioteca</vt:lpstr>
      <vt:lpstr>Identificar objetos e atores envolvidos</vt:lpstr>
      <vt:lpstr>Descrição detalhada do caso de uso</vt:lpstr>
      <vt:lpstr>Descrição detalhada do caso de uso</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Diagramas de Sequencia</dc:title>
  <dc:creator>Wellington Roque</dc:creator>
  <cp:lastModifiedBy>Wellington Roque</cp:lastModifiedBy>
  <cp:revision>10</cp:revision>
  <dcterms:created xsi:type="dcterms:W3CDTF">2024-04-28T14:35:33Z</dcterms:created>
  <dcterms:modified xsi:type="dcterms:W3CDTF">2024-05-07T00:57:35Z</dcterms:modified>
</cp:coreProperties>
</file>