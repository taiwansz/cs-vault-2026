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50"/>
  </p:notesMasterIdLst>
  <p:sldIdLst>
    <p:sldId id="256" r:id="rId2"/>
    <p:sldId id="262" r:id="rId3"/>
    <p:sldId id="286" r:id="rId4"/>
    <p:sldId id="263" r:id="rId5"/>
    <p:sldId id="265" r:id="rId6"/>
    <p:sldId id="264" r:id="rId7"/>
    <p:sldId id="287" r:id="rId8"/>
    <p:sldId id="266" r:id="rId9"/>
    <p:sldId id="292" r:id="rId10"/>
    <p:sldId id="293" r:id="rId11"/>
    <p:sldId id="295" r:id="rId12"/>
    <p:sldId id="294" r:id="rId13"/>
    <p:sldId id="296" r:id="rId14"/>
    <p:sldId id="297" r:id="rId15"/>
    <p:sldId id="298" r:id="rId16"/>
    <p:sldId id="299" r:id="rId17"/>
    <p:sldId id="270" r:id="rId18"/>
    <p:sldId id="271" r:id="rId19"/>
    <p:sldId id="272" r:id="rId20"/>
    <p:sldId id="273" r:id="rId21"/>
    <p:sldId id="274" r:id="rId22"/>
    <p:sldId id="277" r:id="rId23"/>
    <p:sldId id="275" r:id="rId24"/>
    <p:sldId id="276" r:id="rId25"/>
    <p:sldId id="278" r:id="rId26"/>
    <p:sldId id="279" r:id="rId27"/>
    <p:sldId id="280" r:id="rId28"/>
    <p:sldId id="281" r:id="rId29"/>
    <p:sldId id="282" r:id="rId30"/>
    <p:sldId id="257" r:id="rId31"/>
    <p:sldId id="300" r:id="rId32"/>
    <p:sldId id="301" r:id="rId33"/>
    <p:sldId id="302" r:id="rId34"/>
    <p:sldId id="303" r:id="rId35"/>
    <p:sldId id="304" r:id="rId36"/>
    <p:sldId id="305" r:id="rId37"/>
    <p:sldId id="258" r:id="rId38"/>
    <p:sldId id="260" r:id="rId39"/>
    <p:sldId id="259" r:id="rId40"/>
    <p:sldId id="283" r:id="rId41"/>
    <p:sldId id="306" r:id="rId42"/>
    <p:sldId id="307" r:id="rId43"/>
    <p:sldId id="288" r:id="rId44"/>
    <p:sldId id="289" r:id="rId45"/>
    <p:sldId id="290" r:id="rId46"/>
    <p:sldId id="291" r:id="rId47"/>
    <p:sldId id="268" r:id="rId48"/>
    <p:sldId id="267" r:id="rId49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0"/>
  </p:normalViewPr>
  <p:slideViewPr>
    <p:cSldViewPr>
      <p:cViewPr varScale="1">
        <p:scale>
          <a:sx n="109" d="100"/>
          <a:sy n="109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AA375F9-CED1-48B4-827F-7EAC8E5320CD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pt-BR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6C45921-B2C4-4879-9762-0D9395457DDA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DF3A799-31C7-4A1B-A5ED-4C447E100231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9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341B8D1C-DA77-4CCC-879C-97D8CF71C032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10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6348CFC-EE1C-43B9-B748-0E41D42B6F8B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11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90BC2766-1248-47AB-AF76-4DC5E4346A97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12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923E9EF6-BB80-4D19-91B5-BCA91630454A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13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47F6CED2-4E67-4004-9853-F66953759E26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14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1F2354B1-9FD1-4509-9427-205C2643EE81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15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71FEB5CA-95F3-4C1C-A95A-D6FBCECEA1CA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16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C9E90666-EC3E-4DB2-9A72-FD1F00FF83F0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32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3D3851F-F80B-4D29-B9F8-4083AA6A28E0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34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 smtClean="0"/>
          </a:p>
        </p:txBody>
      </p:sp>
      <p:sp>
        <p:nvSpPr>
          <p:cNvPr id="4" name="Espaço Reservado para Número de Slide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CA0E58C9-A0EE-4226-8472-D74EB800A340}" type="slidenum">
              <a:rPr lang="pt-BR" altLang="pt-BR" sz="1200">
                <a:latin typeface="Calibri" panose="020F0502020204030204" pitchFamily="34" charset="0"/>
              </a:rPr>
              <a:pPr algn="r" eaLnBrk="1" hangingPunct="1"/>
              <a:t>36</a:t>
            </a:fld>
            <a:endParaRPr lang="pt-BR" altLang="pt-BR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358FC2B-05D3-4FCA-8E06-E7E170547EDE}" type="slidenum">
              <a:rPr lang="pt-BR" altLang="pt-BR">
                <a:latin typeface="Calibri" panose="020F0502020204030204" pitchFamily="34" charset="0"/>
              </a:rPr>
              <a:pPr eaLnBrk="1" hangingPunct="1"/>
              <a:t>38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504DB4-67BC-41B3-87D0-C35D225DE478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587E-3BA6-4E4F-921D-AFC6C9D346CE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38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504DB4-67BC-41B3-87D0-C35D225DE478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587E-3BA6-4E4F-921D-AFC6C9D346CE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0325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0B27ED-E1D4-4095-858D-4A9CEA4795BD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6FC4D-7E92-4659-B578-1D93562532D6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57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1D721F-BAE1-4F6B-8981-02A4E98F0D85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1DA0-FA0E-4592-9B29-6EADD0EA0671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6270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F996BF-7E3D-4E8B-B1DE-CF613E5B9758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7F7A-33E0-4218-A6D1-E3644365A8A5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4858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504DB4-67BC-41B3-87D0-C35D225DE478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587E-3BA6-4E4F-921D-AFC6C9D346CE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1160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0064F9-2E17-4C31-8C0C-09E47A76D002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1C31B-F90E-43CB-A69E-6D3EACC483B1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6589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7D85FD6-6A84-4401-B2DD-9D2E99B9EA13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1643D5-B2A3-46C2-97D0-5C69AAD17758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32299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A540A7-7557-4FDC-824F-90486C3C39BD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BB8A1-7B1B-484A-A4EB-2458F13C9A64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3042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504DB4-67BC-41B3-87D0-C35D225DE478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587E-3BA6-4E4F-921D-AFC6C9D346CE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5246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504DB4-67BC-41B3-87D0-C35D225DE478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587E-3BA6-4E4F-921D-AFC6C9D346CE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29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1504DB4-67BC-41B3-87D0-C35D225DE478}" type="datetimeFigureOut">
              <a:rPr lang="pt-BR" smtClean="0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AE587E-3BA6-4E4F-921D-AFC6C9D346CE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36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503488" y="2852738"/>
            <a:ext cx="6172200" cy="189388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Internet </a:t>
            </a:r>
            <a:r>
              <a:rPr lang="pt-BR" dirty="0" err="1" smtClean="0"/>
              <a:t>Protocol</a:t>
            </a:r>
            <a:r>
              <a:rPr lang="pt-BR" dirty="0" smtClean="0"/>
              <a:t> - IP</a:t>
            </a: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pt-BR" altLang="pt-BR" sz="15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INTERNET PROTOCOL – IP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Definido no RFC 791</a:t>
            </a:r>
          </a:p>
          <a:p>
            <a:pPr eaLnBrk="1" hangingPunct="1"/>
            <a:r>
              <a:rPr lang="pt-BR" altLang="pt-BR" smtClean="0"/>
              <a:t>Usado entre duas ou mais máquinas em rede para encaminhamento dos dados</a:t>
            </a:r>
          </a:p>
          <a:p>
            <a:pPr eaLnBrk="1" hangingPunct="1"/>
            <a:r>
              <a:rPr lang="pt-BR" altLang="pt-BR" smtClean="0"/>
              <a:t>Protocolo de rede mais popular</a:t>
            </a:r>
          </a:p>
          <a:p>
            <a:pPr eaLnBrk="1" hangingPunct="1"/>
            <a:r>
              <a:rPr lang="pt-BR" altLang="pt-BR" smtClean="0"/>
              <a:t>Principal protocolo da camada de rede</a:t>
            </a:r>
          </a:p>
          <a:p>
            <a:pPr lvl="1" eaLnBrk="1" hangingPunct="1"/>
            <a:r>
              <a:rPr lang="pt-BR" altLang="pt-BR" smtClean="0"/>
              <a:t>Responsável pelo endereçamento a nível de rede</a:t>
            </a:r>
          </a:p>
          <a:p>
            <a:pPr eaLnBrk="1" hangingPunct="1"/>
            <a:r>
              <a:rPr lang="pt-BR" altLang="pt-BR" smtClean="0"/>
              <a:t>Transição</a:t>
            </a:r>
          </a:p>
          <a:p>
            <a:pPr lvl="1" eaLnBrk="1" hangingPunct="1"/>
            <a:r>
              <a:rPr lang="pt-BR" altLang="pt-BR" smtClean="0"/>
              <a:t>IPv4</a:t>
            </a:r>
          </a:p>
          <a:p>
            <a:pPr lvl="1" eaLnBrk="1" hangingPunct="1"/>
            <a:r>
              <a:rPr lang="pt-BR" altLang="pt-BR" smtClean="0"/>
              <a:t>IPv6</a:t>
            </a:r>
          </a:p>
          <a:p>
            <a:pPr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INTERNET PROTOCOL – IP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79388" y="2420938"/>
          <a:ext cx="8351837" cy="311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4" imgW="7506614" imgH="2800502" progId="Visio.Drawing.6">
                  <p:embed/>
                </p:oleObj>
              </mc:Choice>
              <mc:Fallback>
                <p:oleObj name="Visio" r:id="rId4" imgW="7506614" imgH="2800502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420938"/>
                        <a:ext cx="8351837" cy="311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600200"/>
            <a:ext cx="7467600" cy="1036638"/>
          </a:xfrm>
        </p:spPr>
        <p:txBody>
          <a:bodyPr/>
          <a:lstStyle/>
          <a:p>
            <a:pPr eaLnBrk="1" hangingPunct="1"/>
            <a:r>
              <a:rPr lang="pt-BR" altLang="pt-BR" smtClean="0"/>
              <a:t>Implementado em hosts e roteadores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Características</a:t>
            </a:r>
            <a:endParaRPr lang="pt-BR" dirty="0"/>
          </a:p>
        </p:txBody>
      </p:sp>
      <p:sp>
        <p:nvSpPr>
          <p:cNvPr id="1126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Sistema de entrega fim-a-fim</a:t>
            </a:r>
          </a:p>
          <a:p>
            <a:pPr eaLnBrk="1" hangingPunct="1"/>
            <a:r>
              <a:rPr lang="pt-BR" altLang="pt-BR" smtClean="0"/>
              <a:t>Não orientado à conexão</a:t>
            </a:r>
          </a:p>
          <a:p>
            <a:pPr eaLnBrk="1" hangingPunct="1"/>
            <a:r>
              <a:rPr lang="pt-BR" altLang="pt-BR" smtClean="0"/>
              <a:t>Sem controle de erros e sem reconhecimento</a:t>
            </a:r>
          </a:p>
          <a:p>
            <a:pPr eaLnBrk="1" hangingPunct="1"/>
            <a:r>
              <a:rPr lang="pt-BR" altLang="pt-BR" smtClean="0"/>
              <a:t>Não executa</a:t>
            </a:r>
          </a:p>
          <a:p>
            <a:pPr marL="273050" lvl="1" indent="179388" eaLnBrk="1" hangingPunct="1"/>
            <a:r>
              <a:rPr lang="pt-BR" altLang="pt-BR" smtClean="0"/>
              <a:t>Controle de erros sobre os dados da aplicação</a:t>
            </a:r>
          </a:p>
          <a:p>
            <a:pPr marL="273050" lvl="1" indent="179388" eaLnBrk="1" hangingPunct="1"/>
            <a:r>
              <a:rPr lang="pt-BR" altLang="pt-BR" smtClean="0"/>
              <a:t>Controle de fluxo</a:t>
            </a:r>
          </a:p>
          <a:p>
            <a:pPr marL="273050" lvl="1" indent="179388" eaLnBrk="1" hangingPunct="1"/>
            <a:r>
              <a:rPr lang="pt-BR" altLang="pt-BR" smtClean="0"/>
              <a:t>Seqüenciamento de dados</a:t>
            </a:r>
          </a:p>
          <a:p>
            <a:pPr marL="273050" lvl="1" indent="179388" eaLnBrk="1" hangingPunct="1"/>
            <a:r>
              <a:rPr lang="pt-BR" altLang="pt-BR" smtClean="0"/>
              <a:t>Entrega ordenada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Características</a:t>
            </a:r>
            <a:endParaRPr lang="pt-BR" dirty="0"/>
          </a:p>
        </p:txBody>
      </p:sp>
      <p:sp>
        <p:nvSpPr>
          <p:cNvPr id="1229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Não garante integridade  de dados</a:t>
            </a:r>
          </a:p>
          <a:p>
            <a:pPr eaLnBrk="1" hangingPunct="1"/>
            <a:r>
              <a:rPr lang="pt-BR" altLang="pt-BR" smtClean="0"/>
              <a:t>Rede Virtual</a:t>
            </a:r>
          </a:p>
          <a:p>
            <a:pPr lvl="1" eaLnBrk="1" hangingPunct="1"/>
            <a:r>
              <a:rPr lang="pt-BR" altLang="pt-BR" smtClean="0"/>
              <a:t>Esconde a arquitetura física da Internet</a:t>
            </a:r>
          </a:p>
          <a:p>
            <a:pPr eaLnBrk="1" hangingPunct="1"/>
            <a:r>
              <a:rPr lang="pt-BR" altLang="pt-BR" smtClean="0"/>
              <a:t>Identificadores universais</a:t>
            </a:r>
          </a:p>
          <a:p>
            <a:pPr lvl="1" eaLnBrk="1" hangingPunct="1"/>
            <a:r>
              <a:rPr lang="pt-BR" altLang="pt-BR" smtClean="0"/>
              <a:t>Endereços IP</a:t>
            </a:r>
          </a:p>
          <a:p>
            <a:pPr eaLnBrk="1" hangingPunct="1"/>
            <a:r>
              <a:rPr lang="pt-BR" altLang="pt-BR" smtClean="0"/>
              <a:t>Datagrama IP</a:t>
            </a:r>
          </a:p>
          <a:p>
            <a:pPr lvl="1" eaLnBrk="1" hangingPunct="1"/>
            <a:r>
              <a:rPr lang="pt-BR" altLang="pt-BR" smtClean="0"/>
              <a:t>Unidade de Transferência</a:t>
            </a:r>
          </a:p>
          <a:p>
            <a:pPr lvl="1" eaLnBrk="1" hangingPunct="1"/>
            <a:r>
              <a:rPr lang="pt-BR" altLang="pt-BR" smtClean="0"/>
              <a:t>Tamanho variável</a:t>
            </a:r>
          </a:p>
          <a:p>
            <a:pPr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Características</a:t>
            </a:r>
            <a:endParaRPr lang="pt-BR" dirty="0"/>
          </a:p>
        </p:txBody>
      </p:sp>
      <p:sp>
        <p:nvSpPr>
          <p:cNvPr id="1331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mtClean="0"/>
              <a:t>Encaminhamento da informação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Serviço de comunicação não-confiável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Serviço de entrega: </a:t>
            </a:r>
            <a:r>
              <a:rPr lang="pt-BR" altLang="pt-BR" i="1" smtClean="0"/>
              <a:t>Best Effort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Conversão de endereços IP em endereços físicos 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Provê envio e recebimento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Erros: ICMP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Usado por hosts &amp; roteadores para comunicar informações do nível rede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CARACTERÍSTICAS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Suporte aos serviços</a:t>
            </a:r>
          </a:p>
          <a:p>
            <a:pPr lvl="1" eaLnBrk="1" hangingPunct="1"/>
            <a:r>
              <a:rPr lang="pt-BR" altLang="pt-BR" smtClean="0"/>
              <a:t>One-to-one (unicast)</a:t>
            </a:r>
          </a:p>
          <a:p>
            <a:pPr lvl="1" eaLnBrk="1" hangingPunct="1"/>
            <a:r>
              <a:rPr lang="pt-BR" altLang="pt-BR" smtClean="0"/>
              <a:t>One-to-all (broadcast)</a:t>
            </a:r>
          </a:p>
          <a:p>
            <a:pPr lvl="1" eaLnBrk="1" hangingPunct="1"/>
            <a:r>
              <a:rPr lang="pt-BR" altLang="pt-BR" smtClean="0"/>
              <a:t>One-to-several (multicast)</a:t>
            </a:r>
          </a:p>
          <a:p>
            <a:pPr lvl="2" eaLnBrk="1" hangingPunct="1"/>
            <a:r>
              <a:rPr lang="pt-BR" altLang="pt-BR" smtClean="0"/>
              <a:t>Requer o suporte de outros protocolos (IGMP, multicast routing)</a:t>
            </a:r>
          </a:p>
        </p:txBody>
      </p:sp>
      <p:grpSp>
        <p:nvGrpSpPr>
          <p:cNvPr id="14340" name="Group 35"/>
          <p:cNvGrpSpPr>
            <a:grpSpLocks/>
          </p:cNvGrpSpPr>
          <p:nvPr/>
        </p:nvGrpSpPr>
        <p:grpSpPr bwMode="auto">
          <a:xfrm>
            <a:off x="539750" y="4105275"/>
            <a:ext cx="7470775" cy="1844675"/>
            <a:chOff x="204" y="2540"/>
            <a:chExt cx="4706" cy="1162"/>
          </a:xfrm>
        </p:grpSpPr>
        <p:sp>
          <p:nvSpPr>
            <p:cNvPr id="14341" name="Freeform 4"/>
            <p:cNvSpPr>
              <a:spLocks/>
            </p:cNvSpPr>
            <p:nvPr/>
          </p:nvSpPr>
          <p:spPr bwMode="auto">
            <a:xfrm>
              <a:off x="4449" y="2884"/>
              <a:ext cx="5" cy="1"/>
            </a:xfrm>
            <a:custGeom>
              <a:avLst/>
              <a:gdLst>
                <a:gd name="T0" fmla="*/ 0 w 7"/>
                <a:gd name="T1" fmla="*/ 0 h 1"/>
                <a:gd name="T2" fmla="*/ 0 w 7"/>
                <a:gd name="T3" fmla="*/ 0 h 1"/>
                <a:gd name="T4" fmla="*/ 0 w 7"/>
                <a:gd name="T5" fmla="*/ 0 h 1"/>
                <a:gd name="T6" fmla="*/ 4 w 7"/>
                <a:gd name="T7" fmla="*/ 0 h 1"/>
                <a:gd name="T8" fmla="*/ 4 w 7"/>
                <a:gd name="T9" fmla="*/ 0 h 1"/>
                <a:gd name="T10" fmla="*/ 4 w 7"/>
                <a:gd name="T11" fmla="*/ 0 h 1"/>
                <a:gd name="T12" fmla="*/ 0 w 7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1"/>
                <a:gd name="T23" fmla="*/ 7 w 7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1">
                  <a:moveTo>
                    <a:pt x="0" y="0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42" name="Oval 5"/>
            <p:cNvSpPr>
              <a:spLocks noChangeArrowheads="1"/>
            </p:cNvSpPr>
            <p:nvPr/>
          </p:nvSpPr>
          <p:spPr bwMode="auto">
            <a:xfrm>
              <a:off x="204" y="302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43" name="Oval 6"/>
            <p:cNvSpPr>
              <a:spLocks noChangeArrowheads="1"/>
            </p:cNvSpPr>
            <p:nvPr/>
          </p:nvSpPr>
          <p:spPr bwMode="auto">
            <a:xfrm>
              <a:off x="1020" y="254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44" name="Oval 7"/>
            <p:cNvSpPr>
              <a:spLocks noChangeArrowheads="1"/>
            </p:cNvSpPr>
            <p:nvPr/>
          </p:nvSpPr>
          <p:spPr bwMode="auto">
            <a:xfrm>
              <a:off x="1020" y="278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45" name="Oval 8"/>
            <p:cNvSpPr>
              <a:spLocks noChangeArrowheads="1"/>
            </p:cNvSpPr>
            <p:nvPr/>
          </p:nvSpPr>
          <p:spPr bwMode="auto">
            <a:xfrm>
              <a:off x="1020" y="302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46" name="Oval 9"/>
            <p:cNvSpPr>
              <a:spLocks noChangeArrowheads="1"/>
            </p:cNvSpPr>
            <p:nvPr/>
          </p:nvSpPr>
          <p:spPr bwMode="auto">
            <a:xfrm>
              <a:off x="1020" y="326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47" name="Oval 10"/>
            <p:cNvSpPr>
              <a:spLocks noChangeArrowheads="1"/>
            </p:cNvSpPr>
            <p:nvPr/>
          </p:nvSpPr>
          <p:spPr bwMode="auto">
            <a:xfrm>
              <a:off x="1020" y="350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48" name="Line 11"/>
            <p:cNvSpPr>
              <a:spLocks noChangeShapeType="1"/>
            </p:cNvSpPr>
            <p:nvPr/>
          </p:nvSpPr>
          <p:spPr bwMode="auto">
            <a:xfrm flipV="1">
              <a:off x="396" y="2924"/>
              <a:ext cx="52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49" name="Oval 12"/>
            <p:cNvSpPr>
              <a:spLocks noChangeArrowheads="1"/>
            </p:cNvSpPr>
            <p:nvPr/>
          </p:nvSpPr>
          <p:spPr bwMode="auto">
            <a:xfrm>
              <a:off x="2076" y="302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0" name="Oval 13"/>
            <p:cNvSpPr>
              <a:spLocks noChangeArrowheads="1"/>
            </p:cNvSpPr>
            <p:nvPr/>
          </p:nvSpPr>
          <p:spPr bwMode="auto">
            <a:xfrm>
              <a:off x="2892" y="254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1" name="Oval 14"/>
            <p:cNvSpPr>
              <a:spLocks noChangeArrowheads="1"/>
            </p:cNvSpPr>
            <p:nvPr/>
          </p:nvSpPr>
          <p:spPr bwMode="auto">
            <a:xfrm>
              <a:off x="2892" y="278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2" name="Oval 15"/>
            <p:cNvSpPr>
              <a:spLocks noChangeArrowheads="1"/>
            </p:cNvSpPr>
            <p:nvPr/>
          </p:nvSpPr>
          <p:spPr bwMode="auto">
            <a:xfrm>
              <a:off x="2892" y="302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3" name="Oval 16"/>
            <p:cNvSpPr>
              <a:spLocks noChangeArrowheads="1"/>
            </p:cNvSpPr>
            <p:nvPr/>
          </p:nvSpPr>
          <p:spPr bwMode="auto">
            <a:xfrm>
              <a:off x="2892" y="326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4" name="Oval 17"/>
            <p:cNvSpPr>
              <a:spLocks noChangeArrowheads="1"/>
            </p:cNvSpPr>
            <p:nvPr/>
          </p:nvSpPr>
          <p:spPr bwMode="auto">
            <a:xfrm>
              <a:off x="2892" y="350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5" name="Line 18"/>
            <p:cNvSpPr>
              <a:spLocks noChangeShapeType="1"/>
            </p:cNvSpPr>
            <p:nvPr/>
          </p:nvSpPr>
          <p:spPr bwMode="auto">
            <a:xfrm flipV="1">
              <a:off x="2268" y="2924"/>
              <a:ext cx="57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56" name="Oval 19"/>
            <p:cNvSpPr>
              <a:spLocks noChangeArrowheads="1"/>
            </p:cNvSpPr>
            <p:nvPr/>
          </p:nvSpPr>
          <p:spPr bwMode="auto">
            <a:xfrm>
              <a:off x="3902" y="302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7" name="Oval 20"/>
            <p:cNvSpPr>
              <a:spLocks noChangeArrowheads="1"/>
            </p:cNvSpPr>
            <p:nvPr/>
          </p:nvSpPr>
          <p:spPr bwMode="auto">
            <a:xfrm>
              <a:off x="4718" y="254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8" name="Oval 21"/>
            <p:cNvSpPr>
              <a:spLocks noChangeArrowheads="1"/>
            </p:cNvSpPr>
            <p:nvPr/>
          </p:nvSpPr>
          <p:spPr bwMode="auto">
            <a:xfrm>
              <a:off x="4718" y="278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59" name="Oval 22"/>
            <p:cNvSpPr>
              <a:spLocks noChangeArrowheads="1"/>
            </p:cNvSpPr>
            <p:nvPr/>
          </p:nvSpPr>
          <p:spPr bwMode="auto">
            <a:xfrm>
              <a:off x="4718" y="3020"/>
              <a:ext cx="192" cy="19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60" name="Oval 23"/>
            <p:cNvSpPr>
              <a:spLocks noChangeArrowheads="1"/>
            </p:cNvSpPr>
            <p:nvPr/>
          </p:nvSpPr>
          <p:spPr bwMode="auto">
            <a:xfrm>
              <a:off x="4718" y="326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61" name="Oval 24"/>
            <p:cNvSpPr>
              <a:spLocks noChangeArrowheads="1"/>
            </p:cNvSpPr>
            <p:nvPr/>
          </p:nvSpPr>
          <p:spPr bwMode="auto">
            <a:xfrm>
              <a:off x="4718" y="3500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362" name="Line 25"/>
            <p:cNvSpPr>
              <a:spLocks noChangeShapeType="1"/>
            </p:cNvSpPr>
            <p:nvPr/>
          </p:nvSpPr>
          <p:spPr bwMode="auto">
            <a:xfrm flipV="1">
              <a:off x="4094" y="2924"/>
              <a:ext cx="57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3" name="Text Box 26"/>
            <p:cNvSpPr txBox="1">
              <a:spLocks noChangeArrowheads="1"/>
            </p:cNvSpPr>
            <p:nvPr/>
          </p:nvSpPr>
          <p:spPr bwMode="auto">
            <a:xfrm>
              <a:off x="204" y="3385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pt-BR" sz="2000" b="1">
                  <a:solidFill>
                    <a:srgbClr val="0000FF"/>
                  </a:solidFill>
                </a:rPr>
                <a:t>unicast</a:t>
              </a:r>
              <a:endParaRPr lang="en-US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4364" name="Line 27"/>
            <p:cNvSpPr>
              <a:spLocks noChangeShapeType="1"/>
            </p:cNvSpPr>
            <p:nvPr/>
          </p:nvSpPr>
          <p:spPr bwMode="auto">
            <a:xfrm flipV="1">
              <a:off x="2283" y="2732"/>
              <a:ext cx="561" cy="3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5" name="Line 28"/>
            <p:cNvSpPr>
              <a:spLocks noChangeShapeType="1"/>
            </p:cNvSpPr>
            <p:nvPr/>
          </p:nvSpPr>
          <p:spPr bwMode="auto">
            <a:xfrm flipV="1">
              <a:off x="2268" y="3116"/>
              <a:ext cx="5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6" name="Line 29"/>
            <p:cNvSpPr>
              <a:spLocks noChangeShapeType="1"/>
            </p:cNvSpPr>
            <p:nvPr/>
          </p:nvSpPr>
          <p:spPr bwMode="auto">
            <a:xfrm>
              <a:off x="2268" y="3116"/>
              <a:ext cx="57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7" name="Line 30"/>
            <p:cNvSpPr>
              <a:spLocks noChangeShapeType="1"/>
            </p:cNvSpPr>
            <p:nvPr/>
          </p:nvSpPr>
          <p:spPr bwMode="auto">
            <a:xfrm>
              <a:off x="2268" y="3116"/>
              <a:ext cx="57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8" name="Line 31"/>
            <p:cNvSpPr>
              <a:spLocks noChangeShapeType="1"/>
            </p:cNvSpPr>
            <p:nvPr/>
          </p:nvSpPr>
          <p:spPr bwMode="auto">
            <a:xfrm>
              <a:off x="4094" y="3116"/>
              <a:ext cx="57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9" name="Line 32"/>
            <p:cNvSpPr>
              <a:spLocks noChangeShapeType="1"/>
            </p:cNvSpPr>
            <p:nvPr/>
          </p:nvSpPr>
          <p:spPr bwMode="auto">
            <a:xfrm>
              <a:off x="4094" y="3116"/>
              <a:ext cx="57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70" name="Text Box 33"/>
            <p:cNvSpPr txBox="1">
              <a:spLocks noChangeArrowheads="1"/>
            </p:cNvSpPr>
            <p:nvPr/>
          </p:nvSpPr>
          <p:spPr bwMode="auto">
            <a:xfrm>
              <a:off x="1596" y="3404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pt-BR" sz="2000" b="1">
                  <a:solidFill>
                    <a:srgbClr val="0000FF"/>
                  </a:solidFill>
                </a:rPr>
                <a:t>broadcast</a:t>
              </a:r>
              <a:endParaRPr lang="en-US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4371" name="Text Box 34"/>
            <p:cNvSpPr txBox="1">
              <a:spLocks noChangeArrowheads="1"/>
            </p:cNvSpPr>
            <p:nvPr/>
          </p:nvSpPr>
          <p:spPr bwMode="auto">
            <a:xfrm>
              <a:off x="3470" y="3452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pt-BR" sz="2000" b="1">
                  <a:solidFill>
                    <a:srgbClr val="0000FF"/>
                  </a:solidFill>
                </a:rPr>
                <a:t>multicast</a:t>
              </a:r>
              <a:endParaRPr lang="en-US" altLang="pt-BR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Limitações</a:t>
            </a:r>
            <a:endParaRPr lang="pt-BR" dirty="0"/>
          </a:p>
        </p:txBody>
      </p:sp>
      <p:sp>
        <p:nvSpPr>
          <p:cNvPr id="1536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Endereços baseados em conexões</a:t>
            </a:r>
          </a:p>
          <a:p>
            <a:pPr eaLnBrk="1" hangingPunct="1"/>
            <a:r>
              <a:rPr lang="pt-BR" altLang="pt-BR" smtClean="0"/>
              <a:t>Limitações das classes</a:t>
            </a:r>
          </a:p>
          <a:p>
            <a:pPr lvl="1" eaLnBrk="1" hangingPunct="1"/>
            <a:r>
              <a:rPr lang="pt-BR" altLang="pt-BR" smtClean="0"/>
              <a:t>Expansão da Rede</a:t>
            </a:r>
          </a:p>
          <a:p>
            <a:pPr lvl="2" eaLnBrk="1" hangingPunct="1"/>
            <a:r>
              <a:rPr lang="pt-BR" altLang="pt-BR" smtClean="0"/>
              <a:t>Endereços IP de 32 bits estarão completamente alocados em pouco tempo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(IPv4)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262188"/>
            <a:ext cx="642937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2262188"/>
            <a:ext cx="1500187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62188"/>
            <a:ext cx="378618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833688"/>
            <a:ext cx="350043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833688"/>
            <a:ext cx="504825" cy="50006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2833688"/>
            <a:ext cx="321468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405188"/>
            <a:ext cx="1928812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3405188"/>
            <a:ext cx="150018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3405188"/>
            <a:ext cx="3810000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262188"/>
            <a:ext cx="121443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976688"/>
            <a:ext cx="7358062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8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548188"/>
            <a:ext cx="7358062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9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119688"/>
            <a:ext cx="7358062" cy="4953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00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691188"/>
            <a:ext cx="7358062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01" name="Picture 1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690688"/>
            <a:ext cx="73580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(IPv4)</a:t>
            </a:r>
            <a:endParaRPr lang="pt-BR" dirty="0"/>
          </a:p>
        </p:txBody>
      </p:sp>
      <p:sp>
        <p:nvSpPr>
          <p:cNvPr id="17412" name="Espaço Reservado para Conteúdo 2"/>
          <p:cNvSpPr>
            <a:spLocks noGrp="1"/>
          </p:cNvSpPr>
          <p:nvPr>
            <p:ph idx="1"/>
          </p:nvPr>
        </p:nvSpPr>
        <p:spPr>
          <a:xfrm>
            <a:off x="1214438" y="1785938"/>
            <a:ext cx="6638925" cy="857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pt-BR" altLang="pt-BR" sz="1800" smtClean="0"/>
              <a:t>Número de Versão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1800" smtClean="0"/>
              <a:t>IPv4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914525"/>
            <a:ext cx="642938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857500"/>
            <a:ext cx="1214438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Espaço Reservado para Conteúdo 2"/>
          <p:cNvSpPr txBox="1">
            <a:spLocks/>
          </p:cNvSpPr>
          <p:nvPr/>
        </p:nvSpPr>
        <p:spPr bwMode="auto">
          <a:xfrm>
            <a:off x="1928813" y="2714625"/>
            <a:ext cx="66389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Indica o tamanho do </a:t>
            </a:r>
            <a:r>
              <a:rPr lang="pt-BR" dirty="0" err="1">
                <a:latin typeface="+mn-lt"/>
                <a:cs typeface="+mn-cs"/>
              </a:rPr>
              <a:t>datagrama</a:t>
            </a:r>
            <a:endParaRPr lang="pt-BR" dirty="0">
              <a:latin typeface="+mn-lt"/>
              <a:cs typeface="+mn-cs"/>
            </a:endParaRP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Indica onde os dados começam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857625"/>
            <a:ext cx="1500188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Espaço Reservado para Conteúdo 2"/>
          <p:cNvSpPr txBox="1">
            <a:spLocks/>
          </p:cNvSpPr>
          <p:nvPr/>
        </p:nvSpPr>
        <p:spPr bwMode="auto">
          <a:xfrm>
            <a:off x="2143125" y="3714750"/>
            <a:ext cx="66389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Identifica os diferentes tipos de </a:t>
            </a:r>
            <a:r>
              <a:rPr lang="pt-BR" dirty="0" err="1">
                <a:latin typeface="+mn-lt"/>
                <a:cs typeface="+mn-cs"/>
              </a:rPr>
              <a:t>datagramas</a:t>
            </a:r>
            <a:r>
              <a:rPr lang="pt-BR" dirty="0">
                <a:latin typeface="+mn-lt"/>
                <a:cs typeface="+mn-cs"/>
              </a:rPr>
              <a:t> IP</a:t>
            </a: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Exemplos: baixo atraso, alta vazão ou confiabilidade</a:t>
            </a: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4857750"/>
            <a:ext cx="3214688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Espaço Reservado para Conteúdo 2"/>
          <p:cNvSpPr txBox="1">
            <a:spLocks/>
          </p:cNvSpPr>
          <p:nvPr/>
        </p:nvSpPr>
        <p:spPr bwMode="auto">
          <a:xfrm>
            <a:off x="3714750" y="4786313"/>
            <a:ext cx="44291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Comprimento total do </a:t>
            </a:r>
            <a:r>
              <a:rPr lang="pt-BR" dirty="0" err="1">
                <a:latin typeface="+mn-lt"/>
                <a:cs typeface="+mn-cs"/>
              </a:rPr>
              <a:t>datagrama</a:t>
            </a:r>
            <a:r>
              <a:rPr lang="pt-BR" dirty="0">
                <a:latin typeface="+mn-lt"/>
                <a:cs typeface="+mn-cs"/>
              </a:rPr>
              <a:t> IP (cabeçalho + dados) em bytes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(IPv4)</a:t>
            </a:r>
            <a:endParaRPr lang="pt-BR" dirty="0"/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262188"/>
            <a:ext cx="642937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2262188"/>
            <a:ext cx="1500187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62188"/>
            <a:ext cx="378618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833688"/>
            <a:ext cx="350043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833688"/>
            <a:ext cx="504825" cy="50006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2833688"/>
            <a:ext cx="321468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405188"/>
            <a:ext cx="1928812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3405188"/>
            <a:ext cx="150018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3405188"/>
            <a:ext cx="3810000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262188"/>
            <a:ext cx="121443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5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976688"/>
            <a:ext cx="7358062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6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548188"/>
            <a:ext cx="7358062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7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119688"/>
            <a:ext cx="7358062" cy="4953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8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691188"/>
            <a:ext cx="7358062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9" name="Picture 1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690688"/>
            <a:ext cx="73580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0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(IPv4)</a:t>
            </a:r>
            <a:endParaRPr lang="pt-BR" dirty="0"/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857375"/>
            <a:ext cx="350043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1857375"/>
            <a:ext cx="504825" cy="50006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857375"/>
            <a:ext cx="321468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ço Reservado para Conteúdo 2"/>
          <p:cNvSpPr txBox="1">
            <a:spLocks/>
          </p:cNvSpPr>
          <p:nvPr/>
        </p:nvSpPr>
        <p:spPr bwMode="auto">
          <a:xfrm>
            <a:off x="571500" y="2667000"/>
            <a:ext cx="707231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Auxiliam no processo de fragmentação do </a:t>
            </a:r>
            <a:r>
              <a:rPr lang="pt-BR" dirty="0" err="1">
                <a:latin typeface="+mn-lt"/>
                <a:cs typeface="+mn-cs"/>
              </a:rPr>
              <a:t>datagrama</a:t>
            </a:r>
            <a:r>
              <a:rPr lang="pt-BR" dirty="0">
                <a:latin typeface="+mn-lt"/>
                <a:cs typeface="+mn-cs"/>
              </a:rPr>
              <a:t> IP</a:t>
            </a: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Presentes apenas na versão do IPv4</a:t>
            </a:r>
          </a:p>
        </p:txBody>
      </p:sp>
      <p:pic>
        <p:nvPicPr>
          <p:cNvPr id="16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786188"/>
            <a:ext cx="1928813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Espaço Reservado para Conteúdo 2"/>
          <p:cNvSpPr txBox="1">
            <a:spLocks/>
          </p:cNvSpPr>
          <p:nvPr/>
        </p:nvSpPr>
        <p:spPr bwMode="auto">
          <a:xfrm>
            <a:off x="2500313" y="3714750"/>
            <a:ext cx="5786437" cy="107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92500"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Garante que </a:t>
            </a:r>
            <a:r>
              <a:rPr lang="pt-BR" dirty="0" err="1">
                <a:latin typeface="+mn-lt"/>
                <a:cs typeface="+mn-cs"/>
              </a:rPr>
              <a:t>datagramas</a:t>
            </a:r>
            <a:r>
              <a:rPr lang="pt-BR" dirty="0">
                <a:latin typeface="+mn-lt"/>
                <a:cs typeface="+mn-cs"/>
              </a:rPr>
              <a:t> não circulem infinitamente pela rede</a:t>
            </a: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Decrementado de um ao ser processado por um roteador</a:t>
            </a:r>
          </a:p>
        </p:txBody>
      </p:sp>
      <p:pic>
        <p:nvPicPr>
          <p:cNvPr id="25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000625"/>
            <a:ext cx="1500188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Espaço Reservado para Conteúdo 2"/>
          <p:cNvSpPr txBox="1">
            <a:spLocks/>
          </p:cNvSpPr>
          <p:nvPr/>
        </p:nvSpPr>
        <p:spPr bwMode="auto">
          <a:xfrm>
            <a:off x="2000250" y="4929188"/>
            <a:ext cx="5786438" cy="10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Número que indica para que protocolo da camada de transporte acima (TCP, UDP) os dados serão enviados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(IPv4)</a:t>
            </a:r>
            <a:endParaRPr lang="pt-BR" dirty="0"/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262188"/>
            <a:ext cx="642937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2262188"/>
            <a:ext cx="1500187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62188"/>
            <a:ext cx="378618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833688"/>
            <a:ext cx="350043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833688"/>
            <a:ext cx="504825" cy="50006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2833688"/>
            <a:ext cx="321468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405188"/>
            <a:ext cx="1928812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0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3405188"/>
            <a:ext cx="150018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3405188"/>
            <a:ext cx="3810000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2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262188"/>
            <a:ext cx="121443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976688"/>
            <a:ext cx="7358062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548188"/>
            <a:ext cx="7358062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5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119688"/>
            <a:ext cx="7358062" cy="4953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6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691188"/>
            <a:ext cx="7358062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7" name="Picture 1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690688"/>
            <a:ext cx="73580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(IPv4)</a:t>
            </a:r>
            <a:endParaRPr lang="pt-BR" dirty="0"/>
          </a:p>
        </p:txBody>
      </p:sp>
      <p:sp>
        <p:nvSpPr>
          <p:cNvPr id="15" name="Espaço Reservado para Conteúdo 2"/>
          <p:cNvSpPr txBox="1">
            <a:spLocks/>
          </p:cNvSpPr>
          <p:nvPr/>
        </p:nvSpPr>
        <p:spPr bwMode="auto">
          <a:xfrm>
            <a:off x="4000500" y="1857375"/>
            <a:ext cx="392906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Auxilia um roteador na detecção de erros de bits em um </a:t>
            </a:r>
            <a:r>
              <a:rPr lang="pt-BR" dirty="0" err="1">
                <a:latin typeface="+mn-lt"/>
                <a:cs typeface="+mn-cs"/>
              </a:rPr>
              <a:t>datagrama</a:t>
            </a:r>
            <a:r>
              <a:rPr lang="pt-BR" dirty="0">
                <a:latin typeface="+mn-lt"/>
                <a:cs typeface="+mn-cs"/>
              </a:rPr>
              <a:t> IP</a:t>
            </a: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928813"/>
            <a:ext cx="3500438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000375"/>
            <a:ext cx="7358063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Espaço Reservado para Conteúdo 2"/>
          <p:cNvSpPr txBox="1">
            <a:spLocks/>
          </p:cNvSpPr>
          <p:nvPr/>
        </p:nvSpPr>
        <p:spPr bwMode="auto">
          <a:xfrm>
            <a:off x="428625" y="3571875"/>
            <a:ext cx="7358063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Endereço IP do hospedeiro remetente</a:t>
            </a:r>
          </a:p>
        </p:txBody>
      </p:sp>
      <p:pic>
        <p:nvPicPr>
          <p:cNvPr id="20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4286250"/>
            <a:ext cx="7358063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Espaço Reservado para Conteúdo 2"/>
          <p:cNvSpPr txBox="1">
            <a:spLocks/>
          </p:cNvSpPr>
          <p:nvPr/>
        </p:nvSpPr>
        <p:spPr bwMode="auto">
          <a:xfrm>
            <a:off x="428625" y="4857750"/>
            <a:ext cx="7358063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Endereço IP do hospedeiro destino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(IPv4)</a:t>
            </a:r>
            <a:endParaRPr lang="pt-BR" dirty="0"/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262188"/>
            <a:ext cx="642937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2262188"/>
            <a:ext cx="1500187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62188"/>
            <a:ext cx="378618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833688"/>
            <a:ext cx="350043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833688"/>
            <a:ext cx="504825" cy="50006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2833688"/>
            <a:ext cx="3214687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405188"/>
            <a:ext cx="1928812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8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3405188"/>
            <a:ext cx="150018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9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3405188"/>
            <a:ext cx="3810000" cy="5143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0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262188"/>
            <a:ext cx="1214437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1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976688"/>
            <a:ext cx="7358062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2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548188"/>
            <a:ext cx="7358062" cy="5048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119688"/>
            <a:ext cx="7358062" cy="4953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691188"/>
            <a:ext cx="7358062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5" name="Picture 1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690688"/>
            <a:ext cx="735806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(IPv4)</a:t>
            </a:r>
            <a:endParaRPr lang="pt-BR" dirty="0"/>
          </a:p>
        </p:txBody>
      </p:sp>
      <p:pic>
        <p:nvPicPr>
          <p:cNvPr id="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000250"/>
            <a:ext cx="7358063" cy="4953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4262438"/>
            <a:ext cx="7358063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Conteúdo 2"/>
          <p:cNvSpPr txBox="1">
            <a:spLocks/>
          </p:cNvSpPr>
          <p:nvPr/>
        </p:nvSpPr>
        <p:spPr bwMode="auto">
          <a:xfrm>
            <a:off x="428625" y="2714625"/>
            <a:ext cx="7358063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Permite a ampliação de um cabeçalho IP</a:t>
            </a: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Comprimentos variáveis; Dificuldade de identificação do começo do campo de dados</a:t>
            </a: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Tempo de processamento de roteadores pode variar bastante</a:t>
            </a:r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 bwMode="auto">
          <a:xfrm>
            <a:off x="428625" y="5072063"/>
            <a:ext cx="7786688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Campo principal do </a:t>
            </a:r>
            <a:r>
              <a:rPr lang="pt-BR" dirty="0" err="1">
                <a:latin typeface="+mn-lt"/>
                <a:cs typeface="+mn-cs"/>
              </a:rPr>
              <a:t>datagrama</a:t>
            </a:r>
            <a:endParaRPr lang="pt-BR" dirty="0">
              <a:latin typeface="+mn-lt"/>
              <a:cs typeface="+mn-cs"/>
            </a:endParaRP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Carrega a carga útil</a:t>
            </a: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Contém o segmento da camada de transporte a ser entregue ao destino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Fragmentação e Remontagem IP</a:t>
            </a:r>
            <a:endParaRPr lang="pt-BR" dirty="0"/>
          </a:p>
        </p:txBody>
      </p:sp>
      <p:sp>
        <p:nvSpPr>
          <p:cNvPr id="2457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Enlace da rede possui tamanho máximo de transferência –MTU</a:t>
            </a:r>
          </a:p>
          <a:p>
            <a:pPr lvl="1" eaLnBrk="1" hangingPunct="1"/>
            <a:r>
              <a:rPr lang="pt-BR" altLang="pt-BR" smtClean="0"/>
              <a:t>Maior quadro possível no enlace</a:t>
            </a:r>
          </a:p>
          <a:p>
            <a:pPr lvl="1" eaLnBrk="1" hangingPunct="1"/>
            <a:r>
              <a:rPr lang="pt-BR" altLang="pt-BR" smtClean="0"/>
              <a:t>Diferentes tipos de enlace, diferentes MTUs</a:t>
            </a:r>
          </a:p>
          <a:p>
            <a:pPr eaLnBrk="1" hangingPunct="1"/>
            <a:r>
              <a:rPr lang="pt-BR" altLang="pt-BR" smtClean="0"/>
              <a:t>Fragmentação</a:t>
            </a:r>
          </a:p>
          <a:p>
            <a:pPr lvl="1" eaLnBrk="1" hangingPunct="1"/>
            <a:r>
              <a:rPr lang="pt-BR" altLang="pt-BR" smtClean="0"/>
              <a:t>Datagrama IP maior dividido em datagramas menores </a:t>
            </a:r>
          </a:p>
          <a:p>
            <a:pPr lvl="1" eaLnBrk="1" hangingPunct="1"/>
            <a:r>
              <a:rPr lang="pt-BR" altLang="pt-BR" smtClean="0"/>
              <a:t>Divisão ocorre dentro da rede</a:t>
            </a:r>
          </a:p>
          <a:p>
            <a:pPr eaLnBrk="1" hangingPunct="1"/>
            <a:r>
              <a:rPr lang="pt-BR" altLang="pt-BR" smtClean="0"/>
              <a:t>Remontagem</a:t>
            </a:r>
          </a:p>
          <a:p>
            <a:pPr lvl="1" eaLnBrk="1" hangingPunct="1"/>
            <a:r>
              <a:rPr lang="pt-BR" altLang="pt-BR" smtClean="0"/>
              <a:t>Datagrama é remontado no destino final</a:t>
            </a:r>
          </a:p>
          <a:p>
            <a:pPr lvl="1" eaLnBrk="1" hangingPunct="1"/>
            <a:r>
              <a:rPr lang="pt-BR" altLang="pt-BR" smtClean="0"/>
              <a:t>Bits do cabeçalho IP usados para identificar e ordenar fragmentos relacionados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Exemplo</a:t>
            </a:r>
            <a:endParaRPr lang="pt-BR" dirty="0"/>
          </a:p>
        </p:txBody>
      </p:sp>
      <p:pic>
        <p:nvPicPr>
          <p:cNvPr id="25603" name="Espaço Reservado para Conteúdo 3" descr="frag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57413" y="1571625"/>
            <a:ext cx="4929187" cy="4572000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Endereçamento IP</a:t>
            </a:r>
            <a:endParaRPr lang="pt-BR" dirty="0"/>
          </a:p>
        </p:txBody>
      </p:sp>
      <p:sp>
        <p:nvSpPr>
          <p:cNvPr id="26627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pt-BR" altLang="pt-BR" smtClean="0"/>
              <a:t>Endereço IP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32 bits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Interfaces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Roteador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Geralmente possui várias interfaces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Host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Geralmente possui uma única interface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Para cada interface um endereço IP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Hierarquia de endereçamento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Prefixo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Determina a rede que o computador está acoplado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Sufixo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Identifica um computador acoplado em cada rede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Exemplo</a:t>
            </a:r>
            <a:endParaRPr lang="pt-BR" dirty="0"/>
          </a:p>
        </p:txBody>
      </p:sp>
      <p:pic>
        <p:nvPicPr>
          <p:cNvPr id="27651" name="Espaço Reservado para Conteúdo 3" descr="interfaces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0250" y="1658938"/>
            <a:ext cx="5267325" cy="4056062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/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SUB-REDES</a:t>
            </a:r>
          </a:p>
        </p:txBody>
      </p:sp>
      <p:sp>
        <p:nvSpPr>
          <p:cNvPr id="2867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Interfaces de dispositivos com mesma parte de sub-rede do endereço IP</a:t>
            </a:r>
          </a:p>
          <a:p>
            <a:pPr lvl="1" eaLnBrk="1" hangingPunct="1"/>
            <a:r>
              <a:rPr lang="pt-BR" altLang="pt-BR" smtClean="0"/>
              <a:t>Dispositivos podem fisicamente alcançar os outros sem ajuda de um roteador</a:t>
            </a:r>
          </a:p>
          <a:p>
            <a:pPr eaLnBrk="1" hangingPunct="1"/>
            <a:endParaRPr lang="pt-BR" altLang="pt-BR" smtClean="0"/>
          </a:p>
          <a:p>
            <a:pPr eaLnBrk="1" hangingPunct="1"/>
            <a:r>
              <a:rPr lang="pt-BR" altLang="pt-BR" smtClean="0"/>
              <a:t>Endereço IP</a:t>
            </a:r>
          </a:p>
          <a:p>
            <a:pPr lvl="1" eaLnBrk="1" hangingPunct="1"/>
            <a:r>
              <a:rPr lang="pt-BR" altLang="pt-BR" smtClean="0"/>
              <a:t>Sub-rede</a:t>
            </a:r>
          </a:p>
          <a:p>
            <a:pPr lvl="2" eaLnBrk="1" hangingPunct="1"/>
            <a:r>
              <a:rPr lang="pt-BR" altLang="pt-BR" smtClean="0"/>
              <a:t>Ordem mais alta</a:t>
            </a:r>
          </a:p>
          <a:p>
            <a:pPr lvl="1" eaLnBrk="1" hangingPunct="1"/>
            <a:r>
              <a:rPr lang="pt-BR" altLang="pt-BR" smtClean="0"/>
              <a:t>Host</a:t>
            </a:r>
          </a:p>
          <a:p>
            <a:pPr lvl="2" eaLnBrk="1" hangingPunct="1"/>
            <a:r>
              <a:rPr lang="pt-BR" altLang="pt-BR" smtClean="0"/>
              <a:t>Ordem mais baixa</a:t>
            </a:r>
          </a:p>
          <a:p>
            <a:pPr lvl="2" eaLnBrk="1" hangingPunct="1"/>
            <a:endParaRPr lang="pt-BR" altLang="pt-BR" smtClean="0"/>
          </a:p>
        </p:txBody>
      </p:sp>
      <p:pic>
        <p:nvPicPr>
          <p:cNvPr id="28676" name="Imagem 3" descr="subrede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708920"/>
            <a:ext cx="36576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Classes</a:t>
            </a:r>
            <a:endParaRPr lang="pt-BR" dirty="0"/>
          </a:p>
        </p:txBody>
      </p:sp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5 classes</a:t>
            </a:r>
          </a:p>
          <a:p>
            <a:pPr lvl="1" eaLnBrk="1" hangingPunct="1"/>
            <a:r>
              <a:rPr lang="pt-BR" altLang="pt-BR" smtClean="0"/>
              <a:t>Classe A</a:t>
            </a:r>
          </a:p>
          <a:p>
            <a:pPr lvl="2" eaLnBrk="1" hangingPunct="1"/>
            <a:r>
              <a:rPr lang="pt-BR" altLang="pt-BR" smtClean="0"/>
              <a:t>8 bits para a sub-rede</a:t>
            </a:r>
          </a:p>
          <a:p>
            <a:pPr lvl="1" eaLnBrk="1" hangingPunct="1"/>
            <a:r>
              <a:rPr lang="pt-BR" altLang="pt-BR" smtClean="0"/>
              <a:t>Classe B</a:t>
            </a:r>
          </a:p>
          <a:p>
            <a:pPr lvl="2" eaLnBrk="1" hangingPunct="1"/>
            <a:r>
              <a:rPr lang="pt-BR" altLang="pt-BR" smtClean="0"/>
              <a:t>16 bits para a sub-rede</a:t>
            </a:r>
          </a:p>
          <a:p>
            <a:pPr lvl="1" eaLnBrk="1" hangingPunct="1"/>
            <a:r>
              <a:rPr lang="pt-BR" altLang="pt-BR" smtClean="0"/>
              <a:t>Classe C</a:t>
            </a:r>
          </a:p>
          <a:p>
            <a:pPr lvl="2" eaLnBrk="1" hangingPunct="1"/>
            <a:r>
              <a:rPr lang="pt-BR" altLang="pt-BR" smtClean="0"/>
              <a:t>24 bits para a sub-rede</a:t>
            </a:r>
          </a:p>
          <a:p>
            <a:pPr lvl="1" eaLnBrk="1" hangingPunct="1"/>
            <a:r>
              <a:rPr lang="pt-BR" altLang="pt-BR" smtClean="0"/>
              <a:t>Classe D</a:t>
            </a:r>
          </a:p>
          <a:p>
            <a:pPr lvl="2" eaLnBrk="1" hangingPunct="1"/>
            <a:r>
              <a:rPr lang="pt-BR" altLang="pt-BR" smtClean="0"/>
              <a:t>Endereços Multicast</a:t>
            </a:r>
          </a:p>
          <a:p>
            <a:pPr lvl="1" eaLnBrk="1" hangingPunct="1"/>
            <a:r>
              <a:rPr lang="pt-BR" altLang="pt-BR" smtClean="0"/>
              <a:t>Classe E</a:t>
            </a:r>
          </a:p>
          <a:p>
            <a:pPr lvl="2" eaLnBrk="1" hangingPunct="1"/>
            <a:r>
              <a:rPr lang="pt-BR" altLang="pt-BR" smtClean="0"/>
              <a:t>Endereços reservados para uso futuro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Classes</a:t>
            </a:r>
            <a:endParaRPr lang="pt-BR" dirty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8688" y="1919288"/>
            <a:ext cx="7072312" cy="3295650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Classes: Problema	</a:t>
            </a:r>
            <a:endParaRPr lang="pt-BR" dirty="0"/>
          </a:p>
        </p:txBody>
      </p:sp>
      <p:sp>
        <p:nvSpPr>
          <p:cNvPr id="3174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Desperdício de Endereços IP</a:t>
            </a:r>
          </a:p>
          <a:p>
            <a:pPr lvl="1" eaLnBrk="1" hangingPunct="1"/>
            <a:r>
              <a:rPr lang="pt-BR" altLang="pt-BR" smtClean="0"/>
              <a:t>Classe B permite até 65534 hosts/interfaces </a:t>
            </a:r>
          </a:p>
          <a:p>
            <a:pPr lvl="1" eaLnBrk="1" hangingPunct="1"/>
            <a:r>
              <a:rPr lang="pt-BR" altLang="pt-BR" smtClean="0"/>
              <a:t>Classe C permite até 254 hosts/interfaces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endParaRPr lang="pt-BR" altLang="pt-BR" smtClean="0"/>
          </a:p>
          <a:p>
            <a:pPr eaLnBrk="1" hangingPunct="1"/>
            <a:r>
              <a:rPr lang="pt-BR" altLang="pt-BR" smtClean="0"/>
              <a:t>Se uma organização precisar de 534 interfaces, terá de obter endereços de rede da classe B, desperdiçando assim 65000 interfaces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Problema</a:t>
            </a:r>
            <a:endParaRPr lang="pt-BR" dirty="0"/>
          </a:p>
        </p:txBody>
      </p:sp>
      <p:sp>
        <p:nvSpPr>
          <p:cNvPr id="3277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/>
            <a:endParaRPr lang="pt-BR" altLang="pt-BR" smtClean="0"/>
          </a:p>
          <a:p>
            <a:pPr algn="ctr" eaLnBrk="1" hangingPunct="1"/>
            <a:endParaRPr lang="pt-BR" altLang="pt-BR" smtClean="0"/>
          </a:p>
          <a:p>
            <a:pPr algn="ctr" eaLnBrk="1" hangingPunct="1"/>
            <a:endParaRPr lang="pt-BR" altLang="pt-BR" smtClean="0"/>
          </a:p>
          <a:p>
            <a:pPr algn="ctr" eaLnBrk="1" hangingPunct="1"/>
            <a:endParaRPr lang="pt-BR" altLang="pt-BR" smtClean="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3600" smtClean="0"/>
              <a:t>Endereços IP estão acabando!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Soluções</a:t>
            </a:r>
            <a:endParaRPr lang="pt-BR" dirty="0"/>
          </a:p>
        </p:txBody>
      </p:sp>
      <p:sp>
        <p:nvSpPr>
          <p:cNvPr id="3379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37361"/>
            <a:ext cx="7931150" cy="4736464"/>
          </a:xfrm>
        </p:spPr>
        <p:txBody>
          <a:bodyPr/>
          <a:lstStyle/>
          <a:p>
            <a:pPr eaLnBrk="1" hangingPunct="1"/>
            <a:r>
              <a:rPr lang="pt-BR" altLang="pt-BR" dirty="0" err="1" smtClean="0">
                <a:solidFill>
                  <a:srgbClr val="FF0000"/>
                </a:solidFill>
              </a:rPr>
              <a:t>C</a:t>
            </a:r>
            <a:r>
              <a:rPr lang="pt-BR" altLang="pt-BR" dirty="0" err="1" smtClean="0"/>
              <a:t>lassless</a:t>
            </a:r>
            <a:r>
              <a:rPr lang="pt-BR" altLang="pt-BR" dirty="0" smtClean="0"/>
              <a:t> </a:t>
            </a:r>
            <a:r>
              <a:rPr lang="pt-BR" altLang="pt-BR" dirty="0" err="1" smtClean="0">
                <a:solidFill>
                  <a:srgbClr val="FF0000"/>
                </a:solidFill>
              </a:rPr>
              <a:t>I</a:t>
            </a:r>
            <a:r>
              <a:rPr lang="pt-BR" altLang="pt-BR" dirty="0" err="1" smtClean="0"/>
              <a:t>nter</a:t>
            </a:r>
            <a:r>
              <a:rPr lang="pt-BR" altLang="pt-BR" dirty="0" err="1" smtClean="0">
                <a:solidFill>
                  <a:srgbClr val="FF0000"/>
                </a:solidFill>
              </a:rPr>
              <a:t>D</a:t>
            </a:r>
            <a:r>
              <a:rPr lang="pt-BR" altLang="pt-BR" dirty="0" err="1" smtClean="0"/>
              <a:t>omain</a:t>
            </a:r>
            <a:r>
              <a:rPr lang="pt-BR" altLang="pt-BR" dirty="0" smtClean="0"/>
              <a:t> </a:t>
            </a:r>
            <a:r>
              <a:rPr lang="pt-BR" altLang="pt-BR" dirty="0" err="1" smtClean="0">
                <a:solidFill>
                  <a:srgbClr val="FF0000"/>
                </a:solidFill>
              </a:rPr>
              <a:t>R</a:t>
            </a:r>
            <a:r>
              <a:rPr lang="pt-BR" altLang="pt-BR" dirty="0" err="1" smtClean="0"/>
              <a:t>outing</a:t>
            </a:r>
            <a:r>
              <a:rPr lang="pt-BR" altLang="pt-BR" dirty="0" smtClean="0"/>
              <a:t> – CIDR</a:t>
            </a:r>
          </a:p>
          <a:p>
            <a:pPr lvl="1" eaLnBrk="1" hangingPunct="1"/>
            <a:r>
              <a:rPr lang="pt-BR" altLang="pt-BR" dirty="0" smtClean="0"/>
              <a:t>Padronizado em 1993 pelo IETF (Internet </a:t>
            </a:r>
            <a:r>
              <a:rPr lang="pt-BR" altLang="pt-BR" dirty="0" err="1" smtClean="0"/>
              <a:t>Engineering</a:t>
            </a:r>
            <a:r>
              <a:rPr lang="pt-BR" altLang="pt-BR" dirty="0" smtClean="0"/>
              <a:t> </a:t>
            </a:r>
            <a:r>
              <a:rPr lang="pt-BR" altLang="pt-BR" dirty="0" err="1" smtClean="0"/>
              <a:t>Task</a:t>
            </a:r>
            <a:r>
              <a:rPr lang="pt-BR" altLang="pt-BR" dirty="0" smtClean="0"/>
              <a:t> Force)</a:t>
            </a:r>
          </a:p>
          <a:p>
            <a:pPr lvl="1" eaLnBrk="1" hangingPunct="1"/>
            <a:r>
              <a:rPr lang="pt-BR" altLang="pt-BR" dirty="0" smtClean="0"/>
              <a:t>A parte do endereço que representa a </a:t>
            </a:r>
            <a:r>
              <a:rPr lang="pt-BR" altLang="pt-BR" dirty="0" err="1" smtClean="0"/>
              <a:t>sub-rede</a:t>
            </a:r>
            <a:r>
              <a:rPr lang="pt-BR" altLang="pt-BR" dirty="0" smtClean="0"/>
              <a:t> possui tamanho arbitrário</a:t>
            </a:r>
          </a:p>
          <a:p>
            <a:pPr lvl="1" eaLnBrk="1" hangingPunct="1"/>
            <a:r>
              <a:rPr lang="pt-BR" altLang="pt-BR" dirty="0" smtClean="0"/>
              <a:t>Formato do endereço: </a:t>
            </a:r>
            <a:r>
              <a:rPr lang="pt-BR" altLang="pt-BR" dirty="0" err="1" smtClean="0">
                <a:solidFill>
                  <a:srgbClr val="FF0000"/>
                </a:solidFill>
              </a:rPr>
              <a:t>a.b.c.d</a:t>
            </a:r>
            <a:r>
              <a:rPr lang="pt-BR" altLang="pt-BR" dirty="0" smtClean="0">
                <a:solidFill>
                  <a:srgbClr val="FF0000"/>
                </a:solidFill>
              </a:rPr>
              <a:t>/x</a:t>
            </a:r>
            <a:r>
              <a:rPr lang="pt-BR" altLang="pt-BR" dirty="0" smtClean="0"/>
              <a:t>, em que </a:t>
            </a:r>
            <a:r>
              <a:rPr lang="pt-BR" altLang="pt-BR" dirty="0" smtClean="0">
                <a:solidFill>
                  <a:srgbClr val="FF0000"/>
                </a:solidFill>
              </a:rPr>
              <a:t>x</a:t>
            </a:r>
            <a:r>
              <a:rPr lang="pt-BR" altLang="pt-BR" dirty="0" smtClean="0"/>
              <a:t> é o número de bits na porção do endereço que representa a </a:t>
            </a:r>
            <a:r>
              <a:rPr lang="pt-BR" altLang="pt-BR" dirty="0" err="1" smtClean="0"/>
              <a:t>sub-rede</a:t>
            </a:r>
            <a:endParaRPr lang="pt-BR" altLang="pt-BR" dirty="0" smtClean="0"/>
          </a:p>
          <a:p>
            <a:pPr lvl="1" eaLnBrk="1" hangingPunct="1"/>
            <a:r>
              <a:rPr lang="pt-BR" altLang="pt-BR" dirty="0" smtClean="0"/>
              <a:t>Problemas</a:t>
            </a:r>
          </a:p>
          <a:p>
            <a:pPr lvl="2" eaLnBrk="1" hangingPunct="1"/>
            <a:r>
              <a:rPr lang="pt-BR" altLang="pt-BR" dirty="0" smtClean="0"/>
              <a:t>Eliminação das classes para endereçamento</a:t>
            </a:r>
          </a:p>
          <a:p>
            <a:pPr lvl="2" eaLnBrk="1" hangingPunct="1"/>
            <a:r>
              <a:rPr lang="pt-BR" altLang="pt-BR" dirty="0" smtClean="0"/>
              <a:t>Encaminhamento mais complicado</a:t>
            </a:r>
          </a:p>
          <a:p>
            <a:pPr lvl="1" eaLnBrk="1" hangingPunct="1"/>
            <a:endParaRPr lang="pt-BR" altLang="pt-BR" dirty="0" smtClean="0"/>
          </a:p>
          <a:p>
            <a:pPr eaLnBrk="1" hangingPunct="1"/>
            <a:endParaRPr lang="pt-BR" altLang="pt-BR" dirty="0" smtClean="0"/>
          </a:p>
        </p:txBody>
      </p:sp>
      <p:pic>
        <p:nvPicPr>
          <p:cNvPr id="33796" name="Imagem 3" descr="cid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57054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Soluções</a:t>
            </a:r>
            <a:endParaRPr lang="pt-BR" dirty="0"/>
          </a:p>
        </p:txBody>
      </p:sp>
      <p:sp>
        <p:nvSpPr>
          <p:cNvPr id="3481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>
                <a:solidFill>
                  <a:srgbClr val="FF0000"/>
                </a:solidFill>
              </a:rPr>
              <a:t>N</a:t>
            </a:r>
            <a:r>
              <a:rPr lang="pt-BR" altLang="pt-BR" smtClean="0"/>
              <a:t>etwork </a:t>
            </a:r>
            <a:r>
              <a:rPr lang="pt-BR" altLang="pt-BR" smtClean="0">
                <a:solidFill>
                  <a:srgbClr val="FF0000"/>
                </a:solidFill>
              </a:rPr>
              <a:t>A</a:t>
            </a:r>
            <a:r>
              <a:rPr lang="pt-BR" altLang="pt-BR" smtClean="0"/>
              <a:t>ddress </a:t>
            </a:r>
            <a:r>
              <a:rPr lang="pt-BR" altLang="pt-BR" smtClean="0">
                <a:solidFill>
                  <a:srgbClr val="FF0000"/>
                </a:solidFill>
              </a:rPr>
              <a:t>T</a:t>
            </a:r>
            <a:r>
              <a:rPr lang="pt-BR" altLang="pt-BR" smtClean="0"/>
              <a:t>ranslation - NAT</a:t>
            </a:r>
          </a:p>
          <a:p>
            <a:pPr lvl="1" eaLnBrk="1" hangingPunct="1"/>
            <a:r>
              <a:rPr lang="pt-BR" altLang="pt-BR" smtClean="0"/>
              <a:t>Motivação: rede local usa somente um único endereço IP quando há necessidade de falar com o mundo externo</a:t>
            </a:r>
          </a:p>
          <a:p>
            <a:pPr lvl="2" eaLnBrk="1" hangingPunct="1"/>
            <a:r>
              <a:rPr lang="pt-BR" altLang="pt-BR" smtClean="0"/>
              <a:t>Apenas um endereço IP para todos os dispositivos</a:t>
            </a:r>
          </a:p>
          <a:p>
            <a:pPr lvl="2" eaLnBrk="1" hangingPunct="1"/>
            <a:r>
              <a:rPr lang="pt-BR" altLang="pt-BR" smtClean="0"/>
              <a:t>Mudança de endereço de dispositivos na rede local sem necessidade de notificar o mundo externo</a:t>
            </a:r>
          </a:p>
          <a:p>
            <a:pPr lvl="2" eaLnBrk="1" hangingPunct="1"/>
            <a:r>
              <a:rPr lang="pt-BR" altLang="pt-BR" smtClean="0"/>
              <a:t>Mudança do ISP (provedor de acesso à Internet) sem mudar o endereço dos dispositivos na rede local</a:t>
            </a:r>
          </a:p>
          <a:p>
            <a:pPr lvl="2" eaLnBrk="1" hangingPunct="1"/>
            <a:r>
              <a:rPr lang="pt-BR" altLang="pt-BR" smtClean="0"/>
              <a:t>Segurança</a:t>
            </a:r>
          </a:p>
          <a:p>
            <a:pPr lvl="3" eaLnBrk="1" hangingPunct="1"/>
            <a:r>
              <a:rPr lang="pt-BR" altLang="pt-BR" smtClean="0"/>
              <a:t> Dispositivos dentro da rede local não são explicitamente endereçáveis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Exemplo</a:t>
            </a:r>
            <a:endParaRPr lang="pt-BR" dirty="0"/>
          </a:p>
        </p:txBody>
      </p:sp>
      <p:pic>
        <p:nvPicPr>
          <p:cNvPr id="35843" name="Espaço Reservado para Conteúdo 3" descr="nat.bmp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3" y="2275056"/>
            <a:ext cx="4764448" cy="2590536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Como obter um endereço IP?</a:t>
            </a:r>
            <a:endParaRPr lang="pt-BR" dirty="0"/>
          </a:p>
        </p:txBody>
      </p:sp>
      <p:sp>
        <p:nvSpPr>
          <p:cNvPr id="3686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mtClean="0"/>
              <a:t>Hosts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Em um arquivo de configuração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Wintel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UNIX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 DHCP: </a:t>
            </a:r>
            <a:r>
              <a:rPr lang="pt-BR" altLang="pt-BR" sz="2000" smtClean="0">
                <a:solidFill>
                  <a:srgbClr val="FF0000"/>
                </a:solidFill>
              </a:rPr>
              <a:t>D</a:t>
            </a:r>
            <a:r>
              <a:rPr lang="pt-BR" altLang="pt-BR" smtClean="0"/>
              <a:t>ynamic </a:t>
            </a:r>
            <a:r>
              <a:rPr lang="pt-BR" altLang="pt-BR" smtClean="0">
                <a:solidFill>
                  <a:srgbClr val="FF0000"/>
                </a:solidFill>
              </a:rPr>
              <a:t>H</a:t>
            </a:r>
            <a:r>
              <a:rPr lang="pt-BR" altLang="pt-BR" smtClean="0"/>
              <a:t>ost </a:t>
            </a:r>
            <a:r>
              <a:rPr lang="pt-BR" altLang="pt-BR" smtClean="0">
                <a:solidFill>
                  <a:srgbClr val="FF0000"/>
                </a:solidFill>
              </a:rPr>
              <a:t>C</a:t>
            </a:r>
            <a:r>
              <a:rPr lang="pt-BR" altLang="pt-BR" smtClean="0"/>
              <a:t>onfiguration </a:t>
            </a:r>
            <a:r>
              <a:rPr lang="pt-BR" altLang="pt-BR" smtClean="0">
                <a:solidFill>
                  <a:srgbClr val="FF0000"/>
                </a:solidFill>
              </a:rPr>
              <a:t>P</a:t>
            </a:r>
            <a:r>
              <a:rPr lang="pt-BR" altLang="pt-BR" smtClean="0"/>
              <a:t>rotocol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Dinamicamente através de um servidor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Redes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Porção alocada do espaço de endereço do seu ISP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ISPs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ICANN - </a:t>
            </a:r>
            <a:r>
              <a:rPr lang="pt-BR" altLang="pt-BR" smtClean="0">
                <a:solidFill>
                  <a:srgbClr val="FF0000"/>
                </a:solidFill>
              </a:rPr>
              <a:t>I</a:t>
            </a:r>
            <a:r>
              <a:rPr lang="pt-BR" altLang="pt-BR" smtClean="0"/>
              <a:t>nternet </a:t>
            </a:r>
            <a:r>
              <a:rPr lang="pt-BR" altLang="pt-BR" smtClean="0">
                <a:solidFill>
                  <a:srgbClr val="FF0000"/>
                </a:solidFill>
              </a:rPr>
              <a:t>C</a:t>
            </a:r>
            <a:r>
              <a:rPr lang="pt-BR" altLang="pt-BR" smtClean="0"/>
              <a:t>orporation for </a:t>
            </a:r>
            <a:r>
              <a:rPr lang="pt-BR" altLang="pt-BR" smtClean="0">
                <a:solidFill>
                  <a:srgbClr val="FF0000"/>
                </a:solidFill>
              </a:rPr>
              <a:t>A</a:t>
            </a:r>
            <a:r>
              <a:rPr lang="pt-BR" altLang="pt-BR" smtClean="0"/>
              <a:t>ssigned </a:t>
            </a:r>
            <a:r>
              <a:rPr lang="pt-BR" altLang="pt-BR" smtClean="0">
                <a:solidFill>
                  <a:srgbClr val="FF0000"/>
                </a:solidFill>
              </a:rPr>
              <a:t>N</a:t>
            </a:r>
            <a:r>
              <a:rPr lang="pt-BR" altLang="pt-BR" smtClean="0"/>
              <a:t>ames and </a:t>
            </a:r>
            <a:r>
              <a:rPr lang="pt-BR" altLang="pt-BR" smtClean="0">
                <a:solidFill>
                  <a:srgbClr val="FF0000"/>
                </a:solidFill>
              </a:rPr>
              <a:t>N</a:t>
            </a:r>
            <a:r>
              <a:rPr lang="pt-BR" altLang="pt-BR" smtClean="0"/>
              <a:t>umbers</a:t>
            </a:r>
          </a:p>
          <a:p>
            <a:pPr eaLnBrk="1" hangingPunct="1">
              <a:lnSpc>
                <a:spcPct val="90000"/>
              </a:lnSpc>
            </a:pPr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IPv6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Definido no RFC 2460</a:t>
            </a:r>
          </a:p>
          <a:p>
            <a:pPr eaLnBrk="1" hangingPunct="1"/>
            <a:r>
              <a:rPr lang="pt-BR" altLang="pt-BR" smtClean="0"/>
              <a:t>Sucessor do IPv4 designado pela IETF</a:t>
            </a:r>
          </a:p>
          <a:p>
            <a:pPr eaLnBrk="1" hangingPunct="1"/>
            <a:r>
              <a:rPr lang="pt-BR" altLang="pt-BR" smtClean="0"/>
              <a:t>Motivação</a:t>
            </a:r>
          </a:p>
          <a:p>
            <a:pPr lvl="1" eaLnBrk="1" hangingPunct="1"/>
            <a:r>
              <a:rPr lang="pt-BR" altLang="pt-BR" smtClean="0"/>
              <a:t>Poucos endereços IPv4</a:t>
            </a:r>
          </a:p>
          <a:p>
            <a:pPr lvl="1" eaLnBrk="1" hangingPunct="1"/>
            <a:r>
              <a:rPr lang="pt-BR" altLang="pt-BR" smtClean="0"/>
              <a:t>Mudança no cabeçalho dos datagramas para processamento/encaminhamento mais rápido e para facilitar a provisão QoS – Qualidade de Serviços</a:t>
            </a:r>
          </a:p>
          <a:p>
            <a:pPr eaLnBrk="1" hangingPunct="1"/>
            <a:r>
              <a:rPr lang="pt-BR" altLang="pt-BR" smtClean="0"/>
              <a:t>IPv5</a:t>
            </a:r>
          </a:p>
          <a:p>
            <a:pPr lvl="1" eaLnBrk="1" hangingPunct="1"/>
            <a:r>
              <a:rPr lang="pt-BR" altLang="pt-BR" smtClean="0"/>
              <a:t>Protocolo de fluxo em tempo real experimental, e nunca foi amplamente utilizado.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IPv6</a:t>
            </a:r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2381250"/>
            <a:ext cx="10382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381250"/>
            <a:ext cx="1800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088" y="2381250"/>
            <a:ext cx="41814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024188"/>
            <a:ext cx="35242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3024188"/>
            <a:ext cx="17430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3024188"/>
            <a:ext cx="17145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667125"/>
            <a:ext cx="70723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4310063"/>
            <a:ext cx="70723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4953000"/>
            <a:ext cx="7072313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4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747838"/>
            <a:ext cx="70723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85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85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85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(IPv6)</a:t>
            </a:r>
            <a:endParaRPr lang="pt-BR" dirty="0"/>
          </a:p>
        </p:txBody>
      </p:sp>
      <p:sp>
        <p:nvSpPr>
          <p:cNvPr id="39939" name="Espaço Reservado para Conteúdo 2"/>
          <p:cNvSpPr>
            <a:spLocks noGrp="1"/>
          </p:cNvSpPr>
          <p:nvPr>
            <p:ph idx="1"/>
          </p:nvPr>
        </p:nvSpPr>
        <p:spPr>
          <a:xfrm>
            <a:off x="2214563" y="1785938"/>
            <a:ext cx="4857750" cy="857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pt-BR" altLang="pt-BR" sz="1800" smtClean="0"/>
              <a:t>Número de Versão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1800" smtClean="0"/>
              <a:t>IPv4, IPv6</a:t>
            </a:r>
          </a:p>
        </p:txBody>
      </p:sp>
      <p:sp>
        <p:nvSpPr>
          <p:cNvPr id="20" name="Espaço Reservado para Conteúdo 2"/>
          <p:cNvSpPr txBox="1">
            <a:spLocks/>
          </p:cNvSpPr>
          <p:nvPr/>
        </p:nvSpPr>
        <p:spPr bwMode="auto">
          <a:xfrm>
            <a:off x="2505075" y="2857500"/>
            <a:ext cx="66389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Função semelhante á o campo </a:t>
            </a:r>
            <a:r>
              <a:rPr lang="pt-BR" dirty="0" err="1">
                <a:latin typeface="+mn-lt"/>
                <a:cs typeface="+mn-cs"/>
              </a:rPr>
              <a:t>Type</a:t>
            </a:r>
            <a:r>
              <a:rPr lang="pt-BR" dirty="0">
                <a:latin typeface="+mn-lt"/>
                <a:cs typeface="+mn-cs"/>
              </a:rPr>
              <a:t> </a:t>
            </a:r>
            <a:r>
              <a:rPr lang="pt-BR" dirty="0" err="1">
                <a:latin typeface="+mn-lt"/>
                <a:cs typeface="+mn-cs"/>
              </a:rPr>
              <a:t>of</a:t>
            </a:r>
            <a:r>
              <a:rPr lang="pt-BR" dirty="0">
                <a:latin typeface="+mn-lt"/>
                <a:cs typeface="+mn-cs"/>
              </a:rPr>
              <a:t> </a:t>
            </a:r>
            <a:r>
              <a:rPr lang="pt-BR" dirty="0" err="1">
                <a:latin typeface="+mn-lt"/>
                <a:cs typeface="+mn-cs"/>
              </a:rPr>
              <a:t>Service</a:t>
            </a:r>
            <a:r>
              <a:rPr lang="pt-BR" dirty="0">
                <a:latin typeface="+mn-lt"/>
                <a:cs typeface="+mn-cs"/>
              </a:rPr>
              <a:t> do formato IPv4</a:t>
            </a:r>
          </a:p>
          <a:p>
            <a:pPr marL="730250" lvl="1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P</a:t>
            </a:r>
            <a:r>
              <a:rPr lang="pt-BR" dirty="0">
                <a:latin typeface="+mn-lt"/>
                <a:cs typeface="+mn-cs"/>
              </a:rPr>
              <a:t>rioridade a </a:t>
            </a:r>
            <a:r>
              <a:rPr lang="pt-BR" dirty="0" err="1">
                <a:latin typeface="+mn-lt"/>
                <a:cs typeface="+mn-cs"/>
              </a:rPr>
              <a:t>datagramas</a:t>
            </a:r>
            <a:endParaRPr lang="pt-BR" dirty="0">
              <a:latin typeface="+mn-lt"/>
              <a:cs typeface="+mn-cs"/>
            </a:endParaRPr>
          </a:p>
        </p:txBody>
      </p:sp>
      <p:sp>
        <p:nvSpPr>
          <p:cNvPr id="22" name="Espaço Reservado para Conteúdo 2"/>
          <p:cNvSpPr txBox="1">
            <a:spLocks/>
          </p:cNvSpPr>
          <p:nvPr/>
        </p:nvSpPr>
        <p:spPr bwMode="auto">
          <a:xfrm>
            <a:off x="571500" y="4786313"/>
            <a:ext cx="66389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Identificação de um fluxo de </a:t>
            </a:r>
            <a:r>
              <a:rPr lang="pt-BR" dirty="0" err="1">
                <a:latin typeface="+mn-lt"/>
                <a:cs typeface="+mn-cs"/>
              </a:rPr>
              <a:t>datagramas</a:t>
            </a:r>
            <a:endParaRPr lang="pt-BR" dirty="0">
              <a:latin typeface="+mn-lt"/>
              <a:cs typeface="+mn-cs"/>
            </a:endParaRP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Definição dúbia</a:t>
            </a:r>
            <a:endParaRPr lang="pt-BR" dirty="0">
              <a:latin typeface="+mn-lt"/>
              <a:cs typeface="+mn-cs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857375"/>
            <a:ext cx="10382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928938"/>
            <a:ext cx="1800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929063"/>
            <a:ext cx="41814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IPv6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2381250"/>
            <a:ext cx="10382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381250"/>
            <a:ext cx="1800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088" y="2381250"/>
            <a:ext cx="41814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024188"/>
            <a:ext cx="35242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3024188"/>
            <a:ext cx="17430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3024188"/>
            <a:ext cx="17145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667125"/>
            <a:ext cx="70723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0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4310063"/>
            <a:ext cx="70723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1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4953000"/>
            <a:ext cx="7072313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2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747838"/>
            <a:ext cx="70723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85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85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85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(IPv6)</a:t>
            </a:r>
            <a:endParaRPr lang="pt-BR" dirty="0"/>
          </a:p>
        </p:txBody>
      </p:sp>
      <p:sp>
        <p:nvSpPr>
          <p:cNvPr id="41987" name="Espaço Reservado para Conteúdo 2"/>
          <p:cNvSpPr>
            <a:spLocks noGrp="1"/>
          </p:cNvSpPr>
          <p:nvPr>
            <p:ph idx="1"/>
          </p:nvPr>
        </p:nvSpPr>
        <p:spPr>
          <a:xfrm>
            <a:off x="4214813" y="1928813"/>
            <a:ext cx="4857750" cy="857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pt-BR" altLang="pt-BR" sz="1800" smtClean="0"/>
              <a:t>Número de bytes no datagrama IPv6 </a:t>
            </a:r>
            <a:endParaRPr lang="pt-BR" altLang="pt-BR" sz="1500" smtClean="0"/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pt-BR" altLang="pt-BR" sz="1500" smtClean="0"/>
              <a:t>Após o  pacote do cabeçalho</a:t>
            </a:r>
          </a:p>
        </p:txBody>
      </p:sp>
      <p:sp>
        <p:nvSpPr>
          <p:cNvPr id="20" name="Espaço Reservado para Conteúdo 2"/>
          <p:cNvSpPr txBox="1">
            <a:spLocks/>
          </p:cNvSpPr>
          <p:nvPr/>
        </p:nvSpPr>
        <p:spPr bwMode="auto">
          <a:xfrm>
            <a:off x="2576513" y="3143250"/>
            <a:ext cx="66389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Identifica o protocolo cujo conteúdo será entregue</a:t>
            </a: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Mesmos valores de campo do IPv4</a:t>
            </a:r>
            <a:endParaRPr lang="pt-BR" dirty="0">
              <a:latin typeface="+mn-lt"/>
              <a:cs typeface="+mn-cs"/>
            </a:endParaRPr>
          </a:p>
        </p:txBody>
      </p:sp>
      <p:sp>
        <p:nvSpPr>
          <p:cNvPr id="22" name="Espaço Reservado para Conteúdo 2"/>
          <p:cNvSpPr txBox="1">
            <a:spLocks/>
          </p:cNvSpPr>
          <p:nvPr/>
        </p:nvSpPr>
        <p:spPr bwMode="auto">
          <a:xfrm>
            <a:off x="2428875" y="4429125"/>
            <a:ext cx="592931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92500" lnSpcReduction="20000"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Número que é decrementado de um para cada roteador que repassa o </a:t>
            </a:r>
            <a:r>
              <a:rPr lang="pt-BR" dirty="0" err="1">
                <a:latin typeface="+mn-lt"/>
                <a:cs typeface="+mn-cs"/>
              </a:rPr>
              <a:t>datagrama</a:t>
            </a:r>
            <a:endParaRPr lang="pt-BR" dirty="0">
              <a:latin typeface="+mn-lt"/>
              <a:cs typeface="+mn-cs"/>
            </a:endParaRP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Se chegar a 0, </a:t>
            </a:r>
            <a:r>
              <a:rPr lang="pt-BR" dirty="0" err="1">
                <a:latin typeface="+mn-lt"/>
                <a:cs typeface="+mn-cs"/>
              </a:rPr>
              <a:t>datagrama</a:t>
            </a:r>
            <a:r>
              <a:rPr lang="pt-BR" dirty="0">
                <a:latin typeface="+mn-lt"/>
                <a:cs typeface="+mn-cs"/>
              </a:rPr>
              <a:t> é descartado</a:t>
            </a:r>
            <a:endParaRPr lang="pt-BR" dirty="0">
              <a:latin typeface="+mn-lt"/>
              <a:cs typeface="+mn-cs"/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000250"/>
            <a:ext cx="35242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214688"/>
            <a:ext cx="17430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524375"/>
            <a:ext cx="17145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IPv6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2381250"/>
            <a:ext cx="10382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381250"/>
            <a:ext cx="1800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088" y="2381250"/>
            <a:ext cx="41814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024188"/>
            <a:ext cx="35242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3024188"/>
            <a:ext cx="17430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3024188"/>
            <a:ext cx="17145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667125"/>
            <a:ext cx="70723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4310063"/>
            <a:ext cx="70723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4953000"/>
            <a:ext cx="7072313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0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747838"/>
            <a:ext cx="70723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85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85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85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Formato dos Datagramas  IP (IPv6)</a:t>
            </a:r>
            <a:endParaRPr lang="pt-BR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714500"/>
            <a:ext cx="707231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076575"/>
            <a:ext cx="707231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Espaço Reservado para Conteúdo 2"/>
          <p:cNvSpPr txBox="1">
            <a:spLocks/>
          </p:cNvSpPr>
          <p:nvPr/>
        </p:nvSpPr>
        <p:spPr bwMode="auto">
          <a:xfrm>
            <a:off x="642938" y="2428875"/>
            <a:ext cx="7358062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Endereço IP </a:t>
            </a:r>
            <a:r>
              <a:rPr lang="pt-BR" dirty="0">
                <a:latin typeface="+mn-lt"/>
                <a:cs typeface="+mn-cs"/>
              </a:rPr>
              <a:t>de 128 bits do </a:t>
            </a:r>
            <a:r>
              <a:rPr lang="pt-BR" dirty="0">
                <a:latin typeface="+mn-lt"/>
                <a:cs typeface="+mn-cs"/>
              </a:rPr>
              <a:t>hospedeiro remetente</a:t>
            </a:r>
          </a:p>
        </p:txBody>
      </p:sp>
      <p:sp>
        <p:nvSpPr>
          <p:cNvPr id="14" name="Espaço Reservado para Conteúdo 2"/>
          <p:cNvSpPr txBox="1">
            <a:spLocks/>
          </p:cNvSpPr>
          <p:nvPr/>
        </p:nvSpPr>
        <p:spPr bwMode="auto">
          <a:xfrm>
            <a:off x="642938" y="3786188"/>
            <a:ext cx="7358062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Endereço IP </a:t>
            </a:r>
            <a:r>
              <a:rPr lang="pt-BR" dirty="0">
                <a:latin typeface="+mn-lt"/>
                <a:cs typeface="+mn-cs"/>
              </a:rPr>
              <a:t>de 128 bits do </a:t>
            </a:r>
            <a:r>
              <a:rPr lang="pt-BR" dirty="0">
                <a:latin typeface="+mn-lt"/>
                <a:cs typeface="+mn-cs"/>
              </a:rPr>
              <a:t>hospedeiro destino</a:t>
            </a:r>
          </a:p>
        </p:txBody>
      </p:sp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357688"/>
            <a:ext cx="7072312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Espaço Reservado para Conteúdo 2"/>
          <p:cNvSpPr txBox="1">
            <a:spLocks/>
          </p:cNvSpPr>
          <p:nvPr/>
        </p:nvSpPr>
        <p:spPr bwMode="auto">
          <a:xfrm>
            <a:off x="571500" y="5072063"/>
            <a:ext cx="74295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Carga útil do </a:t>
            </a:r>
            <a:r>
              <a:rPr lang="pt-BR" dirty="0" err="1">
                <a:latin typeface="+mn-lt"/>
                <a:cs typeface="+mn-cs"/>
              </a:rPr>
              <a:t>datagrama</a:t>
            </a:r>
            <a:endParaRPr lang="pt-BR" dirty="0">
              <a:latin typeface="+mn-lt"/>
              <a:cs typeface="+mn-cs"/>
            </a:endParaRP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Ø"/>
              <a:defRPr/>
            </a:pPr>
            <a:r>
              <a:rPr lang="pt-BR" dirty="0">
                <a:latin typeface="+mn-lt"/>
                <a:cs typeface="+mn-cs"/>
              </a:rPr>
              <a:t>Utiliza a informação do campo próximo cabeçalho para passar adiante o </a:t>
            </a:r>
            <a:r>
              <a:rPr lang="pt-BR" dirty="0" err="1">
                <a:latin typeface="+mn-lt"/>
                <a:cs typeface="+mn-cs"/>
              </a:rPr>
              <a:t>datagrama</a:t>
            </a:r>
            <a:endParaRPr lang="pt-BR" dirty="0">
              <a:latin typeface="+mn-lt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IPv4 </a:t>
            </a:r>
            <a:r>
              <a:rPr lang="pt-BR" altLang="pt-BR" i="1" cap="none" smtClean="0"/>
              <a:t>VERSUS</a:t>
            </a:r>
            <a:r>
              <a:rPr lang="pt-BR" altLang="pt-BR" cap="none" smtClean="0"/>
              <a:t> IPv6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pt-BR" altLang="pt-BR" smtClean="0"/>
              <a:t>Grande espaço de endereçamento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mtClean="0"/>
              <a:t>Escopo/Zonas de endereço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mtClean="0"/>
              <a:t>Auto-configuração stateless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mtClean="0"/>
              <a:t>Mobilidade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mtClean="0"/>
              <a:t>Jumbogramas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mtClean="0"/>
              <a:t>Não suporta fragmentação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mtClean="0"/>
              <a:t>Processamento simplificado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ENDEREÇAMENTO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pt-BR" altLang="pt-BR" dirty="0" smtClean="0"/>
              <a:t>Exemplo de uso</a:t>
            </a:r>
          </a:p>
          <a:p>
            <a:pPr lvl="1" eaLnBrk="1" hangingPunct="1">
              <a:lnSpc>
                <a:spcPct val="150000"/>
              </a:lnSpc>
            </a:pPr>
            <a:r>
              <a:rPr lang="pt-BR" altLang="pt-BR" dirty="0" smtClean="0"/>
              <a:t>Jogos olímpicos de verão 2008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dirty="0" smtClean="0"/>
              <a:t>3,4 * (10</a:t>
            </a:r>
            <a:r>
              <a:rPr lang="pt-BR" altLang="pt-BR" baseline="30000" dirty="0" smtClean="0"/>
              <a:t>38</a:t>
            </a:r>
            <a:r>
              <a:rPr lang="pt-BR" altLang="pt-BR" dirty="0" smtClean="0"/>
              <a:t>) endereços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dirty="0" smtClean="0"/>
              <a:t>8 grupos de 4 dígitos hexadecimais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dirty="0" smtClean="0"/>
              <a:t>Regras de redução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pt-BR" altLang="pt-BR" dirty="0" smtClean="0"/>
          </a:p>
        </p:txBody>
      </p:sp>
      <p:pic>
        <p:nvPicPr>
          <p:cNvPr id="460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941168"/>
            <a:ext cx="4302795" cy="1300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PROBLEMAS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Incompatibilidade com IPv4</a:t>
            </a:r>
          </a:p>
          <a:p>
            <a:pPr eaLnBrk="1" hangingPunct="1"/>
            <a:r>
              <a:rPr lang="pt-BR" altLang="pt-BR" smtClean="0"/>
              <a:t>Overhead maior</a:t>
            </a:r>
          </a:p>
          <a:p>
            <a:pPr eaLnBrk="1" hangingPunct="1"/>
            <a:r>
              <a:rPr lang="pt-BR" altLang="pt-BR" smtClean="0"/>
              <a:t>Dificuldade de substituição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TRANSIÇÃO DO IPv4 PARA O IPv6</a:t>
            </a:r>
          </a:p>
        </p:txBody>
      </p:sp>
      <p:sp>
        <p:nvSpPr>
          <p:cNvPr id="4813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Todos os roteadores não podem se atualizados simultaneamente</a:t>
            </a:r>
          </a:p>
          <a:p>
            <a:pPr eaLnBrk="1" hangingPunct="1"/>
            <a:r>
              <a:rPr lang="pt-BR" altLang="pt-BR" smtClean="0">
                <a:solidFill>
                  <a:srgbClr val="FF0000"/>
                </a:solidFill>
              </a:rPr>
              <a:t>Tunelamento</a:t>
            </a:r>
          </a:p>
          <a:p>
            <a:pPr lvl="1" eaLnBrk="1" hangingPunct="1"/>
            <a:r>
              <a:rPr lang="pt-BR" altLang="pt-BR" smtClean="0"/>
              <a:t>Conjuntos de roteadores IPv4 formam um “túnel” entre nós IPv6 </a:t>
            </a:r>
          </a:p>
          <a:p>
            <a:pPr lvl="1" eaLnBrk="1" hangingPunct="1"/>
            <a:r>
              <a:rPr lang="pt-BR" altLang="pt-BR" smtClean="0"/>
              <a:t>IPv6 transportado como “payload” em datagramas IPv4 entre roteadores IPv4</a:t>
            </a:r>
          </a:p>
          <a:p>
            <a:pPr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Tunelamento</a:t>
            </a:r>
            <a:endParaRPr lang="pt-BR" dirty="0"/>
          </a:p>
        </p:txBody>
      </p:sp>
      <p:pic>
        <p:nvPicPr>
          <p:cNvPr id="49155" name="Espaço Reservado para Conteúdo 3" descr="tunel1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6156" y="1916832"/>
            <a:ext cx="7000875" cy="19240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Tunelamento </a:t>
            </a:r>
            <a:endParaRPr lang="pt-BR" dirty="0"/>
          </a:p>
        </p:txBody>
      </p:sp>
      <p:pic>
        <p:nvPicPr>
          <p:cNvPr id="50179" name="Espaço Reservado para Conteúdo 3" descr="tunel2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664" y="2204864"/>
            <a:ext cx="5840513" cy="393533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MOBILE INTERNET PROTOCOL</a:t>
            </a: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Objetivos definidos pela IETF para hosts móveis</a:t>
            </a:r>
          </a:p>
          <a:p>
            <a:pPr lvl="1" eaLnBrk="1" hangingPunct="1"/>
            <a:r>
              <a:rPr lang="pt-BR" altLang="pt-BR" smtClean="0"/>
              <a:t>Host móvel com endereço IP em qualquer lugar</a:t>
            </a:r>
          </a:p>
          <a:p>
            <a:pPr lvl="1" eaLnBrk="1" hangingPunct="1"/>
            <a:r>
              <a:rPr lang="pt-BR" altLang="pt-BR" smtClean="0"/>
              <a:t>Sem alterações de software em hosts fixos e nas tabelas do roteador</a:t>
            </a:r>
          </a:p>
          <a:p>
            <a:pPr lvl="1" eaLnBrk="1" hangingPunct="1"/>
            <a:r>
              <a:rPr lang="pt-BR" altLang="pt-BR" smtClean="0"/>
              <a:t>Pacotes sem desvio durante o percurso</a:t>
            </a:r>
          </a:p>
          <a:p>
            <a:pPr lvl="1" eaLnBrk="1" hangingPunct="1"/>
            <a:r>
              <a:rPr lang="pt-BR" altLang="pt-BR" smtClean="0"/>
              <a:t>Sem overhead quando um host móvel está em sua origem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IP MÓVEL</a:t>
            </a: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Protocolo desenvolvido para dar suporte a hosts móveis</a:t>
            </a:r>
          </a:p>
          <a:p>
            <a:pPr eaLnBrk="1" hangingPunct="1"/>
            <a:r>
              <a:rPr lang="pt-BR" altLang="pt-BR" smtClean="0"/>
              <a:t>Conexão independente de localização e sem mudar o endereço IP</a:t>
            </a:r>
          </a:p>
          <a:p>
            <a:pPr eaLnBrk="1" hangingPunct="1"/>
            <a:r>
              <a:rPr lang="pt-BR" altLang="pt-BR" smtClean="0"/>
              <a:t>Baseado no Internet Protocol</a:t>
            </a:r>
          </a:p>
          <a:p>
            <a:pPr eaLnBrk="1" hangingPunct="1"/>
            <a:r>
              <a:rPr lang="pt-BR" altLang="pt-BR" smtClean="0"/>
              <a:t>Transparência às aplicações e protocolos de alto nível como TCP</a:t>
            </a:r>
          </a:p>
          <a:p>
            <a:pPr eaLnBrk="1" hangingPunct="1"/>
            <a:r>
              <a:rPr lang="pt-BR" altLang="pt-BR" smtClean="0"/>
              <a:t>Cada nó móvel com dois endereços IP</a:t>
            </a:r>
          </a:p>
          <a:p>
            <a:pPr lvl="1" eaLnBrk="1" hangingPunct="1"/>
            <a:r>
              <a:rPr lang="pt-BR" altLang="pt-BR" smtClean="0"/>
              <a:t>Permanent home address</a:t>
            </a:r>
          </a:p>
          <a:p>
            <a:pPr lvl="1" eaLnBrk="1" hangingPunct="1"/>
            <a:r>
              <a:rPr lang="en-US" altLang="pt-BR" smtClean="0"/>
              <a:t>Temporary care-of address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CARACTERÍSTICAS</a:t>
            </a: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457200" y="1600200"/>
            <a:ext cx="7643813" cy="4873625"/>
          </a:xfrm>
        </p:spPr>
        <p:txBody>
          <a:bodyPr/>
          <a:lstStyle/>
          <a:p>
            <a:pPr eaLnBrk="1" hangingPunct="1"/>
            <a:r>
              <a:rPr lang="pt-BR" altLang="pt-BR" smtClean="0"/>
              <a:t>Sem limitações geográficas</a:t>
            </a:r>
          </a:p>
          <a:p>
            <a:pPr eaLnBrk="1" hangingPunct="1"/>
            <a:r>
              <a:rPr lang="pt-BR" altLang="pt-BR" smtClean="0"/>
              <a:t>Sem necessidade de conexão física</a:t>
            </a:r>
          </a:p>
          <a:p>
            <a:pPr eaLnBrk="1" hangingPunct="1"/>
            <a:r>
              <a:rPr lang="pt-BR" altLang="pt-BR" smtClean="0"/>
              <a:t>Sem necessidade de modificações em outros roteadores e hosts</a:t>
            </a:r>
          </a:p>
          <a:p>
            <a:pPr eaLnBrk="1" hangingPunct="1"/>
            <a:r>
              <a:rPr lang="pt-BR" altLang="pt-BR" smtClean="0"/>
              <a:t>Sem modificações no endereço IP e no seu formato</a:t>
            </a:r>
          </a:p>
          <a:p>
            <a:pPr eaLnBrk="1" hangingPunct="1"/>
            <a:r>
              <a:rPr lang="pt-BR" altLang="pt-BR" smtClean="0"/>
              <a:t>Suporte à segurança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989138"/>
            <a:ext cx="5976938" cy="372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Rectangle 4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cap="none" smtClean="0"/>
              <a:t>IP MÓVEL</a:t>
            </a:r>
          </a:p>
        </p:txBody>
      </p:sp>
      <p:pic>
        <p:nvPicPr>
          <p:cNvPr id="9421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0238" y="2133600"/>
            <a:ext cx="7542212" cy="31273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pt-BR" dirty="0" smtClean="0"/>
              <a:t>Dúvidas?</a:t>
            </a:r>
            <a:endParaRPr lang="pt-BR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963" y="2071688"/>
            <a:ext cx="36195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5632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Redes de Computadores e a Internet – Uma abordagem Top-Down – James F. Kurose e Keith W. Ross – 3ª Edição</a:t>
            </a:r>
          </a:p>
          <a:p>
            <a:pPr eaLnBrk="1" hangingPunct="1"/>
            <a:r>
              <a:rPr lang="pt-BR" altLang="pt-BR" smtClean="0"/>
              <a:t>Redes de Computadores – Andrew S. Tanembaum – 4ª Edição</a:t>
            </a:r>
          </a:p>
          <a:p>
            <a:pPr eaLnBrk="1" hangingPunct="1"/>
            <a:r>
              <a:rPr lang="pt-BR" altLang="pt-BR" smtClean="0"/>
              <a:t>http://www.slideshare.net/teacher.loccko/aula-protocolo-tcp-ip/</a:t>
            </a:r>
          </a:p>
          <a:p>
            <a:pPr eaLnBrk="1" hangingPunct="1"/>
            <a:r>
              <a:rPr lang="pt-BR" altLang="pt-BR" smtClean="0"/>
              <a:t>http://www.rfc-editor.org/rfc/rfc791.txt</a:t>
            </a:r>
          </a:p>
          <a:p>
            <a:pPr eaLnBrk="1" hangingPunct="1"/>
            <a:endParaRPr lang="pt-BR" altLang="pt-BR" smtClean="0"/>
          </a:p>
          <a:p>
            <a:pPr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593</TotalTime>
  <Words>1288</Words>
  <Application>Microsoft Office PowerPoint</Application>
  <PresentationFormat>Apresentação na tela (4:3)</PresentationFormat>
  <Paragraphs>263</Paragraphs>
  <Slides>48</Slides>
  <Notes>48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6" baseType="lpstr">
      <vt:lpstr>Arial</vt:lpstr>
      <vt:lpstr>Century Schoolbook</vt:lpstr>
      <vt:lpstr>Wingdings</vt:lpstr>
      <vt:lpstr>Wingdings 2</vt:lpstr>
      <vt:lpstr>Calibri</vt:lpstr>
      <vt:lpstr>Times New Roman</vt:lpstr>
      <vt:lpstr>Retrospectiva</vt:lpstr>
      <vt:lpstr>Microsoft Visio Drawing</vt:lpstr>
      <vt:lpstr>Internet Protocol - IP</vt:lpstr>
      <vt:lpstr>INTERNET PROTOCOL – IP</vt:lpstr>
      <vt:lpstr>INTERNET PROTOCOL – IP</vt:lpstr>
      <vt:lpstr>Características</vt:lpstr>
      <vt:lpstr>Características</vt:lpstr>
      <vt:lpstr>Características</vt:lpstr>
      <vt:lpstr>CARACTERÍSTICAS</vt:lpstr>
      <vt:lpstr>Limitações</vt:lpstr>
      <vt:lpstr>Formato dos Datagramas  IP (IPv4)</vt:lpstr>
      <vt:lpstr>Formato dos Datagramas  IP (IPv4)</vt:lpstr>
      <vt:lpstr>Formato dos Datagramas  IP (IPv4)</vt:lpstr>
      <vt:lpstr>Formato dos Datagramas  IP (IPv4)</vt:lpstr>
      <vt:lpstr>Formato dos Datagramas  IP (IPv4)</vt:lpstr>
      <vt:lpstr>Formato dos Datagramas  IP (IPv4)</vt:lpstr>
      <vt:lpstr>Formato dos Datagramas  IP (IPv4)</vt:lpstr>
      <vt:lpstr>Formato dos Datagramas  IP (IPv4)</vt:lpstr>
      <vt:lpstr>Fragmentação e Remontagem IP</vt:lpstr>
      <vt:lpstr>Exemplo</vt:lpstr>
      <vt:lpstr>Endereçamento IP</vt:lpstr>
      <vt:lpstr>Exemplo</vt:lpstr>
      <vt:lpstr>SUB-REDES</vt:lpstr>
      <vt:lpstr>Classes</vt:lpstr>
      <vt:lpstr>Classes</vt:lpstr>
      <vt:lpstr>Classes: Problema </vt:lpstr>
      <vt:lpstr>Problema</vt:lpstr>
      <vt:lpstr>Soluções</vt:lpstr>
      <vt:lpstr>Soluções</vt:lpstr>
      <vt:lpstr>Exemplo</vt:lpstr>
      <vt:lpstr>Como obter um endereço IP?</vt:lpstr>
      <vt:lpstr>IPv6</vt:lpstr>
      <vt:lpstr>Formato dos datagramas IPv6</vt:lpstr>
      <vt:lpstr>Formato dos Datagramas  IP (IPv6)</vt:lpstr>
      <vt:lpstr>Formato dos datagramas IPv6</vt:lpstr>
      <vt:lpstr>Formato dos Datagramas  IP (IPv6)</vt:lpstr>
      <vt:lpstr>Formato dos datagramas IPv6</vt:lpstr>
      <vt:lpstr>Formato dos Datagramas  IP (IPv6)</vt:lpstr>
      <vt:lpstr>IPv4 VERSUS IPv6</vt:lpstr>
      <vt:lpstr>ENDEREÇAMENTO</vt:lpstr>
      <vt:lpstr>PROBLEMAS</vt:lpstr>
      <vt:lpstr>TRANSIÇÃO DO IPv4 PARA O IPv6</vt:lpstr>
      <vt:lpstr>Tunelamento</vt:lpstr>
      <vt:lpstr>Tunelamento </vt:lpstr>
      <vt:lpstr>MOBILE INTERNET PROTOCOL</vt:lpstr>
      <vt:lpstr>IP MÓVEL</vt:lpstr>
      <vt:lpstr>CARACTERÍSTICAS</vt:lpstr>
      <vt:lpstr>IP MÓVEL</vt:lpstr>
      <vt:lpstr>Dúvidas?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Gustavo</dc:creator>
  <cp:lastModifiedBy>052663 - RANIERI MARINHO DE SOUZA</cp:lastModifiedBy>
  <cp:revision>185</cp:revision>
  <dcterms:created xsi:type="dcterms:W3CDTF">2008-10-02T17:29:15Z</dcterms:created>
  <dcterms:modified xsi:type="dcterms:W3CDTF">2023-08-04T23:32:45Z</dcterms:modified>
</cp:coreProperties>
</file>